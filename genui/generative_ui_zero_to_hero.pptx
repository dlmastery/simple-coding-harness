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charts/chart3.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charts/chart4.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charts/chart5.xml" ContentType="application/vnd.openxmlformats-officedocument.drawingml.chart+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Lst>
  <p:notesMasterIdLst>
    <p:notesMasterId r:id="rId1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notesMaster" Target="notesMasters/notesMaster1.xml"/><Relationship Id="rId138" Type="http://schemas.openxmlformats.org/officeDocument/2006/relationships/presProps" Target="presProps.xml"/><Relationship Id="rId139" Type="http://schemas.openxmlformats.org/officeDocument/2006/relationships/viewProps" Target="viewProps.xml"/><Relationship Id="rId140" Type="http://schemas.openxmlformats.org/officeDocument/2006/relationships/theme" Target="theme/theme1.xml"/><Relationship Id="rId1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first paint (chunk)</c:v>
                </c:pt>
              </c:strCache>
            </c:strRef>
          </c:tx>
          <c:spPr>
            <a:solidFill>
              <a:srgbClr val="2F3CFF"/>
            </a:solidFill>
            <a:effectLst/>
          </c:spPr>
          <c:invertIfNegative val="0"/>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cat>
            <c:multiLvlStrRef>
              <c:f>Sheet1!$A$2:$A$3</c:f>
              <c:multiLvlStrCache>
                <c:ptCount val="2"/>
                <c:lvl>
                  <c:pt idx="0">
                    <c:v>nested tree</c:v>
                  </c:pt>
                  <c:pt idx="1">
                    <c:v>flat element map</c:v>
                  </c:pt>
                </c:lvl>
              </c:multiLvlStrCache>
            </c:multiLvlStrRef>
          </c:cat>
          <c:val>
            <c:numRef>
              <c:f>Sheet1!$B$2:$B$3</c:f>
              <c:numCache>
                <c:formatCode>General</c:formatCode>
                <c:ptCount val="2"/>
                <c:pt idx="0">
                  <c:v>91</c:v>
                </c:pt>
                <c:pt idx="1">
                  <c:v>33</c:v>
                </c:pt>
              </c:numCache>
            </c:numRef>
          </c:val>
        </c:ser>
        <c:ser>
          <c:idx val="1"/>
          <c:order val="1"/>
          <c:tx>
            <c:strRef>
              <c:f>Sheet1!$C$1</c:f>
              <c:strCache>
                <c:ptCount val="1"/>
                <c:pt idx="0">
                  <c:v>layout known (chunk)</c:v>
                </c:pt>
              </c:strCache>
            </c:strRef>
          </c:tx>
          <c:spPr>
            <a:solidFill>
              <a:srgbClr val="D97706"/>
            </a:solidFill>
            <a:effectLst/>
          </c:spPr>
          <c:invertIfNegative val="0"/>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cat>
            <c:multiLvlStrRef>
              <c:f>Sheet1!$A$2:$A$3</c:f>
              <c:multiLvlStrCache>
                <c:ptCount val="2"/>
                <c:lvl>
                  <c:pt idx="0">
                    <c:v>nested tree</c:v>
                  </c:pt>
                  <c:pt idx="1">
                    <c:v>flat element map</c:v>
                  </c:pt>
                </c:lvl>
              </c:multiLvlStrCache>
            </c:multiLvlStrRef>
          </c:cat>
          <c:val>
            <c:numRef>
              <c:f>Sheet1!$C$2:$C$3</c:f>
              <c:numCache>
                <c:formatCode>General</c:formatCode>
                <c:ptCount val="2"/>
                <c:pt idx="0">
                  <c:v>408</c:v>
                </c:pt>
                <c:pt idx="1">
                  <c:v>33</c:v>
                </c:pt>
              </c:numCache>
            </c:numRef>
          </c:val>
        </c:ser>
        <c:ser>
          <c:idx val="2"/>
          <c:order val="2"/>
          <c:tx>
            <c:strRef>
              <c:f>Sheet1!$D$1</c:f>
              <c:strCache>
                <c:ptCount val="1"/>
                <c:pt idx="0">
                  <c:v>stream length (chunks)</c:v>
                </c:pt>
              </c:strCache>
            </c:strRef>
          </c:tx>
          <c:spPr>
            <a:solidFill>
              <a:srgbClr val="15803D"/>
            </a:solidFill>
            <a:effectLst/>
          </c:spPr>
          <c:invertIfNegative val="0"/>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cat>
            <c:multiLvlStrRef>
              <c:f>Sheet1!$A$2:$A$3</c:f>
              <c:multiLvlStrCache>
                <c:ptCount val="2"/>
                <c:lvl>
                  <c:pt idx="0">
                    <c:v>nested tree</c:v>
                  </c:pt>
                  <c:pt idx="1">
                    <c:v>flat element map</c:v>
                  </c:pt>
                </c:lvl>
              </c:multiLvlStrCache>
            </c:multiLvlStrRef>
          </c:cat>
          <c:val>
            <c:numRef>
              <c:f>Sheet1!$D$2:$D$3</c:f>
              <c:numCache>
                <c:formatCode>General</c:formatCode>
                <c:ptCount val="2"/>
                <c:pt idx="0">
                  <c:v>408</c:v>
                </c:pt>
                <c:pt idx="1">
                  <c:v>266</c:v>
                </c:pt>
              </c:numCache>
            </c:numRef>
          </c:val>
        </c:ser>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7EB"/>
              </a:solidFill>
              <a:prstDash val="solid"/>
              <a:round/>
            </a:ln>
          </c:spPr>
        </c:majorGridlines>
        <c:title>
          <c:tx>
            <c:rich>
              <a:bodyPr/>
              <a:lstStyle/>
              <a:p>
                <a:pPr>
                  <a:defRPr sz="1000" b="0" i="0" u="none" strike="noStrike">
                    <a:solidFill>
                      <a:srgbClr val="4B5563"/>
                    </a:solidFill>
                    <a:latin typeface="Arial"/>
                  </a:defRPr>
                </a:pPr>
                <a:r>
                  <a:rPr sz="1000" b="0" i="0" u="none" strike="noStrike">
                    <a:solidFill>
                      <a:srgbClr val="4B5563"/>
                    </a:solidFill>
                    <a:latin typeface="Arial"/>
                  </a:rPr>
                  <a:t>chunk of the stream</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B93A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tokens the model wrote</c:v>
                </c:pt>
              </c:strCache>
            </c:strRef>
          </c:tx>
          <c:spPr>
            <a:solidFill>
              <a:srgbClr val="2F3CFF"/>
            </a:solidFill>
            <a:effectLst/>
          </c:spPr>
          <c:invertIfNegative val="0"/>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dPt>
            <c:idx val="0"/>
            <c:invertIfNegative val="0"/>
            <c:bubble3D val="0"/>
            <c:spPr>
              <a:solidFill>
                <a:srgbClr val="2F3CFF"/>
              </a:solidFill>
              <a:effectLst/>
            </c:spPr>
          </c:dPt>
          <c:dPt>
            <c:idx val="1"/>
            <c:invertIfNegative val="0"/>
            <c:bubble3D val="0"/>
            <c:spPr>
              <a:solidFill>
                <a:srgbClr val="D97706"/>
              </a:solidFill>
              <a:effectLst/>
            </c:spPr>
          </c:dPt>
          <c:dPt>
            <c:idx val="2"/>
            <c:invertIfNegative val="0"/>
            <c:bubble3D val="0"/>
            <c:spPr>
              <a:solidFill>
                <a:srgbClr val="15803D"/>
              </a:solidFill>
              <a:effectLst/>
            </c:spPr>
          </c:dPt>
          <c:cat>
            <c:multiLvlStrRef>
              <c:f>Sheet1!$A$2:$A$4</c:f>
              <c:multiLvlStrCache>
                <c:ptCount val="3"/>
                <c:lvl>
                  <c:pt idx="0">
                    <c:v>static (tool calls)</c:v>
                  </c:pt>
                  <c:pt idx="1">
                    <c:v>flat element map</c:v>
                  </c:pt>
                  <c:pt idx="2">
                    <c:v>open-ended HTML</c:v>
                  </c:pt>
                </c:lvl>
              </c:multiLvlStrCache>
            </c:multiLvlStrRef>
          </c:cat>
          <c:val>
            <c:numRef>
              <c:f>Sheet1!$B$2:$B$4</c:f>
              <c:numCache>
                <c:formatCode>General</c:formatCode>
                <c:ptCount val="3"/>
                <c:pt idx="0">
                  <c:v>196</c:v>
                </c:pt>
                <c:pt idx="1">
                  <c:v>328</c:v>
                </c:pt>
                <c:pt idx="2">
                  <c:v>3013</c:v>
                </c:pt>
              </c:numCache>
            </c:numRef>
          </c:val>
        </c:ser>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sz="1000" b="0" i="0" u="none" strike="noStrike">
                    <a:solidFill>
                      <a:srgbClr val="4B5563"/>
                    </a:solidFill>
                    <a:latin typeface="Arial"/>
                  </a:defRPr>
                </a:pPr>
                <a:r>
                  <a:rPr sz="1000" b="0" i="0" u="none" strike="noStrike">
                    <a:solidFill>
                      <a:srgbClr val="4B5563"/>
                    </a:solidFill>
                    <a:latin typeface="Arial"/>
                  </a:rPr>
                  <a:t>tokens (tiktoken o200k_base)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3A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tokens</c:v>
                </c:pt>
              </c:strCache>
            </c:strRef>
          </c:tx>
          <c:spPr>
            <a:solidFill>
              <a:srgbClr val="2F3CFF"/>
            </a:solidFill>
            <a:effectLst/>
          </c:spPr>
          <c:invertIfNegative val="0"/>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dPt>
            <c:idx val="0"/>
            <c:invertIfNegative val="0"/>
            <c:bubble3D val="0"/>
            <c:spPr>
              <a:solidFill>
                <a:srgbClr val="2F3CFF"/>
              </a:solidFill>
              <a:effectLst/>
            </c:spPr>
          </c:dPt>
          <c:dPt>
            <c:idx val="1"/>
            <c:invertIfNegative val="0"/>
            <c:bubble3D val="0"/>
            <c:spPr>
              <a:solidFill>
                <a:srgbClr val="D97706"/>
              </a:solidFill>
              <a:effectLst/>
            </c:spPr>
          </c:dPt>
          <c:dPt>
            <c:idx val="2"/>
            <c:invertIfNegative val="0"/>
            <c:bubble3D val="0"/>
            <c:spPr>
              <a:solidFill>
                <a:srgbClr val="15803D"/>
              </a:solidFill>
              <a:effectLst/>
            </c:spPr>
          </c:dPt>
          <c:dPt>
            <c:idx val="3"/>
            <c:invertIfNegative val="0"/>
            <c:bubble3D val="0"/>
            <c:spPr>
              <a:solidFill>
                <a:srgbClr val="BE123C"/>
              </a:solidFill>
              <a:effectLst/>
            </c:spPr>
          </c:dPt>
          <c:cat>
            <c:multiLvlStrRef>
              <c:f>Sheet1!$A$2:$A$5</c:f>
              <c:multiLvlStrCache>
                <c:ptCount val="4"/>
                <c:lvl>
                  <c:pt idx="0">
                    <c:v>OpenUI Lang</c:v>
                  </c:pt>
                  <c:pt idx="1">
                    <c:v>YAML</c:v>
                  </c:pt>
                  <c:pt idx="2">
                    <c:v>C1 JSON</c:v>
                  </c:pt>
                  <c:pt idx="3">
                    <c:v>patches</c:v>
                  </c:pt>
                </c:lvl>
              </c:multiLvlStrCache>
            </c:multiLvlStrRef>
          </c:cat>
          <c:val>
            <c:numRef>
              <c:f>Sheet1!$B$2:$B$5</c:f>
              <c:numCache>
                <c:formatCode>General</c:formatCode>
                <c:ptCount val="4"/>
                <c:pt idx="0">
                  <c:v>4800</c:v>
                </c:pt>
                <c:pt idx="1">
                  <c:v>9122</c:v>
                </c:pt>
                <c:pt idx="2">
                  <c:v>9948</c:v>
                </c:pt>
                <c:pt idx="3">
                  <c:v>10180</c:v>
                </c:pt>
              </c:numCache>
            </c:numRef>
          </c:val>
        </c:ser>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sz="1000" b="0" i="0" u="none" strike="noStrike">
                    <a:solidFill>
                      <a:srgbClr val="4B5563"/>
                    </a:solidFill>
                    <a:latin typeface="Arial"/>
                  </a:defRPr>
                </a:pPr>
                <a:r>
                  <a:rPr sz="1000" b="0" i="0" u="none" strike="noStrike">
                    <a:solidFill>
                      <a:srgbClr val="4B5563"/>
                    </a:solidFill>
                    <a:latin typeface="Arial"/>
                  </a:rPr>
                  <a:t>tokens (o200k_base), seven scenarios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3A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 to first paint</c:v>
                </c:pt>
              </c:strCache>
            </c:strRef>
          </c:tx>
          <c:spPr>
            <a:solidFill>
              <a:srgbClr val="2F3CFF"/>
            </a:solidFill>
            <a:effectLst/>
          </c:spPr>
          <c:invertIfNegative val="0"/>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dPt>
            <c:idx val="0"/>
            <c:invertIfNegative val="0"/>
            <c:bubble3D val="0"/>
            <c:spPr>
              <a:solidFill>
                <a:srgbClr val="2F3CFF"/>
              </a:solidFill>
              <a:effectLst/>
            </c:spPr>
          </c:dPt>
          <c:dPt>
            <c:idx val="1"/>
            <c:invertIfNegative val="0"/>
            <c:bubble3D val="0"/>
            <c:spPr>
              <a:solidFill>
                <a:srgbClr val="D97706"/>
              </a:solidFill>
              <a:effectLst/>
            </c:spPr>
          </c:dPt>
          <c:dPt>
            <c:idx val="2"/>
            <c:invertIfNegative val="0"/>
            <c:bubble3D val="0"/>
            <c:spPr>
              <a:solidFill>
                <a:srgbClr val="15803D"/>
              </a:solidFill>
              <a:effectLst/>
            </c:spPr>
          </c:dPt>
          <c:dPt>
            <c:idx val="3"/>
            <c:invertIfNegative val="0"/>
            <c:bubble3D val="0"/>
            <c:spPr>
              <a:solidFill>
                <a:srgbClr val="BE123C"/>
              </a:solidFill>
              <a:effectLst/>
            </c:spPr>
          </c:dPt>
          <c:cat>
            <c:multiLvlStrRef>
              <c:f>Sheet1!$A$2:$A$5</c:f>
              <c:multiLvlStrCache>
                <c:ptCount val="4"/>
                <c:lvl>
                  <c:pt idx="0">
                    <c:v>OpenUI Lang</c:v>
                  </c:pt>
                  <c:pt idx="1">
                    <c:v>YAML</c:v>
                  </c:pt>
                  <c:pt idx="2">
                    <c:v>C1 JSON</c:v>
                  </c:pt>
                  <c:pt idx="3">
                    <c:v>patches</c:v>
                  </c:pt>
                </c:lvl>
              </c:multiLvlStrCache>
            </c:multiLvlStrRef>
          </c:cat>
          <c:val>
            <c:numRef>
              <c:f>Sheet1!$B$2:$B$5</c:f>
              <c:numCache>
                <c:formatCode>General</c:formatCode>
                <c:ptCount val="4"/>
                <c:pt idx="0">
                  <c:v>0.2</c:v>
                </c:pt>
                <c:pt idx="1">
                  <c:v>12.7</c:v>
                </c:pt>
                <c:pt idx="2">
                  <c:v>14.2</c:v>
                </c:pt>
                <c:pt idx="3">
                  <c:v>14.9</c:v>
                </c:pt>
              </c:numCache>
            </c:numRef>
          </c:val>
        </c:ser>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sz="1000" b="0" i="0" u="none" strike="noStrike">
                    <a:solidFill>
                      <a:srgbClr val="4B5563"/>
                    </a:solidFill>
                    <a:latin typeface="Arial"/>
                  </a:defRPr>
                </a:pPr>
                <a:r>
                  <a:rPr sz="1000" b="0" i="0" u="none" strike="noStrike">
                    <a:solidFill>
                      <a:srgbClr val="4B5563"/>
                    </a:solidFill>
                    <a:latin typeface="Arial"/>
                  </a:rPr>
                  <a:t>seconds to first paint, contact form, 60 tokens/s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3A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first paint (s)</c:v>
                </c:pt>
              </c:strCache>
            </c:strRef>
          </c:tx>
          <c:spPr>
            <a:solidFill>
              <a:srgbClr val="2F3CFF"/>
            </a:solidFill>
            <a:effectLst/>
          </c:spPr>
          <c:invertIfNegative val="0"/>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cat>
            <c:multiLvlStrRef>
              <c:f>Sheet1!$A$2:$A$3</c:f>
              <c:multiLvlStrCache>
                <c:ptCount val="2"/>
                <c:lvl>
                  <c:pt idx="0">
                    <c:v>05.1 one complete spec</c:v>
                  </c:pt>
                  <c:pt idx="1">
                    <c:v>05.2 streamed patches</c:v>
                  </c:pt>
                </c:lvl>
              </c:multiLvlStrCache>
            </c:multiLvlStrRef>
          </c:cat>
          <c:val>
            <c:numRef>
              <c:f>Sheet1!$B$2:$B$3</c:f>
              <c:numCache>
                <c:formatCode>General</c:formatCode>
                <c:ptCount val="2"/>
                <c:pt idx="0">
                  <c:v>5.8</c:v>
                </c:pt>
                <c:pt idx="1">
                  <c:v>3.48</c:v>
                </c:pt>
              </c:numCache>
            </c:numRef>
          </c:val>
        </c:ser>
        <c:ser>
          <c:idx val="1"/>
          <c:order val="1"/>
          <c:tx>
            <c:strRef>
              <c:f>Sheet1!$C$1</c:f>
              <c:strCache>
                <c:ptCount val="1"/>
                <c:pt idx="0">
                  <c:v>complete (s)</c:v>
                </c:pt>
              </c:strCache>
            </c:strRef>
          </c:tx>
          <c:spPr>
            <a:solidFill>
              <a:srgbClr val="D97706"/>
            </a:solidFill>
            <a:effectLst/>
          </c:spPr>
          <c:invertIfNegative val="0"/>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cat>
            <c:multiLvlStrRef>
              <c:f>Sheet1!$A$2:$A$3</c:f>
              <c:multiLvlStrCache>
                <c:ptCount val="2"/>
                <c:lvl>
                  <c:pt idx="0">
                    <c:v>05.1 one complete spec</c:v>
                  </c:pt>
                  <c:pt idx="1">
                    <c:v>05.2 streamed patches</c:v>
                  </c:pt>
                </c:lvl>
              </c:multiLvlStrCache>
            </c:multiLvlStrRef>
          </c:cat>
          <c:val>
            <c:numRef>
              <c:f>Sheet1!$C$2:$C$3</c:f>
              <c:numCache>
                <c:formatCode>General</c:formatCode>
                <c:ptCount val="2"/>
                <c:pt idx="0">
                  <c:v>5.8</c:v>
                </c:pt>
                <c:pt idx="1">
                  <c:v>10.14</c:v>
                </c:pt>
              </c:numCache>
            </c:numRef>
          </c:val>
        </c:ser>
        <c:dLbls>
          <c:numFmt formatCode="#,##0" sourceLinked="0"/>
          <c:txPr>
            <a:bodyPr/>
            <a:lstStyle/>
            <a:p>
              <a:pPr>
                <a:defRPr b="0" i="0" strike="noStrike" sz="1000" u="none">
                  <a:solidFill>
                    <a:srgbClr val="4B556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sz="1000" b="0" i="0" u="none" strike="noStrike">
                    <a:solidFill>
                      <a:srgbClr val="4B5563"/>
                    </a:solidFill>
                    <a:latin typeface="Arial"/>
                  </a:defRPr>
                </a:pPr>
                <a:r>
                  <a:rPr sz="1000" b="0" i="0" u="none" strike="noStrike">
                    <a:solidFill>
                      <a:srgbClr val="4B5563"/>
                    </a:solidFill>
                    <a:latin typeface="Arial"/>
                  </a:rPr>
                  <a:t>seconds after the request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3A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accompanies the generative UI codelab in the simple-coding-harness repository. Every step in the deck maps to a directory you can run. The slides give the theory and the walkthrough; the README gives the same material in prose with the full code. The motif at the bottom is the pattern the whole series builds towards: catalog components by default, one sandboxed generated view where the catalog does not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Most agent answers are not prose; they are numbers, lists, choices. A chat transcript forces them into paragraphs. Generative UI lets the agent emit an interface. The important framing: the agent loop is unchanged. We only change what it emits and what renders that. That is why this is a companion to the harness codelab rather than a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the whole series in one picture. Columns are what the agent emits: static, declarative, open-ended. Rows are where the UI appears: your own product over AG-UI, or a third-party host over MCP Apps. The report's advice is to choose the row first, because it is decided by your product, and then the column, which is a cost and control trade. Point at the cells and name the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modes, one axis. Static is a menu: the agent orders, you cook. Declarative is a kitchen: the agent cooks with your ingredients and your recipes. Open-ended is a blank cheque: anything, at a price, behind glass. The hybrid on the right is the report's answer: keep the catalog as the default and allow one dashed box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Foundations first, because every later library is one of those three mechanisms with a package around it. Then the transport, AG-UI. Then the three declarative formats, each in its own sub-theme, with the benchmark in the middle. Then the other transport, MCP Apps. Finally the two harnesses meet the UI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for the walkthrough format. Each step is three or four slides: theory, code, result. The code on the slides is extracted from the repository when the deck is built, so it cannot drift from what runs. The numbers are the ones the demo scripts printed. When a step could not run something on the recording machine, the slide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Practicalities. One requirements file, one key, Node for the browser parts. The tests never touch a model, so a reader can verify every step without spending anything. The screenshot count is there because every result slide in this deck shows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one prompt, one server shape. The point of doing this without a framework is that every later sub-theme is one of these three mechanisms with a package around it. Static: the model picks a component and fills its props. Declarative: the model composes a layout from a catalog, as data. Open-ended: the model writes HTML and the host runs it in a sandbox. The fourth step is the report's recommendation, a catalog with one sandboxed component in it, plus the loop that turns a click into the next turn. Every number on the next slides comes from the recorded demos in the step READMEs.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least machinery that can turn a model reply into components. The contract is a JSON Schema per component, and the model sees that schema as a tool. Strict mode means the API rejects any call that does not match, so validation is done before the server sees anything. What crosses the wire is one small JSON object per component. What the model cannot do is layout: no nesting, no grouping. That is deliberate, and it is what the next step gives back. Keep this slide short; the code slides carry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generator is the whole server. It runs one streamed chat completion with the three tool schemas attached and switches on the event type. Three branches: a tool call becomes a component message, text becomes a note, usage closes the stream. Point out that the page never sees a tool name or a model; it sees messages with a component field. That shape, one JSON object per component, is the one every later step keeps. The SSE wrapper is two lines: data, JSON, blank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is built by this one helper, so every component has the same contract. Strict mode plus a complete required list plus no additional properties means the model cannot invent a prop, omit one, or misspell one and still get through. The checkpoint in the README is to add a fourth tool. It takes one schema in catalog.py and one renderer in render.mjs, which is the whole cost of a new component in static mode. Note that the renderers escape every prop: the model wrote it, so the page treats it as text, never markup.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Six messages: three metrics, a table, a chart, and the done frame with 249 prompt tokens and 295 completion tokens. The page appended each card as its frame arrived, so the first metric was on screen before the chart finished streaming. Look at the layout: the three metrics sit in a row because the page's stylesheet puts them there, not because the model asked. That is the limit of static generation and the reason for step 01.2. The wire panel at the bottom is the exact stream, one JSON object per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on this slide. First, the catalog is the single source of truth: one Python dict generates the prompt, the schema and the renderer table, so adding a component in one place updates all three. Second, streaming. The page re-parses the partial JSON on every chunk, which only looks good if the document's shape puts the layout before the details. A nested tree cannot: its root object closes last. A flat element map can: the root and its list of child ids are the first thing written, and a missing child renders as a pending slot. The diagram shows that state: the layout holds still while the details fill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shapes come from the same catalog and the same prompt builder; the difference is these two rules and, in the schema, whether a child is a node reference or a string id. Read the flat rule aloud: write root first, then the root element, then its children in order, top-down. That is what puts the skeleton at the front of the stream. The schema for the flat shape adds one check the JSON Schema cannot express: every child id must name an element. Validation runs on the finished document; the partial one is rendered on trust with unknown names shown as stubs.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flat walker. Start at the root id, look up the element, render its children by id. Two things make streaming work. A missing element returns a pending slot rather than nothing, so the layout does not jump when it arrives. And the parser returns open objects as PartialDict, distinct from a dict the model closed, so the renderer can wrap a half-written node as pending. The seen set guards against a cycle the model might write. The tree walker is the same shape without the lookup, which is why it cannot draw a slot for a child that has not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behind the claim. progress.py asks two questions after every chunk: how many catalog components are closed and reachable from the root, and is the root's list of children final. For the tree the answer to the second question is the last chunk, 408 of 408, because the root object is the outermost brace. For the flat map it is chunk 33 of 266, because the root element with its child ids is the first thing the model wrote. First paint is a separate number, 91 against 33, and also favours the flat map because its root is short. This is the reason the declarative protocols in sub-themes 03 and 05 use a flat map with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replays both recorded streams to the same chunk, 88, and screenshots them side by side. On the left the tree has produced a card and a first metric, both still open, and nothing about the rest of the page is known. On the right the flat map has the title, a row with one metric and two pending slots, and a second row waiting below. Same information budget, different order. The hatched slots are the PENDING return in renderFlat. Nothing will move when the remaining elements arrive; they fill the slots that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page in flat mode. Compare it with step 01.1: the metrics are in a row and the table sits beside the chart because the model wrote a Row around them, not because the stylesheet did. Read the JSON at the bottom from the left: root, then the card element with its two child ids, then the metrics row, then the metrics. That order is what the prompt asked for and what made chunk 33 the layout-known point. The done frame reports valid true with no errors, from the schema the server generated out of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mode gives the model everything and this slide is about what that costs. Tokens and consistency are shown on the next slides; trust is solved here. Two layers of containment. The iframe attribute allow-scripts, and only that, gives the document its own opaque origin so it cannot reach the host's cookies or DOM. The CSP is injected into the document itself, first tag in head, so it governs the inline code that follows: default-src none means no fetch, no image, no font leaves the box. What remains is postMessage, and the host accepts one shape, from one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file top to bottom. The CSP string denies everything by default and re-allows only inline style and script, plus data-URI images, because that is what a self-contained page needs. sandboxed puts the meta tag at the front of head so it governs everything after it; a document with no head gets it as the first bytes. mount sets exactly one sandbox token and assigns srcdoc. The checkpoint in the README: remove the meta tag and add an image with an https source, and the request now leaves the box. Put it back and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listener is six lines and it is the whole contract between the two sides. The iframe can post anything it likes; the host keeps only messages from the one window it mounted whose data is an object with type event and a string name. Mention the origin detail: a sandboxed document has an opaque origin, so event.origin reads as the string null and cannot be used to filter. Comparing event.source with the mounted frame's contentWindow does the same job. In this step an accepted event is only logged; the next step acts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report's five-to-ten-times claim, checked. The demo runs the same prompt in all three modes and counts the raw text of each reply with tiktoken's o200k_base, the vocabulary of the GPT-4.1 family. Static: 196 tokens. Flat map: 328. HTML: 3013, which is 9.2 times the flat map; two earlier runs landed at 9.8 and 10.4. Time follows tokens: 32.5 seconds against 4. And there is a cost the chart does not show: the JSON modes painted their first component after about a second, while the HTML page could not be mounted until the last byte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page. Everything on it was written by the model: the layout, the amber palette, the table styling, the SVG chart further down, and one button. It looks nothing like the two previous steps, which is the consistency cost the report names. The demo clicked that button headlessly and the host's inbox received a refreshData event with a payload, proving the bridge works both ways inside the sandbox. Note the timing in the corner: about 32 seconds, and nothing was on screen until the last byte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close the sub-theme. First, the hatch. Step 01.2 showed why declarative should be the default: typed props, a schema, a renderer the product owns, a tenth of the tokens. Step 01.3 showed what open-ended costs and how to contain it. Now the container is a catalog entry whose renderer is the sandbox, and the prompt tells the model to use it at most once and keep it short. Second, the loop. A dashboard that cannot be clicked is a report. A button's action name is opaque to the page and the server; only the model interprets it, on the same transcript, with the same generator that streamed the first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hatch is this function. It takes the one string prop, runs it through sandboxed to inject the CSP, escapes it because it is going into an attribute, and returns an iframe with the allow-scripts token. The last line matters as much as the function: GeneratedView is a plain entry in the renderer table, so renderFlat and renderTree need no special case. The catalog side is one line and two prompt rules. The server never learns that one component is different; the schema sees a string prop and passes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action endpoint is nine lines. Look up the session, count the turn, append one user message built from the event prompt, and return the same stream the first run returned. There is no second code path for later turns. On the page side, act collects two sources of events, a click on a catalog button and a postMessage from a generated iframe, posts them here, and feeds the response to the consume function that rendered the first layout. The action name is never in a schema; the page treats it as opaque, the server as text, and only the model interprets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one of the recorded demo. The prompt asked for a gauge, which the catalog does not have, and a restock button. The model answered with a valid flat map of eleven elements: a card, a row of three metrics, the gauge as a GeneratedView, a row with a table and a column holding a chart and the button. The dashed border marks the hatch. Its html prop is 481 characters of inline SVG; the same dashboard as a whole page in step 01.3 was about nine thousand. That is the hybrid's economics: the catalog everywhere, the sandbox for one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two. The demo clicked Restock Lemons; the page posted the action with its payload, and the inbox panel shows exactly what went to the server. The model answered with the whole dashboard again: the inventory metric went from 20 to 100 with the delta rewritten, the table row followed, and the other nine elements came back unchanged because the prompt asked for that and the transcript held the previous layout. This step re-sends the whole layout, which is simple and costs a second turn of tokens; the diff-based protocols later in the series send only the changed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Sub-theme 01 sent hand-made JSON over an ad-hoc SSE stream, so only its own page could read it. This sub-theme keeps the SSE and replaces the payload with a fixed vocabulary of events. The order matters: first the smallest possible agent so the wire format is visible, then tool calls and state so generative UI becomes an object the model edits, then a real coding agent behind the same endpoint with the official client library on the page. At the end the harness codelab's loop runs from a browser with no change to its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smallest AG-UI agent there is: a run that starts, streams one text message delta by delta, and finishes. Point at the chips: five kinds of event, one message id linking start, every delta and end. Two things to stress. First, the request carries the whole history and the state, so the server keeps nothing between runs. Second, there are exactly two ways out of a run, RUN_FINISHED or RUN_ERROR, and the client can rely on seeing one of them. The browser's EventSource cannot POST a JSON body, which is why the page reads the stream with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function top to bottom. RUN_STARTED with the thread and run ids from the input. A fresh message id. Inside the try, the start event, one content event per delta from the model, the end event. The except turns any model failure into RUN_ERROR and returns, so the client still gets a terminal event. Outside the try, RUN_FINISHED. The generator knows nothing about HTTP; the tests iterate it directly. The endpoint in server.py is ten lines: EventEncoder from ag_ui.encoder encodes each event as a data: line, and a StreamingResponse sends them as they are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hand-written client, kept deliberately small so the wire stays visible. The reader pulls bytes, the decoder turns them into text, and the loop cuts the buffer at every blank line. Each block becomes one event. In app.js a switch on event.type creates a message element on TEXT_MESSAGE_START, appends the delta on TEXT_MESSAGE_CONTENT, and pushes the finished message into the history on TEXT_MESSAGE_END. The point to make: none of this is specific to this agent. Step 02.3 replaces the whole file with a library that does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demo posts one RunAgentInput and gets 200 text/event-stream back: RUN_STARTED, TEXT_MESSAGE_START, eighteen TEXT_MESSAGE_CONTENT events, TEXT_MESSAGE_END, RUN_FINISHED. The page then ran the same prompt and rendered a different sentence, which is the model, not the protocol. Show the right panel: each line is one JSON object with a type field. The checkpoint is worth doing live if there is time: break the API key and watch the run end with RUN_ERROR instead of a hung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02.1 streamed text only and its state field was empty. This step fills it. The report's static generation mode has the agent pick a component and fill its props; sub-theme 01 sent one JSON message per pick. AG-UI does it as state: the page never receives render a metric, it receives the dashboard now has one more metric, as a patch, and re-renders. Three consequences: the client can send the object back, a patch is small, and everything that reads the state stays in sync. Client tools close the other direction: the model calls confirm_purchase like any tool, the server cannot run it, so it streams the call and finishes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inner part of the loop, after the model has stopped streaming and the tool calls are assembled. For each call: if its name is one of the client tools, set the flag and continue, no result. Otherwise execute it, which returns a result string and a list of patch operations. Apply the patch to the server's state, then yield it as STATE_DELTA, then yield the result and append it to the history. After the loop, if a client tool was called, break: the run finishes, and the page has the call. Above this snippet the run began with a snapshot of the state the client sent, or of an empty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three patches. show_metric appends a card object to the metrics array. show_table and show_chart replace one slot each. The model sees these as ordinary function-calling tools with schemas; what it cannot see is that the result is a patch, not a drawing. On the page, render.mjs is the sub-theme 01 idea reduced to what this step needs: one function per component, props in, DOM out, called on every state change. The same three JSON Patch operations exist in Python and in JavaScript, and the tests check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runs in order. The first builds the dashboard: three metrics, a table streamed in sixty-four argument events, a chart in thirty-four, each followed by a patch. The second run's snapshot says three metrics, which proves the page sent the state back and the server continued from it. The model calls confirm_purchase and the run ends without a result; the result exists only in the page's history, as a tool message. The third run starts from that message with no user text, calls record_purchase, and the purchases list gains one entry. The checkpoint asks why removing the client tool changes the run's shape: the model then only has server tools, so nothing stops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02.1 and 02.2 wrote the client by hand to show the wire. A product would use the official client and a real agent, and this step does both. The harness codelab built an agent loop for a terminal: call_llm streams text through a callback and assembles tool calls, execute runs one call through the permission rules, write_todos keeps a plan. None of that is about the terminal. The terminal is one transport in the report's word, and AG-UI is another. The bridge calls the same functions and translates their side effects, and never edits harness/. The one thing a terminal has that a browser lacks is a prompt, so a permission question becomes a CUSTOM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behind the step. The harness's call_llm is a blocking function that reports text through a callback, and an SSE endpoint needs a generator that yields. The bridge's streamed function runs call_llm in a worker thread, and the callback puts each delta on a queue; the generator side pulls from the queue and yields delta tuples until the message tuple arrives. Around that, run() turns each side effect into an event and streams it through the same EventEncoder endpoint as steps 02.1 and 02.2. On the page, HttpAgent posts the RunAgentInput, verifies the event order, rebuilds the messages and applies the state patches.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a translation table. Start, args, end: the three-part tool call shape, from a call the harness already assembled. Then clear the list of asked permissions, run execute, and turn every reason it recorded into a CUSTOM event named permission with decision allow. Then the result event, appended to the history as a tool message. If the tool was write_todos, the plan changed, so a STATE_DELTA replaces /todos. A real product would end the run on a permission question with an interrupt outcome and let the page answer on the next run; the harness codelab's step 35 covers that pattern on the terminal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file with app.js from step 02.1. There, the page read bytes, cut blocks, switched on the type and kept the history by hand. Here, HttpAgent does the request, the parsing, the verification that events arrive in a legal order, the message rebuilding from TEXT and TOOL events, and the state patching. The page only subscribes to what it draws. The one build step in this sub-theme, an esbuild call that flattens @ag-ui/client into vendor/ag-ui-client.js, exists because the library under study needs it. An offline test replays the bridge's exact event sequence from a Node http server into the real HttpAgent and checks messages and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tasks in the recorded demo. The first writes hello.py, runs it through bash, reports the permission the harness asked for and the allow the bridge gave, streams twenty-seven text deltas and closes with usage 1148 in, 28 out. The second asks for a plan first, so write_todos runs and a STATE_DELTA with three todos follows the first tool result; it closes with usage 2053 in, 50 out. The second run's snapshot says zero todos because the first task was a single step and the harness skips the plan for those. One caveat worth saying aloud: the client owns the transcript, so the harness's history stripping and compaction do not apply; a product would move that logic to the client or keep a server-side thread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protocol. The first step builds the four A2UI messages in Python with no library on either side, validates them against the official schemas, and renders the spec's own contact form with a hand painter. The second step has a model write the same messages through the official a2ui-agent-sdk, with the stream parser painting progressively and a correction loop catching mistakes. The third step swaps in the official Lit renderer and carries the same messages as AG-UI events. At the end the reader has A2UI over AG-UI running, with the cost of prompt-first generation measured in tokens and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to hold for the whole sub-theme. On the left, structure: components arrive as a flat list, each with an id, and a parent names its children by id. The client stores them in a map and rebuilds the nested tree only when it paints, so order on the wire does not matter and a child may arrive after its parent. On the right, data: one JSON document per surface, written and read through JSON Pointer paths. The join is a binding: a component property that says path instead of a literal. Later data updates never resend the structure, and an input writes into the same local document a bound Text reads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8. Step 01.2 measured that a flat map with ids paints layout before the leaves arrive. A2UI is that shape standardised. The server-to-client half is only four messages. Say them in order: create a surface, send components, send data, delete the surface. Everything about what a Button or a TextField is lives in a separate catalog schema, which is why the protocol can be rendered by any catalog. This step builds the four messages in Python, validates them against the official schema files, and finds that the spec's own example stream fails its own schema. That is worth a beat: validate before rendering, and expect the validator to disagree with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builders are small on purpose. updateComponents takes a surface id and a list; the only rule the envelope adds is that one component must be called root. updateDataModel takes a path and a value, and the same message with no value deletes the key at that path. deleteSurface is one id. What is not here matters as much: no tree, no parent pointers, no component definitions. The catalog schema, wired in through a registry under the envelope's placeholder name, decides whether a component is well formed. In the demo, the spec's own updateComponents fails that check because a TextField rule is written without the condition wrapper; a three-rule repair makes it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 a node test can exercise with no browser. A Surface is two fields: components, a Map, and data, a plain object. apply routes one message to one of them. Notice there is no tree here at all. The painter calls tree(), which walks child ids from root and returns a placeholder for any id the map does not hold yet, so missing refs zero in the demo log is a fact about the map, and a child that arrives later fills its placeholder on the next paint. Typing into a field calls set, which is a pointer write into the same object, which is why a Text bound to that path updates without any message from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demo replays the four messages from the A2UI v0.9.1 protocol document, unchanged. The first surprise is that message two does not validate: the TextField checks are written in a shape the CheckRule schema does not accept, and the error path is a JSON Pointer into the message. That path format is what the spec asks a client to send back so a model can correct itself; step 03.2 relies on it. After repair, the map holds 25 components with no missing references. The browser shows eight inputs with the data model's values, and a click yields an action whose context was read from the data model at that moment, including isNewsletterSubscribed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9. Step 03.1 replayed messages written by people; now the model writes them. A2UI v0.9 is prompt-first: the whole catalog schema goes into the system prompt and the model writes JSON that should match. Nothing enforces that at generation time, so the protocol pairs the prompt with a loop. Walk the diagram left to right. The stream parser paints while the model is still writing, standing an empty loading row in for children it has not seen. When the reply is complete, the full parser repairs and validates. If that fails, every surface the stream created is withdrawn and the validator's message goes back to the model as a user turn. The recorded run needed one attempt; the tests force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prompt.py wraps the a2ui-agent-sdk package. system_prompt builds the role paragraph, the SDK's own workflow rules, root first, parents before children, blocks in a2ui-json tags, and then the JSON schema of the entire catalog. That is where the 41 thousand characters come from, and why the request cost 9,929 prompt tokens before a word of user input. stream_parser returns a fresh DirectJsonStreamParser per attempt. It heals cut strings and re-sends components as they grow, but it does not repair syntax; a trailing comma stops it. The full parser, behind parse_reply, does repair and does validate, which is why the final pass always runs even when the progressive pass gave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except branch of the generate loop, the part the README asks the reader to look at. When the finished reply fails the full parser, three things happen in order. First a note goes to the page with the error text. Then, for every surface the streaming pass created, a deleteSurface is sent, so the user is not left with a partially painted form that the server knows is wrong. Then the failed reply and the validator's message are appended to the conversation as an assistant turn and a user turn, and the for loop continues to attempt two. That second attempt costs another ten thousand prompt tokens, which is the price the report attaches to the declarative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to read out. The system prompt is 41,083 characters, about 9.9 thousand tokens, on every request. The first message reached the page four and a half seconds after the POST, and 38 progressive updateComponents messages painted the form before the final validated one at 10.81 seconds. One attempt was enough; no correction turn ran. Then the round trip: typing changed only the local data model, the click resolved the Button's context from it and posted the action, and the server answered with one updateDataModel into the status path its mirror found. Ask the room why so many of the 38 are duplicates; the answer is that the SDK heals cut strings and re-sends.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10, the top of this sub-theme. The report separates where the UI appears from what the agent emits, and this step shows the two side by side. AG-UI, from sub-theme 02, is the transport: a run with a thread id, ordered events on one stream, and forwardedProps for whatever the application must carry. A2UI is the generation format. The join is a single CUSTOM event whose value is one envelope. The diagram nests the report's full stack; A2A would sit outside when a second agent exists, and here its slot is the point where the server reads the last user message. The other swap is the renderer: the official Lit package, which renders markdown and runs catalog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page side of the join. The AG-UI client in agui.mjs splits SSE frames and calls onEvent for each event. The switch has cases for RUN_STARTED, STEP events, TEXT_MESSAGE_CONTENT for the model's prose, and this one. When a CUSTOM event named a2ui arrives, its value goes straight to the processor from @a2ui/web_core, the same object the official renderer uses. No translation, no wrapper. The rest of the case is logging for the demo. Point out what the official renderer does that step 03.1's painter did not: Text renders markdown through an injected renderer, catalog functions such as required and formatDate run, and typing writes into web_core's own DataModel.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side of the join. The generate loop from step 03.2 is unchanged except that it now yields step, text, done and error kinds alongside the envelopes. to_events wraps the whole thing: a RunStartedEvent first, then one AG-UI event per pair. An envelope, kind None, becomes a CustomEvent named a2ui. A step pair becomes StepStarted or StepFinished with the attempt number as the step name. Prose becomes a text message triple, and done becomes RunFinished with the token usage in its result. The endpoint validates the body with RunAgentInput and writes each event with EventEncoder. The ag-ui-protocol package, not hand-written SSE lines, owns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page. Same prompt as step 03.2, same generate loop, two swaps. The renderer is the official Lit package, so the heading is a real heading and the catalog's validation functions run. The transport is AG-UI: the run started at 1.63 seconds, createSurface arrived at 7.19, and 54 CUSTOM updateComponents events followed before RUN_FINISHED at 15.64 with the usage in its result. Over fifty events for one form is the SDK's stream parser re-sending reachable components as strings heal; the Lit renderer absorbs them because MessageProcessor updates a component in place. The click became a second run carrying the action and a 92-byte client data model in forwardedProps.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wire, because it is the proof of the takeaway. A click on the official renderer resolves the Button's context, and the page starts a second AG-UI run with the action and its client data model in forwardedProps. The server routes that run to answer_action without a model call and replies with three frames: RUN_STARTED, one CUSTOM a2ui event carrying an updateDataModel into the status path, and RUN_FINISHED with the answered action name. Nothing in AG-UI changed to carry A2UI, and nothing in A2UI changed to ride AG-UI. The thread id is the page's; the run id is new per click. That is the AG-UI unit, and an A2UI surface outlives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one language. The first step writes a parser for the core of OpenUI Lang twice, in Python and in JavaScript, with a catalog as plain JSON Schema and a DOM renderer that draws forward references as skeletons. The second step replaces all of that with the official packages: a Zod catalog generates the prompt, the parser's parameter map and the React renderers from one source. The third step has no page at all; it recomputes the report's benchmark on the seven scenarios and says which numbers reproduce. The fourth step adds one open-ended component to the catalog, on OpenUI's html-artifact example, and measures what that escape hatch costs when the model takes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11. Step 01.2 measured that a flat element map paints before a nested tree does. OpenUI Lang keeps that property and drops the JSON around it. Three rules carry the design. A newline outside brackets ends a statement, so every complete line is actionable. Arguments are positional, so the model never writes a key name; the catalog's property order supplies them. And a reference may appear before its definition: the resolver returns a placeholder for a name with no statement yet, and the renderer draws it as a skeleton. The diagram shows the page after three lines: the layout exists, the title is drawn, and the metrics and the chart are grey boxes waiting for their lines. Nothing is patched; the whole buffer is re-resolved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forward-reference mechanism in twelve lines. reference is called for every identifier the resolver meets. If the program has no statement for that name, or if the name is already being visited, which would be a cycle, the function records the name in unresolved and returns a placeholder node. Otherwise it resolves the statement's expression and, when the result is an element, stamps the statement id on it. There is no patching and no dependency graph: the streaming parser re-parses the whole buffer on every chunk, so a placeholder simply stops being produced once its line has arrived. The reference implementation caches completed statements; the behaviour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return worth reading. A component call is a name and a list of positional arguments. The parser looks the name up in the catalog, which in this step is plain JSON Schema: one entry per component, and the order of its properties is the order of its arguments. Unknown names are errors; too many arguments are errors; then zip pairs what the model wrote with what the catalog expects, and the result is an element node with named props. The point of the checkpoint is that the same program text has no meaning on its own. Swap two properties in the catalog and the Stack that was a row becomes a column. In step 02 the Zod key order is that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screenshot is the whole argument for the format. Three lines in, the page has a Stack with a heading at the top and six grey boxes below it. The heading is real, the boxes are placeholders. The unresolved list on the right names them. Point at the shape: the reader can already see this is a dashboard with KPIs, a chart, a table and a card of actions, before any number has arrived. In step 01.2 the same moment in a nested JSON tree showed nothing, because the root object had not closed. The count of unresolved names goes up at line 3, when kpis introduces three more references, and then falls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screenshot is the finished page: twelve statements, no unresolved names, no errors. Two things to point at. First, line 7 uses days before line 8 defines it, so the chart spends one line as a skeleton and then fills in. That is the whole hoisting mechanism, and it costs nothing because the resolver is re-run rather than patched. Second, the tree that produced this page is the same, byte for byte, whether the Python or the JavaScript parser built it; the offline test diffs them. The checkpoint is about ownership: reorder two properties in the catalog, and the same program draws a column where it drew a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12. The mechanism does not change; the contract around it does. In step 04.1 the catalog was a JSON file, the parser a separate module, and the renderer a third. Here all three come from the Zod schemas in library.mjs. defineComponent pairs a schema with a React function; createLibrary collects them with Stack as the root. library.prompt turns the schemas into signature lines, and the key order of each z.object is the positional argument order the model must use. The parser reads the same schemas as JSON Schema. So a ninth component added to library.mjs appears in the prompt, is accepted by the parser and is drawn by the renderer, with no other file touched. The one engineering detail is the bundler: react-lang imports bare specifiers and React 19 is CommonJS on npm, so esbuild runs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component, read three ways. The name and the description are what the model sees after the signature. The props schema is a z.object with three keys, and the order of those keys is the order of the positional arguments; that is the entire contract that keeps the prompt, the parser and the renderer aligned. The component function is plain React with createElement, because the page ships no JSX transform. Notice what is not shown to the model: the describe text on delta appears nowhere in the signature line, so anything an argument needs explained belongs in the component description or in the prompt's additional rules. The next slide shows what this object becomes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output of library.prompt, cached by the server. The signatures section is the part the catalog controls: one line per component, arguments in Zod key order, optional ones marked with a question mark, the description after the dash. Around it the library adds the syntax rules, the hoisting and streaming advice, and a final verification list, all fixed text. The streaming advice matters for step 04.3: the prompt asks the model to write root first and to prefer references over inline calls, because that is the order in which the page can paint. The checkpoint is the point of the step: add a component to library.mjs, run npm run prompt, and the new line is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The prompt asked for a dashboard for a lemonade stand and the model answered in OpenUI Lang: a root Stack, a heading, a row of three metrics, a bar chart with seven labels and seven values, a card with a table, and a card with two inputs and a button. Nine statements, none unresolved. Two things the model did that the prompt did not ask for: it put blank lines between groups, and it wrote the Table inline inside the Card rather than as a reference. The parser accepts both; the prompt only prefers references for better streaming. The page's status line reads the parse result's meta, which also carries error codes the app could send back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13, and no page this time. The report's claim is that a line-oriented DSL is the most token-efficient declarative format because JSON pays for keys, quotes and brackets on every field. This step makes the sentence checkable. The seven scenario programs are the ones the report's benchmark generated; convert.py parses each one with the step 04.1 parser and writes the same tree out as C1 JSON, as json-render's element map and its patch stream, and as YAML, porting the yaml npm package's quoting and folding rules so the bytes match. tiktoken counts everything with o200k_base. Every total and every per-scenario cell reproduces. Two of the repository's committed files do not count like the table, which is worth a sentence: prettier reformatted the C1 files after the numbers were taken, and formatting alone moves C1 by up to ten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that makes the comparison fair. It parses the OpenUI Lang sample with the same parser step 04.1 wrote, using the benchmark's own schema for the argument names, and refuses any sample that leaves references unresolved. Then it returns five texts. The first is the sample itself, the model's actual output. The other four are projections of the tree it produced: YAML through a port of the yaml npm package's emitter, C1 JSON as the raw JSON.stringify text, the json-render patch stream with one add per element, and the element map as a single compact document. Because every text describes the same tree, the token counts differ only by syntax. The map column is extra; it isolates the cost of the patch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report's latency figure, 3.04x on the contact form, is a ratio of complete-render times: 893 tokens against 294 at the same rate. This function measures something else, the tokens a renderer must have before it can draw anything. For OpenUI Lang that is the first line, because root = Stack is a complete statement. For C1 JSON and YAML it is the whole document, because a nested tree closes at the end. For the patch stream in the report's projection it is also the whole stream, because the children are added before their parents and the root patch is the last line. Sub-theme 05 shows json-render streaming root-first, where the patch shape pays off. The lesson is that first paint depends on statement order, which is why the step 04.2 prompt insists on root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totals, as the report printed them and as this step recomputes them. OpenUI Lang at 4800, YAML at 9122, Thesys C1 JSON at 9948, json-render patches at 10180. The interesting number is not the ratio but its flatness: the smallest scenario saves 53 percent against YAML and the largest 42, because the overhead of JSON is per field and scales with the UI rather than shrinking for big ones. YAML wins among the three JSON-shaped formats by dropping quotes and brackets, and still pays for every key name; OpenUI Lang drops the key names too because the catalog supplies them positionally. The patch stream pays one add envelope per element, about eleven tokens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contact form, measured as time to first paint at the report's constant rate of 60 tokens per second. OpenUI Lang paints its shell after the first line, a fraction of a second in. The three other formats paint nothing until the whole document has arrived: 12.7 seconds for YAML, 14.2 for C1 JSON, 14.9 for the patch stream. Say clearly that this is not the report's 3.04x, which compares complete renders, 4.9 seconds against 14.9. First paint is a stronger claim and a more conditional one: it holds only when the model writes root first, which is exactly what the library's generated prompt asks for, and it does not hold for the patch stream as the report projected it, because that stream adds children before parents.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printed output, trimmed to the columns that matter. Read the TOTAL and report TOTAL rows first: they are equal in every column. Then the savings column, which is what the flatness argument rests on: the biggest UI saves the least, 42 percent, and the smallest form saves the most, 61, and neither is far from the total's 47. The seconds rows below show the two quantities side by side for two scenarios: complete render and, in brackets, first paint. The map column in the stats is the extra measurement this step adds: the element map as a plain document is 23 percent cheaper than the same map as a patch stream, and that difference is the envelope alone. The third table, which the slide omits, is where the two committed artifacts that do not match are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14, the last of the sub-theme. The report's recommended default is a catalog with one open-ended component in it, and OpenUI ships a reference implementation of exactly that: the html-artifact example, with a Markdown component for conversation and an HtmlArtifact whose second argument is a whole HTML document. This step puts it on the step 04.2 stack with the real catalog kept, so a dashboard still renders as Metric, BarChart and Table. The mechanism is the same as the example's and there is nothing new on the wire: the document is a string argument inside one OpenUI Lang statement, so it streams like any other string, and the streaming parser exposes the partial value on every chunk. What the example leaves for production, the CSP, a validation pass and a message check, is done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renderer for the open-ended component, with its head and tabs elided. useIsStreaming comes from react-lang and tells the component whether the Renderer is still receiving text, so it needs no prop from the page. The view state starts as raw while streaming and flips to rendered when the stream ends. The ternary is the whole behaviour: while streaming, or when the reader picks the Raw tab, a pre shows the document as it stands; otherwise an iframe with sandbox allow-scripts, no referrer, and a srcDoc that has been through sandboxed. React renders through srcDoc, so a re-parse that leaves the document unchanged does not reload the frame. The Raw tab unmounts it, so the document's state resets on the way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hardening the example's README defers. The example's iframe has sandbox and referrerpolicy only, so an inline fetch or a script src would still reach the network. This module closes that. The policy denies everything by default and allows inline style and script, because that is what the prompt tells the model to write, plus data URIs for images. sandboxed first strips any Content-Security-Policy meta the model produced, so the document cannot relax the policy, then inserts ours immediately after the opening head tag, or at the very start if there is no head. Two more functions in the same file: checkDocument, which reports external resources and network calls for the reader and the logs, and isEvent, the one message shape the page accepts from the iframe.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the two recorded prompts. Asked for a dashboard, the model answered with eleven catalog statements: a heading, three metrics in a row, a bar chart, an inventory table inside a card, and two buttons. No Markdown, no artifact. 262 completion tokens against 1235 in the prompt. The point of this screenshot is what did not happen: the model had an open-ended component available and did not use it, because the prompt rule says dashboards belong to the catalog. The checkpoint is to delete that one rule and ask again; the completion token count is the measure of what the rule is worth. The API's completion count equals the tiktoken count of the program, which makes the shares on the next slides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prompt, caught mid-stream. The model introduced the reply with a Markdown child, which the prompt rule asks for and which is already rendered at the top. Below it the artifact shows its title, a status line with the character count so far, and the raw HTML as it stands. This is the property the step relies on: the document is one long string argument, the streaming parser exposes the partial value of that string on every chunk, and the renderer shows it. There is no spinner; the growing source is the progress indicator. No iframe has been created, because useIsStreaming is true. The Node test pins this behaviour by cutting the program inside the document and checking that the partial value ends where the cut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reply once complete. The Rendered tab is active and the iframe shows the calculator; the headless test typed 9 into the price field inside the sandbox and the total moved from ten dollars to ninety, so the script ran under the injected policy. The numbers to leave the audience with: 341 completion tokens, of which the document took 292, 86 percent. The dashboard reply on the previous prompt was 262 tokens with no artifact. That is the report's hybrid in one pair of screenshots: open-ended generation is expensive, so the catalog answers by default and the sandbox is used only when the request needs it. Nothing crossed the iframe boundary; had the document posted a message, isEvent would have accepted one shape and dropped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Sub-theme 05 is the third open format in the declarative middle, after A2UI and OpenUI Lang. The difference from sub-theme 01 is not the idea but who does the work: the library. One catalog object with Zod props produces four things at once, and the spec shape is a flat map of elements addressed by id, which is what makes streaming and later edits cheap. Three steps: a whole spec painted once, the same spec streamed as patches, and then buttons that drive the next model turn plus a terminal renderer. Packages are pinned at 0.20.0 in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gives the hand-built loop of sub-theme 01 to a library. The single idea to land is that the catalog is the contract. One object with Zod props produces the prompt the model reads, the JSON Schema the server checks against, the typed component map the page renders with, and the validator. Point at the diagram: the prompt and the schema are cached text files, so the Python server never runs Node at request time. Note the spec shape: a flat map of elements keyed by id. That shape looks odd now and pays off in the next step. The demo still paints once, after the whole object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file top down. defineCatalog takes the React schema and an object of components. Each component is a Zod props object and a description. Line 6 is the one to dwell on: nullable is a single annotation, and it shows up in three places, the prompt, the JSON Schema and the Python check. Line 8 matters more than it looks: the description is the whole of what the model knows about when to pick Card over Row. The four custom rules that follow in the file ask for one complete object; step 05.2 deletes them and streams.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validator output of the catalog, on the Python side. Three faults are checked because those are the ones a renderer fails on without an error: an unknown type, a child id that points nowhere, and a prop of the wrong type. Line 9 is the subtle one. The model may write a prop as an expression, a $state or $template reference, and the renderer resolves those before the component sees them, so the check skips them rather than failing on a string where it expected a number. The jsonschema validator runs the exported schema; catalog.validate does the same job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One request, one complete spec, one paint at 5.8 seconds. The picture is the lemonade dashboard the model composed from six components: a card, a row of three metrics, two cards with tables. Look at the token split: 4,109 in the prompt against 351 in the reply. The prompt is that long because the library describes its whole feature set, state, repeats, events, visibility, for six components. Sub-theme 04 measured the other side of that trade with a smaller DSL. Also note the model put numbers in state and referenced them from props, which the prompt suggests and the renderer resolves.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05.1 showed nothing until the whole object arrived. This step removes the four rules and uses the library's own format: JSON Patch, one operation per line. Walk the chips: the first line names the root, the second line adds the root element and the page paints. From then on each line is an element or a state value, and a parent may name a child that has not arrived yet. That property is why the report favours flat element maps over nested trees. The Python json_patch.py is a small RFC 6902 with the library's two tolerances so both sides build the same spec. Stress the takeaway: the prompt still costs 4,000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side of streaming in twelve lines. Chunks arrive at any boundary, mid-line included, so the compiler buffers and only reports patches for complete lines; the continue on line 3 skips renders when nothing new applied. Line 6 is a real edge the library does not cover: after the very first patch the spec has a root id and no elements map, and Renderer reads elements[root] without a guard, so the page supplies an empty map. The first-paint timestamp is taken when the root element exists. Line 12 handles the last line with no trailing newline, which the fixture in tests exercises: twelve in the loop, the thirteenth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is a relay with a tap. Each chunk from the model goes straight to the page, and a copy goes into SpecStream, so when the stream ends the server holds the same spec the page built, plus the patches and the timings. Line 11 is where the server records when a first paint became possible: 3.46 seconds in the recorded run, against 3.48 on the page. Line 13 is the design decision: the server never reshapes the text, so what the page compiles is exactly what the model wrote. The tests compile one fixture with both compilers and assert the same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of two screenshots from one run. At 3.48 seconds the page has one card and its title, and nothing else. That is the second patch line: the root id came first, then the root element. The card's children list already names elements that have not arrived, and the renderer simply draws nothing for them. The server saw the first chunk at 2.53 seconds, so about a second of the difference is the model writing the first two lines. The 2.5 seconds before that is prompt reading and is the floor for any format with a 4,000-token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of the same run. Thirteen patches, nine elements, the same dashboard shape as step 05.1. The complete time, 10.14 seconds, is later than step 05.1's single paint, and that is worth saying out loud: streaming did not make the model faster, and runs vary with the model's speed. What it changed is that the user saw a card at 3.5 seconds and watched it fill. The metrics read state, and the page makes a fresh copy of spec.state per version because the state provider compares by reference. Token cost is unchanged: about 4,000 in, under 500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bars per step. On the left, step 05.1: first paint and complete coincide at 5.8 seconds because a single JSON object cannot be rendered until it closes. On the right, step 05.2: the first element at 3.48 seconds and the last at 10.14. The honest reading is that streaming trades a later finish for an earlier start, and the user experience follows the start. The prompt cost is the same in both. Say clearly that these are single recorded runs, not averages; the point is the shape of the difference, not the exact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05.2 streams a spec and stops. This step closes the loop. A button element carries an on field that names an action; that is data in the spec, not code in props. Two kinds of action: built-in ones change state inside the page, catalog actions are names you declare and the page maps to handlers. Here every handler does the same thing, tell the server, run one more model turn, feed the reply into the compiler already holding the spec. Follow the diagram down. The server's user message asks for patches against the spec the model already produced, so the reply is small: replace values, keep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handler side of the loop. serverAction posts the action name and its params to the server and hands the streamed reply to consume, the same function that compiled the first turn, so the patches apply to the spec on screen. The handlers object maps the two catalog actions to that one function. Line 16 is the design decision made visible: setState is handled by the library inside the page and no handler sees it; onStateChange exists only so the demo can log it. That is why the last press in the recorded demo shows as handled in the page and no request leaves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step, and the reason to choose this format at all. The element map never mentions HTML, so a second component map is all a second target needs. Here it is written with ink's Box and Text. Line 2 shows the one API difference between the two packages: ink components receive the element, React components receive props. Everything else, the catalog, the spec, the state expressions, is shared. The test in the step renders one spec through react-dom/server and through a fake terminal and asserts every text appears in both; that is the one spec, two renderers claim as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to leave people with for sub-theme 05. The outer layer is the catalog: the contract, from which the prompt, schema and validator are derived. Inside it, one spec, the one the recorded demo ended with after three model turns. Inside that, the two component maps: React with htm for the page, ink Box and Text for the terminal. The json-render family ships renderers for several more targets, and each one asks for exactly this, a component map per target. Nothing in the spec says div or Box. Next, the two renders of the same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after the recorded demo pressed every button. Read the log at the bottom in order. Refresh Numbers went to the server and came back as twelve replace patches on state paths in 4.48 seconds; the metrics and chart changed on screen with no new spec. Show Details went to the server with the metric's label as a typed parameter; the model wrote a note into state and set showNotes, so a notes card appeared and the toggle's label flipped. The last press was that toggle: setState, handled in the page, no request. The numbers are small because the model edits state, not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demo_spec.json, rendered by ink_render.mjs in a terminal. The values match the page: $270, Saturday, 165, the chart bars, the buttons as cyan brackets. Now the checkpoint from the README: the terminal shows the Notes card and the page does not. The page's last press was setState showNotes false, and setState is local, so the server's spec, the one the terminal renders, still has the model's own patch that set showNotes to true. That is the practical lesson about built-in actions: they are local state, and if the agent needs to know, the page must send them. One spec, two renderers, and one visible difference that teaches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sub-theme is the other half of the report's transport axis. In sub-theme 02 the reader owned the page, the loop and the renderer. Here the reader owns one MCP server and nothing else: the page belongs to Claude, ChatGPT, VS Code or Goose. The interface therefore has to travel as data the host can fetch: a resource with a ui:// URI, and a tool whose metadata points at it. Step 06.1 builds the server and the smallest host that can mount the view, to show every message on the wire. Step 06.2 plugs the unchanged server into the harness codelab's MCP client, which only speaks text, and gives the configuration for two real iframe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two audiences. The model reads content, which is text; the view renders structuredContent, which is data the model never sees. Then the diagram: the view opens with ui/initialize and gets the host's context back, theme and container size included. Only after the view says initialized does the host deliver the tool input and the tool result; send them earlier and the listener is not there. The view reports its size after each render so the host can grow the frame. The amber arrow is the interactive phase: the view can call a tool, but only through the host, which forwards it to the server and may ask the user first. That is the security model: a sandboxed iframe, auditable messages, a policy built from what the resource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top to bottom; this is the bridge log from the demo. The view sends ui/initialize and gets the host's context and capabilities back. It says initialized. Now the host delivers the tool input and the tool result, in that order, from the call the model made. The view renders and reports its size. The amber arrow is the interactive phase: the 14-day button sends tools/call to the host, the host forwards it to the MCP server over HTTP, and the answer comes back as the response to the view's request. The host can log every one of these, refuse one, or ask the user. The iframe has sandbox=allow-scripts and no allow-same-origin, so it has an opaque origin: no cookies, no storage, no access to the host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server. The decorator's meta is what makes the tool an MCP App: the host sees _meta.ui.resourceUri and knows which resource to fetch. The result has two halves on purpose. Keep the text short and complete on its own, because a text-only host shows exactly that; keep the data complete, because the view draws from it. The resource function returns view.html unchanged: it is a static template, and the host can fetch and review it before any tool runs. The empty CSP lists in VIEW_META are a deliberate choice: the view is self-contained, so the host starts from the spec's restrictive default and widens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on this slide is fixed by the spec, and the bridge log in the demo shows it verbatim. The view asks to initialize and applies the host's context, which is how it picks up the host's theme in Claude Desktop later. It then says initialized. The host has been holding the tool input and the tool result, and delivers them now. The size observer closes the loop: the host does not know how tall the view is, so the view tells it after every render. Everything on this slide is plain postMessage; the official ext-apps package wraps the same messages in an App class with typed handlers.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halves of the page. The chat shows the model's turn: it called lemonade_dashboard with five days and answered in one sentence, 132 cups and 198 dollars, best day Tuesday. The view on the right drew the same numbers as cards, bars and a table, from structuredContent the model never saw. The bridge log printed the fixed order of messages, then a size report of 550 by 458. The last five lines of the log are the interactive phase: the demo clicked the 14-day button inside the iframe, the view sent tools/call to the host, the host forwarded it to the server, and the frame grew to 550 by 665. Without a key the demo calls the tool directly and the log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06.1 built a host to prove the protocol. This step asks what a host that was not written for the server does with it. The harness codelab's MCP client speaks stdio and shows text, so it becomes a text host: at registration it notes which tools carry a view, on the first call it reads the resource once and keeps four facts about it, and after the tool panel it draws the structuredContent as a card. The card is queued rather than drawn inside the call, because the call runs on a pool thread and the loop owns the terminal. The model's string does not change. Then the same server goes into Claude Desktop or Goose with one stdio command, and those hosts mount the HTML in a real iframe.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tail of call_tool and the function the loop calls after it. The first three lines are the whole change to the call path: look up the view for this tool, and if the result is not an error, queue it. The return statement is unchanged from the harness codelab, which is the point: the model reads exactly the text it would have read before, and the recorded run confirms it, 2,093 to 2,227 prompt tokens for a table that never entered the context. show_pending is the other half. It is called by the loop, in order, after the tool panel, so the card lands under the tool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host that cannot run HTML still reads the resource, because the resource carries facts the host should show and check. This function reads it once per session and keeps the title, the MIME type, the size and the content security policy. The MIME type check is in show_app: a resource that is not text/html with the mcp-app profile is noted and not rendered. The size and the policy go into the card's subtitle so the reader can see what the sandboxed view would have been. The renderer in ui_text knows nothing about lemonade: a list of flat dicts with the same keys becomes a table with right-aligned numbers, and a dict becomes indented key-value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run top to bottom. The first model call cost 2,093 prompt tokens and produced one tool call. The tool panel shows the text content: a one-line summary and one line per day. Under it, the app card: the resource's URI, MIME type, size and policy in the subtitle, then the structuredContent as a table and a summary. The second model call cost 2,227 prompt tokens, so the prompt grew by the text lines only; the table came from data the view would have used and never entered the context. The demo leaves out the harness's late-injection panels; everything else is the harness's output as printed. Claude Desktop is installed on the build machine but driving it by hand was not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sub-theme with the comparison from the step README. On the left, AG-UI: you own the page, your server streams events over SSE, your renderer draws from state, you run the loop, and the interface appears in your product. On the right, MCP Apps: the host's vendor owns the page, the host calls your MCP server and gets a tool result with text and structured content, your HTML renders inside the host's sandbox, the host runs the loop, and the interface can appear in any compliant host. The report does not ask you to choose. Keep the interface as data, render it with your own page where you own the product, and ship the same data with a ui:// view where you do not. Sub-theme 07 takes the first road inside the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report's hybrid pattern again, now on the MCP Apps transport. Point at the three nested boxes. The outer one is the host page from step 06.1, unchanged apart from the ports. The middle one is the app, under the policy the resource declared. The inner one is new: a second sandboxed iframe for the document the model wrote, with a stricter policy injected first in its head. Say who calls the model: the server, not the host, because MCP Apps keeps credentials on the server side. Then the one rule of the inner boundary: the region may post one message shape to the app, nothing else, and it cannot reach the host's bridge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two costs. The left side is data the view already knows how to draw: six items, 829 bytes, no model call, and the host's restrictive policy applies to it. The right side is markup the model wrote for this call: about one and a half kilobytes and a few hundred completion tokens, and it needs a place to run. That place is the second iframe. Mention the fallback: without a key on the server, a hand-written region with the same slider takes over, and the view shows a note saying so. The tool never fails because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tool top to bottom. Clamp the days, get the rows, then the one new line: the server's own model call, which returns the HTML, where it came from, the usage and the byte count. The content text stays short and now ends with one sentence about the region. The structured content has two parts. The model that called the tool reads the text only; the generated HTML goes to the iframe and never enters the context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06.1's view had one listener for one source. This view has two sources and checks event.source before anything else. The parent is the host; the inner frame is the region. The region may only send an event of one shape, and only from its own window. It cannot use the bridge. The app can, and it forwards a sentence, not the raw payload, to the host with ui/update-model-context, so the next model turn knows what the user did. The debounce keeps a slider from flooding the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The host page is step 06.1's on new ports. In the app panel the catalog components sit above and the generated region below, in an amber dashed frame that marks the second sandbox. The demo moved the slider two frames down, inside that region; the region posted priceChange, the app drew it under the frame and forwarded it to the host, which shows it under the chat. Read the numbers: the server's model call cost 370 prompt and 473 completion tokens for 1,565 bytes of HTML, while the six catalog components cost 829 bytes of JSON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capture is the generated iframe alone, after the headless interaction. Everything in it was written by the model on the server for this call: the slider, the recompute, the message to the parent. The demo set the slider to 2.4 and the region estimated 96 cups and 230.4 in revenue. That payload climbed one frame to the app, which turned it into a sentence for the host. Close with the takeaway: two frames, two policies, one accepted message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sub-theme. Everything before it was a format or a transport studied on its own. Here the stage 15 loop from the harness codelab gains one tool and two surfaces, and then the hosted harness, TrueForge, is shown to already speak one of the formats from sub-theme 04. Step 07.1 is the local harness drawing a validated json-render element map on a terminal and a browser page. Step 07.2 captures an OpenUI Lang program over the TrueForge SDK and renders it line by line in a page of the reader's own. Both are declarative generation; only the transport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reader has the stage 15 harness and the flat element map from sub-theme 01. This step joins them without touching the loop. The catalog is one dictionary: the prompt is generated from it, the validator reads it, and each surface has one function per entry. That is the report's second rule, the catalog is the contract, applied to the harness. Point at the last node: the terminal and the browser page are the same shape, a lookup by type and a recursive walk from root. The model never sees either picture. It gets back one sentence, or a list of corrections if the spec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return values, and both are results. If validation finds problems, the tool returns them as text and nothing is rendered; the model reads the list and tries again. If the spec is valid, publish() hands it to every open browser tab and the terminal draws it inside the tool panel. The string the model receives is one sentence with a count and the root id. That is deliberate: the spec is data the surfaces interpret, not something the model has to describe. The subagent from step 15 is not given this tool; an explorer reports, it does not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smallest function in the step and the one that keeps it honest. The system prompt tells the model which element types exist, and that text is produced from the same dictionary the validator reads and the renderers key on. Add a Gauge entry and the prompt gains a line, the validator accepts it, and the tests fail until both surfaces can draw it. Remove an entry and the model stops being offered it. There is no second list to keep in sync. The checkpoint in the README asks the reader to add exactly that entry and watch the tests tell them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The user asked for a lemonade stand dashboard. The first model call cost 1,365 prompt and 308 completion tokens and produced a ten-element map: metrics, a seven-bar chart, an inventory table inside a nested card, and a weather card. The terminal drew it as a rich panel tree; this screenshot is the browser page drawing the identical spec from the same SSE push. The second call, 1,690 prompt and 43 completion tokens, was the model's one-sentence summary after the tool returned. Nothing in the loop changed to make this happen; the tool and the catalog did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07.1 taught the local harness to draw. TrueForge, the hosted harness from Part 7 of the harness codelab, already does this: enable generative_ui and its agent writes an OpenUI Lang program inside a fence, which the TrueForge chat client renders. Nothing about that is tied to the TrueForge UI. The program is a string, the fence marks where it starts, and any parser that knows the grammar can draw it. Two properties of the language carry the page: forward references, so the root line names children before they exist, and line-oriented statements, so a line is drawable the moment it ends. The server exploits the second by sending one line per SSE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lines on the left are from the recorded reply in sample_reply.md, with the table and chart bodies elided so the shape is visible. Line 1 is the root: a Stack of six named children, none of which exist yet. The parser keeps each reference and resolves it when the statement lands; until then the tree carries a Pending node, which the page draws as a dashed box. The mid-stream screenshot on a later slide is this exact moment, 25 lines in. Note the open Card statements: complete() is a bracket-balance check, so a Card that opens on one line and closes four lines later is committed once, as one statement, and every finished line is drawable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streaming story is this loop. Text arrives in any pieces; the parser appends it to a buffer and looks for the first newline at which everything before it is balanced. If there is no such newline, it returns and waits. If there is, the text up to it is one statement, inner newlines are folded to spaces, and add_line() parses it into the statements table. That is what makes a Card that opens on one line and closes four lines later harmless, in Python and in the JavaScript twin. The server sends one line per SSE event, so the page calls feed() once per line and redraws from root after each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client side. An AgentSpec with a model, one instruction sentence, and a RuntimeConfig with generative UI enabled. That flag is the entire configuration: the instructions say nothing about OpenUI Lang, components or fences. In the recorded turn 1,288 of the 6,954 input tokens are labelled harness in the usage breakdown, which is where TrueForge's catalog and grammar came from. The reply is prose around one fence; extract_program() pulls the program out and, if the stream was cut before the closing fence, still returns what arrived. The tests never touch a real server: they start a fake TrueForge on an ephemeral port and point the real SDK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mid-stream, captured by the demo script 25 lines into the 32-line program. The root line named six children on line 1; the title, the table card and the line chart card have arrived and are drawn; the KPI stack, the status tag and the closing sentence are still dashed placeholders that read waiting for, and the name. This is the forward-reference property doing its work: the layout was known from the first line, and the user sees where each part will go before its statement lands. The step 01 page could not do this; a json-render map arrives whole per tool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page once the program is complete. The recorded turn cost 6,954 input and 352 output tokens, of which 1,288 input tokens are labelled harness, TrueForge's own prompt with the catalog and the grammar. The reply held a 32-line program with 7 statements: a title, a table, a line chart card, two KPI cards, a tag and a closing sentence. Compare the step 01 run, where the model wrote 308 output tokens of JSON for a comparable dashboard through a tool call. The token argument for OpenUI Lang in the report is about larger interfaces and about streaming: here every line was drawable the moment it ended. The checkpoint swaps two statements in the recorded reply; the tree is the same, only the moment each box fills in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07.2 showed that TrueForge's generative UI is a program in a language any parser can draw. That catalog is static: a table, a chart, a tag. It cannot give the user a calculator. This step adds the report's other half without touching the server. The agent's instructions describe one extra component, HtmlArtifact, with rules copied from OpenUI's html-artifact example: only for interactive requests, inline CSS and JS only, one statement on one line. The catalog stays the default. Point at the diagram: the left column is TrueForge's own guide, the dashed box on the right is ours. Stress the last bullet: the TrueForge chat UI would show the statement as text; this page is the surface that knows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open-ended half. An HtmlArtifact statement is one long line, so the parser cannot commit it until the closing quote arrives. Step 07.3 adds partial() to both parsers: a lenient read of the held-back line, so the tree carries a node marked partial with the document decoded as far as it goes. The renderer draws that as a status and the raw source. When the line closes, the same component mounts an iframe. The srcdoc goes through sandboxed(): any Content-Security-Policy meta the model wrote is removed, ours goes first in head, and the policy is default-src none with inline style and script allowed, because that is what the rules told the agent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what the live runs taught. TrueForge's harness prompt makes the agent call get_openui_instructions before any openui fence; the guide that comes back is about 4,400 tokens and arrives after the agent's instructions, and it teaches Form and Input. With a plain rule, gpt-4.1-mini answered the calculator prompt with the guide's forms in about half the runs and never wrote HtmlArtifact. Framing the catalog as the guide's minus those components plus HtmlArtifact stopped the forms, but the model invented components or split the calculator into four artifacts. Naming the exact reply shape fixed that. The lesson: on a hosted harness the instructions compete with the harness's own prompt, and the rule that wins is the one that describes the surface, not the one that forbids.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prompt is the control. It asks for a report and the agent answers with six catalog statements: a Stack, a TextContent, a Table with two Col statements, a Tag. No HtmlArtifact, although the instructions describe one. The cost is two model calls: about 1,500 input tokens for the agent to ask for the catalog guide, about 6,300 with the guide in context. Step 07.2's 6,954 input tokens were the same two calls. The page is the step 07.2 page, and this screenshot is the same shape as the previous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Mid-stream. The first two lines of the program committed, so the intro is drawn. The third line is the artifact, one long string, and the parser's partial() reads it as far as it goes, so the page shows a dashed artifact box with a status line and the raw document. This is what OpenUI's html-artifact example shows while generating. The server streams the program in 40-character chunks instead of one line per event, because a line-per-event server would show nothing of the artifact until it ended. The demo caught this state at 358 characters; the recorded run's mid-stream line says 438 because the screenshot and the print happen a chunk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reply. The intro is a catalog TextContent; the artifact is a two-slider calculator in a sandboxed iframe, 1,441 characters of inline HTML, CSS and JavaScript. The demo proves the script ran under the policy: it moved both sliders to their maximum inside the iframe and the total went from $50.00 to $1000.00. The token share is the report's argument for the hybrid: 85 percent of this reply is the open-ended document, and the report reply cost 108 tokens in total. Pay for HTML only where a catalog component cannot do the job. Close on the boundary: default-src none, so a document that loaded a script from a CDN would be listed by checkDocument and blocked by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section turns the series into a decision. Two tables from the report, annotated with the steps that demonstrate each row, then the numbers this series measured, then the rules that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top to bottom. The first three are the transport choice. The rest are the generation choice, and each names the sub-theme that demonstrates it. The last row is the hybrid: the answer for products that need both control and freedom.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to remember. Every one comes from a demo script in the repository, run against a real model on the recording machine. The token multiples for open-ended generation and the first-paint difference for flat maps are the two that change design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rules. They are the same shape as the harness codelab's rules, which is the point: an interface layer is a harness concern. If a reader remembers one slide, it should be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call to action. Everything in the deck is runnable. The written codelab is the reference; the deck is the guided tour. The next thing a reader should do is run one step and change one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109728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A codelab in 23 steps · companion deck</a:t>
            </a:r>
            <a:endParaRPr lang="en-US" sz="1300" dirty="0"/>
          </a:p>
        </p:txBody>
      </p:sp>
      <p:sp>
        <p:nvSpPr>
          <p:cNvPr id="3" name="Text 1"/>
          <p:cNvSpPr/>
          <p:nvPr/>
        </p:nvSpPr>
        <p:spPr>
          <a:xfrm>
            <a:off x="731520" y="1554480"/>
            <a:ext cx="10515600" cy="146304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Zero to Hero: Generative UI</a:t>
            </a:r>
            <a:endParaRPr lang="en-US" sz="4800" dirty="0"/>
          </a:p>
        </p:txBody>
      </p:sp>
      <p:sp>
        <p:nvSpPr>
          <p:cNvPr id="4" name="Text 2"/>
          <p:cNvSpPr/>
          <p:nvPr/>
        </p:nvSpPr>
        <p:spPr>
          <a:xfrm>
            <a:off x="731520" y="3108960"/>
            <a:ext cx="9601200" cy="91440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When the agent's answer is an interface, not a paragraph. Seven sub-themes, every step with theory, a code walkthrough and a recorded result.</a:t>
            </a:r>
            <a:endParaRPr lang="en-US" sz="2000" dirty="0"/>
          </a:p>
        </p:txBody>
      </p:sp>
      <p:sp>
        <p:nvSpPr>
          <p:cNvPr id="5" name="Shape 3"/>
          <p:cNvSpPr/>
          <p:nvPr/>
        </p:nvSpPr>
        <p:spPr>
          <a:xfrm>
            <a:off x="731520" y="4480560"/>
            <a:ext cx="1280160" cy="685800"/>
          </a:xfrm>
          <a:prstGeom prst="roundRect">
            <a:avLst>
              <a:gd name="adj" fmla="val 13333"/>
            </a:avLst>
          </a:prstGeom>
          <a:solidFill>
            <a:srgbClr val="1E2761"/>
          </a:solidFill>
          <a:ln w="12700">
            <a:solidFill>
              <a:srgbClr val="AAB4FF"/>
            </a:solidFill>
            <a:prstDash val="solid"/>
          </a:ln>
        </p:spPr>
      </p:sp>
      <p:sp>
        <p:nvSpPr>
          <p:cNvPr id="6" name="Text 4"/>
          <p:cNvSpPr/>
          <p:nvPr/>
        </p:nvSpPr>
        <p:spPr>
          <a:xfrm>
            <a:off x="731520" y="4480560"/>
            <a:ext cx="1280160" cy="68580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Heading</a:t>
            </a:r>
            <a:endParaRPr lang="en-US" sz="1200" dirty="0"/>
          </a:p>
        </p:txBody>
      </p:sp>
      <p:sp>
        <p:nvSpPr>
          <p:cNvPr id="7" name="Shape 5"/>
          <p:cNvSpPr/>
          <p:nvPr/>
        </p:nvSpPr>
        <p:spPr>
          <a:xfrm>
            <a:off x="2148840" y="4480560"/>
            <a:ext cx="1280160" cy="685800"/>
          </a:xfrm>
          <a:prstGeom prst="roundRect">
            <a:avLst>
              <a:gd name="adj" fmla="val 13333"/>
            </a:avLst>
          </a:prstGeom>
          <a:solidFill>
            <a:srgbClr val="1E2761"/>
          </a:solidFill>
          <a:ln w="12700">
            <a:solidFill>
              <a:srgbClr val="AAB4FF"/>
            </a:solidFill>
            <a:prstDash val="solid"/>
          </a:ln>
        </p:spPr>
      </p:sp>
      <p:sp>
        <p:nvSpPr>
          <p:cNvPr id="8" name="Text 6"/>
          <p:cNvSpPr/>
          <p:nvPr/>
        </p:nvSpPr>
        <p:spPr>
          <a:xfrm>
            <a:off x="2148840" y="4480560"/>
            <a:ext cx="1280160" cy="68580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Card</a:t>
            </a:r>
            <a:endParaRPr lang="en-US" sz="1200" dirty="0"/>
          </a:p>
        </p:txBody>
      </p:sp>
      <p:sp>
        <p:nvSpPr>
          <p:cNvPr id="9" name="Shape 7"/>
          <p:cNvSpPr/>
          <p:nvPr/>
        </p:nvSpPr>
        <p:spPr>
          <a:xfrm>
            <a:off x="3566160" y="4480560"/>
            <a:ext cx="1280160" cy="685800"/>
          </a:xfrm>
          <a:prstGeom prst="roundRect">
            <a:avLst>
              <a:gd name="adj" fmla="val 13333"/>
            </a:avLst>
          </a:prstGeom>
          <a:solidFill>
            <a:srgbClr val="1E2761"/>
          </a:solidFill>
          <a:ln w="12700">
            <a:solidFill>
              <a:srgbClr val="AAB4FF"/>
            </a:solidFill>
            <a:prstDash val="solid"/>
          </a:ln>
        </p:spPr>
      </p:sp>
      <p:sp>
        <p:nvSpPr>
          <p:cNvPr id="10" name="Text 8"/>
          <p:cNvSpPr/>
          <p:nvPr/>
        </p:nvSpPr>
        <p:spPr>
          <a:xfrm>
            <a:off x="3566160" y="4480560"/>
            <a:ext cx="1280160" cy="68580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BarChart</a:t>
            </a:r>
            <a:endParaRPr lang="en-US" sz="1200" dirty="0"/>
          </a:p>
        </p:txBody>
      </p:sp>
      <p:sp>
        <p:nvSpPr>
          <p:cNvPr id="11" name="Shape 9"/>
          <p:cNvSpPr/>
          <p:nvPr/>
        </p:nvSpPr>
        <p:spPr>
          <a:xfrm>
            <a:off x="4983480" y="4480560"/>
            <a:ext cx="1280160" cy="685800"/>
          </a:xfrm>
          <a:prstGeom prst="roundRect">
            <a:avLst>
              <a:gd name="adj" fmla="val 13333"/>
            </a:avLst>
          </a:prstGeom>
          <a:solidFill>
            <a:srgbClr val="1E2761"/>
          </a:solidFill>
          <a:ln w="12700">
            <a:solidFill>
              <a:srgbClr val="AAB4FF"/>
            </a:solidFill>
            <a:prstDash val="solid"/>
          </a:ln>
        </p:spPr>
      </p:sp>
      <p:sp>
        <p:nvSpPr>
          <p:cNvPr id="12" name="Text 10"/>
          <p:cNvSpPr/>
          <p:nvPr/>
        </p:nvSpPr>
        <p:spPr>
          <a:xfrm>
            <a:off x="4983480" y="4480560"/>
            <a:ext cx="1280160" cy="68580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Button</a:t>
            </a:r>
            <a:endParaRPr lang="en-US" sz="1200" dirty="0"/>
          </a:p>
        </p:txBody>
      </p:sp>
      <p:sp>
        <p:nvSpPr>
          <p:cNvPr id="13" name="Shape 11"/>
          <p:cNvSpPr/>
          <p:nvPr/>
        </p:nvSpPr>
        <p:spPr>
          <a:xfrm>
            <a:off x="6583680" y="4480560"/>
            <a:ext cx="2926080" cy="685800"/>
          </a:xfrm>
          <a:prstGeom prst="roundRect">
            <a:avLst>
              <a:gd name="adj" fmla="val 13333"/>
            </a:avLst>
          </a:prstGeom>
          <a:solidFill>
            <a:srgbClr val="1E2761"/>
          </a:solidFill>
          <a:ln w="15875">
            <a:solidFill>
              <a:srgbClr val="FBBF24"/>
            </a:solidFill>
            <a:prstDash val="dash"/>
          </a:ln>
        </p:spPr>
      </p:sp>
      <p:sp>
        <p:nvSpPr>
          <p:cNvPr id="14" name="Text 12"/>
          <p:cNvSpPr/>
          <p:nvPr/>
        </p:nvSpPr>
        <p:spPr>
          <a:xfrm>
            <a:off x="6583680" y="4480560"/>
            <a:ext cx="2926080" cy="685800"/>
          </a:xfrm>
          <a:prstGeom prst="rect">
            <a:avLst/>
          </a:prstGeom>
          <a:noFill/>
          <a:ln/>
        </p:spPr>
        <p:txBody>
          <a:bodyPr wrap="square" lIns="0" tIns="0" rIns="0" bIns="0" rtlCol="0" anchor="ctr"/>
          <a:lstStyle/>
          <a:p>
            <a:pPr algn="ctr" indent="0" marL="0">
              <a:buNone/>
            </a:pPr>
            <a:r>
              <a:rPr lang="en-US" sz="1200" dirty="0">
                <a:solidFill>
                  <a:srgbClr val="FDE68A"/>
                </a:solidFill>
                <a:latin typeface="Calibri" pitchFamily="34" charset="0"/>
                <a:ea typeface="Calibri" pitchFamily="34" charset="-122"/>
                <a:cs typeface="Calibri" pitchFamily="34" charset="-120"/>
              </a:rPr>
              <a:t>GeneratedView · sandboxed iframe</a:t>
            </a:r>
            <a:endParaRPr lang="en-US" sz="1200" dirty="0"/>
          </a:p>
        </p:txBody>
      </p:sp>
      <p:sp>
        <p:nvSpPr>
          <p:cNvPr id="15" name="Text 13"/>
          <p:cNvSpPr/>
          <p:nvPr/>
        </p:nvSpPr>
        <p:spPr>
          <a:xfrm>
            <a:off x="731520" y="5943600"/>
            <a:ext cx="10058400" cy="365760"/>
          </a:xfrm>
          <a:prstGeom prst="rect">
            <a:avLst/>
          </a:prstGeom>
          <a:noFill/>
          <a:ln/>
        </p:spPr>
        <p:txBody>
          <a:bodyPr wrap="square" lIns="0" tIns="0" rIns="0" bIns="0" rtlCol="0" anchor="ctr"/>
          <a:lstStyle/>
          <a:p>
            <a:pPr indent="0" marL="0">
              <a:buNone/>
            </a:pPr>
            <a:r>
              <a:rPr lang="en-US" sz="1200" dirty="0">
                <a:solidFill>
                  <a:srgbClr val="AAB4FF"/>
                </a:solidFill>
                <a:latin typeface="Calibri" pitchFamily="34" charset="0"/>
                <a:ea typeface="Calibri" pitchFamily="34" charset="-122"/>
                <a:cs typeface="Calibri" pitchFamily="34" charset="-120"/>
              </a:rPr>
              <a:t>github.com/dlmastery/simple-coding-harness · genui/README.md is the written codelab; this deck follows it step by step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WHY GENERATIVE UI</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A chat box is the wrong shape for most answers</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Ask an agent how sales went this week. The best reply is </a:t>
            </a:r>
            <a:pPr indent="0" marL="0">
              <a:buNone/>
            </a:pPr>
            <a:r>
              <a:rPr lang="en-US" sz="1600" b="1" dirty="0">
                <a:solidFill>
                  <a:srgbClr val="141B3D"/>
                </a:solidFill>
                <a:latin typeface="Calibri" pitchFamily="34" charset="0"/>
                <a:ea typeface="Calibri" pitchFamily="34" charset="-122"/>
                <a:cs typeface="Calibri" pitchFamily="34" charset="-120"/>
              </a:rPr>
              <a:t>three numbers, a chart and a button</a:t>
            </a:r>
            <a:pPr indent="0" marL="0">
              <a:buNone/>
            </a:pPr>
            <a:r>
              <a:rPr lang="en-US" sz="1600" dirty="0">
                <a:solidFill>
                  <a:srgbClr val="141B3D"/>
                </a:solidFill>
                <a:latin typeface="Calibri" pitchFamily="34" charset="0"/>
                <a:ea typeface="Calibri" pitchFamily="34" charset="-122"/>
                <a:cs typeface="Calibri" pitchFamily="34" charset="-120"/>
              </a:rPr>
              <a:t>, not four paragraphs.</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Generative UI is the layer where an agent's output becomes an interface composed at run time.</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agent still calls a model in a loop; what changes is what the loop emits and what renders it.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harness codelab built the loop. This series builds what the user sees.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Zero: a page that draws one metric card when the model asks for it.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Hero: the same agent in a browser, a terminal and a host you do not control, on three open formats, with the costs measured.</a:t>
            </a:r>
            <a:endParaRPr lang="en-US" sz="1350" dirty="0"/>
          </a:p>
        </p:txBody>
      </p:sp>
      <p:sp>
        <p:nvSpPr>
          <p:cNvPr id="7" name="Shape 5"/>
          <p:cNvSpPr/>
          <p:nvPr/>
        </p:nvSpPr>
        <p:spPr>
          <a:xfrm>
            <a:off x="6903720" y="1600200"/>
            <a:ext cx="3840480" cy="685800"/>
          </a:xfrm>
          <a:prstGeom prst="roundRect">
            <a:avLst>
              <a:gd name="adj" fmla="val 13333"/>
            </a:avLst>
          </a:prstGeom>
          <a:solidFill>
            <a:srgbClr val="EEF0FF"/>
          </a:solidFill>
          <a:ln w="15875">
            <a:solidFill>
              <a:srgbClr val="2F3CFF"/>
            </a:solidFill>
            <a:prstDash val="solid"/>
          </a:ln>
        </p:spPr>
      </p:sp>
      <p:sp>
        <p:nvSpPr>
          <p:cNvPr id="8" name="Text 6"/>
          <p:cNvSpPr/>
          <p:nvPr/>
        </p:nvSpPr>
        <p:spPr>
          <a:xfrm>
            <a:off x="6976872" y="1636776"/>
            <a:ext cx="3694176" cy="35890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model</a:t>
            </a:r>
            <a:endParaRPr lang="en-US" sz="1200" dirty="0"/>
          </a:p>
        </p:txBody>
      </p:sp>
      <p:sp>
        <p:nvSpPr>
          <p:cNvPr id="9" name="Text 7"/>
          <p:cNvSpPr/>
          <p:nvPr/>
        </p:nvSpPr>
        <p:spPr>
          <a:xfrm>
            <a:off x="6976872" y="199567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decides what to show</a:t>
            </a:r>
            <a:endParaRPr lang="en-US" sz="950" dirty="0"/>
          </a:p>
        </p:txBody>
      </p:sp>
      <p:sp>
        <p:nvSpPr>
          <p:cNvPr id="10" name="Shape 8"/>
          <p:cNvSpPr/>
          <p:nvPr/>
        </p:nvSpPr>
        <p:spPr>
          <a:xfrm>
            <a:off x="8823960" y="2313432"/>
            <a:ext cx="9144" cy="265176"/>
          </a:xfrm>
          <a:prstGeom prst="line">
            <a:avLst/>
          </a:prstGeom>
          <a:noFill/>
          <a:ln w="19050">
            <a:solidFill>
              <a:srgbClr val="4B5563"/>
            </a:solidFill>
            <a:prstDash val="solid"/>
            <a:tailEnd type="triangle"/>
          </a:ln>
        </p:spPr>
      </p:sp>
      <p:sp>
        <p:nvSpPr>
          <p:cNvPr id="11" name="Shape 9"/>
          <p:cNvSpPr/>
          <p:nvPr/>
        </p:nvSpPr>
        <p:spPr>
          <a:xfrm>
            <a:off x="6903720" y="2606040"/>
            <a:ext cx="3840480" cy="685800"/>
          </a:xfrm>
          <a:prstGeom prst="roundRect">
            <a:avLst>
              <a:gd name="adj" fmla="val 13333"/>
            </a:avLst>
          </a:prstGeom>
          <a:solidFill>
            <a:srgbClr val="F6F7FB"/>
          </a:solidFill>
          <a:ln w="15875">
            <a:solidFill>
              <a:srgbClr val="141B3D"/>
            </a:solidFill>
            <a:prstDash val="solid"/>
          </a:ln>
        </p:spPr>
      </p:sp>
      <p:sp>
        <p:nvSpPr>
          <p:cNvPr id="12" name="Text 10"/>
          <p:cNvSpPr/>
          <p:nvPr/>
        </p:nvSpPr>
        <p:spPr>
          <a:xfrm>
            <a:off x="6976872" y="2642616"/>
            <a:ext cx="3694176" cy="35890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spec or events</a:t>
            </a:r>
            <a:endParaRPr lang="en-US" sz="1200" dirty="0"/>
          </a:p>
        </p:txBody>
      </p:sp>
      <p:sp>
        <p:nvSpPr>
          <p:cNvPr id="13" name="Text 11"/>
          <p:cNvSpPr/>
          <p:nvPr/>
        </p:nvSpPr>
        <p:spPr>
          <a:xfrm>
            <a:off x="6976872" y="300151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what crosses the wire</a:t>
            </a:r>
            <a:endParaRPr lang="en-US" sz="950" dirty="0"/>
          </a:p>
        </p:txBody>
      </p:sp>
      <p:sp>
        <p:nvSpPr>
          <p:cNvPr id="14" name="Shape 12"/>
          <p:cNvSpPr/>
          <p:nvPr/>
        </p:nvSpPr>
        <p:spPr>
          <a:xfrm>
            <a:off x="8823960" y="3319272"/>
            <a:ext cx="9144" cy="265176"/>
          </a:xfrm>
          <a:prstGeom prst="line">
            <a:avLst/>
          </a:prstGeom>
          <a:noFill/>
          <a:ln w="19050">
            <a:solidFill>
              <a:srgbClr val="4B5563"/>
            </a:solidFill>
            <a:prstDash val="solid"/>
            <a:tailEnd type="triangle"/>
          </a:ln>
        </p:spPr>
      </p:sp>
      <p:sp>
        <p:nvSpPr>
          <p:cNvPr id="15" name="Shape 13"/>
          <p:cNvSpPr/>
          <p:nvPr/>
        </p:nvSpPr>
        <p:spPr>
          <a:xfrm>
            <a:off x="6903720" y="3611880"/>
            <a:ext cx="3840480" cy="685800"/>
          </a:xfrm>
          <a:prstGeom prst="roundRect">
            <a:avLst>
              <a:gd name="adj" fmla="val 13333"/>
            </a:avLst>
          </a:prstGeom>
          <a:solidFill>
            <a:srgbClr val="EEF0FF"/>
          </a:solidFill>
          <a:ln w="15875">
            <a:solidFill>
              <a:srgbClr val="2F3CFF"/>
            </a:solidFill>
            <a:prstDash val="solid"/>
          </a:ln>
        </p:spPr>
      </p:sp>
      <p:sp>
        <p:nvSpPr>
          <p:cNvPr id="16" name="Text 14"/>
          <p:cNvSpPr/>
          <p:nvPr/>
        </p:nvSpPr>
        <p:spPr>
          <a:xfrm>
            <a:off x="6976872" y="3648456"/>
            <a:ext cx="3694176" cy="35890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renderer</a:t>
            </a:r>
            <a:endParaRPr lang="en-US" sz="1200" dirty="0"/>
          </a:p>
        </p:txBody>
      </p:sp>
      <p:sp>
        <p:nvSpPr>
          <p:cNvPr id="17" name="Text 15"/>
          <p:cNvSpPr/>
          <p:nvPr/>
        </p:nvSpPr>
        <p:spPr>
          <a:xfrm>
            <a:off x="6976872" y="400735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your catalog, your rules</a:t>
            </a:r>
            <a:endParaRPr lang="en-US" sz="950" dirty="0"/>
          </a:p>
        </p:txBody>
      </p:sp>
      <p:sp>
        <p:nvSpPr>
          <p:cNvPr id="18" name="Shape 16"/>
          <p:cNvSpPr/>
          <p:nvPr/>
        </p:nvSpPr>
        <p:spPr>
          <a:xfrm>
            <a:off x="8823960" y="4325112"/>
            <a:ext cx="9144" cy="265176"/>
          </a:xfrm>
          <a:prstGeom prst="line">
            <a:avLst/>
          </a:prstGeom>
          <a:noFill/>
          <a:ln w="19050">
            <a:solidFill>
              <a:srgbClr val="4B5563"/>
            </a:solidFill>
            <a:prstDash val="solid"/>
            <a:tailEnd type="triangle"/>
          </a:ln>
        </p:spPr>
      </p:sp>
      <p:sp>
        <p:nvSpPr>
          <p:cNvPr id="19" name="Shape 17"/>
          <p:cNvSpPr/>
          <p:nvPr/>
        </p:nvSpPr>
        <p:spPr>
          <a:xfrm>
            <a:off x="6903720" y="4617720"/>
            <a:ext cx="3840480" cy="685800"/>
          </a:xfrm>
          <a:prstGeom prst="roundRect">
            <a:avLst>
              <a:gd name="adj" fmla="val 13333"/>
            </a:avLst>
          </a:prstGeom>
          <a:solidFill>
            <a:srgbClr val="ECFDF5"/>
          </a:solidFill>
          <a:ln w="15875">
            <a:solidFill>
              <a:srgbClr val="15803D"/>
            </a:solidFill>
            <a:prstDash val="solid"/>
          </a:ln>
        </p:spPr>
      </p:sp>
      <p:sp>
        <p:nvSpPr>
          <p:cNvPr id="20" name="Text 18"/>
          <p:cNvSpPr/>
          <p:nvPr/>
        </p:nvSpPr>
        <p:spPr>
          <a:xfrm>
            <a:off x="6976872" y="4654296"/>
            <a:ext cx="3694176" cy="358902"/>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the user</a:t>
            </a:r>
            <a:endParaRPr lang="en-US" sz="1200" dirty="0"/>
          </a:p>
        </p:txBody>
      </p:sp>
      <p:sp>
        <p:nvSpPr>
          <p:cNvPr id="21" name="Text 19"/>
          <p:cNvSpPr/>
          <p:nvPr/>
        </p:nvSpPr>
        <p:spPr>
          <a:xfrm>
            <a:off x="6976872" y="501319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a card, a chart, a button</a:t>
            </a:r>
            <a:endParaRPr lang="en-US" sz="950" dirty="0"/>
          </a:p>
        </p:txBody>
      </p:sp>
      <p:sp>
        <p:nvSpPr>
          <p:cNvPr id="22" name="Text 20"/>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loop did not change. The output did, and so did the thing that renders it.</a:t>
            </a:r>
            <a:endParaRPr lang="en-US" sz="1050" dirty="0"/>
          </a:p>
        </p:txBody>
      </p:sp>
      <p:sp>
        <p:nvSpPr>
          <p:cNvPr id="23" name="Shape 21"/>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4" name="Text 22"/>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Every step is a directory you can run, with an offline test and a recorded demo.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THE MAP</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Two choices, not one: where the UI appears, and what the agent emits</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a:t>
            </a:r>
            <a:endParaRPr lang="en-US" sz="1000" dirty="0"/>
          </a:p>
        </p:txBody>
      </p:sp>
      <p:sp>
        <p:nvSpPr>
          <p:cNvPr id="5" name="Text 3"/>
          <p:cNvSpPr/>
          <p:nvPr/>
        </p:nvSpPr>
        <p:spPr>
          <a:xfrm>
            <a:off x="548640" y="1417320"/>
            <a:ext cx="11064240" cy="548640"/>
          </a:xfrm>
          <a:prstGeom prst="rect">
            <a:avLst/>
          </a:prstGeom>
          <a:noFill/>
          <a:ln/>
        </p:spPr>
        <p:txBody>
          <a:bodyPr wrap="square" lIns="0" tIns="0" rIns="0" bIns="0" rtlCol="0" anchor="ctr"/>
          <a:lstStyle/>
          <a:p>
            <a:pPr indent="0" marL="0">
              <a:buNone/>
            </a:pPr>
            <a:r>
              <a:rPr lang="en-US" sz="1500" dirty="0">
                <a:solidFill>
                  <a:srgbClr val="141B3D"/>
                </a:solidFill>
                <a:latin typeface="Calibri" pitchFamily="34" charset="0"/>
                <a:ea typeface="Calibri" pitchFamily="34" charset="-122"/>
                <a:cs typeface="Calibri" pitchFamily="34" charset="-120"/>
              </a:rPr>
              <a:t>The State of Generative UI report (June 2026) separates </a:t>
            </a:r>
            <a:pPr indent="0" marL="0">
              <a:buNone/>
            </a:pPr>
            <a:r>
              <a:rPr lang="en-US" sz="1500" b="1" dirty="0">
                <a:solidFill>
                  <a:srgbClr val="141B3D"/>
                </a:solidFill>
                <a:latin typeface="Calibri" pitchFamily="34" charset="0"/>
                <a:ea typeface="Calibri" pitchFamily="34" charset="-122"/>
                <a:cs typeface="Calibri" pitchFamily="34" charset="-120"/>
              </a:rPr>
              <a:t>transport</a:t>
            </a:r>
            <a:pPr indent="0" marL="0">
              <a:buNone/>
            </a:pPr>
            <a:r>
              <a:rPr lang="en-US" sz="1500" dirty="0">
                <a:solidFill>
                  <a:srgbClr val="141B3D"/>
                </a:solidFill>
                <a:latin typeface="Calibri" pitchFamily="34" charset="0"/>
                <a:ea typeface="Calibri" pitchFamily="34" charset="-122"/>
                <a:cs typeface="Calibri" pitchFamily="34" charset="-120"/>
              </a:rPr>
              <a:t> from </a:t>
            </a:r>
            <a:pPr indent="0" marL="0">
              <a:buNone/>
            </a:pPr>
            <a:r>
              <a:rPr lang="en-US" sz="1500" b="1" dirty="0">
                <a:solidFill>
                  <a:srgbClr val="141B3D"/>
                </a:solidFill>
                <a:latin typeface="Calibri" pitchFamily="34" charset="0"/>
                <a:ea typeface="Calibri" pitchFamily="34" charset="-122"/>
                <a:cs typeface="Calibri" pitchFamily="34" charset="-120"/>
              </a:rPr>
              <a:t>generation</a:t>
            </a:r>
            <a:pPr indent="0" marL="0">
              <a:buNone/>
            </a:pPr>
            <a:r>
              <a:rPr lang="en-US" sz="1500" dirty="0">
                <a:solidFill>
                  <a:srgbClr val="141B3D"/>
                </a:solidFill>
                <a:latin typeface="Calibri" pitchFamily="34" charset="0"/>
                <a:ea typeface="Calibri" pitchFamily="34" charset="-122"/>
                <a:cs typeface="Calibri" pitchFamily="34" charset="-120"/>
              </a:rPr>
              <a:t>. Every step in this series sits in one cell.</a:t>
            </a:r>
            <a:endParaRPr lang="en-US" sz="1500" dirty="0"/>
          </a:p>
        </p:txBody>
      </p:sp>
      <p:sp>
        <p:nvSpPr>
          <p:cNvPr id="6" name="Text 4"/>
          <p:cNvSpPr/>
          <p:nvPr/>
        </p:nvSpPr>
        <p:spPr>
          <a:xfrm>
            <a:off x="1737360" y="2057400"/>
            <a:ext cx="3291840" cy="365760"/>
          </a:xfrm>
          <a:prstGeom prst="rect">
            <a:avLst/>
          </a:prstGeom>
          <a:noFill/>
          <a:ln/>
        </p:spPr>
        <p:txBody>
          <a:bodyPr wrap="square" lIns="0" tIns="0" rIns="0" bIns="0" rtlCol="0" anchor="ctr"/>
          <a:lstStyle/>
          <a:p>
            <a:pPr algn="ctr" indent="0" marL="0">
              <a:buNone/>
            </a:pPr>
            <a:r>
              <a:rPr lang="en-US" sz="1100" b="1" dirty="0">
                <a:solidFill>
                  <a:srgbClr val="4B5563"/>
                </a:solidFill>
                <a:latin typeface="Calibri" pitchFamily="34" charset="0"/>
                <a:ea typeface="Calibri" pitchFamily="34" charset="-122"/>
                <a:cs typeface="Calibri" pitchFamily="34" charset="-120"/>
              </a:rPr>
              <a:t>static generation</a:t>
            </a:r>
            <a:endParaRPr lang="en-US" sz="1100" dirty="0"/>
          </a:p>
        </p:txBody>
      </p:sp>
      <p:sp>
        <p:nvSpPr>
          <p:cNvPr id="7" name="Text 5"/>
          <p:cNvSpPr/>
          <p:nvPr/>
        </p:nvSpPr>
        <p:spPr>
          <a:xfrm>
            <a:off x="5029200" y="2057400"/>
            <a:ext cx="3291840" cy="365760"/>
          </a:xfrm>
          <a:prstGeom prst="rect">
            <a:avLst/>
          </a:prstGeom>
          <a:noFill/>
          <a:ln/>
        </p:spPr>
        <p:txBody>
          <a:bodyPr wrap="square" lIns="0" tIns="0" rIns="0" bIns="0" rtlCol="0" anchor="ctr"/>
          <a:lstStyle/>
          <a:p>
            <a:pPr algn="ctr" indent="0" marL="0">
              <a:buNone/>
            </a:pPr>
            <a:r>
              <a:rPr lang="en-US" sz="1100" b="1" dirty="0">
                <a:solidFill>
                  <a:srgbClr val="4B5563"/>
                </a:solidFill>
                <a:latin typeface="Calibri" pitchFamily="34" charset="0"/>
                <a:ea typeface="Calibri" pitchFamily="34" charset="-122"/>
                <a:cs typeface="Calibri" pitchFamily="34" charset="-120"/>
              </a:rPr>
              <a:t>declarative generation</a:t>
            </a:r>
            <a:endParaRPr lang="en-US" sz="1100" dirty="0"/>
          </a:p>
        </p:txBody>
      </p:sp>
      <p:sp>
        <p:nvSpPr>
          <p:cNvPr id="8" name="Text 6"/>
          <p:cNvSpPr/>
          <p:nvPr/>
        </p:nvSpPr>
        <p:spPr>
          <a:xfrm>
            <a:off x="8321040" y="2057400"/>
            <a:ext cx="3291840" cy="365760"/>
          </a:xfrm>
          <a:prstGeom prst="rect">
            <a:avLst/>
          </a:prstGeom>
          <a:noFill/>
          <a:ln/>
        </p:spPr>
        <p:txBody>
          <a:bodyPr wrap="square" lIns="0" tIns="0" rIns="0" bIns="0" rtlCol="0" anchor="ctr"/>
          <a:lstStyle/>
          <a:p>
            <a:pPr algn="ctr" indent="0" marL="0">
              <a:buNone/>
            </a:pPr>
            <a:r>
              <a:rPr lang="en-US" sz="1100" b="1" dirty="0">
                <a:solidFill>
                  <a:srgbClr val="4B5563"/>
                </a:solidFill>
                <a:latin typeface="Calibri" pitchFamily="34" charset="0"/>
                <a:ea typeface="Calibri" pitchFamily="34" charset="-122"/>
                <a:cs typeface="Calibri" pitchFamily="34" charset="-120"/>
              </a:rPr>
              <a:t>open-ended generation</a:t>
            </a:r>
            <a:endParaRPr lang="en-US" sz="1100" dirty="0"/>
          </a:p>
        </p:txBody>
      </p:sp>
      <p:sp>
        <p:nvSpPr>
          <p:cNvPr id="9" name="Text 7"/>
          <p:cNvSpPr/>
          <p:nvPr/>
        </p:nvSpPr>
        <p:spPr>
          <a:xfrm>
            <a:off x="548640" y="2468880"/>
            <a:ext cx="1143000" cy="157734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your own product (AG-UI)</a:t>
            </a:r>
            <a:endParaRPr lang="en-US" sz="1100" dirty="0"/>
          </a:p>
        </p:txBody>
      </p:sp>
      <p:sp>
        <p:nvSpPr>
          <p:cNvPr id="10" name="Text 8"/>
          <p:cNvSpPr/>
          <p:nvPr/>
        </p:nvSpPr>
        <p:spPr>
          <a:xfrm>
            <a:off x="548640" y="4046220"/>
            <a:ext cx="1143000" cy="1577340"/>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a third-party host (MCP Apps)</a:t>
            </a:r>
            <a:endParaRPr lang="en-US" sz="1100" dirty="0"/>
          </a:p>
        </p:txBody>
      </p:sp>
      <p:sp>
        <p:nvSpPr>
          <p:cNvPr id="11" name="Shape 9"/>
          <p:cNvSpPr/>
          <p:nvPr/>
        </p:nvSpPr>
        <p:spPr>
          <a:xfrm>
            <a:off x="1792224" y="2523744"/>
            <a:ext cx="3182112" cy="1467612"/>
          </a:xfrm>
          <a:prstGeom prst="roundRect">
            <a:avLst>
              <a:gd name="adj" fmla="val 6231"/>
            </a:avLst>
          </a:prstGeom>
          <a:solidFill>
            <a:srgbClr val="EEF0FF"/>
          </a:solidFill>
          <a:ln w="15875">
            <a:solidFill>
              <a:srgbClr val="2F3CFF"/>
            </a:solidFill>
            <a:prstDash val="solid"/>
          </a:ln>
        </p:spPr>
      </p:sp>
      <p:sp>
        <p:nvSpPr>
          <p:cNvPr id="12" name="Text 10"/>
          <p:cNvSpPr/>
          <p:nvPr/>
        </p:nvSpPr>
        <p:spPr>
          <a:xfrm>
            <a:off x="1865376" y="2560320"/>
            <a:ext cx="3035808" cy="715518"/>
          </a:xfrm>
          <a:prstGeom prst="rect">
            <a:avLst/>
          </a:prstGeom>
          <a:noFill/>
          <a:ln/>
        </p:spPr>
        <p:txBody>
          <a:bodyPr wrap="square" lIns="0" tIns="0" rIns="0" bIns="0" rtlCol="0" anchor="b"/>
          <a:lstStyle/>
          <a:p>
            <a:pPr algn="ctr" indent="0" marL="0">
              <a:buNone/>
            </a:pPr>
            <a:r>
              <a:rPr lang="en-US" sz="1150" b="1" dirty="0">
                <a:solidFill>
                  <a:srgbClr val="2F3CFF"/>
                </a:solidFill>
                <a:latin typeface="Calibri" pitchFamily="34" charset="0"/>
                <a:ea typeface="Calibri" pitchFamily="34" charset="-122"/>
                <a:cs typeface="Calibri" pitchFamily="34" charset="-120"/>
              </a:rPr>
              <a:t>the agent picks a component</a:t>
            </a:r>
            <a:endParaRPr lang="en-US" sz="1150" dirty="0"/>
          </a:p>
        </p:txBody>
      </p:sp>
      <p:sp>
        <p:nvSpPr>
          <p:cNvPr id="13" name="Text 11"/>
          <p:cNvSpPr/>
          <p:nvPr/>
        </p:nvSpPr>
        <p:spPr>
          <a:xfrm>
            <a:off x="1865376" y="3275838"/>
            <a:ext cx="3035808" cy="678942"/>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you drew it; the agent fills props · 01.1, 02.2</a:t>
            </a:r>
            <a:endParaRPr lang="en-US" sz="900" dirty="0"/>
          </a:p>
        </p:txBody>
      </p:sp>
      <p:sp>
        <p:nvSpPr>
          <p:cNvPr id="14" name="Shape 12"/>
          <p:cNvSpPr/>
          <p:nvPr/>
        </p:nvSpPr>
        <p:spPr>
          <a:xfrm>
            <a:off x="5084064" y="2523744"/>
            <a:ext cx="3182112" cy="1467612"/>
          </a:xfrm>
          <a:prstGeom prst="roundRect">
            <a:avLst>
              <a:gd name="adj" fmla="val 6231"/>
            </a:avLst>
          </a:prstGeom>
          <a:solidFill>
            <a:srgbClr val="EEF0FF"/>
          </a:solidFill>
          <a:ln w="15875">
            <a:solidFill>
              <a:srgbClr val="2F3CFF"/>
            </a:solidFill>
            <a:prstDash val="solid"/>
          </a:ln>
        </p:spPr>
      </p:sp>
      <p:sp>
        <p:nvSpPr>
          <p:cNvPr id="15" name="Text 13"/>
          <p:cNvSpPr/>
          <p:nvPr/>
        </p:nvSpPr>
        <p:spPr>
          <a:xfrm>
            <a:off x="5157216" y="2560320"/>
            <a:ext cx="3035808" cy="715518"/>
          </a:xfrm>
          <a:prstGeom prst="rect">
            <a:avLst/>
          </a:prstGeom>
          <a:noFill/>
          <a:ln/>
        </p:spPr>
        <p:txBody>
          <a:bodyPr wrap="square" lIns="0" tIns="0" rIns="0" bIns="0" rtlCol="0" anchor="b"/>
          <a:lstStyle/>
          <a:p>
            <a:pPr algn="ctr" indent="0" marL="0">
              <a:buNone/>
            </a:pPr>
            <a:r>
              <a:rPr lang="en-US" sz="1150" b="1" dirty="0">
                <a:solidFill>
                  <a:srgbClr val="2F3CFF"/>
                </a:solidFill>
                <a:latin typeface="Calibri" pitchFamily="34" charset="0"/>
                <a:ea typeface="Calibri" pitchFamily="34" charset="-122"/>
                <a:cs typeface="Calibri" pitchFamily="34" charset="-120"/>
              </a:rPr>
              <a:t>a spec from a catalog</a:t>
            </a:r>
            <a:endParaRPr lang="en-US" sz="1150" dirty="0"/>
          </a:p>
        </p:txBody>
      </p:sp>
      <p:sp>
        <p:nvSpPr>
          <p:cNvPr id="16" name="Text 14"/>
          <p:cNvSpPr/>
          <p:nvPr/>
        </p:nvSpPr>
        <p:spPr>
          <a:xfrm>
            <a:off x="5157216" y="3275838"/>
            <a:ext cx="3035808" cy="678942"/>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JSON tree, element map, or a DSL · 01.2, 03, 04, 05, 07</a:t>
            </a:r>
            <a:endParaRPr lang="en-US" sz="900" dirty="0"/>
          </a:p>
        </p:txBody>
      </p:sp>
      <p:sp>
        <p:nvSpPr>
          <p:cNvPr id="17" name="Shape 15"/>
          <p:cNvSpPr/>
          <p:nvPr/>
        </p:nvSpPr>
        <p:spPr>
          <a:xfrm>
            <a:off x="8375904" y="2523744"/>
            <a:ext cx="3182112" cy="1467612"/>
          </a:xfrm>
          <a:prstGeom prst="roundRect">
            <a:avLst>
              <a:gd name="adj" fmla="val 6231"/>
            </a:avLst>
          </a:prstGeom>
          <a:solidFill>
            <a:srgbClr val="FFF4E5"/>
          </a:solidFill>
          <a:ln w="15875">
            <a:solidFill>
              <a:srgbClr val="D97706"/>
            </a:solidFill>
            <a:prstDash val="dash"/>
          </a:ln>
        </p:spPr>
      </p:sp>
      <p:sp>
        <p:nvSpPr>
          <p:cNvPr id="18" name="Text 16"/>
          <p:cNvSpPr/>
          <p:nvPr/>
        </p:nvSpPr>
        <p:spPr>
          <a:xfrm>
            <a:off x="8449056" y="2560320"/>
            <a:ext cx="3035808" cy="715518"/>
          </a:xfrm>
          <a:prstGeom prst="rect">
            <a:avLst/>
          </a:prstGeom>
          <a:noFill/>
          <a:ln/>
        </p:spPr>
        <p:txBody>
          <a:bodyPr wrap="square" lIns="0" tIns="0" rIns="0" bIns="0" rtlCol="0" anchor="b"/>
          <a:lstStyle/>
          <a:p>
            <a:pPr algn="ctr" indent="0" marL="0">
              <a:buNone/>
            </a:pPr>
            <a:r>
              <a:rPr lang="en-US" sz="1150" b="1" dirty="0">
                <a:solidFill>
                  <a:srgbClr val="D97706"/>
                </a:solidFill>
                <a:latin typeface="Calibri" pitchFamily="34" charset="0"/>
                <a:ea typeface="Calibri" pitchFamily="34" charset="-122"/>
                <a:cs typeface="Calibri" pitchFamily="34" charset="-120"/>
              </a:rPr>
              <a:t>raw HTML in a sandbox</a:t>
            </a:r>
            <a:endParaRPr lang="en-US" sz="1150" dirty="0"/>
          </a:p>
        </p:txBody>
      </p:sp>
      <p:sp>
        <p:nvSpPr>
          <p:cNvPr id="19" name="Text 17"/>
          <p:cNvSpPr/>
          <p:nvPr/>
        </p:nvSpPr>
        <p:spPr>
          <a:xfrm>
            <a:off x="8449056" y="3275838"/>
            <a:ext cx="3035808" cy="678942"/>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five to ten times the tokens · 01.3, 01.4, 04.4</a:t>
            </a:r>
            <a:endParaRPr lang="en-US" sz="900" dirty="0"/>
          </a:p>
        </p:txBody>
      </p:sp>
      <p:sp>
        <p:nvSpPr>
          <p:cNvPr id="20" name="Shape 18"/>
          <p:cNvSpPr/>
          <p:nvPr/>
        </p:nvSpPr>
        <p:spPr>
          <a:xfrm>
            <a:off x="1792224" y="4101084"/>
            <a:ext cx="3182112" cy="1467612"/>
          </a:xfrm>
          <a:prstGeom prst="roundRect">
            <a:avLst>
              <a:gd name="adj" fmla="val 6231"/>
            </a:avLst>
          </a:prstGeom>
          <a:solidFill>
            <a:srgbClr val="ECFDF5"/>
          </a:solidFill>
          <a:ln w="15875">
            <a:solidFill>
              <a:srgbClr val="15803D"/>
            </a:solidFill>
            <a:prstDash val="solid"/>
          </a:ln>
        </p:spPr>
      </p:sp>
      <p:sp>
        <p:nvSpPr>
          <p:cNvPr id="21" name="Text 19"/>
          <p:cNvSpPr/>
          <p:nvPr/>
        </p:nvSpPr>
        <p:spPr>
          <a:xfrm>
            <a:off x="1865376" y="4137660"/>
            <a:ext cx="3035808" cy="715518"/>
          </a:xfrm>
          <a:prstGeom prst="rect">
            <a:avLst/>
          </a:prstGeom>
          <a:noFill/>
          <a:ln/>
        </p:spPr>
        <p:txBody>
          <a:bodyPr wrap="square" lIns="0" tIns="0" rIns="0" bIns="0" rtlCol="0" anchor="b"/>
          <a:lstStyle/>
          <a:p>
            <a:pPr algn="ctr" indent="0" marL="0">
              <a:buNone/>
            </a:pPr>
            <a:r>
              <a:rPr lang="en-US" sz="1150" b="1" dirty="0">
                <a:solidFill>
                  <a:srgbClr val="15803D"/>
                </a:solidFill>
                <a:latin typeface="Calibri" pitchFamily="34" charset="0"/>
                <a:ea typeface="Calibri" pitchFamily="34" charset="-122"/>
                <a:cs typeface="Calibri" pitchFamily="34" charset="-120"/>
              </a:rPr>
              <a:t>a prebuilt HTML resource</a:t>
            </a:r>
            <a:endParaRPr lang="en-US" sz="1150" dirty="0"/>
          </a:p>
        </p:txBody>
      </p:sp>
      <p:sp>
        <p:nvSpPr>
          <p:cNvPr id="22" name="Text 20"/>
          <p:cNvSpPr/>
          <p:nvPr/>
        </p:nvSpPr>
        <p:spPr>
          <a:xfrm>
            <a:off x="1865376" y="4853178"/>
            <a:ext cx="3035808" cy="678942"/>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developer-authored, mounted by the host · 06.1</a:t>
            </a:r>
            <a:endParaRPr lang="en-US" sz="900" dirty="0"/>
          </a:p>
        </p:txBody>
      </p:sp>
      <p:sp>
        <p:nvSpPr>
          <p:cNvPr id="23" name="Shape 21"/>
          <p:cNvSpPr/>
          <p:nvPr/>
        </p:nvSpPr>
        <p:spPr>
          <a:xfrm>
            <a:off x="5084064" y="4101084"/>
            <a:ext cx="3182112" cy="1467612"/>
          </a:xfrm>
          <a:prstGeom prst="roundRect">
            <a:avLst>
              <a:gd name="adj" fmla="val 6231"/>
            </a:avLst>
          </a:prstGeom>
          <a:solidFill>
            <a:srgbClr val="ECFDF5"/>
          </a:solidFill>
          <a:ln w="15875">
            <a:solidFill>
              <a:srgbClr val="15803D"/>
            </a:solidFill>
            <a:prstDash val="solid"/>
          </a:ln>
        </p:spPr>
      </p:sp>
      <p:sp>
        <p:nvSpPr>
          <p:cNvPr id="24" name="Text 22"/>
          <p:cNvSpPr/>
          <p:nvPr/>
        </p:nvSpPr>
        <p:spPr>
          <a:xfrm>
            <a:off x="5157216" y="4137660"/>
            <a:ext cx="3035808" cy="715518"/>
          </a:xfrm>
          <a:prstGeom prst="rect">
            <a:avLst/>
          </a:prstGeom>
          <a:noFill/>
          <a:ln/>
        </p:spPr>
        <p:txBody>
          <a:bodyPr wrap="square" lIns="0" tIns="0" rIns="0" bIns="0" rtlCol="0" anchor="b"/>
          <a:lstStyle/>
          <a:p>
            <a:pPr algn="ctr" indent="0" marL="0">
              <a:buNone/>
            </a:pPr>
            <a:r>
              <a:rPr lang="en-US" sz="1150" b="1" dirty="0">
                <a:solidFill>
                  <a:srgbClr val="15803D"/>
                </a:solidFill>
                <a:latin typeface="Calibri" pitchFamily="34" charset="0"/>
                <a:ea typeface="Calibri" pitchFamily="34" charset="-122"/>
                <a:cs typeface="Calibri" pitchFamily="34" charset="-120"/>
              </a:rPr>
              <a:t>structured content into a view</a:t>
            </a:r>
            <a:endParaRPr lang="en-US" sz="1150" dirty="0"/>
          </a:p>
        </p:txBody>
      </p:sp>
      <p:sp>
        <p:nvSpPr>
          <p:cNvPr id="25" name="Text 23"/>
          <p:cNvSpPr/>
          <p:nvPr/>
        </p:nvSpPr>
        <p:spPr>
          <a:xfrm>
            <a:off x="5157216" y="4853178"/>
            <a:ext cx="3035808" cy="678942"/>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the view is yours, the data is the tool's · 06.1, 06.2</a:t>
            </a:r>
            <a:endParaRPr lang="en-US" sz="900" dirty="0"/>
          </a:p>
        </p:txBody>
      </p:sp>
      <p:sp>
        <p:nvSpPr>
          <p:cNvPr id="26" name="Shape 24"/>
          <p:cNvSpPr/>
          <p:nvPr/>
        </p:nvSpPr>
        <p:spPr>
          <a:xfrm>
            <a:off x="8375904" y="4101084"/>
            <a:ext cx="3182112" cy="1467612"/>
          </a:xfrm>
          <a:prstGeom prst="roundRect">
            <a:avLst>
              <a:gd name="adj" fmla="val 6231"/>
            </a:avLst>
          </a:prstGeom>
          <a:solidFill>
            <a:srgbClr val="F6F7FB"/>
          </a:solidFill>
          <a:ln w="15875">
            <a:solidFill>
              <a:srgbClr val="4B5563"/>
            </a:solidFill>
            <a:prstDash val="dash"/>
          </a:ln>
        </p:spPr>
      </p:sp>
      <p:sp>
        <p:nvSpPr>
          <p:cNvPr id="27" name="Text 25"/>
          <p:cNvSpPr/>
          <p:nvPr/>
        </p:nvSpPr>
        <p:spPr>
          <a:xfrm>
            <a:off x="8449056" y="4137660"/>
            <a:ext cx="3035808" cy="715518"/>
          </a:xfrm>
          <a:prstGeom prst="rect">
            <a:avLst/>
          </a:prstGeom>
          <a:noFill/>
          <a:ln/>
        </p:spPr>
        <p:txBody>
          <a:bodyPr wrap="square" lIns="0" tIns="0" rIns="0" bIns="0" rtlCol="0" anchor="b"/>
          <a:lstStyle/>
          <a:p>
            <a:pPr algn="ctr" indent="0" marL="0">
              <a:buNone/>
            </a:pPr>
            <a:r>
              <a:rPr lang="en-US" sz="1150" b="1" dirty="0">
                <a:solidFill>
                  <a:srgbClr val="4B5563"/>
                </a:solidFill>
                <a:latin typeface="Calibri" pitchFamily="34" charset="0"/>
                <a:ea typeface="Calibri" pitchFamily="34" charset="-122"/>
                <a:cs typeface="Calibri" pitchFamily="34" charset="-120"/>
              </a:rPr>
              <a:t>not recommended</a:t>
            </a:r>
            <a:endParaRPr lang="en-US" sz="1150" dirty="0"/>
          </a:p>
        </p:txBody>
      </p:sp>
      <p:sp>
        <p:nvSpPr>
          <p:cNvPr id="28" name="Text 26"/>
          <p:cNvSpPr/>
          <p:nvPr/>
        </p:nvSpPr>
        <p:spPr>
          <a:xfrm>
            <a:off x="8449056" y="4853178"/>
            <a:ext cx="3035808" cy="678942"/>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the host, not you, owns the sandbox</a:t>
            </a:r>
            <a:endParaRPr lang="en-US" sz="900" dirty="0"/>
          </a:p>
        </p:txBody>
      </p:sp>
      <p:sp>
        <p:nvSpPr>
          <p:cNvPr id="29" name="Shape 27"/>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30" name="Text 28"/>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Choose the transport first, then the generation mode. They are independent.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THE MAP · GENERATION MODES</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Static, declarative, open-ended: who decides the layout</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a:t>
            </a:r>
            <a:endParaRPr lang="en-US" sz="1000" dirty="0"/>
          </a:p>
        </p:txBody>
      </p:sp>
      <p:sp>
        <p:nvSpPr>
          <p:cNvPr id="5" name="Text 3"/>
          <p:cNvSpPr/>
          <p:nvPr/>
        </p:nvSpPr>
        <p:spPr>
          <a:xfrm>
            <a:off x="548640" y="1463040"/>
            <a:ext cx="5120640" cy="42976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Static.</a:t>
            </a:r>
            <a:pPr indent="0" marL="0">
              <a:buNone/>
            </a:pPr>
            <a:r>
              <a:rPr lang="en-US" sz="1350" dirty="0">
                <a:solidFill>
                  <a:srgbClr val="1F2937"/>
                </a:solidFill>
                <a:latin typeface="Calibri" pitchFamily="34" charset="0"/>
                <a:ea typeface="Calibri" pitchFamily="34" charset="-122"/>
                <a:cs typeface="Calibri" pitchFamily="34" charset="-120"/>
              </a:rPr>
              <a:t> Components exist before the model runs. The agent selects one and supplies its props. Lowest cost, safest.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Declarative.</a:t>
            </a:r>
            <a:pPr indent="0" marL="0">
              <a:buNone/>
            </a:pPr>
            <a:r>
              <a:rPr lang="en-US" sz="1350" dirty="0">
                <a:solidFill>
                  <a:srgbClr val="1F2937"/>
                </a:solidFill>
                <a:latin typeface="Calibri" pitchFamily="34" charset="0"/>
                <a:ea typeface="Calibri" pitchFamily="34" charset="-122"/>
                <a:cs typeface="Calibri" pitchFamily="34" charset="-120"/>
              </a:rPr>
              <a:t> The agent composes a spec from a catalog: a JSON tree, a flat element map, or a line-oriented language. The renderer walks the spec.</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Open-ended.</a:t>
            </a:r>
            <a:pPr indent="0" marL="0">
              <a:buNone/>
            </a:pPr>
            <a:r>
              <a:rPr lang="en-US" sz="1350" dirty="0">
                <a:solidFill>
                  <a:srgbClr val="1F2937"/>
                </a:solidFill>
                <a:latin typeface="Calibri" pitchFamily="34" charset="0"/>
                <a:ea typeface="Calibri" pitchFamily="34" charset="-122"/>
                <a:cs typeface="Calibri" pitchFamily="34" charset="-120"/>
              </a:rPr>
              <a:t> No catalog. The model writes HTML, CSS and JavaScript; the host runs it in a sandboxed iframe. Five to ten times the tokens.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Hybrid.</a:t>
            </a:r>
            <a:pPr indent="0" marL="0">
              <a:buNone/>
            </a:pPr>
            <a:r>
              <a:rPr lang="en-US" sz="1350" dirty="0">
                <a:solidFill>
                  <a:srgbClr val="1F2937"/>
                </a:solidFill>
                <a:latin typeface="Calibri" pitchFamily="34" charset="0"/>
                <a:ea typeface="Calibri" pitchFamily="34" charset="-122"/>
                <a:cs typeface="Calibri" pitchFamily="34" charset="-120"/>
              </a:rPr>
              <a:t> A catalog with one open-ended component in it. The report's recommended default.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declarative middle is where the open formats compete: A2UI, OpenUI Lang, json-render.</a:t>
            </a:r>
            <a:endParaRPr lang="en-US" sz="1350" dirty="0"/>
          </a:p>
        </p:txBody>
      </p:sp>
      <p:sp>
        <p:nvSpPr>
          <p:cNvPr id="6" name="Shape 4"/>
          <p:cNvSpPr/>
          <p:nvPr/>
        </p:nvSpPr>
        <p:spPr>
          <a:xfrm>
            <a:off x="6035040" y="1600200"/>
            <a:ext cx="5577840" cy="3703320"/>
          </a:xfrm>
          <a:prstGeom prst="roundRect">
            <a:avLst>
              <a:gd name="adj" fmla="val 2963"/>
            </a:avLst>
          </a:prstGeom>
          <a:solidFill>
            <a:srgbClr val="FFFFFF"/>
          </a:solidFill>
          <a:ln w="15875">
            <a:solidFill>
              <a:srgbClr val="D7DAE5"/>
            </a:solidFill>
            <a:prstDash val="solid"/>
          </a:ln>
        </p:spPr>
      </p:sp>
      <p:sp>
        <p:nvSpPr>
          <p:cNvPr id="7" name="Shape 5"/>
          <p:cNvSpPr/>
          <p:nvPr/>
        </p:nvSpPr>
        <p:spPr>
          <a:xfrm>
            <a:off x="6217920" y="1737360"/>
            <a:ext cx="109728" cy="109728"/>
          </a:xfrm>
          <a:prstGeom prst="ellipse">
            <a:avLst/>
          </a:prstGeom>
          <a:solidFill>
            <a:srgbClr val="2F3CFF"/>
          </a:solidFill>
          <a:ln w="12700">
            <a:solidFill>
              <a:srgbClr val="2F3CFF"/>
            </a:solidFill>
            <a:prstDash val="solid"/>
          </a:ln>
        </p:spPr>
      </p:sp>
      <p:sp>
        <p:nvSpPr>
          <p:cNvPr id="8" name="Shape 6"/>
          <p:cNvSpPr/>
          <p:nvPr/>
        </p:nvSpPr>
        <p:spPr>
          <a:xfrm>
            <a:off x="6419088" y="1737360"/>
            <a:ext cx="109728" cy="109728"/>
          </a:xfrm>
          <a:prstGeom prst="ellipse">
            <a:avLst/>
          </a:prstGeom>
          <a:solidFill>
            <a:srgbClr val="2F3CFF"/>
          </a:solidFill>
          <a:ln w="12700">
            <a:solidFill>
              <a:srgbClr val="2F3CFF"/>
            </a:solidFill>
            <a:prstDash val="solid"/>
          </a:ln>
        </p:spPr>
      </p:sp>
      <p:sp>
        <p:nvSpPr>
          <p:cNvPr id="9" name="Shape 7"/>
          <p:cNvSpPr/>
          <p:nvPr/>
        </p:nvSpPr>
        <p:spPr>
          <a:xfrm>
            <a:off x="6620256" y="1737360"/>
            <a:ext cx="109728" cy="109728"/>
          </a:xfrm>
          <a:prstGeom prst="ellipse">
            <a:avLst/>
          </a:prstGeom>
          <a:solidFill>
            <a:srgbClr val="2F3CFF"/>
          </a:solidFill>
          <a:ln w="12700">
            <a:solidFill>
              <a:srgbClr val="2F3CFF"/>
            </a:solidFill>
            <a:prstDash val="solid"/>
          </a:ln>
        </p:spPr>
      </p:sp>
      <p:sp>
        <p:nvSpPr>
          <p:cNvPr id="10" name="Shape 8"/>
          <p:cNvSpPr/>
          <p:nvPr/>
        </p:nvSpPr>
        <p:spPr>
          <a:xfrm>
            <a:off x="6217920" y="2011680"/>
            <a:ext cx="2414016" cy="656082"/>
          </a:xfrm>
          <a:prstGeom prst="roundRect">
            <a:avLst>
              <a:gd name="adj" fmla="val 13937"/>
            </a:avLst>
          </a:prstGeom>
          <a:solidFill>
            <a:srgbClr val="EEF0FF"/>
          </a:solidFill>
          <a:ln w="15875">
            <a:solidFill>
              <a:srgbClr val="2F3CFF"/>
            </a:solidFill>
            <a:prstDash val="solid"/>
          </a:ln>
        </p:spPr>
      </p:sp>
      <p:sp>
        <p:nvSpPr>
          <p:cNvPr id="11" name="Text 9"/>
          <p:cNvSpPr/>
          <p:nvPr/>
        </p:nvSpPr>
        <p:spPr>
          <a:xfrm>
            <a:off x="6291072" y="2048256"/>
            <a:ext cx="2267712" cy="34255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Heading</a:t>
            </a:r>
            <a:endParaRPr lang="en-US" sz="1200" dirty="0"/>
          </a:p>
        </p:txBody>
      </p:sp>
      <p:sp>
        <p:nvSpPr>
          <p:cNvPr id="12" name="Text 10"/>
          <p:cNvSpPr/>
          <p:nvPr/>
        </p:nvSpPr>
        <p:spPr>
          <a:xfrm>
            <a:off x="6291072" y="2390813"/>
            <a:ext cx="2267712" cy="240373"/>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3" name="Shape 11"/>
          <p:cNvSpPr/>
          <p:nvPr/>
        </p:nvSpPr>
        <p:spPr>
          <a:xfrm>
            <a:off x="6217920" y="2777490"/>
            <a:ext cx="2414016" cy="656082"/>
          </a:xfrm>
          <a:prstGeom prst="roundRect">
            <a:avLst>
              <a:gd name="adj" fmla="val 13937"/>
            </a:avLst>
          </a:prstGeom>
          <a:solidFill>
            <a:srgbClr val="EEF0FF"/>
          </a:solidFill>
          <a:ln w="15875">
            <a:solidFill>
              <a:srgbClr val="2F3CFF"/>
            </a:solidFill>
            <a:prstDash val="solid"/>
          </a:ln>
        </p:spPr>
      </p:sp>
      <p:sp>
        <p:nvSpPr>
          <p:cNvPr id="14" name="Text 12"/>
          <p:cNvSpPr/>
          <p:nvPr/>
        </p:nvSpPr>
        <p:spPr>
          <a:xfrm>
            <a:off x="6291072" y="2814066"/>
            <a:ext cx="2267712" cy="34255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Card</a:t>
            </a:r>
            <a:endParaRPr lang="en-US" sz="1200" dirty="0"/>
          </a:p>
        </p:txBody>
      </p:sp>
      <p:sp>
        <p:nvSpPr>
          <p:cNvPr id="15" name="Text 13"/>
          <p:cNvSpPr/>
          <p:nvPr/>
        </p:nvSpPr>
        <p:spPr>
          <a:xfrm>
            <a:off x="6291072" y="3156623"/>
            <a:ext cx="2267712" cy="240373"/>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6" name="Shape 14"/>
          <p:cNvSpPr/>
          <p:nvPr/>
        </p:nvSpPr>
        <p:spPr>
          <a:xfrm>
            <a:off x="6217920" y="3543300"/>
            <a:ext cx="2414016" cy="656082"/>
          </a:xfrm>
          <a:prstGeom prst="roundRect">
            <a:avLst>
              <a:gd name="adj" fmla="val 13937"/>
            </a:avLst>
          </a:prstGeom>
          <a:solidFill>
            <a:srgbClr val="EEF0FF"/>
          </a:solidFill>
          <a:ln w="15875">
            <a:solidFill>
              <a:srgbClr val="2F3CFF"/>
            </a:solidFill>
            <a:prstDash val="solid"/>
          </a:ln>
        </p:spPr>
      </p:sp>
      <p:sp>
        <p:nvSpPr>
          <p:cNvPr id="17" name="Text 15"/>
          <p:cNvSpPr/>
          <p:nvPr/>
        </p:nvSpPr>
        <p:spPr>
          <a:xfrm>
            <a:off x="6291072" y="3579876"/>
            <a:ext cx="2267712" cy="34255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BarChart</a:t>
            </a:r>
            <a:endParaRPr lang="en-US" sz="1200" dirty="0"/>
          </a:p>
        </p:txBody>
      </p:sp>
      <p:sp>
        <p:nvSpPr>
          <p:cNvPr id="18" name="Text 16"/>
          <p:cNvSpPr/>
          <p:nvPr/>
        </p:nvSpPr>
        <p:spPr>
          <a:xfrm>
            <a:off x="6291072" y="3922433"/>
            <a:ext cx="2267712" cy="240373"/>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9" name="Shape 17"/>
          <p:cNvSpPr/>
          <p:nvPr/>
        </p:nvSpPr>
        <p:spPr>
          <a:xfrm>
            <a:off x="6217920" y="4309110"/>
            <a:ext cx="2414016" cy="656082"/>
          </a:xfrm>
          <a:prstGeom prst="roundRect">
            <a:avLst>
              <a:gd name="adj" fmla="val 13937"/>
            </a:avLst>
          </a:prstGeom>
          <a:solidFill>
            <a:srgbClr val="EEF0FF"/>
          </a:solidFill>
          <a:ln w="15875">
            <a:solidFill>
              <a:srgbClr val="2F3CFF"/>
            </a:solidFill>
            <a:prstDash val="solid"/>
          </a:ln>
        </p:spPr>
      </p:sp>
      <p:sp>
        <p:nvSpPr>
          <p:cNvPr id="20" name="Text 18"/>
          <p:cNvSpPr/>
          <p:nvPr/>
        </p:nvSpPr>
        <p:spPr>
          <a:xfrm>
            <a:off x="6291072" y="4345686"/>
            <a:ext cx="2267712" cy="34255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Button</a:t>
            </a:r>
            <a:endParaRPr lang="en-US" sz="1200" dirty="0"/>
          </a:p>
        </p:txBody>
      </p:sp>
      <p:sp>
        <p:nvSpPr>
          <p:cNvPr id="21" name="Text 19"/>
          <p:cNvSpPr/>
          <p:nvPr/>
        </p:nvSpPr>
        <p:spPr>
          <a:xfrm>
            <a:off x="6291072" y="4688243"/>
            <a:ext cx="2267712" cy="240373"/>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2" name="Shape 20"/>
          <p:cNvSpPr/>
          <p:nvPr/>
        </p:nvSpPr>
        <p:spPr>
          <a:xfrm>
            <a:off x="8814816" y="2011680"/>
            <a:ext cx="2615184" cy="3108960"/>
          </a:xfrm>
          <a:prstGeom prst="roundRect">
            <a:avLst>
              <a:gd name="adj" fmla="val 3497"/>
            </a:avLst>
          </a:prstGeom>
          <a:solidFill>
            <a:srgbClr val="FFF4E5"/>
          </a:solidFill>
          <a:ln w="15875">
            <a:solidFill>
              <a:srgbClr val="D97706"/>
            </a:solidFill>
            <a:prstDash val="dash"/>
          </a:ln>
        </p:spPr>
      </p:sp>
      <p:sp>
        <p:nvSpPr>
          <p:cNvPr id="23" name="Text 21"/>
          <p:cNvSpPr/>
          <p:nvPr/>
        </p:nvSpPr>
        <p:spPr>
          <a:xfrm>
            <a:off x="8887968" y="2048256"/>
            <a:ext cx="2468880" cy="153619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GeneratedView</a:t>
            </a:r>
            <a:endParaRPr lang="en-US" sz="1300" dirty="0"/>
          </a:p>
        </p:txBody>
      </p:sp>
      <p:sp>
        <p:nvSpPr>
          <p:cNvPr id="24" name="Text 22"/>
          <p:cNvSpPr/>
          <p:nvPr/>
        </p:nvSpPr>
        <p:spPr>
          <a:xfrm>
            <a:off x="8887968" y="3584448"/>
            <a:ext cx="2468880" cy="149961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sandboxed iframe: open-ended only where the catalog does not reach</a:t>
            </a:r>
            <a:endParaRPr lang="en-US" sz="1050" dirty="0"/>
          </a:p>
        </p:txBody>
      </p:sp>
      <p:sp>
        <p:nvSpPr>
          <p:cNvPr id="25" name="Text 23"/>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report's diagram: catalog primitives by default</a:t>
            </a:r>
            <a:endParaRPr lang="en-US" sz="1050" dirty="0"/>
          </a:p>
        </p:txBody>
      </p:sp>
      <p:sp>
        <p:nvSpPr>
          <p:cNvPr id="26" name="Shape 24"/>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7" name="Text 25"/>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Sub-theme 01 builds all four by hand; sub-theme 04 builds the hybrid on OpenUI's reference implementation.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THE ROADMAP</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Seven sub-themes, 23 steps, in the order to read them</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3291840"/>
                <a:gridCol w="502920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Sub-theme</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Steps</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You learn</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01 Foundations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static · declarative tree · open-ended HTML · hybrid</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the three modes with no framework, measured in tokens and first paint</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02 AG-UI</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server · tools and state · from the harness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the transport for your own product: runs, events, state patches, client tools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03 A2UI</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by hand · from a model · Lit over AG-UI</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Google's protocol: surfaces, flat components, a separate data model, actions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04 OpenUI Lang</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parser · React renderer · benchmark · html artifact</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the DSL with forward references; the report's token table reproduced; the hybrid on OpenUI's example</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05 json-render</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catalog · streaming patches · actions and targets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Vercel's element map: one catalog for prompt, validator and registry; one spec, two renderers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06 MCP Apps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an app resource · in a real host · hybrid inside an app</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UI inside a host you do not control: a tool result that carries HTML, a bridge, a CSP</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07 In the harness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render_ui tool · TrueForge generative UI · hybrid on TrueForge</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one agent with two surfaces; a hosted harness's UI language parsed by your own page</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Read the sub-themes in order the first time. Each one is self-contained after that.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HOW TO READ A STEP</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Every step has the same shape, in the deck and in the README</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a:t>
            </a:r>
            <a:endParaRPr lang="en-US" sz="1000" dirty="0"/>
          </a:p>
        </p:txBody>
      </p:sp>
      <p:sp>
        <p:nvSpPr>
          <p:cNvPr id="5" name="Text 3"/>
          <p:cNvSpPr/>
          <p:nvPr/>
        </p:nvSpPr>
        <p:spPr>
          <a:xfrm>
            <a:off x="548640" y="1463040"/>
            <a:ext cx="5120640" cy="42976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Theory.</a:t>
            </a:r>
            <a:pPr indent="0" marL="0">
              <a:buNone/>
            </a:pPr>
            <a:r>
              <a:rPr lang="en-US" sz="1350" dirty="0">
                <a:solidFill>
                  <a:srgbClr val="1F2937"/>
                </a:solidFill>
                <a:latin typeface="Calibri" pitchFamily="34" charset="0"/>
                <a:ea typeface="Calibri" pitchFamily="34" charset="-122"/>
                <a:cs typeface="Calibri" pitchFamily="34" charset="-120"/>
              </a:rPr>
              <a:t> The idea in the report's terms, why it comes now, and a diagram.</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Code walkthrough.</a:t>
            </a:r>
            <a:pPr indent="0" marL="0">
              <a:buNone/>
            </a:pPr>
            <a:r>
              <a:rPr lang="en-US" sz="1350" dirty="0">
                <a:solidFill>
                  <a:srgbClr val="1F2937"/>
                </a:solidFill>
                <a:latin typeface="Calibri" pitchFamily="34" charset="0"/>
                <a:ea typeface="Calibri" pitchFamily="34" charset="-122"/>
                <a:cs typeface="Calibri" pitchFamily="34" charset="-120"/>
              </a:rPr>
              <a:t> One or two snippets read from the real source at build time, with numbered callouts.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Recorded result.</a:t>
            </a:r>
            <a:pPr indent="0" marL="0">
              <a:buNone/>
            </a:pPr>
            <a:r>
              <a:rPr lang="en-US" sz="1350" dirty="0">
                <a:solidFill>
                  <a:srgbClr val="1F2937"/>
                </a:solidFill>
                <a:latin typeface="Calibri" pitchFamily="34" charset="0"/>
                <a:ea typeface="Calibri" pitchFamily="34" charset="-122"/>
                <a:cs typeface="Calibri" pitchFamily="34" charset="-120"/>
              </a:rPr>
              <a:t> The demo output, its real numbers, and the screenshot the demo script took headlessly.</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Checkpoint and takeaway</a:t>
            </a:r>
            <a:pPr indent="0" marL="0">
              <a:buNone/>
            </a:pPr>
            <a:r>
              <a:rPr lang="en-US" sz="1350" dirty="0">
                <a:solidFill>
                  <a:srgbClr val="1F2937"/>
                </a:solidFill>
                <a:latin typeface="Calibri" pitchFamily="34" charset="0"/>
                <a:ea typeface="Calibri" pitchFamily="34" charset="-122"/>
                <a:cs typeface="Calibri" pitchFamily="34" charset="-120"/>
              </a:rPr>
              <a:t> in the README: one thing to try, one sentence to keep.</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Every step directory has an offline test that needs no key, and a Files section that names every file.</a:t>
            </a:r>
            <a:endParaRPr lang="en-US" sz="1350" dirty="0"/>
          </a:p>
        </p:txBody>
      </p:sp>
      <p:sp>
        <p:nvSpPr>
          <p:cNvPr id="6" name="Shape 4"/>
          <p:cNvSpPr/>
          <p:nvPr/>
        </p:nvSpPr>
        <p:spPr>
          <a:xfrm>
            <a:off x="6903720" y="1600200"/>
            <a:ext cx="3840480" cy="720090"/>
          </a:xfrm>
          <a:prstGeom prst="roundRect">
            <a:avLst>
              <a:gd name="adj" fmla="val 12698"/>
            </a:avLst>
          </a:prstGeom>
          <a:solidFill>
            <a:srgbClr val="EEF0FF"/>
          </a:solidFill>
          <a:ln w="15875">
            <a:solidFill>
              <a:srgbClr val="2F3CFF"/>
            </a:solidFill>
            <a:prstDash val="solid"/>
          </a:ln>
        </p:spPr>
      </p:sp>
      <p:sp>
        <p:nvSpPr>
          <p:cNvPr id="7" name="Text 5"/>
          <p:cNvSpPr/>
          <p:nvPr/>
        </p:nvSpPr>
        <p:spPr>
          <a:xfrm>
            <a:off x="6976872" y="1636776"/>
            <a:ext cx="3694176" cy="37776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theory</a:t>
            </a:r>
            <a:endParaRPr lang="en-US" sz="1200" dirty="0"/>
          </a:p>
        </p:txBody>
      </p:sp>
      <p:sp>
        <p:nvSpPr>
          <p:cNvPr id="8" name="Text 6"/>
          <p:cNvSpPr/>
          <p:nvPr/>
        </p:nvSpPr>
        <p:spPr>
          <a:xfrm>
            <a:off x="6976872" y="2014538"/>
            <a:ext cx="3694176" cy="269177"/>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why, in the report's terms</a:t>
            </a:r>
            <a:endParaRPr lang="en-US" sz="950" dirty="0"/>
          </a:p>
        </p:txBody>
      </p:sp>
      <p:sp>
        <p:nvSpPr>
          <p:cNvPr id="9" name="Shape 7"/>
          <p:cNvSpPr/>
          <p:nvPr/>
        </p:nvSpPr>
        <p:spPr>
          <a:xfrm>
            <a:off x="8823960" y="2347722"/>
            <a:ext cx="9144" cy="265176"/>
          </a:xfrm>
          <a:prstGeom prst="line">
            <a:avLst/>
          </a:prstGeom>
          <a:noFill/>
          <a:ln w="19050">
            <a:solidFill>
              <a:srgbClr val="4B5563"/>
            </a:solidFill>
            <a:prstDash val="solid"/>
            <a:tailEnd type="triangle"/>
          </a:ln>
        </p:spPr>
      </p:sp>
      <p:sp>
        <p:nvSpPr>
          <p:cNvPr id="10" name="Shape 8"/>
          <p:cNvSpPr/>
          <p:nvPr/>
        </p:nvSpPr>
        <p:spPr>
          <a:xfrm>
            <a:off x="6903720" y="2640330"/>
            <a:ext cx="3840480" cy="720090"/>
          </a:xfrm>
          <a:prstGeom prst="roundRect">
            <a:avLst>
              <a:gd name="adj" fmla="val 12698"/>
            </a:avLst>
          </a:prstGeom>
          <a:solidFill>
            <a:srgbClr val="F6F7FB"/>
          </a:solidFill>
          <a:ln w="15875">
            <a:solidFill>
              <a:srgbClr val="141B3D"/>
            </a:solidFill>
            <a:prstDash val="solid"/>
          </a:ln>
        </p:spPr>
      </p:sp>
      <p:sp>
        <p:nvSpPr>
          <p:cNvPr id="11" name="Text 9"/>
          <p:cNvSpPr/>
          <p:nvPr/>
        </p:nvSpPr>
        <p:spPr>
          <a:xfrm>
            <a:off x="6976872" y="2676906"/>
            <a:ext cx="3694176" cy="37776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code walkthrough</a:t>
            </a:r>
            <a:endParaRPr lang="en-US" sz="1200" dirty="0"/>
          </a:p>
        </p:txBody>
      </p:sp>
      <p:sp>
        <p:nvSpPr>
          <p:cNvPr id="12" name="Text 10"/>
          <p:cNvSpPr/>
          <p:nvPr/>
        </p:nvSpPr>
        <p:spPr>
          <a:xfrm>
            <a:off x="6976872" y="3054668"/>
            <a:ext cx="3694176" cy="269177"/>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real snippets, numbered callouts</a:t>
            </a:r>
            <a:endParaRPr lang="en-US" sz="950" dirty="0"/>
          </a:p>
        </p:txBody>
      </p:sp>
      <p:sp>
        <p:nvSpPr>
          <p:cNvPr id="13" name="Shape 11"/>
          <p:cNvSpPr/>
          <p:nvPr/>
        </p:nvSpPr>
        <p:spPr>
          <a:xfrm>
            <a:off x="8823960" y="3387852"/>
            <a:ext cx="9144" cy="265176"/>
          </a:xfrm>
          <a:prstGeom prst="line">
            <a:avLst/>
          </a:prstGeom>
          <a:noFill/>
          <a:ln w="19050">
            <a:solidFill>
              <a:srgbClr val="4B5563"/>
            </a:solidFill>
            <a:prstDash val="solid"/>
            <a:tailEnd type="triangle"/>
          </a:ln>
        </p:spPr>
      </p:sp>
      <p:sp>
        <p:nvSpPr>
          <p:cNvPr id="14" name="Shape 12"/>
          <p:cNvSpPr/>
          <p:nvPr/>
        </p:nvSpPr>
        <p:spPr>
          <a:xfrm>
            <a:off x="6903720" y="3680460"/>
            <a:ext cx="3840480" cy="720090"/>
          </a:xfrm>
          <a:prstGeom prst="roundRect">
            <a:avLst>
              <a:gd name="adj" fmla="val 12698"/>
            </a:avLst>
          </a:prstGeom>
          <a:solidFill>
            <a:srgbClr val="ECFDF5"/>
          </a:solidFill>
          <a:ln w="15875">
            <a:solidFill>
              <a:srgbClr val="15803D"/>
            </a:solidFill>
            <a:prstDash val="solid"/>
          </a:ln>
        </p:spPr>
      </p:sp>
      <p:sp>
        <p:nvSpPr>
          <p:cNvPr id="15" name="Text 13"/>
          <p:cNvSpPr/>
          <p:nvPr/>
        </p:nvSpPr>
        <p:spPr>
          <a:xfrm>
            <a:off x="6976872" y="3717036"/>
            <a:ext cx="3694176" cy="377762"/>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recorded result</a:t>
            </a:r>
            <a:endParaRPr lang="en-US" sz="1200" dirty="0"/>
          </a:p>
        </p:txBody>
      </p:sp>
      <p:sp>
        <p:nvSpPr>
          <p:cNvPr id="16" name="Text 14"/>
          <p:cNvSpPr/>
          <p:nvPr/>
        </p:nvSpPr>
        <p:spPr>
          <a:xfrm>
            <a:off x="6976872" y="4094798"/>
            <a:ext cx="3694176" cy="269177"/>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numbers and the screenshot</a:t>
            </a:r>
            <a:endParaRPr lang="en-US" sz="950" dirty="0"/>
          </a:p>
        </p:txBody>
      </p:sp>
      <p:sp>
        <p:nvSpPr>
          <p:cNvPr id="17" name="Shape 15"/>
          <p:cNvSpPr/>
          <p:nvPr/>
        </p:nvSpPr>
        <p:spPr>
          <a:xfrm>
            <a:off x="8823960" y="4427982"/>
            <a:ext cx="9144" cy="265176"/>
          </a:xfrm>
          <a:prstGeom prst="line">
            <a:avLst/>
          </a:prstGeom>
          <a:noFill/>
          <a:ln w="19050">
            <a:solidFill>
              <a:srgbClr val="4B5563"/>
            </a:solidFill>
            <a:prstDash val="solid"/>
            <a:tailEnd type="triangle"/>
          </a:ln>
        </p:spPr>
      </p:sp>
      <p:sp>
        <p:nvSpPr>
          <p:cNvPr id="18" name="Shape 16"/>
          <p:cNvSpPr/>
          <p:nvPr/>
        </p:nvSpPr>
        <p:spPr>
          <a:xfrm>
            <a:off x="6903720" y="4720590"/>
            <a:ext cx="3840480" cy="720090"/>
          </a:xfrm>
          <a:prstGeom prst="roundRect">
            <a:avLst>
              <a:gd name="adj" fmla="val 12698"/>
            </a:avLst>
          </a:prstGeom>
          <a:solidFill>
            <a:srgbClr val="EEF0FF"/>
          </a:solidFill>
          <a:ln w="15875">
            <a:solidFill>
              <a:srgbClr val="2F3CFF"/>
            </a:solidFill>
            <a:prstDash val="solid"/>
          </a:ln>
        </p:spPr>
      </p:sp>
      <p:sp>
        <p:nvSpPr>
          <p:cNvPr id="19" name="Text 17"/>
          <p:cNvSpPr/>
          <p:nvPr/>
        </p:nvSpPr>
        <p:spPr>
          <a:xfrm>
            <a:off x="6976872" y="4757166"/>
            <a:ext cx="3694176" cy="37776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run it yourself</a:t>
            </a:r>
            <a:endParaRPr lang="en-US" sz="1200" dirty="0"/>
          </a:p>
        </p:txBody>
      </p:sp>
      <p:sp>
        <p:nvSpPr>
          <p:cNvPr id="20" name="Text 18"/>
          <p:cNvSpPr/>
          <p:nvPr/>
        </p:nvSpPr>
        <p:spPr>
          <a:xfrm>
            <a:off x="6976872" y="5134928"/>
            <a:ext cx="3694176" cy="269177"/>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cd genui/&lt;sub-theme&gt;/&lt;step&gt; &amp;&amp; python demo.py</a:t>
            </a:r>
            <a:endParaRPr lang="en-US" sz="950" dirty="0"/>
          </a:p>
        </p:txBody>
      </p:sp>
      <p:sp>
        <p:nvSpPr>
          <p:cNvPr id="21" name="Shape 19"/>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2" name="Text 20"/>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Numbers on these slides come from recorded runs, never from estimates.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SETUP</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What you need to run every step</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a:t>
            </a:r>
            <a:endParaRPr lang="en-US" sz="1000" dirty="0"/>
          </a:p>
        </p:txBody>
      </p:sp>
      <p:sp>
        <p:nvSpPr>
          <p:cNvPr id="5" name="Text 3"/>
          <p:cNvSpPr/>
          <p:nvPr/>
        </p:nvSpPr>
        <p:spPr>
          <a:xfrm>
            <a:off x="548640" y="1463040"/>
            <a:ext cx="5120640" cy="47548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Python 3.10 or newer and Node 22. </a:t>
            </a:r>
            <a:pPr indent="0" marL="0">
              <a:buNone/>
            </a:pPr>
            <a:r>
              <a:rPr lang="en-US" sz="1250" dirty="0">
                <a:solidFill>
                  <a:srgbClr val="BE123C"/>
                </a:solidFill>
                <a:latin typeface="Courier New" pitchFamily="34" charset="0"/>
                <a:ea typeface="Courier New" pitchFamily="34" charset="-122"/>
                <a:cs typeface="Courier New" pitchFamily="34" charset="-120"/>
              </a:rPr>
              <a:t>pip install -r requirements.txt</a:t>
            </a:r>
            <a:pPr indent="0" marL="0">
              <a:buNone/>
            </a:pPr>
            <a:r>
              <a:rPr lang="en-US" sz="1350" dirty="0">
                <a:solidFill>
                  <a:srgbClr val="1F2937"/>
                </a:solidFill>
                <a:latin typeface="Calibri" pitchFamily="34" charset="0"/>
                <a:ea typeface="Calibri" pitchFamily="34" charset="-122"/>
                <a:cs typeface="Calibri" pitchFamily="34" charset="-120"/>
              </a:rPr>
              <a:t> from the repository root.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 key in </a:t>
            </a:r>
            <a:pPr indent="0" marL="0">
              <a:buNone/>
            </a:pPr>
            <a:r>
              <a:rPr lang="en-US" sz="1250" dirty="0">
                <a:solidFill>
                  <a:srgbClr val="BE123C"/>
                </a:solidFill>
                <a:latin typeface="Courier New" pitchFamily="34" charset="0"/>
                <a:ea typeface="Courier New" pitchFamily="34" charset="-122"/>
                <a:cs typeface="Courier New" pitchFamily="34" charset="-120"/>
              </a:rPr>
              <a:t>API_KEY</a:t>
            </a:r>
            <a:pPr indent="0" marL="0">
              <a:buNone/>
            </a:pPr>
            <a:r>
              <a:rPr lang="en-US" sz="1350" dirty="0">
                <a:solidFill>
                  <a:srgbClr val="1F2937"/>
                </a:solidFill>
                <a:latin typeface="Calibri" pitchFamily="34" charset="0"/>
                <a:ea typeface="Calibri" pitchFamily="34" charset="-122"/>
                <a:cs typeface="Calibri" pitchFamily="34" charset="-120"/>
              </a:rPr>
              <a:t>, or </a:t>
            </a:r>
            <a:pPr indent="0" marL="0">
              <a:buNone/>
            </a:pPr>
            <a:r>
              <a:rPr lang="en-US" sz="1250" dirty="0">
                <a:solidFill>
                  <a:srgbClr val="BE123C"/>
                </a:solidFill>
                <a:latin typeface="Courier New" pitchFamily="34" charset="0"/>
                <a:ea typeface="Courier New" pitchFamily="34" charset="-122"/>
                <a:cs typeface="Courier New" pitchFamily="34" charset="-120"/>
              </a:rPr>
              <a:t>OPENAI_API_KEY=...</a:t>
            </a:r>
            <a:pPr indent="0" marL="0">
              <a:buNone/>
            </a:pPr>
            <a:r>
              <a:rPr lang="en-US" sz="1350" dirty="0">
                <a:solidFill>
                  <a:srgbClr val="1F2937"/>
                </a:solidFill>
                <a:latin typeface="Calibri" pitchFamily="34" charset="0"/>
                <a:ea typeface="Calibri" pitchFamily="34" charset="-122"/>
                <a:cs typeface="Calibri" pitchFamily="34" charset="-120"/>
              </a:rPr>
              <a:t> in </a:t>
            </a:r>
            <a:pPr indent="0" marL="0">
              <a:buNone/>
            </a:pPr>
            <a:r>
              <a:rPr lang="en-US" sz="1250" dirty="0">
                <a:solidFill>
                  <a:srgbClr val="BE123C"/>
                </a:solidFill>
                <a:latin typeface="Courier New" pitchFamily="34" charset="0"/>
                <a:ea typeface="Courier New" pitchFamily="34" charset="-122"/>
                <a:cs typeface="Courier New" pitchFamily="34" charset="-120"/>
              </a:rPr>
              <a:t>~/.simple-harness/env</a:t>
            </a:r>
            <a:pPr indent="0" marL="0">
              <a:buNone/>
            </a:pPr>
            <a:r>
              <a:rPr lang="en-US" sz="1350" dirty="0">
                <a:solidFill>
                  <a:srgbClr val="1F2937"/>
                </a:solidFill>
                <a:latin typeface="Calibri" pitchFamily="34" charset="0"/>
                <a:ea typeface="Calibri" pitchFamily="34" charset="-122"/>
                <a:cs typeface="Calibri" pitchFamily="34" charset="-120"/>
              </a:rPr>
              <a:t>. Every step's </a:t>
            </a:r>
            <a:pPr indent="0" marL="0">
              <a:buNone/>
            </a:pPr>
            <a:r>
              <a:rPr lang="en-US" sz="1250" dirty="0">
                <a:solidFill>
                  <a:srgbClr val="BE123C"/>
                </a:solidFill>
                <a:latin typeface="Courier New" pitchFamily="34" charset="0"/>
                <a:ea typeface="Courier New" pitchFamily="34" charset="-122"/>
                <a:cs typeface="Courier New" pitchFamily="34" charset="-120"/>
              </a:rPr>
              <a:t>llm.py</a:t>
            </a:r>
            <a:pPr indent="0" marL="0">
              <a:buNone/>
            </a:pPr>
            <a:r>
              <a:rPr lang="en-US" sz="1350" dirty="0">
                <a:solidFill>
                  <a:srgbClr val="1F2937"/>
                </a:solidFill>
                <a:latin typeface="Calibri" pitchFamily="34" charset="0"/>
                <a:ea typeface="Calibri" pitchFamily="34" charset="-122"/>
                <a:cs typeface="Calibri" pitchFamily="34" charset="-120"/>
              </a:rPr>
              <a:t> reads both; </a:t>
            </a:r>
            <a:pPr indent="0" marL="0">
              <a:buNone/>
            </a:pPr>
            <a:r>
              <a:rPr lang="en-US" sz="1250" dirty="0">
                <a:solidFill>
                  <a:srgbClr val="BE123C"/>
                </a:solidFill>
                <a:latin typeface="Courier New" pitchFamily="34" charset="0"/>
                <a:ea typeface="Courier New" pitchFamily="34" charset="-122"/>
                <a:cs typeface="Courier New" pitchFamily="34" charset="-120"/>
              </a:rPr>
              <a:t>BASE_URL</a:t>
            </a:r>
            <a:pPr indent="0" marL="0">
              <a:buNone/>
            </a:pPr>
            <a:r>
              <a:rPr lang="en-US" sz="1350" dirty="0">
                <a:solidFill>
                  <a:srgbClr val="1F2937"/>
                </a:solidFill>
                <a:latin typeface="Calibri" pitchFamily="34" charset="0"/>
                <a:ea typeface="Calibri" pitchFamily="34" charset="-122"/>
                <a:cs typeface="Calibri" pitchFamily="34" charset="-120"/>
              </a:rPr>
              <a:t> and </a:t>
            </a:r>
            <a:pPr indent="0" marL="0">
              <a:buNone/>
            </a:pPr>
            <a:r>
              <a:rPr lang="en-US" sz="1250" dirty="0">
                <a:solidFill>
                  <a:srgbClr val="BE123C"/>
                </a:solidFill>
                <a:latin typeface="Courier New" pitchFamily="34" charset="0"/>
                <a:ea typeface="Courier New" pitchFamily="34" charset="-122"/>
                <a:cs typeface="Courier New" pitchFamily="34" charset="-120"/>
              </a:rPr>
              <a:t>MODEL</a:t>
            </a:r>
            <a:pPr indent="0" marL="0">
              <a:buNone/>
            </a:pPr>
            <a:r>
              <a:rPr lang="en-US" sz="1350" dirty="0">
                <a:solidFill>
                  <a:srgbClr val="1F2937"/>
                </a:solidFill>
                <a:latin typeface="Calibri" pitchFamily="34" charset="0"/>
                <a:ea typeface="Calibri" pitchFamily="34" charset="-122"/>
                <a:cs typeface="Calibri" pitchFamily="34" charset="-120"/>
              </a:rPr>
              <a:t> are optional.</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250" dirty="0">
                <a:solidFill>
                  <a:srgbClr val="BE123C"/>
                </a:solidFill>
                <a:latin typeface="Courier New" pitchFamily="34" charset="0"/>
                <a:ea typeface="Courier New" pitchFamily="34" charset="-122"/>
                <a:cs typeface="Courier New" pitchFamily="34" charset="-120"/>
              </a:rPr>
              <a:t>python -m playwright install chromium</a:t>
            </a:r>
            <a:pPr indent="0" marL="0">
              <a:buNone/>
            </a:pPr>
            <a:r>
              <a:rPr lang="en-US" sz="1350" dirty="0">
                <a:solidFill>
                  <a:srgbClr val="1F2937"/>
                </a:solidFill>
                <a:latin typeface="Calibri" pitchFamily="34" charset="0"/>
                <a:ea typeface="Calibri" pitchFamily="34" charset="-122"/>
                <a:cs typeface="Calibri" pitchFamily="34" charset="-120"/>
              </a:rPr>
              <a:t> once, for the demo screenshots.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Steps with a browser part have a </a:t>
            </a:r>
            <a:pPr indent="0" marL="0">
              <a:buNone/>
            </a:pPr>
            <a:r>
              <a:rPr lang="en-US" sz="1250" dirty="0">
                <a:solidFill>
                  <a:srgbClr val="BE123C"/>
                </a:solidFill>
                <a:latin typeface="Courier New" pitchFamily="34" charset="0"/>
                <a:ea typeface="Courier New" pitchFamily="34" charset="-122"/>
                <a:cs typeface="Courier New" pitchFamily="34" charset="-120"/>
              </a:rPr>
              <a:t>package.json</a:t>
            </a:r>
            <a:pPr indent="0" marL="0">
              <a:buNone/>
            </a:pPr>
            <a:r>
              <a:rPr lang="en-US" sz="1350" dirty="0">
                <a:solidFill>
                  <a:srgbClr val="1F2937"/>
                </a:solidFill>
                <a:latin typeface="Calibri" pitchFamily="34" charset="0"/>
                <a:ea typeface="Calibri" pitchFamily="34" charset="-122"/>
                <a:cs typeface="Calibri" pitchFamily="34" charset="-120"/>
              </a:rPr>
              <a:t>; </a:t>
            </a:r>
            <a:pPr indent="0" marL="0">
              <a:buNone/>
            </a:pPr>
            <a:r>
              <a:rPr lang="en-US" sz="1250" dirty="0">
                <a:solidFill>
                  <a:srgbClr val="BE123C"/>
                </a:solidFill>
                <a:latin typeface="Courier New" pitchFamily="34" charset="0"/>
                <a:ea typeface="Courier New" pitchFamily="34" charset="-122"/>
                <a:cs typeface="Courier New" pitchFamily="34" charset="-120"/>
              </a:rPr>
              <a:t>npm install</a:t>
            </a:r>
            <a:pPr indent="0" marL="0">
              <a:buNone/>
            </a:pPr>
            <a:r>
              <a:rPr lang="en-US" sz="1350" dirty="0">
                <a:solidFill>
                  <a:srgbClr val="1F2937"/>
                </a:solidFill>
                <a:latin typeface="Calibri" pitchFamily="34" charset="0"/>
                <a:ea typeface="Calibri" pitchFamily="34" charset="-122"/>
                <a:cs typeface="Calibri" pitchFamily="34" charset="-120"/>
              </a:rPr>
              <a:t> there fetches one or two packages. A few steps run one </a:t>
            </a:r>
            <a:pPr indent="0" marL="0">
              <a:buNone/>
            </a:pPr>
            <a:r>
              <a:rPr lang="en-US" sz="1250" dirty="0">
                <a:solidFill>
                  <a:srgbClr val="BE123C"/>
                </a:solidFill>
                <a:latin typeface="Courier New" pitchFamily="34" charset="0"/>
                <a:ea typeface="Courier New" pitchFamily="34" charset="-122"/>
                <a:cs typeface="Courier New" pitchFamily="34" charset="-120"/>
              </a:rPr>
              <a:t>esbuild</a:t>
            </a:r>
            <a:pPr indent="0" marL="0">
              <a:buNone/>
            </a:pPr>
            <a:r>
              <a:rPr lang="en-US" sz="1350" dirty="0">
                <a:solidFill>
                  <a:srgbClr val="1F2937"/>
                </a:solidFill>
                <a:latin typeface="Calibri" pitchFamily="34" charset="0"/>
                <a:ea typeface="Calibri" pitchFamily="34" charset="-122"/>
                <a:cs typeface="Calibri" pitchFamily="34" charset="-120"/>
              </a:rPr>
              <a:t> command for a library that ships no browser build.</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250" dirty="0">
                <a:solidFill>
                  <a:srgbClr val="BE123C"/>
                </a:solidFill>
                <a:latin typeface="Courier New" pitchFamily="34" charset="0"/>
                <a:ea typeface="Courier New" pitchFamily="34" charset="-122"/>
                <a:cs typeface="Courier New" pitchFamily="34" charset="-120"/>
              </a:rPr>
              <a:t>python run_tests.py genui</a:t>
            </a:r>
            <a:pPr indent="0" marL="0">
              <a:buNone/>
            </a:pPr>
            <a:r>
              <a:rPr lang="en-US" sz="1350" dirty="0">
                <a:solidFill>
                  <a:srgbClr val="1F2937"/>
                </a:solidFill>
                <a:latin typeface="Calibri" pitchFamily="34" charset="0"/>
                <a:ea typeface="Calibri" pitchFamily="34" charset="-122"/>
                <a:cs typeface="Calibri" pitchFamily="34" charset="-120"/>
              </a:rPr>
              <a:t> runs every offline test; </a:t>
            </a:r>
            <a:pPr indent="0" marL="0">
              <a:buNone/>
            </a:pPr>
            <a:r>
              <a:rPr lang="en-US" sz="1250" dirty="0">
                <a:solidFill>
                  <a:srgbClr val="BE123C"/>
                </a:solidFill>
                <a:latin typeface="Courier New" pitchFamily="34" charset="0"/>
                <a:ea typeface="Courier New" pitchFamily="34" charset="-122"/>
                <a:cs typeface="Courier New" pitchFamily="34" charset="-120"/>
              </a:rPr>
              <a:t>python check_snippets.py genui</a:t>
            </a:r>
            <a:pPr indent="0" marL="0">
              <a:buNone/>
            </a:pPr>
            <a:r>
              <a:rPr lang="en-US" sz="1350" dirty="0">
                <a:solidFill>
                  <a:srgbClr val="1F2937"/>
                </a:solidFill>
                <a:latin typeface="Calibri" pitchFamily="34" charset="0"/>
                <a:ea typeface="Calibri" pitchFamily="34" charset="-122"/>
                <a:cs typeface="Calibri" pitchFamily="34" charset="-120"/>
              </a:rPr>
              <a:t> verifies every README snippet against the code.</a:t>
            </a:r>
            <a:endParaRPr lang="en-US" sz="1350" dirty="0"/>
          </a:p>
        </p:txBody>
      </p:sp>
      <p:sp>
        <p:nvSpPr>
          <p:cNvPr id="6" name="Shape 4"/>
          <p:cNvSpPr/>
          <p:nvPr/>
        </p:nvSpPr>
        <p:spPr>
          <a:xfrm>
            <a:off x="6035040" y="1600200"/>
            <a:ext cx="1706880" cy="1188720"/>
          </a:xfrm>
          <a:prstGeom prst="roundRect">
            <a:avLst>
              <a:gd name="adj" fmla="val 7692"/>
            </a:avLst>
          </a:prstGeom>
          <a:solidFill>
            <a:srgbClr val="F6F7FB"/>
          </a:solidFill>
          <a:ln w="12700">
            <a:solidFill>
              <a:srgbClr val="F6F7FB"/>
            </a:solidFill>
            <a:prstDash val="solid"/>
          </a:ln>
        </p:spPr>
      </p:sp>
      <p:sp>
        <p:nvSpPr>
          <p:cNvPr id="7" name="Text 5"/>
          <p:cNvSpPr/>
          <p:nvPr/>
        </p:nvSpPr>
        <p:spPr>
          <a:xfrm>
            <a:off x="6172200" y="1655064"/>
            <a:ext cx="143256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23</a:t>
            </a:r>
            <a:endParaRPr lang="en-US" sz="2800" dirty="0"/>
          </a:p>
        </p:txBody>
      </p:sp>
      <p:sp>
        <p:nvSpPr>
          <p:cNvPr id="8" name="Text 6"/>
          <p:cNvSpPr/>
          <p:nvPr/>
        </p:nvSpPr>
        <p:spPr>
          <a:xfrm>
            <a:off x="6172200" y="222199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steps, each a directory you can run</a:t>
            </a:r>
            <a:endParaRPr lang="en-US" sz="1050" dirty="0"/>
          </a:p>
        </p:txBody>
      </p:sp>
      <p:sp>
        <p:nvSpPr>
          <p:cNvPr id="9" name="Shape 7"/>
          <p:cNvSpPr/>
          <p:nvPr/>
        </p:nvSpPr>
        <p:spPr>
          <a:xfrm>
            <a:off x="7970520" y="1600200"/>
            <a:ext cx="1706880" cy="1188720"/>
          </a:xfrm>
          <a:prstGeom prst="roundRect">
            <a:avLst>
              <a:gd name="adj" fmla="val 7692"/>
            </a:avLst>
          </a:prstGeom>
          <a:solidFill>
            <a:srgbClr val="F6F7FB"/>
          </a:solidFill>
          <a:ln w="12700">
            <a:solidFill>
              <a:srgbClr val="F6F7FB"/>
            </a:solidFill>
            <a:prstDash val="solid"/>
          </a:ln>
        </p:spPr>
      </p:sp>
      <p:sp>
        <p:nvSpPr>
          <p:cNvPr id="10" name="Text 8"/>
          <p:cNvSpPr/>
          <p:nvPr/>
        </p:nvSpPr>
        <p:spPr>
          <a:xfrm>
            <a:off x="8107680" y="1655064"/>
            <a:ext cx="1432560"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30</a:t>
            </a:r>
            <a:endParaRPr lang="en-US" sz="2800" dirty="0"/>
          </a:p>
        </p:txBody>
      </p:sp>
      <p:sp>
        <p:nvSpPr>
          <p:cNvPr id="11" name="Text 9"/>
          <p:cNvSpPr/>
          <p:nvPr/>
        </p:nvSpPr>
        <p:spPr>
          <a:xfrm>
            <a:off x="8107680" y="222199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recorded screenshots</a:t>
            </a:r>
            <a:endParaRPr lang="en-US" sz="1050" dirty="0"/>
          </a:p>
        </p:txBody>
      </p:sp>
      <p:sp>
        <p:nvSpPr>
          <p:cNvPr id="12" name="Shape 10"/>
          <p:cNvSpPr/>
          <p:nvPr/>
        </p:nvSpPr>
        <p:spPr>
          <a:xfrm>
            <a:off x="9906000" y="1600200"/>
            <a:ext cx="1706880" cy="1188720"/>
          </a:xfrm>
          <a:prstGeom prst="roundRect">
            <a:avLst>
              <a:gd name="adj" fmla="val 7692"/>
            </a:avLst>
          </a:prstGeom>
          <a:solidFill>
            <a:srgbClr val="F6F7FB"/>
          </a:solidFill>
          <a:ln w="12700">
            <a:solidFill>
              <a:srgbClr val="F6F7FB"/>
            </a:solidFill>
            <a:prstDash val="solid"/>
          </a:ln>
        </p:spPr>
      </p:sp>
      <p:sp>
        <p:nvSpPr>
          <p:cNvPr id="13" name="Text 11"/>
          <p:cNvSpPr/>
          <p:nvPr/>
        </p:nvSpPr>
        <p:spPr>
          <a:xfrm>
            <a:off x="10043160" y="1655064"/>
            <a:ext cx="1432560"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0</a:t>
            </a:r>
            <a:endParaRPr lang="en-US" sz="2800" dirty="0"/>
          </a:p>
        </p:txBody>
      </p:sp>
      <p:sp>
        <p:nvSpPr>
          <p:cNvPr id="14" name="Text 12"/>
          <p:cNvSpPr/>
          <p:nvPr/>
        </p:nvSpPr>
        <p:spPr>
          <a:xfrm>
            <a:off x="10043160" y="222199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keys needed for the tests</a:t>
            </a:r>
            <a:endParaRPr lang="en-US" sz="1050" dirty="0"/>
          </a:p>
        </p:txBody>
      </p:sp>
      <p:sp>
        <p:nvSpPr>
          <p:cNvPr id="15" name="Shape 13"/>
          <p:cNvSpPr/>
          <p:nvPr/>
        </p:nvSpPr>
        <p:spPr>
          <a:xfrm>
            <a:off x="6035040" y="2926080"/>
            <a:ext cx="1706880" cy="1188720"/>
          </a:xfrm>
          <a:prstGeom prst="roundRect">
            <a:avLst>
              <a:gd name="adj" fmla="val 7692"/>
            </a:avLst>
          </a:prstGeom>
          <a:solidFill>
            <a:srgbClr val="F6F7FB"/>
          </a:solidFill>
          <a:ln w="12700">
            <a:solidFill>
              <a:srgbClr val="F6F7FB"/>
            </a:solidFill>
            <a:prstDash val="solid"/>
          </a:ln>
        </p:spPr>
      </p:sp>
      <p:sp>
        <p:nvSpPr>
          <p:cNvPr id="16" name="Text 14"/>
          <p:cNvSpPr/>
          <p:nvPr/>
        </p:nvSpPr>
        <p:spPr>
          <a:xfrm>
            <a:off x="6172200" y="2980944"/>
            <a:ext cx="143256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3</a:t>
            </a:r>
            <a:endParaRPr lang="en-US" sz="2800" dirty="0"/>
          </a:p>
        </p:txBody>
      </p:sp>
      <p:sp>
        <p:nvSpPr>
          <p:cNvPr id="17" name="Text 15"/>
          <p:cNvSpPr/>
          <p:nvPr/>
        </p:nvSpPr>
        <p:spPr>
          <a:xfrm>
            <a:off x="6172200" y="354787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declarative formats measured side by side</a:t>
            </a:r>
            <a:endParaRPr lang="en-US" sz="1050" dirty="0"/>
          </a:p>
        </p:txBody>
      </p:sp>
      <p:sp>
        <p:nvSpPr>
          <p:cNvPr id="18" name="Shape 16"/>
          <p:cNvSpPr/>
          <p:nvPr/>
        </p:nvSpPr>
        <p:spPr>
          <a:xfrm>
            <a:off x="7970520" y="2926080"/>
            <a:ext cx="1706880" cy="1188720"/>
          </a:xfrm>
          <a:prstGeom prst="roundRect">
            <a:avLst>
              <a:gd name="adj" fmla="val 7692"/>
            </a:avLst>
          </a:prstGeom>
          <a:solidFill>
            <a:srgbClr val="F6F7FB"/>
          </a:solidFill>
          <a:ln w="12700">
            <a:solidFill>
              <a:srgbClr val="F6F7FB"/>
            </a:solidFill>
            <a:prstDash val="solid"/>
          </a:ln>
        </p:spPr>
      </p:sp>
      <p:sp>
        <p:nvSpPr>
          <p:cNvPr id="19" name="Text 17"/>
          <p:cNvSpPr/>
          <p:nvPr/>
        </p:nvSpPr>
        <p:spPr>
          <a:xfrm>
            <a:off x="8107680" y="2980944"/>
            <a:ext cx="1432560"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2</a:t>
            </a:r>
            <a:endParaRPr lang="en-US" sz="2800" dirty="0"/>
          </a:p>
        </p:txBody>
      </p:sp>
      <p:sp>
        <p:nvSpPr>
          <p:cNvPr id="20" name="Text 18"/>
          <p:cNvSpPr/>
          <p:nvPr/>
        </p:nvSpPr>
        <p:spPr>
          <a:xfrm>
            <a:off x="8107680" y="354787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transports: AG-UI and MCP Apps</a:t>
            </a:r>
            <a:endParaRPr lang="en-US" sz="1050" dirty="0"/>
          </a:p>
        </p:txBody>
      </p:sp>
      <p:sp>
        <p:nvSpPr>
          <p:cNvPr id="21" name="Shape 19"/>
          <p:cNvSpPr/>
          <p:nvPr/>
        </p:nvSpPr>
        <p:spPr>
          <a:xfrm>
            <a:off x="9906000" y="2926080"/>
            <a:ext cx="1706880" cy="1188720"/>
          </a:xfrm>
          <a:prstGeom prst="roundRect">
            <a:avLst>
              <a:gd name="adj" fmla="val 7692"/>
            </a:avLst>
          </a:prstGeom>
          <a:solidFill>
            <a:srgbClr val="F6F7FB"/>
          </a:solidFill>
          <a:ln w="12700">
            <a:solidFill>
              <a:srgbClr val="F6F7FB"/>
            </a:solidFill>
            <a:prstDash val="solid"/>
          </a:ln>
        </p:spPr>
      </p:sp>
      <p:sp>
        <p:nvSpPr>
          <p:cNvPr id="22" name="Text 20"/>
          <p:cNvSpPr/>
          <p:nvPr/>
        </p:nvSpPr>
        <p:spPr>
          <a:xfrm>
            <a:off x="10043160" y="2980944"/>
            <a:ext cx="1432560"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656</a:t>
            </a:r>
            <a:endParaRPr lang="en-US" sz="2800" dirty="0"/>
          </a:p>
        </p:txBody>
      </p:sp>
      <p:sp>
        <p:nvSpPr>
          <p:cNvPr id="23" name="Text 21"/>
          <p:cNvSpPr/>
          <p:nvPr/>
        </p:nvSpPr>
        <p:spPr>
          <a:xfrm>
            <a:off x="10043160" y="354787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README snippets verified against the code in CI</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82296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Sub-theme 01 · Levels 1 to 4 of 23</a:t>
            </a:r>
            <a:endParaRPr lang="en-US" sz="1300" dirty="0"/>
          </a:p>
        </p:txBody>
      </p:sp>
      <p:sp>
        <p:nvSpPr>
          <p:cNvPr id="3" name="Text 1"/>
          <p:cNvSpPr/>
          <p:nvPr/>
        </p:nvSpPr>
        <p:spPr>
          <a:xfrm>
            <a:off x="731520" y="1280160"/>
            <a:ext cx="1051560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Foundations: static, declarative and open-ended</a:t>
            </a:r>
            <a:endParaRPr lang="en-US" sz="4000" dirty="0"/>
          </a:p>
        </p:txBody>
      </p:sp>
      <p:sp>
        <p:nvSpPr>
          <p:cNvPr id="4" name="Text 2"/>
          <p:cNvSpPr/>
          <p:nvPr/>
        </p:nvSpPr>
        <p:spPr>
          <a:xfrm>
            <a:off x="731520" y="2560320"/>
            <a:ext cx="6583680" cy="201168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The report separates two choices: transport is where the UI appears, generation is what the model emits. This sub-theme is about generation. It builds the report's three modes with no framework, so the mechanism stays visible: one FastAPI server, one page with a hand-written renderer, and one prompt, a dashboard for a lemonade stand. Each step copies the previous one and adds one idea, and the last step lands on the report's recommended default with a click that drives the next model turn.</a:t>
            </a:r>
            <a:endParaRPr lang="en-US" sz="1600" dirty="0"/>
          </a:p>
        </p:txBody>
      </p:sp>
      <p:sp>
        <p:nvSpPr>
          <p:cNvPr id="5" name="Shape 3"/>
          <p:cNvSpPr/>
          <p:nvPr/>
        </p:nvSpPr>
        <p:spPr>
          <a:xfrm>
            <a:off x="7680960" y="2606040"/>
            <a:ext cx="3931920" cy="603504"/>
          </a:xfrm>
          <a:prstGeom prst="roundRect">
            <a:avLst>
              <a:gd name="adj" fmla="val 12121"/>
            </a:avLst>
          </a:prstGeom>
          <a:solidFill>
            <a:srgbClr val="1E2761"/>
          </a:solidFill>
          <a:ln w="12700">
            <a:solidFill>
              <a:srgbClr val="3B4A8A"/>
            </a:solidFill>
            <a:prstDash val="solid"/>
          </a:ln>
        </p:spPr>
      </p:sp>
      <p:sp>
        <p:nvSpPr>
          <p:cNvPr id="6" name="Text 4"/>
          <p:cNvSpPr/>
          <p:nvPr/>
        </p:nvSpPr>
        <p:spPr>
          <a:xfrm>
            <a:off x="7818120" y="2606040"/>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01.1  </a:t>
            </a:r>
            <a:pPr indent="0" marL="0">
              <a:buNone/>
            </a:pPr>
            <a:r>
              <a:rPr lang="en-US" sz="1250" dirty="0">
                <a:solidFill>
                  <a:srgbClr val="FFFFFF"/>
                </a:solidFill>
                <a:latin typeface="Calibri" pitchFamily="34" charset="0"/>
                <a:ea typeface="Calibri" pitchFamily="34" charset="-122"/>
                <a:cs typeface="Calibri" pitchFamily="34" charset="-120"/>
              </a:rPr>
              <a:t>Static components: the model selects, the page draws</a:t>
            </a:r>
            <a:endParaRPr lang="en-US" sz="1250" dirty="0"/>
          </a:p>
        </p:txBody>
      </p:sp>
      <p:sp>
        <p:nvSpPr>
          <p:cNvPr id="7" name="Shape 5"/>
          <p:cNvSpPr/>
          <p:nvPr/>
        </p:nvSpPr>
        <p:spPr>
          <a:xfrm>
            <a:off x="7680960" y="3319272"/>
            <a:ext cx="3931920" cy="603504"/>
          </a:xfrm>
          <a:prstGeom prst="roundRect">
            <a:avLst>
              <a:gd name="adj" fmla="val 12121"/>
            </a:avLst>
          </a:prstGeom>
          <a:solidFill>
            <a:srgbClr val="1E2761"/>
          </a:solidFill>
          <a:ln w="12700">
            <a:solidFill>
              <a:srgbClr val="3B4A8A"/>
            </a:solidFill>
            <a:prstDash val="solid"/>
          </a:ln>
        </p:spPr>
      </p:sp>
      <p:sp>
        <p:nvSpPr>
          <p:cNvPr id="8" name="Text 6"/>
          <p:cNvSpPr/>
          <p:nvPr/>
        </p:nvSpPr>
        <p:spPr>
          <a:xfrm>
            <a:off x="7818120" y="3319272"/>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01.2  </a:t>
            </a:r>
            <a:pPr indent="0" marL="0">
              <a:buNone/>
            </a:pPr>
            <a:r>
              <a:rPr lang="en-US" sz="1250" dirty="0">
                <a:solidFill>
                  <a:srgbClr val="FFFFFF"/>
                </a:solidFill>
                <a:latin typeface="Calibri" pitchFamily="34" charset="0"/>
                <a:ea typeface="Calibri" pitchFamily="34" charset="-122"/>
                <a:cs typeface="Calibri" pitchFamily="34" charset="-120"/>
              </a:rPr>
              <a:t>Declarative tree: the model composes from a catalog</a:t>
            </a:r>
            <a:endParaRPr lang="en-US" sz="1250" dirty="0"/>
          </a:p>
        </p:txBody>
      </p:sp>
      <p:sp>
        <p:nvSpPr>
          <p:cNvPr id="9" name="Shape 7"/>
          <p:cNvSpPr/>
          <p:nvPr/>
        </p:nvSpPr>
        <p:spPr>
          <a:xfrm>
            <a:off x="7680960" y="4032504"/>
            <a:ext cx="3931920" cy="603504"/>
          </a:xfrm>
          <a:prstGeom prst="roundRect">
            <a:avLst>
              <a:gd name="adj" fmla="val 12121"/>
            </a:avLst>
          </a:prstGeom>
          <a:solidFill>
            <a:srgbClr val="1E2761"/>
          </a:solidFill>
          <a:ln w="12700">
            <a:solidFill>
              <a:srgbClr val="3B4A8A"/>
            </a:solidFill>
            <a:prstDash val="solid"/>
          </a:ln>
        </p:spPr>
      </p:sp>
      <p:sp>
        <p:nvSpPr>
          <p:cNvPr id="10" name="Text 8"/>
          <p:cNvSpPr/>
          <p:nvPr/>
        </p:nvSpPr>
        <p:spPr>
          <a:xfrm>
            <a:off x="7818120" y="4032504"/>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01.3  </a:t>
            </a:r>
            <a:pPr indent="0" marL="0">
              <a:buNone/>
            </a:pPr>
            <a:r>
              <a:rPr lang="en-US" sz="1250" dirty="0">
                <a:solidFill>
                  <a:srgbClr val="FFFFFF"/>
                </a:solidFill>
                <a:latin typeface="Calibri" pitchFamily="34" charset="0"/>
                <a:ea typeface="Calibri" pitchFamily="34" charset="-122"/>
                <a:cs typeface="Calibri" pitchFamily="34" charset="-120"/>
              </a:rPr>
              <a:t>Open-ended HTML: the model writes the page, in a box</a:t>
            </a:r>
            <a:endParaRPr lang="en-US" sz="1250" dirty="0"/>
          </a:p>
        </p:txBody>
      </p:sp>
      <p:sp>
        <p:nvSpPr>
          <p:cNvPr id="11" name="Shape 9"/>
          <p:cNvSpPr/>
          <p:nvPr/>
        </p:nvSpPr>
        <p:spPr>
          <a:xfrm>
            <a:off x="7680960" y="4745736"/>
            <a:ext cx="3931920" cy="603504"/>
          </a:xfrm>
          <a:prstGeom prst="roundRect">
            <a:avLst>
              <a:gd name="adj" fmla="val 12121"/>
            </a:avLst>
          </a:prstGeom>
          <a:solidFill>
            <a:srgbClr val="1E2761"/>
          </a:solidFill>
          <a:ln w="12700">
            <a:solidFill>
              <a:srgbClr val="3B4A8A"/>
            </a:solidFill>
            <a:prstDash val="solid"/>
          </a:ln>
        </p:spPr>
      </p:sp>
      <p:sp>
        <p:nvSpPr>
          <p:cNvPr id="12" name="Text 10"/>
          <p:cNvSpPr/>
          <p:nvPr/>
        </p:nvSpPr>
        <p:spPr>
          <a:xfrm>
            <a:off x="7818120" y="4745736"/>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01.4  </a:t>
            </a:r>
            <a:pPr indent="0" marL="0">
              <a:buNone/>
            </a:pPr>
            <a:r>
              <a:rPr lang="en-US" sz="1250" dirty="0">
                <a:solidFill>
                  <a:srgbClr val="FFFFFF"/>
                </a:solidFill>
                <a:latin typeface="Calibri" pitchFamily="34" charset="0"/>
                <a:ea typeface="Calibri" pitchFamily="34" charset="-122"/>
                <a:cs typeface="Calibri" pitchFamily="34" charset="-120"/>
              </a:rPr>
              <a:t>Hybrid escape hatch: the sandbox as a component</a:t>
            </a:r>
            <a:endParaRPr lang="en-US" sz="125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AB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01.1 · LEVEL 1 OF 23 · STATIC GENERATION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smallest generative UI: components exist first, the model only selects and fills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In </a:t>
            </a:r>
            <a:pPr indent="0" marL="0">
              <a:buNone/>
            </a:pPr>
            <a:r>
              <a:rPr lang="en-US" sz="1600" b="1" dirty="0">
                <a:solidFill>
                  <a:srgbClr val="141B3D"/>
                </a:solidFill>
                <a:latin typeface="Calibri" pitchFamily="34" charset="0"/>
                <a:ea typeface="Calibri" pitchFamily="34" charset="-122"/>
                <a:cs typeface="Calibri" pitchFamily="34" charset="-120"/>
              </a:rPr>
              <a:t>static generation</a:t>
            </a:r>
            <a:pPr indent="0" marL="0">
              <a:buNone/>
            </a:pPr>
            <a:r>
              <a:rPr lang="en-US" sz="1600" dirty="0">
                <a:solidFill>
                  <a:srgbClr val="141B3D"/>
                </a:solidFill>
                <a:latin typeface="Calibri" pitchFamily="34" charset="0"/>
                <a:ea typeface="Calibri" pitchFamily="34" charset="-122"/>
                <a:cs typeface="Calibri" pitchFamily="34" charset="-120"/>
              </a:rPr>
              <a:t> the components are built ahead of time. The model sees each one as a tool and calls it with typed props.</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Three components, </a:t>
            </a:r>
            <a:pPr indent="0" marL="0">
              <a:buNone/>
            </a:pPr>
            <a:r>
              <a:rPr lang="en-US" sz="1150" dirty="0">
                <a:solidFill>
                  <a:srgbClr val="BE123C"/>
                </a:solidFill>
                <a:latin typeface="Courier New" pitchFamily="34" charset="0"/>
                <a:ea typeface="Courier New" pitchFamily="34" charset="-122"/>
                <a:cs typeface="Courier New" pitchFamily="34" charset="-120"/>
              </a:rPr>
              <a:t>Metric</a:t>
            </a:r>
            <a:pPr indent="0" marL="0">
              <a:buNone/>
            </a:pPr>
            <a:r>
              <a:rPr lang="en-US" sz="1250" dirty="0">
                <a:solidFill>
                  <a:srgbClr val="1F2937"/>
                </a:solidFill>
                <a:latin typeface="Calibri" pitchFamily="34" charset="0"/>
                <a:ea typeface="Calibri" pitchFamily="34" charset="-122"/>
                <a:cs typeface="Calibri" pitchFamily="34" charset="-120"/>
              </a:rPr>
              <a:t>, </a:t>
            </a:r>
            <a:pPr indent="0" marL="0">
              <a:buNone/>
            </a:pPr>
            <a:r>
              <a:rPr lang="en-US" sz="1150" dirty="0">
                <a:solidFill>
                  <a:srgbClr val="BE123C"/>
                </a:solidFill>
                <a:latin typeface="Courier New" pitchFamily="34" charset="0"/>
                <a:ea typeface="Courier New" pitchFamily="34" charset="-122"/>
                <a:cs typeface="Courier New" pitchFamily="34" charset="-120"/>
              </a:rPr>
              <a:t>Table</a:t>
            </a:r>
            <a:pPr indent="0" marL="0">
              <a:buNone/>
            </a:pPr>
            <a:r>
              <a:rPr lang="en-US" sz="1250" dirty="0">
                <a:solidFill>
                  <a:srgbClr val="1F2937"/>
                </a:solidFill>
                <a:latin typeface="Calibri" pitchFamily="34" charset="0"/>
                <a:ea typeface="Calibri" pitchFamily="34" charset="-122"/>
                <a:cs typeface="Calibri" pitchFamily="34" charset="-120"/>
              </a:rPr>
              <a:t>, </a:t>
            </a:r>
            <a:pPr indent="0" marL="0">
              <a:buNone/>
            </a:pPr>
            <a:r>
              <a:rPr lang="en-US" sz="1150" dirty="0">
                <a:solidFill>
                  <a:srgbClr val="BE123C"/>
                </a:solidFill>
                <a:latin typeface="Courier New" pitchFamily="34" charset="0"/>
                <a:ea typeface="Courier New" pitchFamily="34" charset="-122"/>
                <a:cs typeface="Courier New" pitchFamily="34" charset="-120"/>
              </a:rPr>
              <a:t>Chart</a:t>
            </a:r>
            <a:pPr indent="0" marL="0">
              <a:buNone/>
            </a:pPr>
            <a:r>
              <a:rPr lang="en-US" sz="1250" dirty="0">
                <a:solidFill>
                  <a:srgbClr val="1F2937"/>
                </a:solidFill>
                <a:latin typeface="Calibri" pitchFamily="34" charset="0"/>
                <a:ea typeface="Calibri" pitchFamily="34" charset="-122"/>
                <a:cs typeface="Calibri" pitchFamily="34" charset="-120"/>
              </a:rPr>
              <a:t>, each a strict function-calling schema with every property required.</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API enforces the schema before the server sees the call, so the renderer never meets a prop it did not expect.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Each finished tool call becomes one </a:t>
            </a:r>
            <a:pPr indent="0" marL="0">
              <a:buNone/>
            </a:pPr>
            <a:r>
              <a:rPr lang="en-US" sz="1150" dirty="0">
                <a:solidFill>
                  <a:srgbClr val="BE123C"/>
                </a:solidFill>
                <a:latin typeface="Courier New" pitchFamily="34" charset="0"/>
                <a:ea typeface="Courier New" pitchFamily="34" charset="-122"/>
                <a:cs typeface="Courier New" pitchFamily="34" charset="-120"/>
              </a:rPr>
              <a:t>{component, props}</a:t>
            </a:r>
            <a:pPr indent="0" marL="0">
              <a:buNone/>
            </a:pPr>
            <a:r>
              <a:rPr lang="en-US" sz="1250" dirty="0">
                <a:solidFill>
                  <a:srgbClr val="1F2937"/>
                </a:solidFill>
                <a:latin typeface="Calibri" pitchFamily="34" charset="0"/>
                <a:ea typeface="Calibri" pitchFamily="34" charset="-122"/>
                <a:cs typeface="Calibri" pitchFamily="34" charset="-120"/>
              </a:rPr>
              <a:t> message on a server-sent event stream.</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page holds three pure functions from props to HTML and appends each frame as it arrives.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model gives up layout: it cannot nest a metric in a card or put two charts side by side. The page decides that.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It gains safety and cost: every message is small, every prop is typed, every render is one function call.</a:t>
            </a:r>
            <a:endParaRPr lang="en-US" sz="1250" dirty="0"/>
          </a:p>
        </p:txBody>
      </p:sp>
      <p:sp>
        <p:nvSpPr>
          <p:cNvPr id="7" name="Shape 5"/>
          <p:cNvSpPr/>
          <p:nvPr/>
        </p:nvSpPr>
        <p:spPr>
          <a:xfrm>
            <a:off x="6903720" y="1600200"/>
            <a:ext cx="3840480" cy="685800"/>
          </a:xfrm>
          <a:prstGeom prst="roundRect">
            <a:avLst>
              <a:gd name="adj" fmla="val 13333"/>
            </a:avLst>
          </a:prstGeom>
          <a:solidFill>
            <a:srgbClr val="EEF0FF"/>
          </a:solidFill>
          <a:ln w="15875">
            <a:solidFill>
              <a:srgbClr val="2F3CFF"/>
            </a:solidFill>
            <a:prstDash val="solid"/>
          </a:ln>
        </p:spPr>
      </p:sp>
      <p:sp>
        <p:nvSpPr>
          <p:cNvPr id="8" name="Text 6"/>
          <p:cNvSpPr/>
          <p:nvPr/>
        </p:nvSpPr>
        <p:spPr>
          <a:xfrm>
            <a:off x="6976872" y="1636776"/>
            <a:ext cx="3694176" cy="35890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model</a:t>
            </a:r>
            <a:endParaRPr lang="en-US" sz="1200" dirty="0"/>
          </a:p>
        </p:txBody>
      </p:sp>
      <p:sp>
        <p:nvSpPr>
          <p:cNvPr id="9" name="Text 7"/>
          <p:cNvSpPr/>
          <p:nvPr/>
        </p:nvSpPr>
        <p:spPr>
          <a:xfrm>
            <a:off x="6976872" y="199567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calls show_metric, show_table, show_chart</a:t>
            </a:r>
            <a:endParaRPr lang="en-US" sz="950" dirty="0"/>
          </a:p>
        </p:txBody>
      </p:sp>
      <p:sp>
        <p:nvSpPr>
          <p:cNvPr id="10" name="Shape 8"/>
          <p:cNvSpPr/>
          <p:nvPr/>
        </p:nvSpPr>
        <p:spPr>
          <a:xfrm>
            <a:off x="8823960" y="2313432"/>
            <a:ext cx="9144" cy="265176"/>
          </a:xfrm>
          <a:prstGeom prst="line">
            <a:avLst/>
          </a:prstGeom>
          <a:noFill/>
          <a:ln w="19050">
            <a:solidFill>
              <a:srgbClr val="4B5563"/>
            </a:solidFill>
            <a:prstDash val="solid"/>
            <a:tailEnd type="triangle"/>
          </a:ln>
        </p:spPr>
      </p:sp>
      <p:sp>
        <p:nvSpPr>
          <p:cNvPr id="11" name="Shape 9"/>
          <p:cNvSpPr/>
          <p:nvPr/>
        </p:nvSpPr>
        <p:spPr>
          <a:xfrm>
            <a:off x="6903720" y="2606040"/>
            <a:ext cx="3840480" cy="685800"/>
          </a:xfrm>
          <a:prstGeom prst="roundRect">
            <a:avLst>
              <a:gd name="adj" fmla="val 13333"/>
            </a:avLst>
          </a:prstGeom>
          <a:solidFill>
            <a:srgbClr val="F6F7FB"/>
          </a:solidFill>
          <a:ln w="15875">
            <a:solidFill>
              <a:srgbClr val="141B3D"/>
            </a:solidFill>
            <a:prstDash val="solid"/>
          </a:ln>
        </p:spPr>
      </p:sp>
      <p:sp>
        <p:nvSpPr>
          <p:cNvPr id="12" name="Text 10"/>
          <p:cNvSpPr/>
          <p:nvPr/>
        </p:nvSpPr>
        <p:spPr>
          <a:xfrm>
            <a:off x="6976872" y="2642616"/>
            <a:ext cx="3694176" cy="35890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server</a:t>
            </a:r>
            <a:endParaRPr lang="en-US" sz="1200" dirty="0"/>
          </a:p>
        </p:txBody>
      </p:sp>
      <p:sp>
        <p:nvSpPr>
          <p:cNvPr id="13" name="Text 11"/>
          <p:cNvSpPr/>
          <p:nvPr/>
        </p:nvSpPr>
        <p:spPr>
          <a:xfrm>
            <a:off x="6976872" y="300151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one SSE frame per finished call</a:t>
            </a:r>
            <a:endParaRPr lang="en-US" sz="950" dirty="0"/>
          </a:p>
        </p:txBody>
      </p:sp>
      <p:sp>
        <p:nvSpPr>
          <p:cNvPr id="14" name="Shape 12"/>
          <p:cNvSpPr/>
          <p:nvPr/>
        </p:nvSpPr>
        <p:spPr>
          <a:xfrm>
            <a:off x="8823960" y="3319272"/>
            <a:ext cx="9144" cy="265176"/>
          </a:xfrm>
          <a:prstGeom prst="line">
            <a:avLst/>
          </a:prstGeom>
          <a:noFill/>
          <a:ln w="19050">
            <a:solidFill>
              <a:srgbClr val="4B5563"/>
            </a:solidFill>
            <a:prstDash val="solid"/>
            <a:tailEnd type="triangle"/>
          </a:ln>
        </p:spPr>
      </p:sp>
      <p:sp>
        <p:nvSpPr>
          <p:cNvPr id="15" name="Shape 13"/>
          <p:cNvSpPr/>
          <p:nvPr/>
        </p:nvSpPr>
        <p:spPr>
          <a:xfrm>
            <a:off x="6903720" y="3611880"/>
            <a:ext cx="3840480" cy="685800"/>
          </a:xfrm>
          <a:prstGeom prst="roundRect">
            <a:avLst>
              <a:gd name="adj" fmla="val 13333"/>
            </a:avLst>
          </a:prstGeom>
          <a:solidFill>
            <a:srgbClr val="ECFDF5"/>
          </a:solidFill>
          <a:ln w="15875">
            <a:solidFill>
              <a:srgbClr val="15803D"/>
            </a:solidFill>
            <a:prstDash val="solid"/>
          </a:ln>
        </p:spPr>
      </p:sp>
      <p:sp>
        <p:nvSpPr>
          <p:cNvPr id="16" name="Text 14"/>
          <p:cNvSpPr/>
          <p:nvPr/>
        </p:nvSpPr>
        <p:spPr>
          <a:xfrm>
            <a:off x="6976872" y="3648456"/>
            <a:ext cx="3694176" cy="358902"/>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page</a:t>
            </a:r>
            <a:endParaRPr lang="en-US" sz="1200" dirty="0"/>
          </a:p>
        </p:txBody>
      </p:sp>
      <p:sp>
        <p:nvSpPr>
          <p:cNvPr id="17" name="Text 15"/>
          <p:cNvSpPr/>
          <p:nvPr/>
        </p:nvSpPr>
        <p:spPr>
          <a:xfrm>
            <a:off x="6976872" y="400735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render[component](props)</a:t>
            </a:r>
            <a:endParaRPr lang="en-US" sz="950" dirty="0"/>
          </a:p>
        </p:txBody>
      </p:sp>
      <p:sp>
        <p:nvSpPr>
          <p:cNvPr id="18" name="Shape 16"/>
          <p:cNvSpPr/>
          <p:nvPr/>
        </p:nvSpPr>
        <p:spPr>
          <a:xfrm>
            <a:off x="8823960" y="4325112"/>
            <a:ext cx="9144" cy="265176"/>
          </a:xfrm>
          <a:prstGeom prst="line">
            <a:avLst/>
          </a:prstGeom>
          <a:noFill/>
          <a:ln w="19050">
            <a:solidFill>
              <a:srgbClr val="4B5563"/>
            </a:solidFill>
            <a:prstDash val="solid"/>
            <a:tailEnd type="triangle"/>
          </a:ln>
        </p:spPr>
      </p:sp>
      <p:sp>
        <p:nvSpPr>
          <p:cNvPr id="19" name="Shape 17"/>
          <p:cNvSpPr/>
          <p:nvPr/>
        </p:nvSpPr>
        <p:spPr>
          <a:xfrm>
            <a:off x="6903720" y="4617720"/>
            <a:ext cx="3840480" cy="685800"/>
          </a:xfrm>
          <a:prstGeom prst="roundRect">
            <a:avLst>
              <a:gd name="adj" fmla="val 13333"/>
            </a:avLst>
          </a:prstGeom>
          <a:solidFill>
            <a:srgbClr val="F6F7FB"/>
          </a:solidFill>
          <a:ln w="15875">
            <a:solidFill>
              <a:srgbClr val="4B5563"/>
            </a:solidFill>
            <a:prstDash val="solid"/>
          </a:ln>
        </p:spPr>
      </p:sp>
      <p:sp>
        <p:nvSpPr>
          <p:cNvPr id="20" name="Text 18"/>
          <p:cNvSpPr/>
          <p:nvPr/>
        </p:nvSpPr>
        <p:spPr>
          <a:xfrm>
            <a:off x="6976872" y="4654296"/>
            <a:ext cx="3694176" cy="358902"/>
          </a:xfrm>
          <a:prstGeom prst="rect">
            <a:avLst/>
          </a:prstGeom>
          <a:noFill/>
          <a:ln/>
        </p:spPr>
        <p:txBody>
          <a:bodyPr wrap="square" lIns="0" tIns="0" rIns="0" bIns="0" rtlCol="0" anchor="b"/>
          <a:lstStyle/>
          <a:p>
            <a:pPr algn="ctr" indent="0" marL="0">
              <a:buNone/>
            </a:pPr>
            <a:r>
              <a:rPr lang="en-US" sz="1200" b="1" dirty="0">
                <a:solidFill>
                  <a:srgbClr val="4B5563"/>
                </a:solidFill>
                <a:latin typeface="Calibri" pitchFamily="34" charset="0"/>
                <a:ea typeface="Calibri" pitchFamily="34" charset="-122"/>
                <a:cs typeface="Calibri" pitchFamily="34" charset="-120"/>
              </a:rPr>
              <a:t>the user</a:t>
            </a:r>
            <a:endParaRPr lang="en-US" sz="1200" dirty="0"/>
          </a:p>
        </p:txBody>
      </p:sp>
      <p:sp>
        <p:nvSpPr>
          <p:cNvPr id="21" name="Text 19"/>
          <p:cNvSpPr/>
          <p:nvPr/>
        </p:nvSpPr>
        <p:spPr>
          <a:xfrm>
            <a:off x="6976872" y="501319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cards in arrival order</a:t>
            </a:r>
            <a:endParaRPr lang="en-US" sz="950" dirty="0"/>
          </a:p>
        </p:txBody>
      </p:sp>
      <p:sp>
        <p:nvSpPr>
          <p:cNvPr id="22" name="Text 20"/>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page never learns that a model exists; it renders messages.</a:t>
            </a:r>
            <a:endParaRPr lang="en-US" sz="1050" dirty="0"/>
          </a:p>
        </p:txBody>
      </p:sp>
      <p:sp>
        <p:nvSpPr>
          <p:cNvPr id="23" name="Shape 21"/>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4" name="Text 22"/>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Static generation trades layout for safety and cost; the model chooses only the order of its calls.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One model turn becomes a stream of messages: component, note, or done</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48640" y="1417320"/>
            <a:ext cx="7406640" cy="3177159"/>
          </a:xfrm>
          <a:prstGeom prst="roundRect">
            <a:avLst>
              <a:gd name="adj" fmla="val 2878"/>
            </a:avLst>
          </a:prstGeom>
          <a:solidFill>
            <a:srgbClr val="0F172A"/>
          </a:solidFill>
          <a:ln w="12700">
            <a:solidFill>
              <a:srgbClr val="0F172A"/>
            </a:solidFill>
            <a:prstDash val="solid"/>
          </a:ln>
        </p:spPr>
      </p:sp>
      <p:sp>
        <p:nvSpPr>
          <p:cNvPr id="6" name="Text 4"/>
          <p:cNvSpPr/>
          <p:nvPr/>
        </p:nvSpPr>
        <p:spPr>
          <a:xfrm>
            <a:off x="731520" y="1554480"/>
            <a:ext cx="7040880" cy="2902839"/>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components(prompt):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"""Run one model turn and yield one message per component the model chose."""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messages = [{"role": "system", "content": SYSTEM_PROMPT}, {"role": "user", "content": prompt}]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event in llm.stream_chat(messages, tools=catalog.TOOL_SCHEMAS):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event["type"] == "tool_call":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message = catalog.message_from_call(event["name"], event["arguments"])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message is not None: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message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elif event["type"] == "text":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yield {"note": event["text"]}  # the model spoke instead of calling a tool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elif event["type"] == "usage":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yield {"done": True, "usage": {k: v for k, v in event.items() if k != "type"}}</a:t>
            </a:r>
            <a:endParaRPr lang="en-US" sz="1050" dirty="0"/>
          </a:p>
        </p:txBody>
      </p:sp>
      <p:sp>
        <p:nvSpPr>
          <p:cNvPr id="7" name="Text 5"/>
          <p:cNvSpPr/>
          <p:nvPr/>
        </p:nvSpPr>
        <p:spPr>
          <a:xfrm>
            <a:off x="548640" y="4640199"/>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01_foundations/step_01_static_components/server.py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finished </a:t>
            </a:r>
            <a:pPr indent="0" marL="0">
              <a:buNone/>
            </a:pPr>
            <a:r>
              <a:rPr lang="en-US" sz="1200" b="1" dirty="0">
                <a:solidFill>
                  <a:srgbClr val="141B3D"/>
                </a:solidFill>
                <a:latin typeface="Calibri" pitchFamily="34" charset="0"/>
                <a:ea typeface="Calibri" pitchFamily="34" charset="-122"/>
                <a:cs typeface="Calibri" pitchFamily="34" charset="-120"/>
              </a:rPr>
              <a:t>tool call</a:t>
            </a:r>
            <a:pPr indent="0" marL="0">
              <a:buNone/>
            </a:pPr>
            <a:r>
              <a:rPr lang="en-US" sz="1200" dirty="0">
                <a:solidFill>
                  <a:srgbClr val="1F2937"/>
                </a:solidFill>
                <a:latin typeface="Calibri" pitchFamily="34" charset="0"/>
                <a:ea typeface="Calibri" pitchFamily="34" charset="-122"/>
                <a:cs typeface="Calibri" pitchFamily="34" charset="-120"/>
              </a:rPr>
              <a:t> becomes a </a:t>
            </a:r>
            <a:pPr indent="0" marL="0">
              <a:buNone/>
            </a:pPr>
            <a:r>
              <a:rPr lang="en-US" sz="1200" dirty="0">
                <a:solidFill>
                  <a:srgbClr val="BE123C"/>
                </a:solidFill>
                <a:latin typeface="Courier New" pitchFamily="34" charset="0"/>
                <a:ea typeface="Courier New" pitchFamily="34" charset="-122"/>
                <a:cs typeface="Courier New" pitchFamily="34" charset="-120"/>
              </a:rPr>
              <a:t>{component, props}</a:t>
            </a:r>
            <a:pPr indent="0" marL="0">
              <a:buNone/>
            </a:pPr>
            <a:r>
              <a:rPr lang="en-US" sz="1200" dirty="0">
                <a:solidFill>
                  <a:srgbClr val="1F2937"/>
                </a:solidFill>
                <a:latin typeface="Calibri" pitchFamily="34" charset="0"/>
                <a:ea typeface="Calibri" pitchFamily="34" charset="-122"/>
                <a:cs typeface="Calibri" pitchFamily="34" charset="-120"/>
              </a:rPr>
              <a:t> message. A call that does not fit the catalog becomes </a:t>
            </a:r>
            <a:pPr indent="0" marL="0">
              <a:buNone/>
            </a:pPr>
            <a:r>
              <a:rPr lang="en-US" sz="1200" dirty="0">
                <a:solidFill>
                  <a:srgbClr val="BE123C"/>
                </a:solidFill>
                <a:latin typeface="Courier New" pitchFamily="34" charset="0"/>
                <a:ea typeface="Courier New" pitchFamily="34" charset="-122"/>
                <a:cs typeface="Courier New" pitchFamily="34" charset="-120"/>
              </a:rPr>
              <a:t>None</a:t>
            </a:r>
            <a:pPr indent="0" marL="0">
              <a:buNone/>
            </a:pPr>
            <a:r>
              <a:rPr lang="en-US" sz="1200" dirty="0">
                <a:solidFill>
                  <a:srgbClr val="1F2937"/>
                </a:solidFill>
                <a:latin typeface="Calibri" pitchFamily="34" charset="0"/>
                <a:ea typeface="Calibri" pitchFamily="34" charset="-122"/>
                <a:cs typeface="Calibri" pitchFamily="34" charset="-120"/>
              </a:rPr>
              <a:t> and is dropped, never a broken frame.</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Prose the model wrote instead of calling a tool becomes a </a:t>
            </a:r>
            <a:pPr indent="0" marL="0">
              <a:buNone/>
            </a:pPr>
            <a:r>
              <a:rPr lang="en-US" sz="1200" b="1" dirty="0">
                <a:solidFill>
                  <a:srgbClr val="141B3D"/>
                </a:solidFill>
                <a:latin typeface="Calibri" pitchFamily="34" charset="0"/>
                <a:ea typeface="Calibri" pitchFamily="34" charset="-122"/>
                <a:cs typeface="Calibri" pitchFamily="34" charset="-120"/>
              </a:rPr>
              <a:t>note</a:t>
            </a:r>
            <a:pPr indent="0" marL="0">
              <a:buNone/>
            </a:pPr>
            <a:r>
              <a:rPr lang="en-US" sz="1200" dirty="0">
                <a:solidFill>
                  <a:srgbClr val="1F2937"/>
                </a:solidFill>
                <a:latin typeface="Calibri" pitchFamily="34" charset="0"/>
                <a:ea typeface="Calibri" pitchFamily="34" charset="-122"/>
                <a:cs typeface="Calibri" pitchFamily="34" charset="-120"/>
              </a:rPr>
              <a:t>, so nothing the model said is lost.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t>
            </a:r>
            <a:pPr indent="0" marL="0">
              <a:buNone/>
            </a:pPr>
            <a:r>
              <a:rPr lang="en-US" sz="1200" b="1" dirty="0">
                <a:solidFill>
                  <a:srgbClr val="141B3D"/>
                </a:solidFill>
                <a:latin typeface="Calibri" pitchFamily="34" charset="0"/>
                <a:ea typeface="Calibri" pitchFamily="34" charset="-122"/>
                <a:cs typeface="Calibri" pitchFamily="34" charset="-120"/>
              </a:rPr>
              <a:t>usage</a:t>
            </a:r>
            <a:pPr indent="0" marL="0">
              <a:buNone/>
            </a:pPr>
            <a:r>
              <a:rPr lang="en-US" sz="1200" dirty="0">
                <a:solidFill>
                  <a:srgbClr val="1F2937"/>
                </a:solidFill>
                <a:latin typeface="Calibri" pitchFamily="34" charset="0"/>
                <a:ea typeface="Calibri" pitchFamily="34" charset="-122"/>
                <a:cs typeface="Calibri" pitchFamily="34" charset="-120"/>
              </a:rPr>
              <a:t> event closes the stream with </a:t>
            </a:r>
            <a:pPr indent="0" marL="0">
              <a:buNone/>
            </a:pPr>
            <a:r>
              <a:rPr lang="en-US" sz="1200" dirty="0">
                <a:solidFill>
                  <a:srgbClr val="BE123C"/>
                </a:solidFill>
                <a:latin typeface="Courier New" pitchFamily="34" charset="0"/>
                <a:ea typeface="Courier New" pitchFamily="34" charset="-122"/>
                <a:cs typeface="Courier New" pitchFamily="34" charset="-120"/>
              </a:rPr>
              <a:t>done</a:t>
            </a:r>
            <a:pPr indent="0" marL="0">
              <a:buNone/>
            </a:pPr>
            <a:r>
              <a:rPr lang="en-US" sz="1200" dirty="0">
                <a:solidFill>
                  <a:srgbClr val="1F2937"/>
                </a:solidFill>
                <a:latin typeface="Calibri" pitchFamily="34" charset="0"/>
                <a:ea typeface="Calibri" pitchFamily="34" charset="-122"/>
                <a:cs typeface="Calibri" pitchFamily="34" charset="-120"/>
              </a:rPr>
              <a:t> and the token counts the demo reports.</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/api/run</a:t>
            </a:r>
            <a:pPr indent="0" marL="0">
              <a:buNone/>
            </a:pPr>
            <a:r>
              <a:rPr lang="en-US" sz="1250" dirty="0">
                <a:solidFill>
                  <a:srgbClr val="4B5563"/>
                </a:solidFill>
                <a:latin typeface="Calibri" pitchFamily="34" charset="0"/>
                <a:ea typeface="Calibri" pitchFamily="34" charset="-122"/>
                <a:cs typeface="Calibri" pitchFamily="34" charset="-120"/>
              </a:rPr>
              <a:t> wraps each message as one SSE frame: a </a:t>
            </a:r>
            <a:pPr indent="0" marL="0">
              <a:buNone/>
            </a:pPr>
            <a:r>
              <a:rPr lang="en-US" sz="1250" dirty="0">
                <a:solidFill>
                  <a:srgbClr val="BE123C"/>
                </a:solidFill>
                <a:latin typeface="Courier New" pitchFamily="34" charset="0"/>
                <a:ea typeface="Courier New" pitchFamily="34" charset="-122"/>
                <a:cs typeface="Courier New" pitchFamily="34" charset="-120"/>
              </a:rPr>
              <a:t>data:</a:t>
            </a:r>
            <a:pPr indent="0" marL="0">
              <a:buNone/>
            </a:pPr>
            <a:r>
              <a:rPr lang="en-US" sz="1250" dirty="0">
                <a:solidFill>
                  <a:srgbClr val="4B5563"/>
                </a:solidFill>
                <a:latin typeface="Calibri" pitchFamily="34" charset="0"/>
                <a:ea typeface="Calibri" pitchFamily="34" charset="-122"/>
                <a:cs typeface="Calibri" pitchFamily="34" charset="-120"/>
              </a:rPr>
              <a:t> line with the JSON, then a blank line.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contract is the schema: strict, every prop required, nothing extra allowed</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417320"/>
            <a:ext cx="7406640" cy="3177159"/>
          </a:xfrm>
          <a:prstGeom prst="roundRect">
            <a:avLst>
              <a:gd name="adj" fmla="val 2878"/>
            </a:avLst>
          </a:prstGeom>
          <a:solidFill>
            <a:srgbClr val="0F172A"/>
          </a:solidFill>
          <a:ln w="12700">
            <a:solidFill>
              <a:srgbClr val="0F172A"/>
            </a:solidFill>
            <a:prstDash val="solid"/>
          </a:ln>
        </p:spPr>
      </p:sp>
      <p:sp>
        <p:nvSpPr>
          <p:cNvPr id="6" name="Text 4"/>
          <p:cNvSpPr/>
          <p:nvPr/>
        </p:nvSpPr>
        <p:spPr>
          <a:xfrm>
            <a:off x="731520" y="1554480"/>
            <a:ext cx="7040880" cy="2902839"/>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tool(name, description, properties):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"""One function-calling schema. Every property is required; nothing else is allowed."""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"type": "function",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"function":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"name": 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"description": description,</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"strict": True,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"parameters":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"type": "object",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"properties": properties,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"required": list(properties),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"additionalProperties": False,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p:txBody>
      </p:sp>
      <p:sp>
        <p:nvSpPr>
          <p:cNvPr id="7" name="Text 5"/>
          <p:cNvSpPr/>
          <p:nvPr/>
        </p:nvSpPr>
        <p:spPr>
          <a:xfrm>
            <a:off x="548640" y="4640199"/>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01_foundations/step_01_static_components/catalog.py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strict: True</a:t>
            </a:r>
            <a:pPr indent="0" marL="0">
              <a:buNone/>
            </a:pPr>
            <a:r>
              <a:rPr lang="en-US" sz="1200" dirty="0">
                <a:solidFill>
                  <a:srgbClr val="1F2937"/>
                </a:solidFill>
                <a:latin typeface="Calibri" pitchFamily="34" charset="0"/>
                <a:ea typeface="Calibri" pitchFamily="34" charset="-122"/>
                <a:cs typeface="Calibri" pitchFamily="34" charset="-120"/>
              </a:rPr>
              <a:t> makes the API reject any call that does not match the schema, before the server sees it.</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property is </a:t>
            </a:r>
            <a:pPr indent="0" marL="0">
              <a:buNone/>
            </a:pPr>
            <a:r>
              <a:rPr lang="en-US" sz="1200" b="1" dirty="0">
                <a:solidFill>
                  <a:srgbClr val="141B3D"/>
                </a:solidFill>
                <a:latin typeface="Calibri" pitchFamily="34" charset="0"/>
                <a:ea typeface="Calibri" pitchFamily="34" charset="-122"/>
                <a:cs typeface="Calibri" pitchFamily="34" charset="-120"/>
              </a:rPr>
              <a:t>required</a:t>
            </a:r>
            <a:pPr indent="0" marL="0">
              <a:buNone/>
            </a:pPr>
            <a:r>
              <a:rPr lang="en-US" sz="1200" dirty="0">
                <a:solidFill>
                  <a:srgbClr val="1F2937"/>
                </a:solidFill>
                <a:latin typeface="Calibri" pitchFamily="34" charset="0"/>
                <a:ea typeface="Calibri" pitchFamily="34" charset="-122"/>
                <a:cs typeface="Calibri" pitchFamily="34" charset="-120"/>
              </a:rPr>
              <a:t>: the required list is derived from the properties, so the two cannot drift.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additionalProperties: false</a:t>
            </a:r>
            <a:pPr indent="0" marL="0">
              <a:buNone/>
            </a:pPr>
            <a:r>
              <a:rPr lang="en-US" sz="1200" dirty="0">
                <a:solidFill>
                  <a:srgbClr val="1F2937"/>
                </a:solidFill>
                <a:latin typeface="Calibri" pitchFamily="34" charset="0"/>
                <a:ea typeface="Calibri" pitchFamily="34" charset="-122"/>
                <a:cs typeface="Calibri" pitchFamily="34" charset="-120"/>
              </a:rPr>
              <a:t> closes the contract. The renderer receives exactly the props it was written for.</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Adding a fourth component is one schema here and one function in </a:t>
            </a:r>
            <a:pPr indent="0" marL="0">
              <a:buNone/>
            </a:pPr>
            <a:r>
              <a:rPr lang="en-US" sz="1250" dirty="0">
                <a:solidFill>
                  <a:srgbClr val="BE123C"/>
                </a:solidFill>
                <a:latin typeface="Courier New" pitchFamily="34" charset="0"/>
                <a:ea typeface="Courier New" pitchFamily="34" charset="-122"/>
                <a:cs typeface="Courier New" pitchFamily="34" charset="-120"/>
              </a:rPr>
              <a:t>render.mjs</a:t>
            </a:r>
            <a:pPr indent="0" marL="0">
              <a:buNone/>
            </a:pPr>
            <a:r>
              <a:rPr lang="en-US" sz="1250" dirty="0">
                <a:solidFill>
                  <a:srgbClr val="4B5563"/>
                </a:solidFill>
                <a:latin typeface="Calibri" pitchFamily="34" charset="0"/>
                <a:ea typeface="Calibri" pitchFamily="34" charset="-122"/>
                <a:cs typeface="Calibri" pitchFamily="34" charset="-120"/>
              </a:rPr>
              <a:t>; nothing else changes.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01.1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Six SSE frames in 7.9 seconds: three metrics, a table, a chart, then done</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a:t>
            </a:r>
            <a:endParaRPr lang="en-US" sz="1000" dirty="0"/>
          </a:p>
        </p:txBody>
      </p:sp>
      <p:pic>
        <p:nvPicPr>
          <p:cNvPr id="5" name="Image 0" descr="C:\Users\evija\simple-coding-harness\genui\01_foundations\step_01_static_components\demo.png">    </p:cNvPr>
          <p:cNvPicPr>
            <a:picLocks noChangeAspect="1"/>
          </p:cNvPicPr>
          <p:nvPr/>
        </p:nvPicPr>
        <p:blipFill>
          <a:blip r:embed="rId1"/>
          <a:srcRect l="0" r="0" t="0" b="0"/>
          <a:stretch/>
        </p:blipFill>
        <p:spPr>
          <a:xfrm>
            <a:off x="548640" y="1417320"/>
            <a:ext cx="6217920" cy="4480560"/>
          </a:xfrm>
          <a:prstGeom prst="rect">
            <a:avLst/>
          </a:prstGeom>
        </p:spPr>
      </p:pic>
      <p:sp>
        <p:nvSpPr>
          <p:cNvPr id="6" name="Shape 3"/>
          <p:cNvSpPr/>
          <p:nvPr/>
        </p:nvSpPr>
        <p:spPr>
          <a:xfrm>
            <a:off x="548640" y="1417320"/>
            <a:ext cx="6217920" cy="4480560"/>
          </a:xfrm>
          <a:prstGeom prst="rect">
            <a:avLst/>
          </a:prstGeom>
          <a:ln w="12700">
            <a:solidFill>
              <a:srgbClr val="D7DAE5"/>
            </a:solidFill>
            <a:prstDash val="solid"/>
          </a:ln>
        </p:spPr>
      </p:sp>
      <p:sp>
        <p:nvSpPr>
          <p:cNvPr id="7" name="Shape 4"/>
          <p:cNvSpPr/>
          <p:nvPr/>
        </p:nvSpPr>
        <p:spPr>
          <a:xfrm>
            <a:off x="7132320" y="1417320"/>
            <a:ext cx="450799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269480" y="1472184"/>
            <a:ext cx="423367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6</a:t>
            </a:r>
            <a:endParaRPr lang="en-US" sz="2800" dirty="0"/>
          </a:p>
        </p:txBody>
      </p:sp>
      <p:sp>
        <p:nvSpPr>
          <p:cNvPr id="9" name="Text 6"/>
          <p:cNvSpPr/>
          <p:nvPr/>
        </p:nvSpPr>
        <p:spPr>
          <a:xfrm>
            <a:off x="7269480" y="2039112"/>
            <a:ext cx="423367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SSE messages in 7.9s</a:t>
            </a:r>
            <a:endParaRPr lang="en-US" sz="1050" dirty="0"/>
          </a:p>
        </p:txBody>
      </p:sp>
      <p:sp>
        <p:nvSpPr>
          <p:cNvPr id="10" name="Shape 7"/>
          <p:cNvSpPr/>
          <p:nvPr/>
        </p:nvSpPr>
        <p:spPr>
          <a:xfrm>
            <a:off x="7132320" y="2697480"/>
            <a:ext cx="450799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269480" y="2752344"/>
            <a:ext cx="423367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249 / 295</a:t>
            </a:r>
            <a:endParaRPr lang="en-US" sz="2800" dirty="0"/>
          </a:p>
        </p:txBody>
      </p:sp>
      <p:sp>
        <p:nvSpPr>
          <p:cNvPr id="12" name="Text 9"/>
          <p:cNvSpPr/>
          <p:nvPr/>
        </p:nvSpPr>
        <p:spPr>
          <a:xfrm>
            <a:off x="7269480" y="3319272"/>
            <a:ext cx="423367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prompt / completion tokens</a:t>
            </a:r>
            <a:endParaRPr lang="en-US" sz="1050" dirty="0"/>
          </a:p>
        </p:txBody>
      </p:sp>
      <p:sp>
        <p:nvSpPr>
          <p:cNvPr id="13" name="Text 10"/>
          <p:cNvSpPr/>
          <p:nvPr/>
        </p:nvSpPr>
        <p:spPr>
          <a:xfrm>
            <a:off x="7132320" y="4023360"/>
            <a:ext cx="4507992" cy="18745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Three </a:t>
            </a:r>
            <a:pPr indent="0" marL="0">
              <a:buNone/>
            </a:pPr>
            <a:r>
              <a:rPr lang="en-US" sz="1050" dirty="0">
                <a:solidFill>
                  <a:srgbClr val="BE123C"/>
                </a:solidFill>
                <a:latin typeface="Courier New" pitchFamily="34" charset="0"/>
                <a:ea typeface="Courier New" pitchFamily="34" charset="-122"/>
                <a:cs typeface="Courier New" pitchFamily="34" charset="-120"/>
              </a:rPr>
              <a:t>Metric</a:t>
            </a:r>
            <a:pPr indent="0" marL="0">
              <a:buNone/>
            </a:pPr>
            <a:r>
              <a:rPr lang="en-US" sz="1150" dirty="0">
                <a:solidFill>
                  <a:srgbClr val="1F2937"/>
                </a:solidFill>
                <a:latin typeface="Calibri" pitchFamily="34" charset="0"/>
                <a:ea typeface="Calibri" pitchFamily="34" charset="-122"/>
                <a:cs typeface="Calibri" pitchFamily="34" charset="-120"/>
              </a:rPr>
              <a:t> frames, one </a:t>
            </a:r>
            <a:pPr indent="0" marL="0">
              <a:buNone/>
            </a:pPr>
            <a:r>
              <a:rPr lang="en-US" sz="1050" dirty="0">
                <a:solidFill>
                  <a:srgbClr val="BE123C"/>
                </a:solidFill>
                <a:latin typeface="Courier New" pitchFamily="34" charset="0"/>
                <a:ea typeface="Courier New" pitchFamily="34" charset="-122"/>
                <a:cs typeface="Courier New" pitchFamily="34" charset="-120"/>
              </a:rPr>
              <a:t>Table</a:t>
            </a:r>
            <a:pPr indent="0" marL="0">
              <a:buNone/>
            </a:pPr>
            <a:r>
              <a:rPr lang="en-US" sz="1150" dirty="0">
                <a:solidFill>
                  <a:srgbClr val="1F2937"/>
                </a:solidFill>
                <a:latin typeface="Calibri" pitchFamily="34" charset="0"/>
                <a:ea typeface="Calibri" pitchFamily="34" charset="-122"/>
                <a:cs typeface="Calibri" pitchFamily="34" charset="-120"/>
              </a:rPr>
              <a:t>, one </a:t>
            </a:r>
            <a:pPr indent="0" marL="0">
              <a:buNone/>
            </a:pPr>
            <a:r>
              <a:rPr lang="en-US" sz="1050" dirty="0">
                <a:solidFill>
                  <a:srgbClr val="BE123C"/>
                </a:solidFill>
                <a:latin typeface="Courier New" pitchFamily="34" charset="0"/>
                <a:ea typeface="Courier New" pitchFamily="34" charset="-122"/>
                <a:cs typeface="Courier New" pitchFamily="34" charset="-120"/>
              </a:rPr>
              <a:t>Chart</a:t>
            </a:r>
            <a:pPr indent="0" marL="0">
              <a:buNone/>
            </a:pPr>
            <a:r>
              <a:rPr lang="en-US" sz="1150" dirty="0">
                <a:solidFill>
                  <a:srgbClr val="1F2937"/>
                </a:solidFill>
                <a:latin typeface="Calibri" pitchFamily="34" charset="0"/>
                <a:ea typeface="Calibri" pitchFamily="34" charset="-122"/>
                <a:cs typeface="Calibri" pitchFamily="34" charset="-120"/>
              </a:rPr>
              <a:t>, then </a:t>
            </a:r>
            <a:pPr indent="0" marL="0">
              <a:buNone/>
            </a:pPr>
            <a:r>
              <a:rPr lang="en-US" sz="1050" dirty="0">
                <a:solidFill>
                  <a:srgbClr val="BE123C"/>
                </a:solidFill>
                <a:latin typeface="Courier New" pitchFamily="34" charset="0"/>
                <a:ea typeface="Courier New" pitchFamily="34" charset="-122"/>
                <a:cs typeface="Courier New" pitchFamily="34" charset="-120"/>
              </a:rPr>
              <a:t>done</a:t>
            </a:r>
            <a:pPr indent="0" marL="0">
              <a:buNone/>
            </a:pPr>
            <a:r>
              <a:rPr lang="en-US" sz="1150" dirty="0">
                <a:solidFill>
                  <a:srgbClr val="1F2937"/>
                </a:solidFill>
                <a:latin typeface="Calibri" pitchFamily="34" charset="0"/>
                <a:ea typeface="Calibri" pitchFamily="34" charset="-122"/>
                <a:cs typeface="Calibri" pitchFamily="34" charset="-120"/>
              </a:rPr>
              <a:t> with the usage: the wire panel at the bottom lists all six.</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first metric was drawn while the chart was still streaming: a new tool-call index means every earlier call is complete.</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model chose only the order of its calls. The page put the metrics in a row; the model could not ask for that.</a:t>
            </a:r>
            <a:endParaRPr lang="en-US" sz="11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Prompt: show me a dashboard for a lemonade stand. Recorded with </a:t>
            </a:r>
            <a:pPr indent="0" marL="0">
              <a:buNone/>
            </a:pPr>
            <a:r>
              <a:rPr lang="en-US" sz="1200" dirty="0">
                <a:solidFill>
                  <a:srgbClr val="BE123C"/>
                </a:solidFill>
                <a:latin typeface="Courier New" pitchFamily="34" charset="0"/>
                <a:ea typeface="Courier New" pitchFamily="34" charset="-122"/>
                <a:cs typeface="Courier New" pitchFamily="34" charset="-120"/>
              </a:rPr>
              <a:t>python demo.py</a:t>
            </a:r>
            <a:pPr indent="0" marL="0">
              <a:buNone/>
            </a:pPr>
            <a:r>
              <a:rPr lang="en-US" sz="1200" dirty="0">
                <a:solidFill>
                  <a:srgbClr val="4B5563"/>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01.2 · LEVEL 2 OF 23 · DECLARATIVE GENERATION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model composes a layout as data, and the shape of that data decides how it streams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In </a:t>
            </a:r>
            <a:pPr indent="0" marL="0">
              <a:buNone/>
            </a:pPr>
            <a:r>
              <a:rPr lang="en-US" sz="1600" b="1" dirty="0">
                <a:solidFill>
                  <a:srgbClr val="141B3D"/>
                </a:solidFill>
                <a:latin typeface="Calibri" pitchFamily="34" charset="0"/>
                <a:ea typeface="Calibri" pitchFamily="34" charset="-122"/>
                <a:cs typeface="Calibri" pitchFamily="34" charset="-120"/>
              </a:rPr>
              <a:t>declarative generation</a:t>
            </a:r>
            <a:pPr indent="0" marL="0">
              <a:buNone/>
            </a:pPr>
            <a:r>
              <a:rPr lang="en-US" sz="1600" dirty="0">
                <a:solidFill>
                  <a:srgbClr val="141B3D"/>
                </a:solidFill>
                <a:latin typeface="Calibri" pitchFamily="34" charset="0"/>
                <a:ea typeface="Calibri" pitchFamily="34" charset="-122"/>
                <a:cs typeface="Calibri" pitchFamily="34" charset="-120"/>
              </a:rPr>
              <a:t> the components stay prebuilt and typed, but the model decides which ones, in what order, nested how. The output is data, not code.</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 catalog of eight components drives three things: the prompt the model reads, the JSON Schema the server checks, the renderer table the page uses.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page does not wait for the document: a tolerant partial-JSON parser re-parses after every chunk and re-renders.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Two shapes of the same document: a nested tree, and a flat element map with ids where the root is written first.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tree's root closes last, so its layout is known only at the final chunk.</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flat map puts the root and its child ids first, so the layout is known before any detail arrives.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That ordering is why A2UI and json-render chose the flat shape.</a:t>
            </a:r>
            <a:endParaRPr lang="en-US" sz="1300" dirty="0"/>
          </a:p>
        </p:txBody>
      </p:sp>
      <p:sp>
        <p:nvSpPr>
          <p:cNvPr id="7" name="Shape 5"/>
          <p:cNvSpPr/>
          <p:nvPr/>
        </p:nvSpPr>
        <p:spPr>
          <a:xfrm>
            <a:off x="6035040" y="1600200"/>
            <a:ext cx="3067812" cy="3703320"/>
          </a:xfrm>
          <a:prstGeom prst="roundRect">
            <a:avLst>
              <a:gd name="adj" fmla="val 2981"/>
            </a:avLst>
          </a:prstGeom>
          <a:solidFill>
            <a:srgbClr val="0F172A"/>
          </a:solidFill>
          <a:ln w="12700">
            <a:solidFill>
              <a:srgbClr val="0F172A"/>
            </a:solidFill>
            <a:prstDash val="solid"/>
          </a:ln>
        </p:spPr>
      </p:sp>
      <p:sp>
        <p:nvSpPr>
          <p:cNvPr id="8" name="Text 6"/>
          <p:cNvSpPr/>
          <p:nvPr/>
        </p:nvSpPr>
        <p:spPr>
          <a:xfrm>
            <a:off x="6172200" y="1709928"/>
            <a:ext cx="2793492" cy="3483864"/>
          </a:xfrm>
          <a:prstGeom prst="rect">
            <a:avLst/>
          </a:prstGeom>
          <a:noFill/>
          <a:ln/>
        </p:spPr>
        <p:txBody>
          <a:bodyPr wrap="square" lIns="0" tIns="0" rIns="0" bIns="0" rtlCol="0" anchor="t"/>
          <a:lstStyle/>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root = "card"</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card: Card [metricsRow, dataRow]</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metricsRow: Row [sales, visitors, profit]</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sales: Metric {title, value, delta}</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visitors: Metric {…}</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profit: Metric {…}</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dataRow: Row [table, chart]</a:t>
            </a:r>
            <a:endParaRPr lang="en-US" sz="1050" dirty="0"/>
          </a:p>
        </p:txBody>
      </p:sp>
      <p:sp>
        <p:nvSpPr>
          <p:cNvPr id="9" name="Shape 7"/>
          <p:cNvSpPr/>
          <p:nvPr/>
        </p:nvSpPr>
        <p:spPr>
          <a:xfrm>
            <a:off x="9270187" y="1600200"/>
            <a:ext cx="2342693" cy="3703320"/>
          </a:xfrm>
          <a:prstGeom prst="roundRect">
            <a:avLst>
              <a:gd name="adj" fmla="val 3903"/>
            </a:avLst>
          </a:prstGeom>
          <a:solidFill>
            <a:srgbClr val="FFFFFF"/>
          </a:solidFill>
          <a:ln w="12700">
            <a:solidFill>
              <a:srgbClr val="D7DAE5"/>
            </a:solidFill>
            <a:prstDash val="solid"/>
          </a:ln>
        </p:spPr>
      </p:sp>
      <p:sp>
        <p:nvSpPr>
          <p:cNvPr id="10" name="Shape 8"/>
          <p:cNvSpPr/>
          <p:nvPr/>
        </p:nvSpPr>
        <p:spPr>
          <a:xfrm>
            <a:off x="9407347" y="1737360"/>
            <a:ext cx="2068373" cy="1051560"/>
          </a:xfrm>
          <a:prstGeom prst="roundRect">
            <a:avLst>
              <a:gd name="adj" fmla="val 8696"/>
            </a:avLst>
          </a:prstGeom>
          <a:solidFill>
            <a:srgbClr val="EEF0FF"/>
          </a:solidFill>
          <a:ln w="15875">
            <a:solidFill>
              <a:srgbClr val="2F3CFF"/>
            </a:solidFill>
            <a:prstDash val="solid"/>
          </a:ln>
        </p:spPr>
      </p:sp>
      <p:sp>
        <p:nvSpPr>
          <p:cNvPr id="11" name="Text 9"/>
          <p:cNvSpPr/>
          <p:nvPr/>
        </p:nvSpPr>
        <p:spPr>
          <a:xfrm>
            <a:off x="9480499" y="1773936"/>
            <a:ext cx="1922069" cy="978408"/>
          </a:xfrm>
          <a:prstGeom prst="rect">
            <a:avLst/>
          </a:prstGeom>
          <a:noFill/>
          <a:ln/>
        </p:spPr>
        <p:txBody>
          <a:bodyPr wrap="square" lIns="0" tIns="0" rIns="0" bIns="0" rtlCol="0" anchor="ctr"/>
          <a:lstStyle/>
          <a:p>
            <a:pPr algn="ctr" indent="0" marL="0">
              <a:buNone/>
            </a:pPr>
            <a:r>
              <a:rPr lang="en-US" sz="1100" b="1" dirty="0">
                <a:solidFill>
                  <a:srgbClr val="2F3CFF"/>
                </a:solidFill>
                <a:latin typeface="Calibri" pitchFamily="34" charset="0"/>
                <a:ea typeface="Calibri" pitchFamily="34" charset="-122"/>
                <a:cs typeface="Calibri" pitchFamily="34" charset="-120"/>
              </a:rPr>
              <a:t>Card: Lemonade Stand Dashboard</a:t>
            </a:r>
            <a:endParaRPr lang="en-US" sz="1100" dirty="0"/>
          </a:p>
        </p:txBody>
      </p:sp>
      <p:sp>
        <p:nvSpPr>
          <p:cNvPr id="12" name="Shape 10"/>
          <p:cNvSpPr/>
          <p:nvPr/>
        </p:nvSpPr>
        <p:spPr>
          <a:xfrm>
            <a:off x="9407347" y="2880360"/>
            <a:ext cx="2068373" cy="1051560"/>
          </a:xfrm>
          <a:prstGeom prst="roundRect">
            <a:avLst>
              <a:gd name="adj" fmla="val 8696"/>
            </a:avLst>
          </a:prstGeom>
          <a:solidFill>
            <a:srgbClr val="FFF4E5"/>
          </a:solidFill>
          <a:ln w="15875">
            <a:solidFill>
              <a:srgbClr val="D97706"/>
            </a:solidFill>
            <a:prstDash val="dash"/>
          </a:ln>
        </p:spPr>
      </p:sp>
      <p:sp>
        <p:nvSpPr>
          <p:cNvPr id="13" name="Text 11"/>
          <p:cNvSpPr/>
          <p:nvPr/>
        </p:nvSpPr>
        <p:spPr>
          <a:xfrm>
            <a:off x="9480499" y="2916936"/>
            <a:ext cx="1922069" cy="507492"/>
          </a:xfrm>
          <a:prstGeom prst="rect">
            <a:avLst/>
          </a:prstGeom>
          <a:noFill/>
          <a:ln/>
        </p:spPr>
        <p:txBody>
          <a:bodyPr wrap="square" lIns="0" tIns="0" rIns="0" bIns="0" rtlCol="0" anchor="b"/>
          <a:lstStyle/>
          <a:p>
            <a:pPr algn="ctr" indent="0" marL="0">
              <a:buNone/>
            </a:pPr>
            <a:r>
              <a:rPr lang="en-US" sz="1100" b="1" dirty="0">
                <a:solidFill>
                  <a:srgbClr val="D97706"/>
                </a:solidFill>
                <a:latin typeface="Calibri" pitchFamily="34" charset="0"/>
                <a:ea typeface="Calibri" pitchFamily="34" charset="-122"/>
                <a:cs typeface="Calibri" pitchFamily="34" charset="-120"/>
              </a:rPr>
              <a:t>Row: three metrics, one arrived</a:t>
            </a:r>
            <a:endParaRPr lang="en-US" sz="1100" dirty="0"/>
          </a:p>
        </p:txBody>
      </p:sp>
      <p:sp>
        <p:nvSpPr>
          <p:cNvPr id="14" name="Text 12"/>
          <p:cNvSpPr/>
          <p:nvPr/>
        </p:nvSpPr>
        <p:spPr>
          <a:xfrm>
            <a:off x="9480499" y="3424428"/>
            <a:ext cx="1922069" cy="470916"/>
          </a:xfrm>
          <a:prstGeom prst="rect">
            <a:avLst/>
          </a:prstGeom>
          <a:noFill/>
          <a:ln/>
        </p:spPr>
        <p:txBody>
          <a:bodyPr wrap="square" lIns="0" tIns="0" rIns="0" bIns="0" rtlCol="0" anchor="t"/>
          <a:lstStyle/>
          <a:p>
            <a:pPr algn="ctr" indent="0" marL="0">
              <a:buNone/>
            </a:pPr>
            <a:r>
              <a:rPr lang="en-US" sz="850" dirty="0">
                <a:solidFill>
                  <a:srgbClr val="4B5563"/>
                </a:solidFill>
                <a:latin typeface="Calibri" pitchFamily="34" charset="0"/>
                <a:ea typeface="Calibri" pitchFamily="34" charset="-122"/>
                <a:cs typeface="Calibri" pitchFamily="34" charset="-120"/>
              </a:rPr>
              <a:t>waiting for its statement</a:t>
            </a:r>
            <a:endParaRPr lang="en-US" sz="850" dirty="0"/>
          </a:p>
        </p:txBody>
      </p:sp>
      <p:sp>
        <p:nvSpPr>
          <p:cNvPr id="15" name="Shape 13"/>
          <p:cNvSpPr/>
          <p:nvPr/>
        </p:nvSpPr>
        <p:spPr>
          <a:xfrm>
            <a:off x="9407347" y="4023360"/>
            <a:ext cx="2068373" cy="1051560"/>
          </a:xfrm>
          <a:prstGeom prst="roundRect">
            <a:avLst>
              <a:gd name="adj" fmla="val 8696"/>
            </a:avLst>
          </a:prstGeom>
          <a:solidFill>
            <a:srgbClr val="FFF4E5"/>
          </a:solidFill>
          <a:ln w="15875">
            <a:solidFill>
              <a:srgbClr val="D97706"/>
            </a:solidFill>
            <a:prstDash val="dash"/>
          </a:ln>
        </p:spPr>
      </p:sp>
      <p:sp>
        <p:nvSpPr>
          <p:cNvPr id="16" name="Text 14"/>
          <p:cNvSpPr/>
          <p:nvPr/>
        </p:nvSpPr>
        <p:spPr>
          <a:xfrm>
            <a:off x="9480499" y="4059936"/>
            <a:ext cx="1922069" cy="507492"/>
          </a:xfrm>
          <a:prstGeom prst="rect">
            <a:avLst/>
          </a:prstGeom>
          <a:noFill/>
          <a:ln/>
        </p:spPr>
        <p:txBody>
          <a:bodyPr wrap="square" lIns="0" tIns="0" rIns="0" bIns="0" rtlCol="0" anchor="b"/>
          <a:lstStyle/>
          <a:p>
            <a:pPr algn="ctr" indent="0" marL="0">
              <a:buNone/>
            </a:pPr>
            <a:r>
              <a:rPr lang="en-US" sz="1100" b="1" dirty="0">
                <a:solidFill>
                  <a:srgbClr val="D97706"/>
                </a:solidFill>
                <a:latin typeface="Calibri" pitchFamily="34" charset="0"/>
                <a:ea typeface="Calibri" pitchFamily="34" charset="-122"/>
                <a:cs typeface="Calibri" pitchFamily="34" charset="-120"/>
              </a:rPr>
              <a:t>Row: table and chart</a:t>
            </a:r>
            <a:endParaRPr lang="en-US" sz="1100" dirty="0"/>
          </a:p>
        </p:txBody>
      </p:sp>
      <p:sp>
        <p:nvSpPr>
          <p:cNvPr id="17" name="Text 15"/>
          <p:cNvSpPr/>
          <p:nvPr/>
        </p:nvSpPr>
        <p:spPr>
          <a:xfrm>
            <a:off x="9480499" y="4567428"/>
            <a:ext cx="1922069" cy="470916"/>
          </a:xfrm>
          <a:prstGeom prst="rect">
            <a:avLst/>
          </a:prstGeom>
          <a:noFill/>
          <a:ln/>
        </p:spPr>
        <p:txBody>
          <a:bodyPr wrap="square" lIns="0" tIns="0" rIns="0" bIns="0" rtlCol="0" anchor="t"/>
          <a:lstStyle/>
          <a:p>
            <a:pPr algn="ctr" indent="0" marL="0">
              <a:buNone/>
            </a:pPr>
            <a:r>
              <a:rPr lang="en-US" sz="850" dirty="0">
                <a:solidFill>
                  <a:srgbClr val="4B5563"/>
                </a:solidFill>
                <a:latin typeface="Calibri" pitchFamily="34" charset="0"/>
                <a:ea typeface="Calibri" pitchFamily="34" charset="-122"/>
                <a:cs typeface="Calibri" pitchFamily="34" charset="-120"/>
              </a:rPr>
              <a:t>waiting for its statement</a:t>
            </a:r>
            <a:endParaRPr lang="en-US" sz="850" dirty="0"/>
          </a:p>
        </p:txBody>
      </p:sp>
      <p:sp>
        <p:nvSpPr>
          <p:cNvPr id="18" name="Text 16"/>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A flat map, part way through the stream: the layout is fixed, the details fill in.</a:t>
            </a:r>
            <a:endParaRPr lang="en-US" sz="1050" dirty="0"/>
          </a:p>
        </p:txBody>
      </p:sp>
      <p:sp>
        <p:nvSpPr>
          <p:cNvPr id="19" name="Shape 17"/>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0" name="Text 18"/>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Declarative generation makes the catalog the single source of truth, and a flat element map puts the layout before the details.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01.2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prompt asks for the root first and the elements top-down; that ordering is the trick</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48640" y="1737360"/>
            <a:ext cx="7406640" cy="2363724"/>
          </a:xfrm>
          <a:prstGeom prst="roundRect">
            <a:avLst>
              <a:gd name="adj" fmla="val 3868"/>
            </a:avLst>
          </a:prstGeom>
          <a:solidFill>
            <a:srgbClr val="0F172A"/>
          </a:solidFill>
          <a:ln w="12700">
            <a:solidFill>
              <a:srgbClr val="0F172A"/>
            </a:solidFill>
            <a:prstDash val="solid"/>
          </a:ln>
        </p:spPr>
      </p:sp>
      <p:sp>
        <p:nvSpPr>
          <p:cNvPr id="6" name="Text 4"/>
          <p:cNvSpPr/>
          <p:nvPr/>
        </p:nvSpPr>
        <p:spPr>
          <a:xfrm>
            <a:off x="731520" y="1874520"/>
            <a:ext cx="7040880" cy="2089404"/>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SHAPE_RULES =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"tree": "Answer with one JSON object: the root node. A node is {\"type\", \"props\", \"children\"};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"children is a list of nodes and is only allowed on components that take children.",</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"flat": "Answer with one JSON object {\"root\", \"elements\"}. Write \"root\" first. \"elements\" maps an id to a node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"{\"type\", \"props\", \"children\"}, where children is a list of ids. Write the root element first,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"then its children in order, then their children: top-down, so the layout is known before the details.",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548640" y="4146804"/>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01_foundations/step_02_declarative_tree/catalog.py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t>
            </a:r>
            <a:pPr indent="0" marL="0">
              <a:buNone/>
            </a:pPr>
            <a:r>
              <a:rPr lang="en-US" sz="1200" b="1" dirty="0">
                <a:solidFill>
                  <a:srgbClr val="141B3D"/>
                </a:solidFill>
                <a:latin typeface="Calibri" pitchFamily="34" charset="0"/>
                <a:ea typeface="Calibri" pitchFamily="34" charset="-122"/>
                <a:cs typeface="Calibri" pitchFamily="34" charset="-120"/>
              </a:rPr>
              <a:t>tree</a:t>
            </a:r>
            <a:pPr indent="0" marL="0">
              <a:buNone/>
            </a:pPr>
            <a:r>
              <a:rPr lang="en-US" sz="1200" dirty="0">
                <a:solidFill>
                  <a:srgbClr val="1F2937"/>
                </a:solidFill>
                <a:latin typeface="Calibri" pitchFamily="34" charset="0"/>
                <a:ea typeface="Calibri" pitchFamily="34" charset="-122"/>
                <a:cs typeface="Calibri" pitchFamily="34" charset="-120"/>
              </a:rPr>
              <a:t> rule: the answer is the root node, and children are nodes inside it. The root object cannot close until every descendant has.</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t>
            </a:r>
            <a:pPr indent="0" marL="0">
              <a:buNone/>
            </a:pPr>
            <a:r>
              <a:rPr lang="en-US" sz="1200" b="1" dirty="0">
                <a:solidFill>
                  <a:srgbClr val="141B3D"/>
                </a:solidFill>
                <a:latin typeface="Calibri" pitchFamily="34" charset="0"/>
                <a:ea typeface="Calibri" pitchFamily="34" charset="-122"/>
                <a:cs typeface="Calibri" pitchFamily="34" charset="-120"/>
              </a:rPr>
              <a:t>flat</a:t>
            </a:r>
            <a:pPr indent="0" marL="0">
              <a:buNone/>
            </a:pPr>
            <a:r>
              <a:rPr lang="en-US" sz="1200" dirty="0">
                <a:solidFill>
                  <a:srgbClr val="1F2937"/>
                </a:solidFill>
                <a:latin typeface="Calibri" pitchFamily="34" charset="0"/>
                <a:ea typeface="Calibri" pitchFamily="34" charset="-122"/>
                <a:cs typeface="Calibri" pitchFamily="34" charset="-120"/>
              </a:rPr>
              <a:t> rule: </a:t>
            </a:r>
            <a:pPr indent="0" marL="0">
              <a:buNone/>
            </a:pPr>
            <a:r>
              <a:rPr lang="en-US" sz="1200" dirty="0">
                <a:solidFill>
                  <a:srgbClr val="BE123C"/>
                </a:solidFill>
                <a:latin typeface="Courier New" pitchFamily="34" charset="0"/>
                <a:ea typeface="Courier New" pitchFamily="34" charset="-122"/>
                <a:cs typeface="Courier New" pitchFamily="34" charset="-120"/>
              </a:rPr>
              <a:t>root</a:t>
            </a:r>
            <a:pPr indent="0" marL="0">
              <a:buNone/>
            </a:pPr>
            <a:r>
              <a:rPr lang="en-US" sz="1200" dirty="0">
                <a:solidFill>
                  <a:srgbClr val="1F2937"/>
                </a:solidFill>
                <a:latin typeface="Calibri" pitchFamily="34" charset="0"/>
                <a:ea typeface="Calibri" pitchFamily="34" charset="-122"/>
                <a:cs typeface="Calibri" pitchFamily="34" charset="-120"/>
              </a:rPr>
              <a:t> is written first, and </a:t>
            </a:r>
            <a:pPr indent="0" marL="0">
              <a:buNone/>
            </a:pPr>
            <a:r>
              <a:rPr lang="en-US" sz="1200" dirty="0">
                <a:solidFill>
                  <a:srgbClr val="BE123C"/>
                </a:solidFill>
                <a:latin typeface="Courier New" pitchFamily="34" charset="0"/>
                <a:ea typeface="Courier New" pitchFamily="34" charset="-122"/>
                <a:cs typeface="Courier New" pitchFamily="34" charset="-120"/>
              </a:rPr>
              <a:t>elements</a:t>
            </a:r>
            <a:pPr indent="0" marL="0">
              <a:buNone/>
            </a:pPr>
            <a:r>
              <a:rPr lang="en-US" sz="1200" dirty="0">
                <a:solidFill>
                  <a:srgbClr val="1F2937"/>
                </a:solidFill>
                <a:latin typeface="Calibri" pitchFamily="34" charset="0"/>
                <a:ea typeface="Calibri" pitchFamily="34" charset="-122"/>
                <a:cs typeface="Calibri" pitchFamily="34" charset="-120"/>
              </a:rPr>
              <a:t> maps an id to a node whose children are ids, not nodes.</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Top-down: the root element, then its children in order, then theirs. The layout is on the wire before any detail.</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same catalog generates both prompts; only these rules and the child type in the schema differ.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A child id whose element has not arrived renders as a pending slot</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548640" y="1417320"/>
            <a:ext cx="7406640" cy="2363724"/>
          </a:xfrm>
          <a:prstGeom prst="roundRect">
            <a:avLst>
              <a:gd name="adj" fmla="val 3868"/>
            </a:avLst>
          </a:prstGeom>
          <a:solidFill>
            <a:srgbClr val="0F172A"/>
          </a:solidFill>
          <a:ln w="12700">
            <a:solidFill>
              <a:srgbClr val="0F172A"/>
            </a:solidFill>
            <a:prstDash val="solid"/>
          </a:ln>
        </p:spPr>
      </p:sp>
      <p:sp>
        <p:nvSpPr>
          <p:cNvPr id="6" name="Text 4"/>
          <p:cNvSpPr/>
          <p:nvPr/>
        </p:nvSpPr>
        <p:spPr>
          <a:xfrm>
            <a:off x="731520" y="1554480"/>
            <a:ext cx="7040880" cy="2089404"/>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function renderFlat(spec, id = spec?.root, seen = new Set())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A flat element map. A child id whose element has not arrived yet renders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as a pending slot, so the layout holds still while the details stream in.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node = spec?.elements?.[id];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(node === undefined || seen.has(id)) return PENDING;</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seen.add(id);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(!isComponent(node)) return PENDING;</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children = (node.children ?? []).map((child) =&gt; renderFlat(spec, child, seen)).join("");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html = render(node.type, node.props, children);</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isPartial(node) ? `&lt;div class="pending-wrap"&gt;${html}&lt;/div&gt;` : html;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548640" y="3826764"/>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01_foundations/step_02_declarative_tree/page/render.mjs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 id with no element yet, or one already seen, returns </a:t>
            </a:r>
            <a:pPr indent="0" marL="0">
              <a:buNone/>
            </a:pPr>
            <a:r>
              <a:rPr lang="en-US" sz="1200" b="1" dirty="0">
                <a:solidFill>
                  <a:srgbClr val="141B3D"/>
                </a:solidFill>
                <a:latin typeface="Calibri" pitchFamily="34" charset="0"/>
                <a:ea typeface="Calibri" pitchFamily="34" charset="-122"/>
                <a:cs typeface="Calibri" pitchFamily="34" charset="-120"/>
              </a:rPr>
              <a:t>PENDING</a:t>
            </a:r>
            <a:pPr indent="0" marL="0">
              <a:buNone/>
            </a:pPr>
            <a:r>
              <a:rPr lang="en-US" sz="1200" dirty="0">
                <a:solidFill>
                  <a:srgbClr val="1F2937"/>
                </a:solidFill>
                <a:latin typeface="Calibri" pitchFamily="34" charset="0"/>
                <a:ea typeface="Calibri" pitchFamily="34" charset="-122"/>
                <a:cs typeface="Calibri" pitchFamily="34" charset="-120"/>
              </a:rPr>
              <a:t>: an empty slot at the right place, so the layout holds still.</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Recursion is by </a:t>
            </a:r>
            <a:pPr indent="0" marL="0">
              <a:buNone/>
            </a:pPr>
            <a:r>
              <a:rPr lang="en-US" sz="1200" b="1" dirty="0">
                <a:solidFill>
                  <a:srgbClr val="141B3D"/>
                </a:solidFill>
                <a:latin typeface="Calibri" pitchFamily="34" charset="0"/>
                <a:ea typeface="Calibri" pitchFamily="34" charset="-122"/>
                <a:cs typeface="Calibri" pitchFamily="34" charset="-120"/>
              </a:rPr>
              <a:t>id</a:t>
            </a:r>
            <a:pPr indent="0" marL="0">
              <a:buNone/>
            </a:pPr>
            <a:r>
              <a:rPr lang="en-US" sz="1200" dirty="0">
                <a:solidFill>
                  <a:srgbClr val="1F2937"/>
                </a:solidFill>
                <a:latin typeface="Calibri" pitchFamily="34" charset="0"/>
                <a:ea typeface="Calibri" pitchFamily="34" charset="-122"/>
                <a:cs typeface="Calibri" pitchFamily="34" charset="-120"/>
              </a:rPr>
              <a:t>, not by nested object. The child is looked up in the map, which is what lets it arrive later.</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node the parser left open is wrapped as pending; a node the model closed renders plain. The parser types tell them apart.</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renderTree</a:t>
            </a:r>
            <a:pPr indent="0" marL="0">
              <a:buNone/>
            </a:pPr>
            <a:r>
              <a:rPr lang="en-US" sz="1250" dirty="0">
                <a:solidFill>
                  <a:srgbClr val="4B5563"/>
                </a:solidFill>
                <a:latin typeface="Calibri" pitchFamily="34" charset="0"/>
                <a:ea typeface="Calibri" pitchFamily="34" charset="-122"/>
                <a:cs typeface="Calibri" pitchFamily="34" charset="-120"/>
              </a:rPr>
              <a:t> is the same walk over nested nodes; an open node renders with whatever closed children it already has.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01.2 · QUICK DEMO · MEASURED</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 flat element map paints and fixes its layout at chunk 33; a tree waits for chunk 408</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16</a:t>
            </a:r>
            <a:endParaRPr lang="en-US" sz="1000" dirty="0"/>
          </a:p>
        </p:txBody>
      </p:sp>
      <p:graphicFrame>
        <p:nvGraphicFramePr>
          <p:cNvPr id="5" name="Chart 0" descr=""/>
          <p:cNvGraphicFramePr/>
          <p:nvPr/>
        </p:nvGraphicFramePr>
        <p:xfrm>
          <a:off x="548640" y="141732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72400" y="1508760"/>
            <a:ext cx="3840480" cy="4251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Same prompt, same model, same eight components. Only the JSON shape differs.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t>
            </a:r>
            <a:pPr indent="0" marL="0">
              <a:buNone/>
            </a:pPr>
            <a:r>
              <a:rPr lang="en-US" sz="1250" b="1" dirty="0">
                <a:solidFill>
                  <a:srgbClr val="141B3D"/>
                </a:solidFill>
                <a:latin typeface="Calibri" pitchFamily="34" charset="0"/>
                <a:ea typeface="Calibri" pitchFamily="34" charset="-122"/>
                <a:cs typeface="Calibri" pitchFamily="34" charset="-120"/>
              </a:rPr>
              <a:t>Tree:</a:t>
            </a:r>
            <a:pPr indent="0" marL="0">
              <a:buNone/>
            </a:pPr>
            <a:r>
              <a:rPr lang="en-US" sz="1250" dirty="0">
                <a:solidFill>
                  <a:srgbClr val="1F2937"/>
                </a:solidFill>
                <a:latin typeface="Calibri" pitchFamily="34" charset="0"/>
                <a:ea typeface="Calibri" pitchFamily="34" charset="-122"/>
                <a:cs typeface="Calibri" pitchFamily="34" charset="-120"/>
              </a:rPr>
              <a:t> first paint at chunk 91 (3.22s), layout known at chunk 408 of 408 (6.10s), the last one.</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t>
            </a:r>
            <a:pPr indent="0" marL="0">
              <a:buNone/>
            </a:pPr>
            <a:r>
              <a:rPr lang="en-US" sz="1250" b="1" dirty="0">
                <a:solidFill>
                  <a:srgbClr val="141B3D"/>
                </a:solidFill>
                <a:latin typeface="Calibri" pitchFamily="34" charset="0"/>
                <a:ea typeface="Calibri" pitchFamily="34" charset="-122"/>
                <a:cs typeface="Calibri" pitchFamily="34" charset="-120"/>
              </a:rPr>
              <a:t>Flat:</a:t>
            </a:r>
            <a:pPr indent="0" marL="0">
              <a:buNone/>
            </a:pPr>
            <a:r>
              <a:rPr lang="en-US" sz="1250" dirty="0">
                <a:solidFill>
                  <a:srgbClr val="1F2937"/>
                </a:solidFill>
                <a:latin typeface="Calibri" pitchFamily="34" charset="0"/>
                <a:ea typeface="Calibri" pitchFamily="34" charset="-122"/>
                <a:cs typeface="Calibri" pitchFamily="34" charset="-120"/>
              </a:rPr>
              <a:t> first paint and layout known both at chunk 33 of 266 (1.08s); done at 3.41s.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flat root element is short and closes early; the tree root closes last because everything is inside it.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Both documents validated.</a:t>
            </a:r>
            <a:endParaRPr lang="en-US" sz="1250" dirty="0"/>
          </a:p>
        </p:txBody>
      </p:sp>
      <p:sp>
        <p:nvSpPr>
          <p:cNvPr id="7" name="Text 4"/>
          <p:cNvSpPr/>
          <p:nvPr/>
        </p:nvSpPr>
        <p:spPr>
          <a:xfrm>
            <a:off x="548640" y="594360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Recorded by </a:t>
            </a:r>
            <a:pPr indent="0" marL="0">
              <a:buNone/>
            </a:pPr>
            <a:r>
              <a:rPr lang="en-US" sz="1200" dirty="0">
                <a:solidFill>
                  <a:srgbClr val="BE123C"/>
                </a:solidFill>
                <a:latin typeface="Courier New" pitchFamily="34" charset="0"/>
                <a:ea typeface="Courier New" pitchFamily="34" charset="-122"/>
                <a:cs typeface="Courier New" pitchFamily="34" charset="-120"/>
              </a:rPr>
              <a:t>progress.py</a:t>
            </a:r>
            <a:pPr indent="0" marL="0">
              <a:buNone/>
            </a:pPr>
            <a:r>
              <a:rPr lang="en-US" sz="1200" dirty="0">
                <a:solidFill>
                  <a:srgbClr val="4B5563"/>
                </a:solidFill>
                <a:latin typeface="Calibri" pitchFamily="34" charset="0"/>
                <a:ea typeface="Calibri" pitchFamily="34" charset="-122"/>
                <a:cs typeface="Calibri" pitchFamily="34" charset="-120"/>
              </a:rPr>
              <a:t> during </a:t>
            </a:r>
            <a:pPr indent="0" marL="0">
              <a:buNone/>
            </a:pPr>
            <a:r>
              <a:rPr lang="en-US" sz="1200" dirty="0">
                <a:solidFill>
                  <a:srgbClr val="BE123C"/>
                </a:solidFill>
                <a:latin typeface="Courier New" pitchFamily="34" charset="0"/>
                <a:ea typeface="Courier New" pitchFamily="34" charset="-122"/>
                <a:cs typeface="Courier New" pitchFamily="34" charset="-120"/>
              </a:rPr>
              <a:t>python demo.py</a:t>
            </a:r>
            <a:pPr indent="0" marL="0">
              <a:buNone/>
            </a:pPr>
            <a:r>
              <a:rPr lang="en-US" sz="1200" dirty="0">
                <a:solidFill>
                  <a:srgbClr val="4B5563"/>
                </a:solidFill>
                <a:latin typeface="Calibri" pitchFamily="34" charset="0"/>
                <a:ea typeface="Calibri" pitchFamily="34" charset="-122"/>
                <a:cs typeface="Calibri" pitchFamily="34" charset="-120"/>
              </a:rPr>
              <a:t>: the chunk at which the first component closed and the root's children became final.</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01.2 · QUICK DEMO · BOTH STREAMS REPLAYED TO CHUNK 88</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At the same chunk, the tree has one metric in an open card; the flat map has the whole layout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17</a:t>
            </a:r>
            <a:endParaRPr lang="en-US" sz="1000" dirty="0"/>
          </a:p>
        </p:txBody>
      </p:sp>
      <p:pic>
        <p:nvPicPr>
          <p:cNvPr id="5" name="Image 0" descr="C:\Users\evija\simple-coding-harness\genui\01_foundations\step_02_declarative_tree\demo_streaming.png">    </p:cNvPr>
          <p:cNvPicPr>
            <a:picLocks noChangeAspect="1"/>
          </p:cNvPicPr>
          <p:nvPr/>
        </p:nvPicPr>
        <p:blipFill>
          <a:blip r:embed="rId1"/>
          <a:srcRect l="0" r="0" t="0" b="0"/>
          <a:stretch/>
        </p:blipFill>
        <p:spPr>
          <a:xfrm>
            <a:off x="548640" y="1737360"/>
            <a:ext cx="7680960" cy="2048256"/>
          </a:xfrm>
          <a:prstGeom prst="rect">
            <a:avLst/>
          </a:prstGeom>
        </p:spPr>
      </p:pic>
      <p:sp>
        <p:nvSpPr>
          <p:cNvPr id="6" name="Shape 3"/>
          <p:cNvSpPr/>
          <p:nvPr/>
        </p:nvSpPr>
        <p:spPr>
          <a:xfrm>
            <a:off x="548640" y="1737360"/>
            <a:ext cx="7680960" cy="2048256"/>
          </a:xfrm>
          <a:prstGeom prst="rect">
            <a:avLst/>
          </a:prstGeom>
          <a:ln w="12700">
            <a:solidFill>
              <a:srgbClr val="D7DAE5"/>
            </a:solidFill>
            <a:prstDash val="solid"/>
          </a:ln>
        </p:spPr>
      </p:sp>
      <p:sp>
        <p:nvSpPr>
          <p:cNvPr id="7" name="Shape 4"/>
          <p:cNvSpPr/>
          <p:nvPr/>
        </p:nvSpPr>
        <p:spPr>
          <a:xfrm>
            <a:off x="8595360" y="1737360"/>
            <a:ext cx="304495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8732520" y="1792224"/>
            <a:ext cx="277063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chunk 88</a:t>
            </a:r>
            <a:endParaRPr lang="en-US" sz="2800" dirty="0"/>
          </a:p>
        </p:txBody>
      </p:sp>
      <p:sp>
        <p:nvSpPr>
          <p:cNvPr id="9" name="Text 6"/>
          <p:cNvSpPr/>
          <p:nvPr/>
        </p:nvSpPr>
        <p:spPr>
          <a:xfrm>
            <a:off x="8732520" y="2359152"/>
            <a:ext cx="277063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of 408 (tree) and of 266 (flat), replayed</a:t>
            </a:r>
            <a:endParaRPr lang="en-US" sz="1050" dirty="0"/>
          </a:p>
        </p:txBody>
      </p:sp>
      <p:sp>
        <p:nvSpPr>
          <p:cNvPr id="10" name="Text 7"/>
          <p:cNvSpPr/>
          <p:nvPr/>
        </p:nvSpPr>
        <p:spPr>
          <a:xfrm>
            <a:off x="8595360" y="3063240"/>
            <a:ext cx="3044952" cy="28346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Left, the nested tree: a card with one metric inside, both still open, and no sign of what comes next.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Right, the flat map: the title, the metric row with two pending slots, and the row below already in place.</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hatched boxes are ids whose elements have not arrived; they hold the layout still.</a:t>
            </a:r>
            <a:endParaRPr lang="en-US" sz="1250" dirty="0"/>
          </a:p>
        </p:txBody>
      </p:sp>
      <p:sp>
        <p:nvSpPr>
          <p:cNvPr id="11" name="Text 8"/>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page's replay hook re-plays each recorded delta stream to a chosen chunk; this is what a user would see at that instant.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01.2 · QUICK DEMO · THE FINISHED FLAT LAYOUT</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finished flat map: a card, a row of three metrics, a table beside a chart, 266 tokens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18</a:t>
            </a:r>
            <a:endParaRPr lang="en-US" sz="1000" dirty="0"/>
          </a:p>
        </p:txBody>
      </p:sp>
      <p:pic>
        <p:nvPicPr>
          <p:cNvPr id="5" name="Image 0" descr="C:\Users\evija\simple-coding-harness\genui\01_foundations\step_02_declarative_tree\demo.png">    </p:cNvPr>
          <p:cNvPicPr>
            <a:picLocks noChangeAspect="1"/>
          </p:cNvPicPr>
          <p:nvPr/>
        </p:nvPicPr>
        <p:blipFill>
          <a:blip r:embed="rId1"/>
          <a:srcRect l="0" r="0" t="0" b="0"/>
          <a:stretch/>
        </p:blipFill>
        <p:spPr>
          <a:xfrm>
            <a:off x="548640" y="1737360"/>
            <a:ext cx="6035040" cy="4480560"/>
          </a:xfrm>
          <a:prstGeom prst="rect">
            <a:avLst/>
          </a:prstGeom>
        </p:spPr>
      </p:pic>
      <p:sp>
        <p:nvSpPr>
          <p:cNvPr id="6" name="Shape 3"/>
          <p:cNvSpPr/>
          <p:nvPr/>
        </p:nvSpPr>
        <p:spPr>
          <a:xfrm>
            <a:off x="548640" y="1737360"/>
            <a:ext cx="6035040" cy="4480560"/>
          </a:xfrm>
          <a:prstGeom prst="rect">
            <a:avLst/>
          </a:prstGeom>
          <a:ln w="12700">
            <a:solidFill>
              <a:srgbClr val="D7DAE5"/>
            </a:solidFill>
            <a:prstDash val="solid"/>
          </a:ln>
        </p:spPr>
      </p:sp>
      <p:sp>
        <p:nvSpPr>
          <p:cNvPr id="7" name="Shape 4"/>
          <p:cNvSpPr/>
          <p:nvPr/>
        </p:nvSpPr>
        <p:spPr>
          <a:xfrm>
            <a:off x="6949440" y="1737360"/>
            <a:ext cx="469087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086600" y="1792224"/>
            <a:ext cx="441655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266</a:t>
            </a:r>
            <a:endParaRPr lang="en-US" sz="2800" dirty="0"/>
          </a:p>
        </p:txBody>
      </p:sp>
      <p:sp>
        <p:nvSpPr>
          <p:cNvPr id="9" name="Text 6"/>
          <p:cNvSpPr/>
          <p:nvPr/>
        </p:nvSpPr>
        <p:spPr>
          <a:xfrm>
            <a:off x="7086600" y="2359152"/>
            <a:ext cx="441655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completion tokens, flat map (330 prompt)</a:t>
            </a:r>
            <a:endParaRPr lang="en-US" sz="1050" dirty="0"/>
          </a:p>
        </p:txBody>
      </p:sp>
      <p:sp>
        <p:nvSpPr>
          <p:cNvPr id="10" name="Shape 7"/>
          <p:cNvSpPr/>
          <p:nvPr/>
        </p:nvSpPr>
        <p:spPr>
          <a:xfrm>
            <a:off x="6949440" y="3017520"/>
            <a:ext cx="469087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086600" y="3072384"/>
            <a:ext cx="4416552"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3.41s</a:t>
            </a:r>
            <a:endParaRPr lang="en-US" sz="2800" dirty="0"/>
          </a:p>
        </p:txBody>
      </p:sp>
      <p:sp>
        <p:nvSpPr>
          <p:cNvPr id="12" name="Text 9"/>
          <p:cNvSpPr/>
          <p:nvPr/>
        </p:nvSpPr>
        <p:spPr>
          <a:xfrm>
            <a:off x="7086600" y="3639312"/>
            <a:ext cx="441655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 the last chunk; valid against the schema</a:t>
            </a:r>
            <a:endParaRPr lang="en-US" sz="1050" dirty="0"/>
          </a:p>
        </p:txBody>
      </p:sp>
      <p:sp>
        <p:nvSpPr>
          <p:cNvPr id="13" name="Text 10"/>
          <p:cNvSpPr/>
          <p:nvPr/>
        </p:nvSpPr>
        <p:spPr>
          <a:xfrm>
            <a:off x="6949440" y="4343400"/>
            <a:ext cx="4690872" cy="15544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model chose the layout: metrics grouped in a </a:t>
            </a:r>
            <a:pPr indent="0" marL="0">
              <a:buNone/>
            </a:pPr>
            <a:r>
              <a:rPr lang="en-US" sz="1050" dirty="0">
                <a:solidFill>
                  <a:srgbClr val="BE123C"/>
                </a:solidFill>
                <a:latin typeface="Courier New" pitchFamily="34" charset="0"/>
                <a:ea typeface="Courier New" pitchFamily="34" charset="-122"/>
                <a:cs typeface="Courier New" pitchFamily="34" charset="-120"/>
              </a:rPr>
              <a:t>Row</a:t>
            </a:r>
            <a:pPr indent="0" marL="0">
              <a:buNone/>
            </a:pPr>
            <a:r>
              <a:rPr lang="en-US" sz="1150" dirty="0">
                <a:solidFill>
                  <a:srgbClr val="1F2937"/>
                </a:solidFill>
                <a:latin typeface="Calibri" pitchFamily="34" charset="0"/>
                <a:ea typeface="Calibri" pitchFamily="34" charset="-122"/>
                <a:cs typeface="Calibri" pitchFamily="34" charset="-120"/>
              </a:rPr>
              <a:t>, table and chart in a second </a:t>
            </a:r>
            <a:pPr indent="0" marL="0">
              <a:buNone/>
            </a:pPr>
            <a:r>
              <a:rPr lang="en-US" sz="1050" dirty="0">
                <a:solidFill>
                  <a:srgbClr val="BE123C"/>
                </a:solidFill>
                <a:latin typeface="Courier New" pitchFamily="34" charset="0"/>
                <a:ea typeface="Courier New" pitchFamily="34" charset="-122"/>
                <a:cs typeface="Courier New" pitchFamily="34" charset="-120"/>
              </a:rPr>
              <a:t>Row</a:t>
            </a:r>
            <a:pPr indent="0" marL="0">
              <a:buNone/>
            </a:pPr>
            <a:r>
              <a:rPr lang="en-US" sz="1150" dirty="0">
                <a:solidFill>
                  <a:srgbClr val="1F2937"/>
                </a:solidFill>
                <a:latin typeface="Calibri" pitchFamily="34" charset="0"/>
                <a:ea typeface="Calibri" pitchFamily="34" charset="-122"/>
                <a:cs typeface="Calibri" pitchFamily="34" charset="-120"/>
              </a:rPr>
              <a:t>, all inside one </a:t>
            </a:r>
            <a:pPr indent="0" marL="0">
              <a:buNone/>
            </a:pPr>
            <a:r>
              <a:rPr lang="en-US" sz="1050" dirty="0">
                <a:solidFill>
                  <a:srgbClr val="BE123C"/>
                </a:solidFill>
                <a:latin typeface="Courier New" pitchFamily="34" charset="0"/>
                <a:ea typeface="Courier New" pitchFamily="34" charset="-122"/>
                <a:cs typeface="Courier New" pitchFamily="34" charset="-120"/>
              </a:rPr>
              <a:t>Card</a:t>
            </a:r>
            <a:pPr indent="0" marL="0">
              <a:buNone/>
            </a:pPr>
            <a:r>
              <a:rPr lang="en-US" sz="1150" dirty="0">
                <a:solidFill>
                  <a:srgbClr val="1F2937"/>
                </a:solidFill>
                <a:latin typeface="Calibri" pitchFamily="34" charset="0"/>
                <a:ea typeface="Calibri" pitchFamily="34" charset="-122"/>
                <a:cs typeface="Calibri" pitchFamily="34" charset="-120"/>
              </a:rPr>
              <a: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wire panel shows the element map: </a:t>
            </a:r>
            <a:pPr indent="0" marL="0">
              <a:buNone/>
            </a:pPr>
            <a:r>
              <a:rPr lang="en-US" sz="1050" dirty="0">
                <a:solidFill>
                  <a:srgbClr val="BE123C"/>
                </a:solidFill>
                <a:latin typeface="Courier New" pitchFamily="34" charset="0"/>
                <a:ea typeface="Courier New" pitchFamily="34" charset="-122"/>
                <a:cs typeface="Courier New" pitchFamily="34" charset="-120"/>
              </a:rPr>
              <a:t>root</a:t>
            </a:r>
            <a:pPr indent="0" marL="0">
              <a:buNone/>
            </a:pPr>
            <a:r>
              <a:rPr lang="en-US" sz="1150" dirty="0">
                <a:solidFill>
                  <a:srgbClr val="1F2937"/>
                </a:solidFill>
                <a:latin typeface="Calibri" pitchFamily="34" charset="0"/>
                <a:ea typeface="Calibri" pitchFamily="34" charset="-122"/>
                <a:cs typeface="Calibri" pitchFamily="34" charset="-120"/>
              </a:rPr>
              <a:t> first, then </a:t>
            </a:r>
            <a:pPr indent="0" marL="0">
              <a:buNone/>
            </a:pPr>
            <a:r>
              <a:rPr lang="en-US" sz="1050" dirty="0">
                <a:solidFill>
                  <a:srgbClr val="BE123C"/>
                </a:solidFill>
                <a:latin typeface="Courier New" pitchFamily="34" charset="0"/>
                <a:ea typeface="Courier New" pitchFamily="34" charset="-122"/>
                <a:cs typeface="Courier New" pitchFamily="34" charset="-120"/>
              </a:rPr>
              <a:t>card</a:t>
            </a:r>
            <a:pPr indent="0" marL="0">
              <a:buNone/>
            </a:pPr>
            <a:r>
              <a:rPr lang="en-US" sz="1150" dirty="0">
                <a:solidFill>
                  <a:srgbClr val="1F2937"/>
                </a:solidFill>
                <a:latin typeface="Calibri" pitchFamily="34" charset="0"/>
                <a:ea typeface="Calibri" pitchFamily="34" charset="-122"/>
                <a:cs typeface="Calibri" pitchFamily="34" charset="-120"/>
              </a:rPr>
              <a:t> with its child ids, then the children.</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a:t>
            </a:r>
            <a:pPr indent="0" marL="0">
              <a:buNone/>
            </a:pPr>
            <a:r>
              <a:rPr lang="en-US" sz="1050" dirty="0">
                <a:solidFill>
                  <a:srgbClr val="BE123C"/>
                </a:solidFill>
                <a:latin typeface="Courier New" pitchFamily="34" charset="0"/>
                <a:ea typeface="Courier New" pitchFamily="34" charset="-122"/>
                <a:cs typeface="Courier New" pitchFamily="34" charset="-120"/>
              </a:rPr>
              <a:t>done</a:t>
            </a:r>
            <a:pPr indent="0" marL="0">
              <a:buNone/>
            </a:pPr>
            <a:r>
              <a:rPr lang="en-US" sz="1150" dirty="0">
                <a:solidFill>
                  <a:srgbClr val="1F2937"/>
                </a:solidFill>
                <a:latin typeface="Calibri" pitchFamily="34" charset="0"/>
                <a:ea typeface="Calibri" pitchFamily="34" charset="-122"/>
                <a:cs typeface="Calibri" pitchFamily="34" charset="-120"/>
              </a:rPr>
              <a:t> frame carries </a:t>
            </a:r>
            <a:pPr indent="0" marL="0">
              <a:buNone/>
            </a:pPr>
            <a:r>
              <a:rPr lang="en-US" sz="1050" dirty="0">
                <a:solidFill>
                  <a:srgbClr val="BE123C"/>
                </a:solidFill>
                <a:latin typeface="Courier New" pitchFamily="34" charset="0"/>
                <a:ea typeface="Courier New" pitchFamily="34" charset="-122"/>
                <a:cs typeface="Courier New" pitchFamily="34" charset="-120"/>
              </a:rPr>
              <a:t>valid: true</a:t>
            </a:r>
            <a:pPr indent="0" marL="0">
              <a:buNone/>
            </a:pPr>
            <a:r>
              <a:rPr lang="en-US" sz="1150" dirty="0">
                <a:solidFill>
                  <a:srgbClr val="1F2937"/>
                </a:solidFill>
                <a:latin typeface="Calibri" pitchFamily="34" charset="0"/>
                <a:ea typeface="Calibri" pitchFamily="34" charset="-122"/>
                <a:cs typeface="Calibri" pitchFamily="34" charset="-120"/>
              </a:rPr>
              <a:t> and an empty </a:t>
            </a:r>
            <a:pPr indent="0" marL="0">
              <a:buNone/>
            </a:pPr>
            <a:r>
              <a:rPr lang="en-US" sz="1050" dirty="0">
                <a:solidFill>
                  <a:srgbClr val="BE123C"/>
                </a:solidFill>
                <a:latin typeface="Courier New" pitchFamily="34" charset="0"/>
                <a:ea typeface="Courier New" pitchFamily="34" charset="-122"/>
                <a:cs typeface="Courier New" pitchFamily="34" charset="-120"/>
              </a:rPr>
              <a:t>errors</a:t>
            </a:r>
            <a:pPr indent="0" marL="0">
              <a:buNone/>
            </a:pPr>
            <a:r>
              <a:rPr lang="en-US" sz="1150" dirty="0">
                <a:solidFill>
                  <a:srgbClr val="1F2937"/>
                </a:solidFill>
                <a:latin typeface="Calibri" pitchFamily="34" charset="0"/>
                <a:ea typeface="Calibri" pitchFamily="34" charset="-122"/>
                <a:cs typeface="Calibri" pitchFamily="34" charset="-120"/>
              </a:rPr>
              <a:t> list from the server's validator.</a:t>
            </a:r>
            <a:endParaRPr lang="en-US" sz="11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Same prompt as step 01.1; the difference is that the model, not the page, grouped the components.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01.3 · LEVEL 3 OF 23 · OPEN-ENDED GENERATION · YOUR OWN PRODUCT</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model writes the whole page; the host runs it in a box and accepts one message shape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19</a:t>
            </a:r>
            <a:endParaRPr lang="en-US" sz="1000" dirty="0"/>
          </a:p>
        </p:txBody>
      </p:sp>
      <p:sp>
        <p:nvSpPr>
          <p:cNvPr id="5" name="Text 3"/>
          <p:cNvSpPr/>
          <p:nvPr/>
        </p:nvSpPr>
        <p:spPr>
          <a:xfrm>
            <a:off x="548640" y="1737360"/>
            <a:ext cx="5120640" cy="822960"/>
          </a:xfrm>
          <a:prstGeom prst="rect">
            <a:avLst/>
          </a:prstGeom>
          <a:noFill/>
          <a:ln/>
        </p:spPr>
        <p:txBody>
          <a:bodyPr wrap="square" lIns="0" tIns="0" rIns="0" bIns="0" rtlCol="0" anchor="t"/>
          <a:lstStyle/>
          <a:p>
            <a:pPr indent="0" marL="0">
              <a:buNone/>
            </a:pPr>
            <a:r>
              <a:rPr lang="en-US" sz="1600" b="1" dirty="0">
                <a:solidFill>
                  <a:srgbClr val="141B3D"/>
                </a:solidFill>
                <a:latin typeface="Calibri" pitchFamily="34" charset="0"/>
                <a:ea typeface="Calibri" pitchFamily="34" charset="-122"/>
                <a:cs typeface="Calibri" pitchFamily="34" charset="-120"/>
              </a:rPr>
              <a:t>Open-ended generation</a:t>
            </a:r>
            <a:pPr indent="0" marL="0">
              <a:buNone/>
            </a:pPr>
            <a:r>
              <a:rPr lang="en-US" sz="1600" dirty="0">
                <a:solidFill>
                  <a:srgbClr val="141B3D"/>
                </a:solidFill>
                <a:latin typeface="Calibri" pitchFamily="34" charset="0"/>
                <a:ea typeface="Calibri" pitchFamily="34" charset="-122"/>
                <a:cs typeface="Calibri" pitchFamily="34" charset="-120"/>
              </a:rPr>
              <a:t> removes the catalog. The model writes HTML, CSS and JavaScript, and can draw any layout at a price on three fronts: tokens, trust and consistency.</a:t>
            </a:r>
            <a:endParaRPr lang="en-US" sz="1600" dirty="0"/>
          </a:p>
        </p:txBody>
      </p:sp>
      <p:sp>
        <p:nvSpPr>
          <p:cNvPr id="6" name="Text 4"/>
          <p:cNvSpPr/>
          <p:nvPr/>
        </p:nvSpPr>
        <p:spPr>
          <a:xfrm>
            <a:off x="548640" y="2606040"/>
            <a:ext cx="5120640" cy="31546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Tokens: a page is text, and the text of a page is long. The report says five to ten times a spec; this step measures it.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Trust: the code came from a model and may do anything code does, so it must run in a box.</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box has two layers. </a:t>
            </a:r>
            <a:pPr indent="0" marL="0">
              <a:buNone/>
            </a:pPr>
            <a:r>
              <a:rPr lang="en-US" sz="1050" dirty="0">
                <a:solidFill>
                  <a:srgbClr val="BE123C"/>
                </a:solidFill>
                <a:latin typeface="Courier New" pitchFamily="34" charset="0"/>
                <a:ea typeface="Courier New" pitchFamily="34" charset="-122"/>
                <a:cs typeface="Courier New" pitchFamily="34" charset="-120"/>
              </a:rPr>
              <a:t>sandbox="allow-scripts"</a:t>
            </a:r>
            <a:pPr indent="0" marL="0">
              <a:buNone/>
            </a:pPr>
            <a:r>
              <a:rPr lang="en-US" sz="1150" dirty="0">
                <a:solidFill>
                  <a:srgbClr val="1F2937"/>
                </a:solidFill>
                <a:latin typeface="Calibri" pitchFamily="34" charset="0"/>
                <a:ea typeface="Calibri" pitchFamily="34" charset="-122"/>
                <a:cs typeface="Calibri" pitchFamily="34" charset="-120"/>
              </a:rPr>
              <a:t> gives the document a unique origin and denies forms, popups and navigation.</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Content Security Policy injected as the first tag in </a:t>
            </a:r>
            <a:pPr indent="0" marL="0">
              <a:buNone/>
            </a:pPr>
            <a:r>
              <a:rPr lang="en-US" sz="1050" dirty="0">
                <a:solidFill>
                  <a:srgbClr val="BE123C"/>
                </a:solidFill>
                <a:latin typeface="Courier New" pitchFamily="34" charset="0"/>
                <a:ea typeface="Courier New" pitchFamily="34" charset="-122"/>
                <a:cs typeface="Courier New" pitchFamily="34" charset="-120"/>
              </a:rPr>
              <a:t>&lt;head&gt;</a:t>
            </a:r>
            <a:pPr indent="0" marL="0">
              <a:buNone/>
            </a:pPr>
            <a:r>
              <a:rPr lang="en-US" sz="1150" dirty="0">
                <a:solidFill>
                  <a:srgbClr val="1F2937"/>
                </a:solidFill>
                <a:latin typeface="Calibri" pitchFamily="34" charset="0"/>
                <a:ea typeface="Calibri" pitchFamily="34" charset="-122"/>
                <a:cs typeface="Calibri" pitchFamily="34" charset="-120"/>
              </a:rPr>
              <a:t> denies every network request: inline code can compute but cannot phone home.</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only way back out is </a:t>
            </a:r>
            <a:pPr indent="0" marL="0">
              <a:buNone/>
            </a:pPr>
            <a:r>
              <a:rPr lang="en-US" sz="1050" dirty="0">
                <a:solidFill>
                  <a:srgbClr val="BE123C"/>
                </a:solidFill>
                <a:latin typeface="Courier New" pitchFamily="34" charset="0"/>
                <a:ea typeface="Courier New" pitchFamily="34" charset="-122"/>
                <a:cs typeface="Courier New" pitchFamily="34" charset="-120"/>
              </a:rPr>
              <a:t>postMessage</a:t>
            </a:r>
            <a:pPr indent="0" marL="0">
              <a:buNone/>
            </a:pPr>
            <a:r>
              <a:rPr lang="en-US" sz="1150" dirty="0">
                <a:solidFill>
                  <a:srgbClr val="1F2937"/>
                </a:solidFill>
                <a:latin typeface="Calibri" pitchFamily="34" charset="0"/>
                <a:ea typeface="Calibri" pitchFamily="34" charset="-122"/>
                <a:cs typeface="Calibri" pitchFamily="34" charset="-120"/>
              </a:rPr>
              <a:t>, and the host keeps one shape from the one window it mounted.</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Consistency: nothing ties the page to the product's components, so every reply looks different.</a:t>
            </a:r>
            <a:endParaRPr lang="en-US" sz="1150" dirty="0"/>
          </a:p>
        </p:txBody>
      </p:sp>
      <p:sp>
        <p:nvSpPr>
          <p:cNvPr id="7" name="Shape 5"/>
          <p:cNvSpPr/>
          <p:nvPr/>
        </p:nvSpPr>
        <p:spPr>
          <a:xfrm>
            <a:off x="6035040" y="1920240"/>
            <a:ext cx="1506017" cy="3383280"/>
          </a:xfrm>
          <a:prstGeom prst="roundRect">
            <a:avLst>
              <a:gd name="adj" fmla="val 6072"/>
            </a:avLst>
          </a:prstGeom>
          <a:solidFill>
            <a:srgbClr val="ECFDF5"/>
          </a:solidFill>
          <a:ln w="15875">
            <a:solidFill>
              <a:srgbClr val="15803D"/>
            </a:solidFill>
            <a:prstDash val="solid"/>
          </a:ln>
        </p:spPr>
      </p:sp>
      <p:sp>
        <p:nvSpPr>
          <p:cNvPr id="8" name="Text 6"/>
          <p:cNvSpPr/>
          <p:nvPr/>
        </p:nvSpPr>
        <p:spPr>
          <a:xfrm>
            <a:off x="6108192" y="1956816"/>
            <a:ext cx="1359713" cy="1673352"/>
          </a:xfrm>
          <a:prstGeom prst="rect">
            <a:avLst/>
          </a:prstGeom>
          <a:noFill/>
          <a:ln/>
        </p:spPr>
        <p:txBody>
          <a:bodyPr wrap="square" lIns="0" tIns="0" rIns="0" bIns="0" rtlCol="0" anchor="b"/>
          <a:lstStyle/>
          <a:p>
            <a:pPr algn="ctr" indent="0" marL="0">
              <a:buNone/>
            </a:pPr>
            <a:r>
              <a:rPr lang="en-US" sz="1300" b="1" dirty="0">
                <a:solidFill>
                  <a:srgbClr val="15803D"/>
                </a:solidFill>
                <a:latin typeface="Calibri" pitchFamily="34" charset="0"/>
                <a:ea typeface="Calibri" pitchFamily="34" charset="-122"/>
                <a:cs typeface="Calibri" pitchFamily="34" charset="-120"/>
              </a:rPr>
              <a:t>host page</a:t>
            </a:r>
            <a:endParaRPr lang="en-US" sz="1300" dirty="0"/>
          </a:p>
        </p:txBody>
      </p:sp>
      <p:sp>
        <p:nvSpPr>
          <p:cNvPr id="9" name="Text 7"/>
          <p:cNvSpPr/>
          <p:nvPr/>
        </p:nvSpPr>
        <p:spPr>
          <a:xfrm>
            <a:off x="6108192" y="3630168"/>
            <a:ext cx="1359713" cy="163677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app.js: mounts, listens, filters</a:t>
            </a:r>
            <a:endParaRPr lang="en-US" sz="1050" dirty="0"/>
          </a:p>
        </p:txBody>
      </p:sp>
      <p:sp>
        <p:nvSpPr>
          <p:cNvPr id="10" name="Shape 8"/>
          <p:cNvSpPr/>
          <p:nvPr/>
        </p:nvSpPr>
        <p:spPr>
          <a:xfrm>
            <a:off x="10106863" y="1920240"/>
            <a:ext cx="1506017" cy="3383280"/>
          </a:xfrm>
          <a:prstGeom prst="roundRect">
            <a:avLst>
              <a:gd name="adj" fmla="val 6072"/>
            </a:avLst>
          </a:prstGeom>
          <a:solidFill>
            <a:srgbClr val="FFF4E5"/>
          </a:solidFill>
          <a:ln w="15875">
            <a:solidFill>
              <a:srgbClr val="D97706"/>
            </a:solidFill>
            <a:prstDash val="dash"/>
          </a:ln>
        </p:spPr>
      </p:sp>
      <p:sp>
        <p:nvSpPr>
          <p:cNvPr id="11" name="Text 9"/>
          <p:cNvSpPr/>
          <p:nvPr/>
        </p:nvSpPr>
        <p:spPr>
          <a:xfrm>
            <a:off x="10180015" y="1956816"/>
            <a:ext cx="1359713" cy="167335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sandboxed iframe</a:t>
            </a:r>
            <a:endParaRPr lang="en-US" sz="1300" dirty="0"/>
          </a:p>
        </p:txBody>
      </p:sp>
      <p:sp>
        <p:nvSpPr>
          <p:cNvPr id="12" name="Text 10"/>
          <p:cNvSpPr/>
          <p:nvPr/>
        </p:nvSpPr>
        <p:spPr>
          <a:xfrm>
            <a:off x="10180015" y="3630168"/>
            <a:ext cx="1359713" cy="163677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the model's document, unique origin</a:t>
            </a:r>
            <a:endParaRPr lang="en-US" sz="1050" dirty="0"/>
          </a:p>
        </p:txBody>
      </p:sp>
      <p:sp>
        <p:nvSpPr>
          <p:cNvPr id="13" name="Shape 11"/>
          <p:cNvSpPr/>
          <p:nvPr/>
        </p:nvSpPr>
        <p:spPr>
          <a:xfrm>
            <a:off x="7632497" y="2103120"/>
            <a:ext cx="2382926" cy="9144"/>
          </a:xfrm>
          <a:prstGeom prst="line">
            <a:avLst/>
          </a:prstGeom>
          <a:noFill/>
          <a:ln w="19050">
            <a:solidFill>
              <a:srgbClr val="2F3CFF"/>
            </a:solidFill>
            <a:prstDash val="solid"/>
            <a:tailEnd type="triangle"/>
          </a:ln>
        </p:spPr>
      </p:sp>
      <p:sp>
        <p:nvSpPr>
          <p:cNvPr id="14" name="Text 12"/>
          <p:cNvSpPr/>
          <p:nvPr/>
        </p:nvSpPr>
        <p:spPr>
          <a:xfrm>
            <a:off x="7632497" y="1828800"/>
            <a:ext cx="2382926"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srcdoc = sandboxed(html), CSP injected</a:t>
            </a:r>
            <a:endParaRPr lang="en-US" sz="950" dirty="0"/>
          </a:p>
        </p:txBody>
      </p:sp>
      <p:sp>
        <p:nvSpPr>
          <p:cNvPr id="15" name="Shape 13"/>
          <p:cNvSpPr/>
          <p:nvPr/>
        </p:nvSpPr>
        <p:spPr>
          <a:xfrm>
            <a:off x="7632497" y="3108960"/>
            <a:ext cx="2382926" cy="9144"/>
          </a:xfrm>
          <a:prstGeom prst="line">
            <a:avLst/>
          </a:prstGeom>
          <a:noFill/>
          <a:ln w="19050">
            <a:solidFill>
              <a:srgbClr val="2F3CFF"/>
            </a:solidFill>
            <a:prstDash val="solid"/>
            <a:tailEnd type="triangle"/>
          </a:ln>
        </p:spPr>
      </p:sp>
      <p:sp>
        <p:nvSpPr>
          <p:cNvPr id="16" name="Text 14"/>
          <p:cNvSpPr/>
          <p:nvPr/>
        </p:nvSpPr>
        <p:spPr>
          <a:xfrm>
            <a:off x="7632497" y="2834640"/>
            <a:ext cx="2382926"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sandbox="allow-scripts" (no allow-same-origin)</a:t>
            </a:r>
            <a:endParaRPr lang="en-US" sz="950" dirty="0"/>
          </a:p>
        </p:txBody>
      </p:sp>
      <p:sp>
        <p:nvSpPr>
          <p:cNvPr id="17" name="Shape 15"/>
          <p:cNvSpPr/>
          <p:nvPr/>
        </p:nvSpPr>
        <p:spPr>
          <a:xfrm flipH="1">
            <a:off x="7632497" y="4114800"/>
            <a:ext cx="2382926" cy="9144"/>
          </a:xfrm>
          <a:prstGeom prst="line">
            <a:avLst/>
          </a:prstGeom>
          <a:noFill/>
          <a:ln w="19050">
            <a:solidFill>
              <a:srgbClr val="D97706"/>
            </a:solidFill>
            <a:prstDash val="solid"/>
            <a:tailEnd type="triangle"/>
          </a:ln>
        </p:spPr>
      </p:sp>
      <p:sp>
        <p:nvSpPr>
          <p:cNvPr id="18" name="Text 16"/>
          <p:cNvSpPr/>
          <p:nvPr/>
        </p:nvSpPr>
        <p:spPr>
          <a:xfrm>
            <a:off x="7632497" y="3840480"/>
            <a:ext cx="2382926"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postMessage({type: "event", name, payload})</a:t>
            </a:r>
            <a:endParaRPr lang="en-US" sz="950" dirty="0"/>
          </a:p>
        </p:txBody>
      </p:sp>
      <p:sp>
        <p:nvSpPr>
          <p:cNvPr id="19" name="Shape 17"/>
          <p:cNvSpPr/>
          <p:nvPr/>
        </p:nvSpPr>
        <p:spPr>
          <a:xfrm flipH="1">
            <a:off x="7632497" y="5120640"/>
            <a:ext cx="2382926" cy="9144"/>
          </a:xfrm>
          <a:prstGeom prst="line">
            <a:avLst/>
          </a:prstGeom>
          <a:noFill/>
          <a:ln w="19050">
            <a:solidFill>
              <a:srgbClr val="2F3CFF"/>
            </a:solidFill>
            <a:prstDash val="solid"/>
            <a:tailEnd type="triangle"/>
          </a:ln>
        </p:spPr>
      </p:sp>
      <p:sp>
        <p:nvSpPr>
          <p:cNvPr id="20" name="Text 18"/>
          <p:cNvSpPr/>
          <p:nvPr/>
        </p:nvSpPr>
        <p:spPr>
          <a:xfrm>
            <a:off x="7632497" y="4846320"/>
            <a:ext cx="2382926"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accepted only if source matches and isEvent(data)</a:t>
            </a:r>
            <a:endParaRPr lang="en-US" sz="950" dirty="0"/>
          </a:p>
        </p:txBody>
      </p:sp>
      <p:sp>
        <p:nvSpPr>
          <p:cNvPr id="21" name="Text 19"/>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Two arrows in, one shape out. The CSP inside the document blocks every request the code might make.</a:t>
            </a:r>
            <a:endParaRPr lang="en-US" sz="1050" dirty="0"/>
          </a:p>
        </p:txBody>
      </p:sp>
      <p:sp>
        <p:nvSpPr>
          <p:cNvPr id="22" name="Shape 20"/>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3" name="Text 21"/>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Open-ended generation buys any layout at ten times the tokens, no streaming paint, and a page that must run in a box.</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01.3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box: a CSP that denies all network, injected first in the document, behind allow-scripts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548640" y="1737360"/>
            <a:ext cx="7406640" cy="3502533"/>
          </a:xfrm>
          <a:prstGeom prst="roundRect">
            <a:avLst>
              <a:gd name="adj" fmla="val 2611"/>
            </a:avLst>
          </a:prstGeom>
          <a:solidFill>
            <a:srgbClr val="0F172A"/>
          </a:solidFill>
          <a:ln w="12700">
            <a:solidFill>
              <a:srgbClr val="0F172A"/>
            </a:solidFill>
            <a:prstDash val="solid"/>
          </a:ln>
        </p:spPr>
      </p:sp>
      <p:sp>
        <p:nvSpPr>
          <p:cNvPr id="6" name="Text 4"/>
          <p:cNvSpPr/>
          <p:nvPr/>
        </p:nvSpPr>
        <p:spPr>
          <a:xfrm>
            <a:off x="731520" y="1874520"/>
            <a:ext cx="7040880" cy="3228213"/>
          </a:xfrm>
          <a:prstGeom prst="rect">
            <a:avLst/>
          </a:prstGeom>
          <a:noFill/>
          <a:ln/>
        </p:spPr>
        <p:txBody>
          <a:bodyPr wrap="square" lIns="0" tIns="0" rIns="0" bIns="0" rtlCol="0" anchor="t"/>
          <a:lstStyle/>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export const CSP = "default-src 'none'; style-src 'unsafe-inline'; script-src 'unsafe-inline'; img-src data:";</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const META = `&lt;meta http-equiv="Content-Security-Policy" content="${CSP}"&gt;`;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function sandboxed(html)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Put the CSP meta tag first in &lt;head&gt;, or first in the document if there is no &lt;head&gt;.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head = /&lt;head[^&gt;]*&gt;/i.exec(html);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(head) return html.slice(0, head.index + head[0].length) + META + html.slice(head.index + head[0].length);</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META + html;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function mount(iframe, html)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iframe.setAttribute("sandbox", "allow-scripts");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iframe.srcdoc = sandboxed(html);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548640" y="5285613"/>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01_foundations/step_03_open_ended_html/page/sandbox.mjs</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default-src 'none'</a:t>
            </a:r>
            <a:pPr indent="0" marL="0">
              <a:buNone/>
            </a:pPr>
            <a:r>
              <a:rPr lang="en-US" sz="1200" dirty="0">
                <a:solidFill>
                  <a:srgbClr val="1F2937"/>
                </a:solidFill>
                <a:latin typeface="Calibri" pitchFamily="34" charset="0"/>
                <a:ea typeface="Calibri" pitchFamily="34" charset="-122"/>
                <a:cs typeface="Calibri" pitchFamily="34" charset="-120"/>
              </a:rPr>
              <a:t>: no fetch, no image, no font, no script from anywhere. Inline style and script are allowed because that is what the model writes.</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meta tag goes </a:t>
            </a:r>
            <a:pPr indent="0" marL="0">
              <a:buNone/>
            </a:pPr>
            <a:r>
              <a:rPr lang="en-US" sz="1200" b="1" dirty="0">
                <a:solidFill>
                  <a:srgbClr val="141B3D"/>
                </a:solidFill>
                <a:latin typeface="Calibri" pitchFamily="34" charset="0"/>
                <a:ea typeface="Calibri" pitchFamily="34" charset="-122"/>
                <a:cs typeface="Calibri" pitchFamily="34" charset="-120"/>
              </a:rPr>
              <a:t>first in `&lt;head&gt;`</a:t>
            </a:r>
            <a:pPr indent="0" marL="0">
              <a:buNone/>
            </a:pPr>
            <a:r>
              <a:rPr lang="en-US" sz="1200" dirty="0">
                <a:solidFill>
                  <a:srgbClr val="1F2937"/>
                </a:solidFill>
                <a:latin typeface="Calibri" pitchFamily="34" charset="0"/>
                <a:ea typeface="Calibri" pitchFamily="34" charset="-122"/>
                <a:cs typeface="Calibri" pitchFamily="34" charset="-120"/>
              </a:rPr>
              <a:t>, or first in the document, so it applies to every inline block after it.</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allow-scripts</a:t>
            </a:r>
            <a:pPr indent="0" marL="0">
              <a:buNone/>
            </a:pPr>
            <a:r>
              <a:rPr lang="en-US" sz="1200" dirty="0">
                <a:solidFill>
                  <a:srgbClr val="1F2937"/>
                </a:solidFill>
                <a:latin typeface="Calibri" pitchFamily="34" charset="0"/>
                <a:ea typeface="Calibri" pitchFamily="34" charset="-122"/>
                <a:cs typeface="Calibri" pitchFamily="34" charset="-120"/>
              </a:rPr>
              <a:t> </a:t>
            </a:r>
            <a:pPr indent="0" marL="0">
              <a:buNone/>
            </a:pPr>
            <a:r>
              <a:rPr lang="en-US" sz="1200" b="1" dirty="0">
                <a:solidFill>
                  <a:srgbClr val="141B3D"/>
                </a:solidFill>
                <a:latin typeface="Calibri" pitchFamily="34" charset="0"/>
                <a:ea typeface="Calibri" pitchFamily="34" charset="-122"/>
                <a:cs typeface="Calibri" pitchFamily="34" charset="-120"/>
              </a:rPr>
              <a:t>without</a:t>
            </a:r>
            <a:pPr indent="0" marL="0">
              <a:buNone/>
            </a:pPr>
            <a:r>
              <a:rPr lang="en-US" sz="1200" dirty="0">
                <a:solidFill>
                  <a:srgbClr val="1F2937"/>
                </a:solidFill>
                <a:latin typeface="Calibri" pitchFamily="34" charset="0"/>
                <a:ea typeface="Calibri" pitchFamily="34" charset="-122"/>
                <a:cs typeface="Calibri" pitchFamily="34" charset="-120"/>
              </a:rPr>
              <a:t> </a:t>
            </a:r>
            <a:pPr indent="0" marL="0">
              <a:buNone/>
            </a:pPr>
            <a:r>
              <a:rPr lang="en-US" sz="1200" dirty="0">
                <a:solidFill>
                  <a:srgbClr val="BE123C"/>
                </a:solidFill>
                <a:latin typeface="Courier New" pitchFamily="34" charset="0"/>
                <a:ea typeface="Courier New" pitchFamily="34" charset="-122"/>
                <a:cs typeface="Courier New" pitchFamily="34" charset="-120"/>
              </a:rPr>
              <a:t>allow-same-origin</a:t>
            </a:r>
            <a:pPr indent="0" marL="0">
              <a:buNone/>
            </a:pPr>
            <a:r>
              <a:rPr lang="en-US" sz="1200" dirty="0">
                <a:solidFill>
                  <a:srgbClr val="1F2937"/>
                </a:solidFill>
                <a:latin typeface="Calibri" pitchFamily="34" charset="0"/>
                <a:ea typeface="Calibri" pitchFamily="34" charset="-122"/>
                <a:cs typeface="Calibri" pitchFamily="34" charset="-120"/>
              </a:rPr>
              <a:t>. With both, the document would share the host's origin and could read its cookies and DOM.</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isEvent</a:t>
            </a:r>
            <a:pPr indent="0" marL="0">
              <a:buNone/>
            </a:pPr>
            <a:r>
              <a:rPr lang="en-US" sz="1250" dirty="0">
                <a:solidFill>
                  <a:srgbClr val="4B5563"/>
                </a:solidFill>
                <a:latin typeface="Calibri" pitchFamily="34" charset="0"/>
                <a:ea typeface="Calibri" pitchFamily="34" charset="-122"/>
                <a:cs typeface="Calibri" pitchFamily="34" charset="-120"/>
              </a:rPr>
              <a:t>, further down the same file, is the one shape the host accepts: </a:t>
            </a:r>
            <a:pPr indent="0" marL="0">
              <a:buNone/>
            </a:pPr>
            <a:r>
              <a:rPr lang="en-US" sz="1250" dirty="0">
                <a:solidFill>
                  <a:srgbClr val="BE123C"/>
                </a:solidFill>
                <a:latin typeface="Courier New" pitchFamily="34" charset="0"/>
                <a:ea typeface="Courier New" pitchFamily="34" charset="-122"/>
                <a:cs typeface="Courier New" pitchFamily="34" charset="-120"/>
              </a:rPr>
              <a:t>{type: "event", name, payload?}</a:t>
            </a:r>
            <a:pPr indent="0" marL="0">
              <a:buNone/>
            </a:pPr>
            <a:r>
              <a:rPr lang="en-US" sz="1250" dirty="0">
                <a:solidFill>
                  <a:srgbClr val="4B5563"/>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The bridge back: only the mounted window, only the one shape</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548640" y="1417320"/>
            <a:ext cx="7406640" cy="1387602"/>
          </a:xfrm>
          <a:prstGeom prst="roundRect">
            <a:avLst>
              <a:gd name="adj" fmla="val 6590"/>
            </a:avLst>
          </a:prstGeom>
          <a:solidFill>
            <a:srgbClr val="0F172A"/>
          </a:solidFill>
          <a:ln w="12700">
            <a:solidFill>
              <a:srgbClr val="0F172A"/>
            </a:solidFill>
            <a:prstDash val="solid"/>
          </a:ln>
        </p:spPr>
      </p:sp>
      <p:sp>
        <p:nvSpPr>
          <p:cNvPr id="6" name="Text 4"/>
          <p:cNvSpPr/>
          <p:nvPr/>
        </p:nvSpPr>
        <p:spPr>
          <a:xfrm>
            <a:off x="731520" y="1554480"/>
            <a:ext cx="7040880" cy="1113282"/>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window.addEventListener("message", (event) =&gt;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Only the mounted iframe, and only the one shape the host accepts.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(event.source !== frame.contentWindow || !isEvent(event.data)) return;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inbox.push(event.data);</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inboxPanel.textContent += JSON.stringify(event.data) + "\n";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548640" y="2850642"/>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01_foundations/step_03_open_ended_html/page/app.js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2103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Two checks before the host believes anything: the </a:t>
            </a:r>
            <a:pPr indent="0" marL="0">
              <a:buNone/>
            </a:pPr>
            <a:r>
              <a:rPr lang="en-US" sz="1200" b="1" dirty="0">
                <a:solidFill>
                  <a:srgbClr val="141B3D"/>
                </a:solidFill>
                <a:latin typeface="Calibri" pitchFamily="34" charset="0"/>
                <a:ea typeface="Calibri" pitchFamily="34" charset="-122"/>
                <a:cs typeface="Calibri" pitchFamily="34" charset="-120"/>
              </a:rPr>
              <a:t>source</a:t>
            </a:r>
            <a:pPr indent="0" marL="0">
              <a:buNone/>
            </a:pPr>
            <a:r>
              <a:rPr lang="en-US" sz="1200" dirty="0">
                <a:solidFill>
                  <a:srgbClr val="1F2937"/>
                </a:solidFill>
                <a:latin typeface="Calibri" pitchFamily="34" charset="0"/>
                <a:ea typeface="Calibri" pitchFamily="34" charset="-122"/>
                <a:cs typeface="Calibri" pitchFamily="34" charset="-120"/>
              </a:rPr>
              <a:t> must be the iframe the page mounted, and the data must pass </a:t>
            </a:r>
            <a:pPr indent="0" marL="0">
              <a:buNone/>
            </a:pPr>
            <a:r>
              <a:rPr lang="en-US" sz="1200" dirty="0">
                <a:solidFill>
                  <a:srgbClr val="BE123C"/>
                </a:solidFill>
                <a:latin typeface="Courier New" pitchFamily="34" charset="0"/>
                <a:ea typeface="Courier New" pitchFamily="34" charset="-122"/>
                <a:cs typeface="Courier New" pitchFamily="34" charset="-120"/>
              </a:rPr>
              <a:t>isEvent</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8183880" y="365760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6576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621024"/>
            <a:ext cx="3063240" cy="2103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 accepted event lands in the inbox panel. Step 01.4 turns it into the next model turn.</a:t>
            </a:r>
            <a:endParaRPr lang="en-US" sz="1200" dirty="0"/>
          </a:p>
        </p:txBody>
      </p:sp>
      <p:sp>
        <p:nvSpPr>
          <p:cNvPr id="14" name="Text 12"/>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A sandboxed iframe has an opaque origin, so </a:t>
            </a:r>
            <a:pPr indent="0" marL="0">
              <a:buNone/>
            </a:pPr>
            <a:r>
              <a:rPr lang="en-US" sz="1250" dirty="0">
                <a:solidFill>
                  <a:srgbClr val="BE123C"/>
                </a:solidFill>
                <a:latin typeface="Courier New" pitchFamily="34" charset="0"/>
                <a:ea typeface="Courier New" pitchFamily="34" charset="-122"/>
                <a:cs typeface="Courier New" pitchFamily="34" charset="-120"/>
              </a:rPr>
              <a:t>event.origin</a:t>
            </a:r>
            <a:pPr indent="0" marL="0">
              <a:buNone/>
            </a:pPr>
            <a:r>
              <a:rPr lang="en-US" sz="1250" dirty="0">
                <a:solidFill>
                  <a:srgbClr val="4B5563"/>
                </a:solidFill>
                <a:latin typeface="Calibri" pitchFamily="34" charset="0"/>
                <a:ea typeface="Calibri" pitchFamily="34" charset="-122"/>
                <a:cs typeface="Calibri" pitchFamily="34" charset="-120"/>
              </a:rPr>
              <a:t> is the string </a:t>
            </a:r>
            <a:pPr indent="0" marL="0">
              <a:buNone/>
            </a:pPr>
            <a:r>
              <a:rPr lang="en-US" sz="1250" dirty="0">
                <a:solidFill>
                  <a:srgbClr val="BE123C"/>
                </a:solidFill>
                <a:latin typeface="Courier New" pitchFamily="34" charset="0"/>
                <a:ea typeface="Courier New" pitchFamily="34" charset="-122"/>
                <a:cs typeface="Courier New" pitchFamily="34" charset="-120"/>
              </a:rPr>
              <a:t>"null"</a:t>
            </a:r>
            <a:pPr indent="0" marL="0">
              <a:buNone/>
            </a:pPr>
            <a:r>
              <a:rPr lang="en-US" sz="1250" dirty="0">
                <a:solidFill>
                  <a:srgbClr val="4B5563"/>
                </a:solidFill>
                <a:latin typeface="Calibri" pitchFamily="34" charset="0"/>
                <a:ea typeface="Calibri" pitchFamily="34" charset="-122"/>
                <a:cs typeface="Calibri" pitchFamily="34" charset="-120"/>
              </a:rPr>
              <a:t> and cannot be checked; the source comparison does that job.</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01.3 · QUICK DEMO · MEASURED</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same dashboard: 196 tokens as tool calls, 328 as a flat map, 3013 as HTML</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22</a:t>
            </a:r>
            <a:endParaRPr lang="en-US" sz="1000" dirty="0"/>
          </a:p>
        </p:txBody>
      </p:sp>
      <p:graphicFrame>
        <p:nvGraphicFramePr>
          <p:cNvPr id="5" name="Chart 0" descr=""/>
          <p:cNvGraphicFramePr/>
          <p:nvPr/>
        </p:nvGraphicFramePr>
        <p:xfrm>
          <a:off x="548640" y="141732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72400" y="1508760"/>
            <a:ext cx="3840480" cy="4251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Same prompt, same model, three modes in one page. The HTML document is </a:t>
            </a:r>
            <a:pPr indent="0" marL="0">
              <a:buNone/>
            </a:pPr>
            <a:r>
              <a:rPr lang="en-US" sz="1250" b="1" dirty="0">
                <a:solidFill>
                  <a:srgbClr val="141B3D"/>
                </a:solidFill>
                <a:latin typeface="Calibri" pitchFamily="34" charset="0"/>
                <a:ea typeface="Calibri" pitchFamily="34" charset="-122"/>
                <a:cs typeface="Calibri" pitchFamily="34" charset="-120"/>
              </a:rPr>
              <a:t>9.2x</a:t>
            </a:r>
            <a:pPr indent="0" marL="0">
              <a:buNone/>
            </a:pPr>
            <a:r>
              <a:rPr lang="en-US" sz="1250" dirty="0">
                <a:solidFill>
                  <a:srgbClr val="1F2937"/>
                </a:solidFill>
                <a:latin typeface="Calibri" pitchFamily="34" charset="0"/>
                <a:ea typeface="Calibri" pitchFamily="34" charset="-122"/>
                <a:cs typeface="Calibri" pitchFamily="34" charset="-120"/>
              </a:rPr>
              <a:t> the flat map.</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Time to the last byte: static 4.7s, flat 4.0s, HTML 32.5s.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Two earlier runs gave 9.8x and 10.4x. The report's range is five to ten.</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HTML was 8718 characters and 208 tags with one button.</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HTML mode has no partial paint: a half-written document cannot be mounted, so the user waits for all of it.</a:t>
            </a:r>
            <a:endParaRPr lang="en-US" sz="1250" dirty="0"/>
          </a:p>
        </p:txBody>
      </p:sp>
      <p:sp>
        <p:nvSpPr>
          <p:cNvPr id="7" name="Text 4"/>
          <p:cNvSpPr/>
          <p:nvPr/>
        </p:nvSpPr>
        <p:spPr>
          <a:xfrm>
            <a:off x="548640" y="5943600"/>
            <a:ext cx="11064240" cy="457200"/>
          </a:xfrm>
          <a:prstGeom prst="rect">
            <a:avLst/>
          </a:prstGeom>
          <a:noFill/>
          <a:ln/>
        </p:spPr>
        <p:txBody>
          <a:bodyPr wrap="square" lIns="0" tIns="0" rIns="0" bIns="0" rtlCol="0" anchor="ctr"/>
          <a:lstStyle/>
          <a:p>
            <a:pPr indent="0" marL="0">
              <a:buNone/>
            </a:pPr>
            <a:r>
              <a:rPr lang="en-US" sz="1200" dirty="0">
                <a:solidFill>
                  <a:srgbClr val="BE123C"/>
                </a:solidFill>
                <a:latin typeface="Courier New" pitchFamily="34" charset="0"/>
                <a:ea typeface="Courier New" pitchFamily="34" charset="-122"/>
                <a:cs typeface="Courier New" pitchFamily="34" charset="-120"/>
              </a:rPr>
              <a:t>tokens.py</a:t>
            </a:r>
            <a:pPr indent="0" marL="0">
              <a:buNone/>
            </a:pPr>
            <a:r>
              <a:rPr lang="en-US" sz="1200" dirty="0">
                <a:solidFill>
                  <a:srgbClr val="4B5563"/>
                </a:solidFill>
                <a:latin typeface="Calibri" pitchFamily="34" charset="0"/>
                <a:ea typeface="Calibri" pitchFamily="34" charset="-122"/>
                <a:cs typeface="Calibri" pitchFamily="34" charset="-120"/>
              </a:rPr>
              <a:t> counts what each mode made the model write; for the text modes the count matches the API's </a:t>
            </a:r>
            <a:pPr indent="0" marL="0">
              <a:buNone/>
            </a:pPr>
            <a:r>
              <a:rPr lang="en-US" sz="1200" dirty="0">
                <a:solidFill>
                  <a:srgbClr val="BE123C"/>
                </a:solidFill>
                <a:latin typeface="Courier New" pitchFamily="34" charset="0"/>
                <a:ea typeface="Courier New" pitchFamily="34" charset="-122"/>
                <a:cs typeface="Courier New" pitchFamily="34" charset="-120"/>
              </a:rPr>
              <a:t>completion_tokens</a:t>
            </a:r>
            <a:pPr indent="0" marL="0">
              <a:buNone/>
            </a:pPr>
            <a:r>
              <a:rPr lang="en-US" sz="1200" dirty="0">
                <a:solidFill>
                  <a:srgbClr val="4B5563"/>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01.3 · QUICK DEMO</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The model's own page in the sandbox: any layout, in yellow, 32 seconds later</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23</a:t>
            </a:r>
            <a:endParaRPr lang="en-US" sz="1000" dirty="0"/>
          </a:p>
        </p:txBody>
      </p:sp>
      <p:pic>
        <p:nvPicPr>
          <p:cNvPr id="5" name="Image 0" descr="C:\Users\evija\simple-coding-harness\genui\01_foundations\step_03_open_ended_html\demo.png">    </p:cNvPr>
          <p:cNvPicPr>
            <a:picLocks noChangeAspect="1"/>
          </p:cNvPicPr>
          <p:nvPr/>
        </p:nvPicPr>
        <p:blipFill>
          <a:blip r:embed="rId1"/>
          <a:srcRect l="0" r="0" t="0" b="0"/>
          <a:stretch/>
        </p:blipFill>
        <p:spPr>
          <a:xfrm>
            <a:off x="548640" y="1737360"/>
            <a:ext cx="5897880" cy="4480560"/>
          </a:xfrm>
          <a:prstGeom prst="rect">
            <a:avLst/>
          </a:prstGeom>
        </p:spPr>
      </p:pic>
      <p:sp>
        <p:nvSpPr>
          <p:cNvPr id="6" name="Shape 3"/>
          <p:cNvSpPr/>
          <p:nvPr/>
        </p:nvSpPr>
        <p:spPr>
          <a:xfrm>
            <a:off x="548640" y="1737360"/>
            <a:ext cx="5897880" cy="4480560"/>
          </a:xfrm>
          <a:prstGeom prst="rect">
            <a:avLst/>
          </a:prstGeom>
          <a:ln w="12700">
            <a:solidFill>
              <a:srgbClr val="D7DAE5"/>
            </a:solidFill>
            <a:prstDash val="solid"/>
          </a:ln>
        </p:spPr>
      </p:sp>
      <p:sp>
        <p:nvSpPr>
          <p:cNvPr id="7" name="Shape 4"/>
          <p:cNvSpPr/>
          <p:nvPr/>
        </p:nvSpPr>
        <p:spPr>
          <a:xfrm>
            <a:off x="6812280" y="1737360"/>
            <a:ext cx="482803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949440" y="1792224"/>
            <a:ext cx="455371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3013</a:t>
            </a:r>
            <a:endParaRPr lang="en-US" sz="2800" dirty="0"/>
          </a:p>
        </p:txBody>
      </p:sp>
      <p:sp>
        <p:nvSpPr>
          <p:cNvPr id="9" name="Text 6"/>
          <p:cNvSpPr/>
          <p:nvPr/>
        </p:nvSpPr>
        <p:spPr>
          <a:xfrm>
            <a:off x="6949440" y="2359152"/>
            <a:ext cx="45537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tokens for the HTML document, 9.2x the flat map</a:t>
            </a:r>
            <a:endParaRPr lang="en-US" sz="1050" dirty="0"/>
          </a:p>
        </p:txBody>
      </p:sp>
      <p:sp>
        <p:nvSpPr>
          <p:cNvPr id="10" name="Shape 7"/>
          <p:cNvSpPr/>
          <p:nvPr/>
        </p:nvSpPr>
        <p:spPr>
          <a:xfrm>
            <a:off x="6812280" y="3017520"/>
            <a:ext cx="482803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949440" y="3072384"/>
            <a:ext cx="455371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32.5s</a:t>
            </a:r>
            <a:endParaRPr lang="en-US" sz="2800" dirty="0"/>
          </a:p>
        </p:txBody>
      </p:sp>
      <p:sp>
        <p:nvSpPr>
          <p:cNvPr id="12" name="Text 9"/>
          <p:cNvSpPr/>
          <p:nvPr/>
        </p:nvSpPr>
        <p:spPr>
          <a:xfrm>
            <a:off x="6949440" y="3639312"/>
            <a:ext cx="45537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 the last byte; 8718 chars, 208 tags, 1 button</a:t>
            </a:r>
            <a:endParaRPr lang="en-US" sz="1050" dirty="0"/>
          </a:p>
        </p:txBody>
      </p:sp>
      <p:sp>
        <p:nvSpPr>
          <p:cNvPr id="13" name="Text 10"/>
          <p:cNvSpPr/>
          <p:nvPr/>
        </p:nvSpPr>
        <p:spPr>
          <a:xfrm>
            <a:off x="6812280" y="4343400"/>
            <a:ext cx="4828032" cy="155448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Four headline numbers, a table and a chart, none of them from the catalog: the model drew its own components and chose the colour.</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The page is mounted whole in the iframe; the raw document is in the panel below, starting with </a:t>
            </a:r>
            <a:pPr indent="0" marL="0">
              <a:buNone/>
            </a:pPr>
            <a:r>
              <a:rPr lang="en-US" sz="950" dirty="0">
                <a:solidFill>
                  <a:srgbClr val="BE123C"/>
                </a:solidFill>
                <a:latin typeface="Courier New" pitchFamily="34" charset="0"/>
                <a:ea typeface="Courier New" pitchFamily="34" charset="-122"/>
                <a:cs typeface="Courier New" pitchFamily="34" charset="-120"/>
              </a:rPr>
              <a:t>&lt;!doctype html&gt;</a:t>
            </a:r>
            <a:pPr indent="0" marL="0">
              <a:buNone/>
            </a:pPr>
            <a:r>
              <a:rPr lang="en-US" sz="1050" dirty="0">
                <a:solidFill>
                  <a:srgbClr val="1F2937"/>
                </a:solidFill>
                <a:latin typeface="Calibri" pitchFamily="34" charset="0"/>
                <a:ea typeface="Calibri" pitchFamily="34" charset="-122"/>
                <a:cs typeface="Calibri" pitchFamily="34" charset="-120"/>
              </a:rPr>
              <a:t>.</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The demo clicked the page's one button and the host received </a:t>
            </a:r>
            <a:pPr indent="0" marL="0">
              <a:buNone/>
            </a:pPr>
            <a:r>
              <a:rPr lang="en-US" sz="950" dirty="0">
                <a:solidFill>
                  <a:srgbClr val="BE123C"/>
                </a:solidFill>
                <a:latin typeface="Courier New" pitchFamily="34" charset="0"/>
                <a:ea typeface="Courier New" pitchFamily="34" charset="-122"/>
                <a:cs typeface="Courier New" pitchFamily="34" charset="-120"/>
              </a:rPr>
              <a:t>{type: "event", name: "refreshData", payload: ...}</a:t>
            </a:r>
            <a:pPr indent="0" marL="0">
              <a:buNone/>
            </a:pPr>
            <a:r>
              <a:rPr lang="en-US" sz="1050" dirty="0">
                <a:solidFill>
                  <a:srgbClr val="1F2937"/>
                </a:solidFill>
                <a:latin typeface="Calibri" pitchFamily="34" charset="0"/>
                <a:ea typeface="Calibri" pitchFamily="34" charset="-122"/>
                <a:cs typeface="Calibri" pitchFamily="34" charset="-120"/>
              </a:rPr>
              <a:t> through the bridge.</a:t>
            </a:r>
            <a:endParaRPr lang="en-US" sz="10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consistency cost is visible: this looks nothing like steps 01.1 and 01.2, and the next reply would look different again.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01.4 · LEVEL 4 OF 23 · HYBRID · YOUR OWN PRODUCT</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report's default: declarative by default, one sandboxed escape hatch, and a click that becomes the next turn</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24</a:t>
            </a:r>
            <a:endParaRPr lang="en-US" sz="1000" dirty="0"/>
          </a:p>
        </p:txBody>
      </p:sp>
      <p:sp>
        <p:nvSpPr>
          <p:cNvPr id="5" name="Text 3"/>
          <p:cNvSpPr/>
          <p:nvPr/>
        </p:nvSpPr>
        <p:spPr>
          <a:xfrm>
            <a:off x="548640" y="173736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The </a:t>
            </a:r>
            <a:pPr indent="0" marL="0">
              <a:buNone/>
            </a:pPr>
            <a:r>
              <a:rPr lang="en-US" sz="1600" b="1" dirty="0">
                <a:solidFill>
                  <a:srgbClr val="141B3D"/>
                </a:solidFill>
                <a:latin typeface="Calibri" pitchFamily="34" charset="0"/>
                <a:ea typeface="Calibri" pitchFamily="34" charset="-122"/>
                <a:cs typeface="Calibri" pitchFamily="34" charset="-120"/>
              </a:rPr>
              <a:t>hybrid</a:t>
            </a:r>
            <a:pPr indent="0" marL="0">
              <a:buNone/>
            </a:pPr>
            <a:r>
              <a:rPr lang="en-US" sz="1600" dirty="0">
                <a:solidFill>
                  <a:srgbClr val="141B3D"/>
                </a:solidFill>
                <a:latin typeface="Calibri" pitchFamily="34" charset="0"/>
                <a:ea typeface="Calibri" pitchFamily="34" charset="-122"/>
                <a:cs typeface="Calibri" pitchFamily="34" charset="-120"/>
              </a:rPr>
              <a:t> puts the step 01.3 container inside the step 01.2 catalog. </a:t>
            </a:r>
            <a:pPr indent="0" marL="0">
              <a:buNone/>
            </a:pPr>
            <a:r>
              <a:rPr lang="en-US" sz="1600" dirty="0">
                <a:solidFill>
                  <a:srgbClr val="BE123C"/>
                </a:solidFill>
                <a:latin typeface="Courier New" pitchFamily="34" charset="0"/>
                <a:ea typeface="Courier New" pitchFamily="34" charset="-122"/>
                <a:cs typeface="Courier New" pitchFamily="34" charset="-120"/>
              </a:rPr>
              <a:t>GeneratedView</a:t>
            </a:r>
            <a:pPr indent="0" marL="0">
              <a:buNone/>
            </a:pPr>
            <a:r>
              <a:rPr lang="en-US" sz="1600" dirty="0">
                <a:solidFill>
                  <a:srgbClr val="141B3D"/>
                </a:solidFill>
                <a:latin typeface="Calibri" pitchFamily="34" charset="0"/>
                <a:ea typeface="Calibri" pitchFamily="34" charset="-122"/>
                <a:cs typeface="Calibri" pitchFamily="34" charset="-120"/>
              </a:rPr>
              <a:t> is a component like any other, with one string prop; its renderer is the sandbox.</a:t>
            </a:r>
            <a:endParaRPr lang="en-US" sz="1600" dirty="0"/>
          </a:p>
        </p:txBody>
      </p:sp>
      <p:sp>
        <p:nvSpPr>
          <p:cNvPr id="6" name="Text 4"/>
          <p:cNvSpPr/>
          <p:nvPr/>
        </p:nvSpPr>
        <p:spPr>
          <a:xfrm>
            <a:off x="548640" y="2606040"/>
            <a:ext cx="5120640" cy="31546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catalog gains one entry plus two prompt rules: what the hatch is for, and how small to keep it.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Nothing in the server knows </a:t>
            </a:r>
            <a:pPr indent="0" marL="0">
              <a:buNone/>
            </a:pPr>
            <a:r>
              <a:rPr lang="en-US" sz="1050" dirty="0">
                <a:solidFill>
                  <a:srgbClr val="BE123C"/>
                </a:solidFill>
                <a:latin typeface="Courier New" pitchFamily="34" charset="0"/>
                <a:ea typeface="Courier New" pitchFamily="34" charset="-122"/>
                <a:cs typeface="Courier New" pitchFamily="34" charset="-120"/>
              </a:rPr>
              <a:t>GeneratedView</a:t>
            </a:r>
            <a:pPr indent="0" marL="0">
              <a:buNone/>
            </a:pPr>
            <a:r>
              <a:rPr lang="en-US" sz="1150" dirty="0">
                <a:solidFill>
                  <a:srgbClr val="1F2937"/>
                </a:solidFill>
                <a:latin typeface="Calibri" pitchFamily="34" charset="0"/>
                <a:ea typeface="Calibri" pitchFamily="34" charset="-122"/>
                <a:cs typeface="Calibri" pitchFamily="34" charset="-120"/>
              </a:rPr>
              <a:t> is special; it is a string prop that passes the schema. Only the renderer treats it differently.</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 </a:t>
            </a:r>
            <a:pPr indent="0" marL="0">
              <a:buNone/>
            </a:pPr>
            <a:r>
              <a:rPr lang="en-US" sz="1050" dirty="0">
                <a:solidFill>
                  <a:srgbClr val="BE123C"/>
                </a:solidFill>
                <a:latin typeface="Courier New" pitchFamily="34" charset="0"/>
                <a:ea typeface="Courier New" pitchFamily="34" charset="-122"/>
                <a:cs typeface="Courier New" pitchFamily="34" charset="-120"/>
              </a:rPr>
              <a:t>Button</a:t>
            </a:r>
            <a:pPr indent="0" marL="0">
              <a:buNone/>
            </a:pPr>
            <a:r>
              <a:rPr lang="en-US" sz="1150" dirty="0">
                <a:solidFill>
                  <a:srgbClr val="1F2937"/>
                </a:solidFill>
                <a:latin typeface="Calibri" pitchFamily="34" charset="0"/>
                <a:ea typeface="Calibri" pitchFamily="34" charset="-122"/>
                <a:cs typeface="Calibri" pitchFamily="34" charset="-120"/>
              </a:rPr>
              <a:t> carries an </a:t>
            </a:r>
            <a:pPr indent="0" marL="0">
              <a:buNone/>
            </a:pPr>
            <a:r>
              <a:rPr lang="en-US" sz="1050" dirty="0">
                <a:solidFill>
                  <a:srgbClr val="BE123C"/>
                </a:solidFill>
                <a:latin typeface="Courier New" pitchFamily="34" charset="0"/>
                <a:ea typeface="Courier New" pitchFamily="34" charset="-122"/>
                <a:cs typeface="Courier New" pitchFamily="34" charset="-120"/>
              </a:rPr>
              <a:t>action</a:t>
            </a:r>
            <a:pPr indent="0" marL="0">
              <a:buNone/>
            </a:pPr>
            <a:r>
              <a:rPr lang="en-US" sz="1150" dirty="0">
                <a:solidFill>
                  <a:srgbClr val="1F2937"/>
                </a:solidFill>
                <a:latin typeface="Calibri" pitchFamily="34" charset="0"/>
                <a:ea typeface="Calibri" pitchFamily="34" charset="-122"/>
                <a:cs typeface="Calibri" pitchFamily="34" charset="-120"/>
              </a:rPr>
              <a:t> name the model chose. The page does not know what it means; it posts it back.</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server keeps a session transcript. A click becomes a user message on it and the model answers with the next layout.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first turn and every later turn share one code path and one stream.</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catalog stays in charge; the sandbox is rented for one component.</a:t>
            </a:r>
            <a:endParaRPr lang="en-US" sz="1150" dirty="0"/>
          </a:p>
        </p:txBody>
      </p:sp>
      <p:sp>
        <p:nvSpPr>
          <p:cNvPr id="7" name="Shape 5"/>
          <p:cNvSpPr/>
          <p:nvPr/>
        </p:nvSpPr>
        <p:spPr>
          <a:xfrm>
            <a:off x="6035040" y="1920240"/>
            <a:ext cx="5577840" cy="3383280"/>
          </a:xfrm>
          <a:prstGeom prst="roundRect">
            <a:avLst>
              <a:gd name="adj" fmla="val 3243"/>
            </a:avLst>
          </a:prstGeom>
          <a:solidFill>
            <a:srgbClr val="FFFFFF"/>
          </a:solidFill>
          <a:ln w="15875">
            <a:solidFill>
              <a:srgbClr val="D7DAE5"/>
            </a:solidFill>
            <a:prstDash val="solid"/>
          </a:ln>
        </p:spPr>
      </p:sp>
      <p:sp>
        <p:nvSpPr>
          <p:cNvPr id="8" name="Shape 6"/>
          <p:cNvSpPr/>
          <p:nvPr/>
        </p:nvSpPr>
        <p:spPr>
          <a:xfrm>
            <a:off x="6217920" y="2057400"/>
            <a:ext cx="109728" cy="109728"/>
          </a:xfrm>
          <a:prstGeom prst="ellipse">
            <a:avLst/>
          </a:prstGeom>
          <a:solidFill>
            <a:srgbClr val="2F3CFF"/>
          </a:solidFill>
          <a:ln w="12700">
            <a:solidFill>
              <a:srgbClr val="2F3CFF"/>
            </a:solidFill>
            <a:prstDash val="solid"/>
          </a:ln>
        </p:spPr>
      </p:sp>
      <p:sp>
        <p:nvSpPr>
          <p:cNvPr id="9" name="Shape 7"/>
          <p:cNvSpPr/>
          <p:nvPr/>
        </p:nvSpPr>
        <p:spPr>
          <a:xfrm>
            <a:off x="6419088" y="2057400"/>
            <a:ext cx="109728" cy="109728"/>
          </a:xfrm>
          <a:prstGeom prst="ellipse">
            <a:avLst/>
          </a:prstGeom>
          <a:solidFill>
            <a:srgbClr val="2F3CFF"/>
          </a:solidFill>
          <a:ln w="12700">
            <a:solidFill>
              <a:srgbClr val="2F3CFF"/>
            </a:solidFill>
            <a:prstDash val="solid"/>
          </a:ln>
        </p:spPr>
      </p:sp>
      <p:sp>
        <p:nvSpPr>
          <p:cNvPr id="10" name="Shape 8"/>
          <p:cNvSpPr/>
          <p:nvPr/>
        </p:nvSpPr>
        <p:spPr>
          <a:xfrm>
            <a:off x="6620256" y="2057400"/>
            <a:ext cx="109728" cy="109728"/>
          </a:xfrm>
          <a:prstGeom prst="ellipse">
            <a:avLst/>
          </a:prstGeom>
          <a:solidFill>
            <a:srgbClr val="2F3CFF"/>
          </a:solidFill>
          <a:ln w="12700">
            <a:solidFill>
              <a:srgbClr val="2F3CFF"/>
            </a:solidFill>
            <a:prstDash val="solid"/>
          </a:ln>
        </p:spPr>
      </p:sp>
      <p:sp>
        <p:nvSpPr>
          <p:cNvPr id="11" name="Shape 9"/>
          <p:cNvSpPr/>
          <p:nvPr/>
        </p:nvSpPr>
        <p:spPr>
          <a:xfrm>
            <a:off x="6217920" y="2331720"/>
            <a:ext cx="2414016" cy="576072"/>
          </a:xfrm>
          <a:prstGeom prst="roundRect">
            <a:avLst>
              <a:gd name="adj" fmla="val 15873"/>
            </a:avLst>
          </a:prstGeom>
          <a:solidFill>
            <a:srgbClr val="EEF0FF"/>
          </a:solidFill>
          <a:ln w="15875">
            <a:solidFill>
              <a:srgbClr val="2F3CFF"/>
            </a:solidFill>
            <a:prstDash val="solid"/>
          </a:ln>
        </p:spPr>
      </p:sp>
      <p:sp>
        <p:nvSpPr>
          <p:cNvPr id="12" name="Text 10"/>
          <p:cNvSpPr/>
          <p:nvPr/>
        </p:nvSpPr>
        <p:spPr>
          <a:xfrm>
            <a:off x="6291072" y="2368296"/>
            <a:ext cx="2267712" cy="29855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Card</a:t>
            </a:r>
            <a:endParaRPr lang="en-US" sz="1200" dirty="0"/>
          </a:p>
        </p:txBody>
      </p:sp>
      <p:sp>
        <p:nvSpPr>
          <p:cNvPr id="13" name="Text 11"/>
          <p:cNvSpPr/>
          <p:nvPr/>
        </p:nvSpPr>
        <p:spPr>
          <a:xfrm>
            <a:off x="6291072" y="2666848"/>
            <a:ext cx="2267712" cy="204368"/>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4" name="Shape 12"/>
          <p:cNvSpPr/>
          <p:nvPr/>
        </p:nvSpPr>
        <p:spPr>
          <a:xfrm>
            <a:off x="6217920" y="3017520"/>
            <a:ext cx="2414016" cy="576072"/>
          </a:xfrm>
          <a:prstGeom prst="roundRect">
            <a:avLst>
              <a:gd name="adj" fmla="val 15873"/>
            </a:avLst>
          </a:prstGeom>
          <a:solidFill>
            <a:srgbClr val="EEF0FF"/>
          </a:solidFill>
          <a:ln w="15875">
            <a:solidFill>
              <a:srgbClr val="2F3CFF"/>
            </a:solidFill>
            <a:prstDash val="solid"/>
          </a:ln>
        </p:spPr>
      </p:sp>
      <p:sp>
        <p:nvSpPr>
          <p:cNvPr id="15" name="Text 13"/>
          <p:cNvSpPr/>
          <p:nvPr/>
        </p:nvSpPr>
        <p:spPr>
          <a:xfrm>
            <a:off x="6291072" y="3054096"/>
            <a:ext cx="2267712" cy="29855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Metric</a:t>
            </a:r>
            <a:endParaRPr lang="en-US" sz="1200" dirty="0"/>
          </a:p>
        </p:txBody>
      </p:sp>
      <p:sp>
        <p:nvSpPr>
          <p:cNvPr id="16" name="Text 14"/>
          <p:cNvSpPr/>
          <p:nvPr/>
        </p:nvSpPr>
        <p:spPr>
          <a:xfrm>
            <a:off x="6291072" y="3352648"/>
            <a:ext cx="2267712" cy="204368"/>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7" name="Shape 15"/>
          <p:cNvSpPr/>
          <p:nvPr/>
        </p:nvSpPr>
        <p:spPr>
          <a:xfrm>
            <a:off x="6217920" y="3703320"/>
            <a:ext cx="2414016" cy="576072"/>
          </a:xfrm>
          <a:prstGeom prst="roundRect">
            <a:avLst>
              <a:gd name="adj" fmla="val 15873"/>
            </a:avLst>
          </a:prstGeom>
          <a:solidFill>
            <a:srgbClr val="EEF0FF"/>
          </a:solidFill>
          <a:ln w="15875">
            <a:solidFill>
              <a:srgbClr val="2F3CFF"/>
            </a:solidFill>
            <a:prstDash val="solid"/>
          </a:ln>
        </p:spPr>
      </p:sp>
      <p:sp>
        <p:nvSpPr>
          <p:cNvPr id="18" name="Text 16"/>
          <p:cNvSpPr/>
          <p:nvPr/>
        </p:nvSpPr>
        <p:spPr>
          <a:xfrm>
            <a:off x="6291072" y="3739896"/>
            <a:ext cx="2267712" cy="29855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Table</a:t>
            </a:r>
            <a:endParaRPr lang="en-US" sz="1200" dirty="0"/>
          </a:p>
        </p:txBody>
      </p:sp>
      <p:sp>
        <p:nvSpPr>
          <p:cNvPr id="19" name="Text 17"/>
          <p:cNvSpPr/>
          <p:nvPr/>
        </p:nvSpPr>
        <p:spPr>
          <a:xfrm>
            <a:off x="6291072" y="4038448"/>
            <a:ext cx="2267712" cy="204368"/>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0" name="Shape 18"/>
          <p:cNvSpPr/>
          <p:nvPr/>
        </p:nvSpPr>
        <p:spPr>
          <a:xfrm>
            <a:off x="6217920" y="4389120"/>
            <a:ext cx="2414016" cy="576072"/>
          </a:xfrm>
          <a:prstGeom prst="roundRect">
            <a:avLst>
              <a:gd name="adj" fmla="val 15873"/>
            </a:avLst>
          </a:prstGeom>
          <a:solidFill>
            <a:srgbClr val="EEF0FF"/>
          </a:solidFill>
          <a:ln w="15875">
            <a:solidFill>
              <a:srgbClr val="2F3CFF"/>
            </a:solidFill>
            <a:prstDash val="solid"/>
          </a:ln>
        </p:spPr>
      </p:sp>
      <p:sp>
        <p:nvSpPr>
          <p:cNvPr id="21" name="Text 19"/>
          <p:cNvSpPr/>
          <p:nvPr/>
        </p:nvSpPr>
        <p:spPr>
          <a:xfrm>
            <a:off x="6291072" y="4425696"/>
            <a:ext cx="2267712" cy="29855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Chart</a:t>
            </a:r>
            <a:endParaRPr lang="en-US" sz="1200" dirty="0"/>
          </a:p>
        </p:txBody>
      </p:sp>
      <p:sp>
        <p:nvSpPr>
          <p:cNvPr id="22" name="Text 20"/>
          <p:cNvSpPr/>
          <p:nvPr/>
        </p:nvSpPr>
        <p:spPr>
          <a:xfrm>
            <a:off x="6291072" y="4724248"/>
            <a:ext cx="2267712" cy="204368"/>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3" name="Shape 21"/>
          <p:cNvSpPr/>
          <p:nvPr/>
        </p:nvSpPr>
        <p:spPr>
          <a:xfrm>
            <a:off x="8814816" y="2331720"/>
            <a:ext cx="2615184" cy="2788920"/>
          </a:xfrm>
          <a:prstGeom prst="roundRect">
            <a:avLst>
              <a:gd name="adj" fmla="val 3497"/>
            </a:avLst>
          </a:prstGeom>
          <a:solidFill>
            <a:srgbClr val="FFF4E5"/>
          </a:solidFill>
          <a:ln w="15875">
            <a:solidFill>
              <a:srgbClr val="D97706"/>
            </a:solidFill>
            <a:prstDash val="dash"/>
          </a:ln>
        </p:spPr>
      </p:sp>
      <p:sp>
        <p:nvSpPr>
          <p:cNvPr id="24" name="Text 22"/>
          <p:cNvSpPr/>
          <p:nvPr/>
        </p:nvSpPr>
        <p:spPr>
          <a:xfrm>
            <a:off x="8887968" y="2368296"/>
            <a:ext cx="2468880" cy="137617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GeneratedView</a:t>
            </a:r>
            <a:endParaRPr lang="en-US" sz="1300" dirty="0"/>
          </a:p>
        </p:txBody>
      </p:sp>
      <p:sp>
        <p:nvSpPr>
          <p:cNvPr id="25" name="Text 23"/>
          <p:cNvSpPr/>
          <p:nvPr/>
        </p:nvSpPr>
        <p:spPr>
          <a:xfrm>
            <a:off x="8887968" y="3744468"/>
            <a:ext cx="2468880" cy="133959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the step 01.3 sandbox as a component: a 481-character gauge, not a 9000-character page</a:t>
            </a:r>
            <a:endParaRPr lang="en-US" sz="1050" dirty="0"/>
          </a:p>
        </p:txBody>
      </p:sp>
      <p:sp>
        <p:nvSpPr>
          <p:cNvPr id="26" name="Text 24"/>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Catalog primitives everywhere; the dashed box only where the catalog does not reach.</a:t>
            </a:r>
            <a:endParaRPr lang="en-US" sz="1050" dirty="0"/>
          </a:p>
        </p:txBody>
      </p:sp>
      <p:sp>
        <p:nvSpPr>
          <p:cNvPr id="27" name="Shape 25"/>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8" name="Text 26"/>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The hybrid keeps the catalog in charge, rents the sandbox for one component, and makes a click the next user message.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01.4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escape hatch is a renderer: the step 01.3 sandbox, as an entry in the table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25</a:t>
            </a:r>
            <a:endParaRPr lang="en-US" sz="1000" dirty="0"/>
          </a:p>
        </p:txBody>
      </p:sp>
      <p:sp>
        <p:nvSpPr>
          <p:cNvPr id="5" name="Shape 3"/>
          <p:cNvSpPr/>
          <p:nvPr/>
        </p:nvSpPr>
        <p:spPr>
          <a:xfrm>
            <a:off x="548640" y="1417320"/>
            <a:ext cx="7406640" cy="2038350"/>
          </a:xfrm>
          <a:prstGeom prst="roundRect">
            <a:avLst>
              <a:gd name="adj" fmla="val 4486"/>
            </a:avLst>
          </a:prstGeom>
          <a:solidFill>
            <a:srgbClr val="0F172A"/>
          </a:solidFill>
          <a:ln w="12700">
            <a:solidFill>
              <a:srgbClr val="0F172A"/>
            </a:solidFill>
            <a:prstDash val="solid"/>
          </a:ln>
        </p:spPr>
      </p:sp>
      <p:sp>
        <p:nvSpPr>
          <p:cNvPr id="6" name="Text 4"/>
          <p:cNvSpPr/>
          <p:nvPr/>
        </p:nvSpPr>
        <p:spPr>
          <a:xfrm>
            <a:off x="731520" y="1554480"/>
            <a:ext cx="7040880" cy="1764030"/>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function GeneratedView({ html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The escape hatch: model-written HTML in the step 03 sandbox. The document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goes through esc() because it is an attribute value here; the browser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unescapes it when it reads srcdoc.</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`&lt;iframe class="card generated" sandbox="allow-scripts" srcdoc="${esc(sandboxed(String(html ?? "")))}"&gt;&lt;/iframe&gt;`;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export const RENDERERS = { Card, Row, Column, Text, Metric, Table, Chart, Button, GeneratedView };</a:t>
            </a:r>
            <a:endParaRPr lang="en-US" sz="1050" dirty="0"/>
          </a:p>
        </p:txBody>
      </p:sp>
      <p:sp>
        <p:nvSpPr>
          <p:cNvPr id="7" name="Text 5"/>
          <p:cNvSpPr/>
          <p:nvPr/>
        </p:nvSpPr>
        <p:spPr>
          <a:xfrm>
            <a:off x="548640" y="3501390"/>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01_foundations/step_04_hybrid_escape_hatch/page/render.mjs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2103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Same box as step 01.3: </a:t>
            </a:r>
            <a:pPr indent="0" marL="0">
              <a:buNone/>
            </a:pPr>
            <a:r>
              <a:rPr lang="en-US" sz="1200" dirty="0">
                <a:solidFill>
                  <a:srgbClr val="BE123C"/>
                </a:solidFill>
                <a:latin typeface="Courier New" pitchFamily="34" charset="0"/>
                <a:ea typeface="Courier New" pitchFamily="34" charset="-122"/>
                <a:cs typeface="Courier New" pitchFamily="34" charset="-120"/>
              </a:rPr>
              <a:t>sandbox="allow-scripts"</a:t>
            </a:r>
            <a:pPr indent="0" marL="0">
              <a:buNone/>
            </a:pPr>
            <a:r>
              <a:rPr lang="en-US" sz="1200" dirty="0">
                <a:solidFill>
                  <a:srgbClr val="1F2937"/>
                </a:solidFill>
                <a:latin typeface="Calibri" pitchFamily="34" charset="0"/>
                <a:ea typeface="Calibri" pitchFamily="34" charset="-122"/>
                <a:cs typeface="Calibri" pitchFamily="34" charset="-120"/>
              </a:rPr>
              <a:t> and the CSP injected by </a:t>
            </a:r>
            <a:pPr indent="0" marL="0">
              <a:buNone/>
            </a:pPr>
            <a:r>
              <a:rPr lang="en-US" sz="1200" dirty="0">
                <a:solidFill>
                  <a:srgbClr val="BE123C"/>
                </a:solidFill>
                <a:latin typeface="Courier New" pitchFamily="34" charset="0"/>
                <a:ea typeface="Courier New" pitchFamily="34" charset="-122"/>
                <a:cs typeface="Courier New" pitchFamily="34" charset="-120"/>
              </a:rPr>
              <a:t>sandboxed</a:t>
            </a:r>
            <a:pPr indent="0" marL="0">
              <a:buNone/>
            </a:pPr>
            <a:r>
              <a:rPr lang="en-US" sz="1200" dirty="0">
                <a:solidFill>
                  <a:srgbClr val="1F2937"/>
                </a:solidFill>
                <a:latin typeface="Calibri" pitchFamily="34" charset="0"/>
                <a:ea typeface="Calibri" pitchFamily="34" charset="-122"/>
                <a:cs typeface="Calibri" pitchFamily="34" charset="-120"/>
              </a:rPr>
              <a:t>. The document is escaped because here it is an </a:t>
            </a:r>
            <a:pPr indent="0" marL="0">
              <a:buNone/>
            </a:pPr>
            <a:r>
              <a:rPr lang="en-US" sz="1200" b="1" dirty="0">
                <a:solidFill>
                  <a:srgbClr val="141B3D"/>
                </a:solidFill>
                <a:latin typeface="Calibri" pitchFamily="34" charset="0"/>
                <a:ea typeface="Calibri" pitchFamily="34" charset="-122"/>
                <a:cs typeface="Calibri" pitchFamily="34" charset="-120"/>
              </a:rPr>
              <a:t>attribute value</a:t>
            </a:r>
            <a:pPr indent="0" marL="0">
              <a:buNone/>
            </a:pPr>
            <a:r>
              <a:rPr lang="en-US" sz="1200" dirty="0">
                <a:solidFill>
                  <a:srgbClr val="1F2937"/>
                </a:solidFill>
                <a:latin typeface="Calibri" pitchFamily="34" charset="0"/>
                <a:ea typeface="Calibri" pitchFamily="34" charset="-122"/>
                <a:cs typeface="Calibri" pitchFamily="34" charset="-120"/>
              </a:rPr>
              <a:t>; the browser unescapes </a:t>
            </a:r>
            <a:pPr indent="0" marL="0">
              <a:buNone/>
            </a:pPr>
            <a:r>
              <a:rPr lang="en-US" sz="1200" dirty="0">
                <a:solidFill>
                  <a:srgbClr val="BE123C"/>
                </a:solidFill>
                <a:latin typeface="Courier New" pitchFamily="34" charset="0"/>
                <a:ea typeface="Courier New" pitchFamily="34" charset="-122"/>
                <a:cs typeface="Courier New" pitchFamily="34" charset="-120"/>
              </a:rPr>
              <a:t>srcdoc</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8183880" y="365760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6576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621024"/>
            <a:ext cx="3063240" cy="210312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GeneratedView</a:t>
            </a:r>
            <a:pPr indent="0" marL="0">
              <a:buNone/>
            </a:pPr>
            <a:r>
              <a:rPr lang="en-US" sz="1200" dirty="0">
                <a:solidFill>
                  <a:srgbClr val="1F2937"/>
                </a:solidFill>
                <a:latin typeface="Calibri" pitchFamily="34" charset="0"/>
                <a:ea typeface="Calibri" pitchFamily="34" charset="-122"/>
                <a:cs typeface="Calibri" pitchFamily="34" charset="-120"/>
              </a:rPr>
              <a:t> is one more name in </a:t>
            </a:r>
            <a:pPr indent="0" marL="0">
              <a:buNone/>
            </a:pPr>
            <a:r>
              <a:rPr lang="en-US" sz="1200" b="1" dirty="0">
                <a:solidFill>
                  <a:srgbClr val="141B3D"/>
                </a:solidFill>
                <a:latin typeface="Calibri" pitchFamily="34" charset="0"/>
                <a:ea typeface="Calibri" pitchFamily="34" charset="-122"/>
                <a:cs typeface="Calibri" pitchFamily="34" charset="-120"/>
              </a:rPr>
              <a:t>RENDERERS</a:t>
            </a:r>
            <a:pPr indent="0" marL="0">
              <a:buNone/>
            </a:pPr>
            <a:r>
              <a:rPr lang="en-US" sz="1200" dirty="0">
                <a:solidFill>
                  <a:srgbClr val="1F2937"/>
                </a:solidFill>
                <a:latin typeface="Calibri" pitchFamily="34" charset="0"/>
                <a:ea typeface="Calibri" pitchFamily="34" charset="-122"/>
                <a:cs typeface="Calibri" pitchFamily="34" charset="-120"/>
              </a:rPr>
              <a:t>. The walker, the schema and the prompt pick it up from the catalog like any other.</a:t>
            </a:r>
            <a:endParaRPr lang="en-US" sz="1200" dirty="0"/>
          </a:p>
        </p:txBody>
      </p:sp>
      <p:sp>
        <p:nvSpPr>
          <p:cNvPr id="14" name="Text 12"/>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In </a:t>
            </a:r>
            <a:pPr indent="0" marL="0">
              <a:buNone/>
            </a:pPr>
            <a:r>
              <a:rPr lang="en-US" sz="1250" dirty="0">
                <a:solidFill>
                  <a:srgbClr val="BE123C"/>
                </a:solidFill>
                <a:latin typeface="Courier New" pitchFamily="34" charset="0"/>
                <a:ea typeface="Courier New" pitchFamily="34" charset="-122"/>
                <a:cs typeface="Courier New" pitchFamily="34" charset="-120"/>
              </a:rPr>
              <a:t>catalog.py</a:t>
            </a:r>
            <a:pPr indent="0" marL="0">
              <a:buNone/>
            </a:pPr>
            <a:r>
              <a:rPr lang="en-US" sz="1250" dirty="0">
                <a:solidFill>
                  <a:srgbClr val="4B5563"/>
                </a:solidFill>
                <a:latin typeface="Calibri" pitchFamily="34" charset="0"/>
                <a:ea typeface="Calibri" pitchFamily="34" charset="-122"/>
                <a:cs typeface="Calibri" pitchFamily="34" charset="-120"/>
              </a:rPr>
              <a:t> the entry is one line, </a:t>
            </a:r>
            <a:pPr indent="0" marL="0">
              <a:buNone/>
            </a:pPr>
            <a:r>
              <a:rPr lang="en-US" sz="1250" dirty="0">
                <a:solidFill>
                  <a:srgbClr val="BE123C"/>
                </a:solidFill>
                <a:latin typeface="Courier New" pitchFamily="34" charset="0"/>
                <a:ea typeface="Courier New" pitchFamily="34" charset="-122"/>
                <a:cs typeface="Courier New" pitchFamily="34" charset="-120"/>
              </a:rPr>
              <a:t>"GeneratedView": ({"html": STRING}, False)</a:t>
            </a:r>
            <a:pPr indent="0" marL="0">
              <a:buNone/>
            </a:pPr>
            <a:r>
              <a:rPr lang="en-US" sz="1250" dirty="0">
                <a:solidFill>
                  <a:srgbClr val="4B5563"/>
                </a:solidFill>
                <a:latin typeface="Calibri" pitchFamily="34" charset="0"/>
                <a:ea typeface="Calibri" pitchFamily="34" charset="-122"/>
                <a:cs typeface="Calibri" pitchFamily="34" charset="-120"/>
              </a:rPr>
              <a:t>, plus two prompt rules that say what it is for and to keep it short.</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01.4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loop closes: the click becomes a user message, and the same generator streams the reply</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26</a:t>
            </a:r>
            <a:endParaRPr lang="en-US" sz="1000" dirty="0"/>
          </a:p>
        </p:txBody>
      </p:sp>
      <p:sp>
        <p:nvSpPr>
          <p:cNvPr id="5" name="Shape 3"/>
          <p:cNvSpPr/>
          <p:nvPr/>
        </p:nvSpPr>
        <p:spPr>
          <a:xfrm>
            <a:off x="548640" y="1737360"/>
            <a:ext cx="7406640" cy="2201037"/>
          </a:xfrm>
          <a:prstGeom prst="roundRect">
            <a:avLst>
              <a:gd name="adj" fmla="val 4154"/>
            </a:avLst>
          </a:prstGeom>
          <a:solidFill>
            <a:srgbClr val="0F172A"/>
          </a:solidFill>
          <a:ln w="12700">
            <a:solidFill>
              <a:srgbClr val="0F172A"/>
            </a:solidFill>
            <a:prstDash val="solid"/>
          </a:ln>
        </p:spPr>
      </p:sp>
      <p:sp>
        <p:nvSpPr>
          <p:cNvPr id="6" name="Text 4"/>
          <p:cNvSpPr/>
          <p:nvPr/>
        </p:nvSpPr>
        <p:spPr>
          <a:xfrm>
            <a:off x="731520" y="1874520"/>
            <a:ext cx="7040880" cy="1926717"/>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@app.post("/api/action")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action(body: Action):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"""The loop closes: the event becomes a user message, the model answers with the next layout."""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session = SESSIONS.get(body.session)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session is None: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raise HTTPException(404, "unknown session")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session["turn"] += 1</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session["messages"].append({"role": "user", "content": EVENT_PROMPT.format(action=body.action, payload=json.dumps(body.payload))})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stream(declarative_turn(body.session))</a:t>
            </a:r>
            <a:endParaRPr lang="en-US" sz="1050" dirty="0"/>
          </a:p>
        </p:txBody>
      </p:sp>
      <p:sp>
        <p:nvSpPr>
          <p:cNvPr id="7" name="Text 5"/>
          <p:cNvSpPr/>
          <p:nvPr/>
        </p:nvSpPr>
        <p:spPr>
          <a:xfrm>
            <a:off x="548640" y="3984117"/>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01_foundations/step_04_hybrid_escape_hatch/server.py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9431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event is appended to the session's transcript as </a:t>
            </a:r>
            <a:pPr indent="0" marL="0">
              <a:buNone/>
            </a:pPr>
            <a:r>
              <a:rPr lang="en-US" sz="1200" b="1" dirty="0">
                <a:solidFill>
                  <a:srgbClr val="141B3D"/>
                </a:solidFill>
                <a:latin typeface="Calibri" pitchFamily="34" charset="0"/>
                <a:ea typeface="Calibri" pitchFamily="34" charset="-122"/>
                <a:cs typeface="Calibri" pitchFamily="34" charset="-120"/>
              </a:rPr>
              <a:t>text</a:t>
            </a:r>
            <a:pPr indent="0" marL="0">
              <a:buNone/>
            </a:pPr>
            <a:r>
              <a:rPr lang="en-US" sz="1200" dirty="0">
                <a:solidFill>
                  <a:srgbClr val="1F2937"/>
                </a:solidFill>
                <a:latin typeface="Calibri" pitchFamily="34" charset="0"/>
                <a:ea typeface="Calibri" pitchFamily="34" charset="-122"/>
                <a:cs typeface="Calibri" pitchFamily="34" charset="-120"/>
              </a:rPr>
              <a:t>: </a:t>
            </a:r>
            <a:pPr indent="0" marL="0">
              <a:buNone/>
            </a:pPr>
            <a:r>
              <a:rPr lang="en-US" sz="1200" dirty="0">
                <a:solidFill>
                  <a:srgbClr val="BE123C"/>
                </a:solidFill>
                <a:latin typeface="Courier New" pitchFamily="34" charset="0"/>
                <a:ea typeface="Courier New" pitchFamily="34" charset="-122"/>
                <a:cs typeface="Courier New" pitchFamily="34" charset="-120"/>
              </a:rPr>
              <a:t>EVENT_PROMPT</a:t>
            </a:r>
            <a:pPr indent="0" marL="0">
              <a:buNone/>
            </a:pPr>
            <a:r>
              <a:rPr lang="en-US" sz="1200" dirty="0">
                <a:solidFill>
                  <a:srgbClr val="1F2937"/>
                </a:solidFill>
                <a:latin typeface="Calibri" pitchFamily="34" charset="0"/>
                <a:ea typeface="Calibri" pitchFamily="34" charset="-122"/>
                <a:cs typeface="Calibri" pitchFamily="34" charset="-120"/>
              </a:rPr>
              <a:t> names the action and its payload and asks for the whole updated dashboard, changing only what the event changes.</a:t>
            </a:r>
            <a:endParaRPr lang="en-US" sz="1200" dirty="0"/>
          </a:p>
        </p:txBody>
      </p:sp>
      <p:sp>
        <p:nvSpPr>
          <p:cNvPr id="11" name="Shape 9"/>
          <p:cNvSpPr/>
          <p:nvPr/>
        </p:nvSpPr>
        <p:spPr>
          <a:xfrm>
            <a:off x="8183880" y="381762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8176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781044"/>
            <a:ext cx="3063240" cy="19431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declarative_turn</a:t>
            </a:r>
            <a:pPr indent="0" marL="0">
              <a:buNone/>
            </a:pPr>
            <a:r>
              <a:rPr lang="en-US" sz="1200" dirty="0">
                <a:solidFill>
                  <a:srgbClr val="1F2937"/>
                </a:solidFill>
                <a:latin typeface="Calibri" pitchFamily="34" charset="0"/>
                <a:ea typeface="Calibri" pitchFamily="34" charset="-122"/>
                <a:cs typeface="Calibri" pitchFamily="34" charset="-120"/>
              </a:rPr>
              <a:t> is the generator that streamed turn 1. It appends the model's reply to the transcript, so the next click continues from the layout on screen.</a:t>
            </a:r>
            <a:endParaRPr lang="en-US" sz="1200" dirty="0"/>
          </a:p>
        </p:txBody>
      </p:sp>
      <p:sp>
        <p:nvSpPr>
          <p:cNvPr id="14" name="Text 12"/>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In </a:t>
            </a:r>
            <a:pPr indent="0" marL="0">
              <a:buNone/>
            </a:pPr>
            <a:r>
              <a:rPr lang="en-US" sz="1250" dirty="0">
                <a:solidFill>
                  <a:srgbClr val="BE123C"/>
                </a:solidFill>
                <a:latin typeface="Courier New" pitchFamily="34" charset="0"/>
                <a:ea typeface="Courier New" pitchFamily="34" charset="-122"/>
                <a:cs typeface="Courier New" pitchFamily="34" charset="-120"/>
              </a:rPr>
              <a:t>page/app.js</a:t>
            </a:r>
            <a:pPr indent="0" marL="0">
              <a:buNone/>
            </a:pPr>
            <a:r>
              <a:rPr lang="en-US" sz="1250" dirty="0">
                <a:solidFill>
                  <a:srgbClr val="4B5563"/>
                </a:solidFill>
                <a:latin typeface="Calibri" pitchFamily="34" charset="0"/>
                <a:ea typeface="Calibri" pitchFamily="34" charset="-122"/>
                <a:cs typeface="Calibri" pitchFamily="34" charset="-120"/>
              </a:rPr>
              <a:t>, a click on any catalog </a:t>
            </a:r>
            <a:pPr indent="0" marL="0">
              <a:buNone/>
            </a:pPr>
            <a:r>
              <a:rPr lang="en-US" sz="1250" dirty="0">
                <a:solidFill>
                  <a:srgbClr val="BE123C"/>
                </a:solidFill>
                <a:latin typeface="Courier New" pitchFamily="34" charset="0"/>
                <a:ea typeface="Courier New" pitchFamily="34" charset="-122"/>
                <a:cs typeface="Courier New" pitchFamily="34" charset="-120"/>
              </a:rPr>
              <a:t>Button</a:t>
            </a:r>
            <a:pPr indent="0" marL="0">
              <a:buNone/>
            </a:pPr>
            <a:r>
              <a:rPr lang="en-US" sz="1250" dirty="0">
                <a:solidFill>
                  <a:srgbClr val="4B5563"/>
                </a:solidFill>
                <a:latin typeface="Calibri" pitchFamily="34" charset="0"/>
                <a:ea typeface="Calibri" pitchFamily="34" charset="-122"/>
                <a:cs typeface="Calibri" pitchFamily="34" charset="-120"/>
              </a:rPr>
              <a:t> and a </a:t>
            </a:r>
            <a:pPr indent="0" marL="0">
              <a:buNone/>
            </a:pPr>
            <a:r>
              <a:rPr lang="en-US" sz="1250" dirty="0">
                <a:solidFill>
                  <a:srgbClr val="BE123C"/>
                </a:solidFill>
                <a:latin typeface="Courier New" pitchFamily="34" charset="0"/>
                <a:ea typeface="Courier New" pitchFamily="34" charset="-122"/>
                <a:cs typeface="Courier New" pitchFamily="34" charset="-120"/>
              </a:rPr>
              <a:t>postMessage</a:t>
            </a:r>
            <a:pPr indent="0" marL="0">
              <a:buNone/>
            </a:pPr>
            <a:r>
              <a:rPr lang="en-US" sz="1250" dirty="0">
                <a:solidFill>
                  <a:srgbClr val="4B5563"/>
                </a:solidFill>
                <a:latin typeface="Calibri" pitchFamily="34" charset="0"/>
                <a:ea typeface="Calibri" pitchFamily="34" charset="-122"/>
                <a:cs typeface="Calibri" pitchFamily="34" charset="-120"/>
              </a:rPr>
              <a:t> from any generated iframe both go through one </a:t>
            </a:r>
            <a:pPr indent="0" marL="0">
              <a:buNone/>
            </a:pPr>
            <a:r>
              <a:rPr lang="en-US" sz="1250" dirty="0">
                <a:solidFill>
                  <a:srgbClr val="BE123C"/>
                </a:solidFill>
                <a:latin typeface="Courier New" pitchFamily="34" charset="0"/>
                <a:ea typeface="Courier New" pitchFamily="34" charset="-122"/>
                <a:cs typeface="Courier New" pitchFamily="34" charset="-120"/>
              </a:rPr>
              <a:t>act</a:t>
            </a:r>
            <a:pPr indent="0" marL="0">
              <a:buNone/>
            </a:pPr>
            <a:r>
              <a:rPr lang="en-US" sz="1250" dirty="0">
                <a:solidFill>
                  <a:srgbClr val="4B5563"/>
                </a:solidFill>
                <a:latin typeface="Calibri" pitchFamily="34" charset="0"/>
                <a:ea typeface="Calibri" pitchFamily="34" charset="-122"/>
                <a:cs typeface="Calibri" pitchFamily="34" charset="-120"/>
              </a:rPr>
              <a:t> function that posts here and hands the reply to the same </a:t>
            </a:r>
            <a:pPr indent="0" marL="0">
              <a:buNone/>
            </a:pPr>
            <a:r>
              <a:rPr lang="en-US" sz="1250" dirty="0">
                <a:solidFill>
                  <a:srgbClr val="BE123C"/>
                </a:solidFill>
                <a:latin typeface="Courier New" pitchFamily="34" charset="0"/>
                <a:ea typeface="Courier New" pitchFamily="34" charset="-122"/>
                <a:cs typeface="Courier New" pitchFamily="34" charset="-120"/>
              </a:rPr>
              <a:t>consume</a:t>
            </a:r>
            <a:pPr indent="0" marL="0">
              <a:buNone/>
            </a:pPr>
            <a:r>
              <a:rPr lang="en-US" sz="1250" dirty="0">
                <a:solidFill>
                  <a:srgbClr val="4B5563"/>
                </a:solidFill>
                <a:latin typeface="Calibri" pitchFamily="34" charset="0"/>
                <a:ea typeface="Calibri" pitchFamily="34" charset="-122"/>
                <a:cs typeface="Calibri" pitchFamily="34" charset="-120"/>
              </a:rPr>
              <a:t> that rendered turn 1.</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01.4 · QUICK DEMO · TURN 1</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Turn 1: ten catalog components and one GeneratedView holding a 481-character gauge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27</a:t>
            </a:r>
            <a:endParaRPr lang="en-US" sz="1000" dirty="0"/>
          </a:p>
        </p:txBody>
      </p:sp>
      <p:pic>
        <p:nvPicPr>
          <p:cNvPr id="5" name="Image 0" descr="C:\Users\evija\simple-coding-harness\genui\01_foundations\step_04_hybrid_escape_hatch\demo.png">    </p:cNvPr>
          <p:cNvPicPr>
            <a:picLocks noChangeAspect="1"/>
          </p:cNvPicPr>
          <p:nvPr/>
        </p:nvPicPr>
        <p:blipFill>
          <a:blip r:embed="rId1"/>
          <a:srcRect l="0" r="0" t="0" b="0"/>
          <a:stretch/>
        </p:blipFill>
        <p:spPr>
          <a:xfrm>
            <a:off x="548640" y="1417320"/>
            <a:ext cx="5486400" cy="4480560"/>
          </a:xfrm>
          <a:prstGeom prst="rect">
            <a:avLst/>
          </a:prstGeom>
        </p:spPr>
      </p:pic>
      <p:sp>
        <p:nvSpPr>
          <p:cNvPr id="6" name="Shape 3"/>
          <p:cNvSpPr/>
          <p:nvPr/>
        </p:nvSpPr>
        <p:spPr>
          <a:xfrm>
            <a:off x="548640" y="1417320"/>
            <a:ext cx="5486400" cy="4480560"/>
          </a:xfrm>
          <a:prstGeom prst="rect">
            <a:avLst/>
          </a:prstGeom>
          <a:ln w="12700">
            <a:solidFill>
              <a:srgbClr val="D7DAE5"/>
            </a:solidFill>
            <a:prstDash val="solid"/>
          </a:ln>
        </p:spPr>
      </p:sp>
      <p:sp>
        <p:nvSpPr>
          <p:cNvPr id="7" name="Shape 4"/>
          <p:cNvSpPr/>
          <p:nvPr/>
        </p:nvSpPr>
        <p:spPr>
          <a:xfrm>
            <a:off x="6400800" y="1417320"/>
            <a:ext cx="52395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37960" y="147218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11</a:t>
            </a:r>
            <a:endParaRPr lang="en-US" sz="2800" dirty="0"/>
          </a:p>
        </p:txBody>
      </p:sp>
      <p:sp>
        <p:nvSpPr>
          <p:cNvPr id="9" name="Text 6"/>
          <p:cNvSpPr/>
          <p:nvPr/>
        </p:nvSpPr>
        <p:spPr>
          <a:xfrm>
            <a:off x="6537960" y="203911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elements, valid: 10 from the catalog, 1 GeneratedView</a:t>
            </a:r>
            <a:endParaRPr lang="en-US" sz="1050" dirty="0"/>
          </a:p>
        </p:txBody>
      </p:sp>
      <p:sp>
        <p:nvSpPr>
          <p:cNvPr id="10" name="Shape 7"/>
          <p:cNvSpPr/>
          <p:nvPr/>
        </p:nvSpPr>
        <p:spPr>
          <a:xfrm>
            <a:off x="6400800" y="2697480"/>
            <a:ext cx="52395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37960" y="2752344"/>
            <a:ext cx="496519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481</a:t>
            </a:r>
            <a:endParaRPr lang="en-US" sz="2800" dirty="0"/>
          </a:p>
        </p:txBody>
      </p:sp>
      <p:sp>
        <p:nvSpPr>
          <p:cNvPr id="12" name="Text 9"/>
          <p:cNvSpPr/>
          <p:nvPr/>
        </p:nvSpPr>
        <p:spPr>
          <a:xfrm>
            <a:off x="6537960" y="331927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characters of HTML for the gauge; the whole page in 01.3 was about 9000</a:t>
            </a:r>
            <a:endParaRPr lang="en-US" sz="1050" dirty="0"/>
          </a:p>
        </p:txBody>
      </p:sp>
      <p:sp>
        <p:nvSpPr>
          <p:cNvPr id="13" name="Text 10"/>
          <p:cNvSpPr/>
          <p:nvPr/>
        </p:nvSpPr>
        <p:spPr>
          <a:xfrm>
            <a:off x="6400800" y="4023360"/>
            <a:ext cx="523951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dashed card at the top right is the hatch: an inline SVG gauge for the sales goal, the one thing the catalog cannot show.</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Everything else is catalog: three </a:t>
            </a:r>
            <a:pPr indent="0" marL="0">
              <a:buNone/>
            </a:pPr>
            <a:r>
              <a:rPr lang="en-US" sz="1150" dirty="0">
                <a:solidFill>
                  <a:srgbClr val="BE123C"/>
                </a:solidFill>
                <a:latin typeface="Courier New" pitchFamily="34" charset="0"/>
                <a:ea typeface="Courier New" pitchFamily="34" charset="-122"/>
                <a:cs typeface="Courier New" pitchFamily="34" charset="-120"/>
              </a:rPr>
              <a:t>Metric</a:t>
            </a:r>
            <a:pPr indent="0" marL="0">
              <a:buNone/>
            </a:pPr>
            <a:r>
              <a:rPr lang="en-US" sz="1250" dirty="0">
                <a:solidFill>
                  <a:srgbClr val="1F2937"/>
                </a:solidFill>
                <a:latin typeface="Calibri" pitchFamily="34" charset="0"/>
                <a:ea typeface="Calibri" pitchFamily="34" charset="-122"/>
                <a:cs typeface="Calibri" pitchFamily="34" charset="-120"/>
              </a:rPr>
              <a:t>s in a </a:t>
            </a:r>
            <a:pPr indent="0" marL="0">
              <a:buNone/>
            </a:pPr>
            <a:r>
              <a:rPr lang="en-US" sz="1150" dirty="0">
                <a:solidFill>
                  <a:srgbClr val="BE123C"/>
                </a:solidFill>
                <a:latin typeface="Courier New" pitchFamily="34" charset="0"/>
                <a:ea typeface="Courier New" pitchFamily="34" charset="-122"/>
                <a:cs typeface="Courier New" pitchFamily="34" charset="-120"/>
              </a:rPr>
              <a:t>Row</a:t>
            </a:r>
            <a:pPr indent="0" marL="0">
              <a:buNone/>
            </a:pPr>
            <a:r>
              <a:rPr lang="en-US" sz="1250" dirty="0">
                <a:solidFill>
                  <a:srgbClr val="1F2937"/>
                </a:solidFill>
                <a:latin typeface="Calibri" pitchFamily="34" charset="0"/>
                <a:ea typeface="Calibri" pitchFamily="34" charset="-122"/>
                <a:cs typeface="Calibri" pitchFamily="34" charset="-120"/>
              </a:rPr>
              <a:t>, a </a:t>
            </a:r>
            <a:pPr indent="0" marL="0">
              <a:buNone/>
            </a:pPr>
            <a:r>
              <a:rPr lang="en-US" sz="1150" dirty="0">
                <a:solidFill>
                  <a:srgbClr val="BE123C"/>
                </a:solidFill>
                <a:latin typeface="Courier New" pitchFamily="34" charset="0"/>
                <a:ea typeface="Courier New" pitchFamily="34" charset="-122"/>
                <a:cs typeface="Courier New" pitchFamily="34" charset="-120"/>
              </a:rPr>
              <a:t>Table</a:t>
            </a:r>
            <a:pPr indent="0" marL="0">
              <a:buNone/>
            </a:pPr>
            <a:r>
              <a:rPr lang="en-US" sz="1250" dirty="0">
                <a:solidFill>
                  <a:srgbClr val="1F2937"/>
                </a:solidFill>
                <a:latin typeface="Calibri" pitchFamily="34" charset="0"/>
                <a:ea typeface="Calibri" pitchFamily="34" charset="-122"/>
                <a:cs typeface="Calibri" pitchFamily="34" charset="-120"/>
              </a:rPr>
              <a:t>, a </a:t>
            </a:r>
            <a:pPr indent="0" marL="0">
              <a:buNone/>
            </a:pPr>
            <a:r>
              <a:rPr lang="en-US" sz="1150" dirty="0">
                <a:solidFill>
                  <a:srgbClr val="BE123C"/>
                </a:solidFill>
                <a:latin typeface="Courier New" pitchFamily="34" charset="0"/>
                <a:ea typeface="Courier New" pitchFamily="34" charset="-122"/>
                <a:cs typeface="Courier New" pitchFamily="34" charset="-120"/>
              </a:rPr>
              <a:t>Chart</a:t>
            </a:r>
            <a:pPr indent="0" marL="0">
              <a:buNone/>
            </a:pPr>
            <a:r>
              <a:rPr lang="en-US" sz="1250" dirty="0">
                <a:solidFill>
                  <a:srgbClr val="1F2937"/>
                </a:solidFill>
                <a:latin typeface="Calibri" pitchFamily="34" charset="0"/>
                <a:ea typeface="Calibri" pitchFamily="34" charset="-122"/>
                <a:cs typeface="Calibri" pitchFamily="34" charset="-120"/>
              </a:rPr>
              <a:t>, and a </a:t>
            </a:r>
            <a:pPr indent="0" marL="0">
              <a:buNone/>
            </a:pPr>
            <a:r>
              <a:rPr lang="en-US" sz="1150" dirty="0">
                <a:solidFill>
                  <a:srgbClr val="BE123C"/>
                </a:solidFill>
                <a:latin typeface="Courier New" pitchFamily="34" charset="0"/>
                <a:ea typeface="Courier New" pitchFamily="34" charset="-122"/>
                <a:cs typeface="Courier New" pitchFamily="34" charset="-120"/>
              </a:rPr>
              <a:t>Button</a:t>
            </a:r>
            <a:pPr indent="0" marL="0">
              <a:buNone/>
            </a:pPr>
            <a:r>
              <a:rPr lang="en-US" sz="1250" dirty="0">
                <a:solidFill>
                  <a:srgbClr val="1F2937"/>
                </a:solidFill>
                <a:latin typeface="Calibri" pitchFamily="34" charset="0"/>
                <a:ea typeface="Calibri" pitchFamily="34" charset="-122"/>
                <a:cs typeface="Calibri" pitchFamily="34" charset="-120"/>
              </a:rPr>
              <a:t> labelled Restock Lemons with action </a:t>
            </a:r>
            <a:pPr indent="0" marL="0">
              <a:buNone/>
            </a:pPr>
            <a:r>
              <a:rPr lang="en-US" sz="1150" dirty="0">
                <a:solidFill>
                  <a:srgbClr val="BE123C"/>
                </a:solidFill>
                <a:latin typeface="Courier New" pitchFamily="34" charset="0"/>
                <a:ea typeface="Courier New" pitchFamily="34" charset="-122"/>
                <a:cs typeface="Courier New" pitchFamily="34" charset="-120"/>
              </a:rPr>
              <a:t>restock_lemons</a:t>
            </a:r>
            <a:pP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wire panel shows the flat map; </a:t>
            </a:r>
            <a:pPr indent="0" marL="0">
              <a:buNone/>
            </a:pPr>
            <a:r>
              <a:rPr lang="en-US" sz="1150" dirty="0">
                <a:solidFill>
                  <a:srgbClr val="BE123C"/>
                </a:solidFill>
                <a:latin typeface="Courier New" pitchFamily="34" charset="0"/>
                <a:ea typeface="Courier New" pitchFamily="34" charset="-122"/>
                <a:cs typeface="Courier New" pitchFamily="34" charset="-120"/>
              </a:rPr>
              <a:t>gauge_sales_goal</a:t>
            </a:r>
            <a:pPr indent="0" marL="0">
              <a:buNone/>
            </a:pPr>
            <a:r>
              <a:rPr lang="en-US" sz="1250" dirty="0">
                <a:solidFill>
                  <a:srgbClr val="1F2937"/>
                </a:solidFill>
                <a:latin typeface="Calibri" pitchFamily="34" charset="0"/>
                <a:ea typeface="Calibri" pitchFamily="34" charset="-122"/>
                <a:cs typeface="Calibri" pitchFamily="34" charset="-120"/>
              </a:rPr>
              <a:t> is a </a:t>
            </a:r>
            <a:pPr indent="0" marL="0">
              <a:buNone/>
            </a:pPr>
            <a:r>
              <a:rPr lang="en-US" sz="1150" dirty="0">
                <a:solidFill>
                  <a:srgbClr val="BE123C"/>
                </a:solidFill>
                <a:latin typeface="Courier New" pitchFamily="34" charset="0"/>
                <a:ea typeface="Courier New" pitchFamily="34" charset="-122"/>
                <a:cs typeface="Courier New" pitchFamily="34" charset="-120"/>
              </a:rPr>
              <a:t>GeneratedView</a:t>
            </a:r>
            <a:pPr indent="0" marL="0">
              <a:buNone/>
            </a:pPr>
            <a:r>
              <a:rPr lang="en-US" sz="1250" dirty="0">
                <a:solidFill>
                  <a:srgbClr val="1F2937"/>
                </a:solidFill>
                <a:latin typeface="Calibri" pitchFamily="34" charset="0"/>
                <a:ea typeface="Calibri" pitchFamily="34" charset="-122"/>
                <a:cs typeface="Calibri" pitchFamily="34" charset="-120"/>
              </a:rPr>
              <a:t> whose </a:t>
            </a:r>
            <a:pPr indent="0" marL="0">
              <a:buNone/>
            </a:pPr>
            <a:r>
              <a:rPr lang="en-US" sz="1150" dirty="0">
                <a:solidFill>
                  <a:srgbClr val="BE123C"/>
                </a:solidFill>
                <a:latin typeface="Courier New" pitchFamily="34" charset="0"/>
                <a:ea typeface="Courier New" pitchFamily="34" charset="-122"/>
                <a:cs typeface="Courier New" pitchFamily="34" charset="-120"/>
              </a:rPr>
              <a:t>html</a:t>
            </a:r>
            <a:pPr indent="0" marL="0">
              <a:buNone/>
            </a:pPr>
            <a:r>
              <a:rPr lang="en-US" sz="1250" dirty="0">
                <a:solidFill>
                  <a:srgbClr val="1F2937"/>
                </a:solidFill>
                <a:latin typeface="Calibri" pitchFamily="34" charset="0"/>
                <a:ea typeface="Calibri" pitchFamily="34" charset="-122"/>
                <a:cs typeface="Calibri" pitchFamily="34" charset="-120"/>
              </a:rPr>
              <a:t> prop is the SVG.</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Prompt: a dashboard for a lemonade stand, with a gauge for today's sales goal and a button to restock lemons.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01.4 · QUICK DEMO · TURN 2, AFTER THE CLICK</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After the click, two elements changed and nine are byte-for-byte the first layout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28</a:t>
            </a:r>
            <a:endParaRPr lang="en-US" sz="1000" dirty="0"/>
          </a:p>
        </p:txBody>
      </p:sp>
      <p:pic>
        <p:nvPicPr>
          <p:cNvPr id="5" name="Image 0" descr="C:\Users\evija\simple-coding-harness\genui\01_foundations\step_04_hybrid_escape_hatch\demo_after_action.png">    </p:cNvPr>
          <p:cNvPicPr>
            <a:picLocks noChangeAspect="1"/>
          </p:cNvPicPr>
          <p:nvPr/>
        </p:nvPicPr>
        <p:blipFill>
          <a:blip r:embed="rId1"/>
          <a:srcRect l="0" r="0" t="0" b="0"/>
          <a:stretch/>
        </p:blipFill>
        <p:spPr>
          <a:xfrm>
            <a:off x="548640" y="1417320"/>
            <a:ext cx="5486400" cy="4480560"/>
          </a:xfrm>
          <a:prstGeom prst="rect">
            <a:avLst/>
          </a:prstGeom>
        </p:spPr>
      </p:pic>
      <p:sp>
        <p:nvSpPr>
          <p:cNvPr id="6" name="Shape 3"/>
          <p:cNvSpPr/>
          <p:nvPr/>
        </p:nvSpPr>
        <p:spPr>
          <a:xfrm>
            <a:off x="548640" y="1417320"/>
            <a:ext cx="5486400" cy="4480560"/>
          </a:xfrm>
          <a:prstGeom prst="rect">
            <a:avLst/>
          </a:prstGeom>
          <a:ln w="12700">
            <a:solidFill>
              <a:srgbClr val="D7DAE5"/>
            </a:solidFill>
            <a:prstDash val="solid"/>
          </a:ln>
        </p:spPr>
      </p:sp>
      <p:sp>
        <p:nvSpPr>
          <p:cNvPr id="7" name="Shape 4"/>
          <p:cNvSpPr/>
          <p:nvPr/>
        </p:nvSpPr>
        <p:spPr>
          <a:xfrm>
            <a:off x="6400800" y="1417320"/>
            <a:ext cx="52395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37960" y="1472184"/>
            <a:ext cx="4965192"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2 / 9</a:t>
            </a:r>
            <a:endParaRPr lang="en-US" sz="2800" dirty="0"/>
          </a:p>
        </p:txBody>
      </p:sp>
      <p:sp>
        <p:nvSpPr>
          <p:cNvPr id="9" name="Text 6"/>
          <p:cNvSpPr/>
          <p:nvPr/>
        </p:nvSpPr>
        <p:spPr>
          <a:xfrm>
            <a:off x="6537960" y="203911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elements changed / unchanged; none added or removed</a:t>
            </a:r>
            <a:endParaRPr lang="en-US" sz="1050" dirty="0"/>
          </a:p>
        </p:txBody>
      </p:sp>
      <p:sp>
        <p:nvSpPr>
          <p:cNvPr id="10" name="Shape 7"/>
          <p:cNvSpPr/>
          <p:nvPr/>
        </p:nvSpPr>
        <p:spPr>
          <a:xfrm>
            <a:off x="6400800" y="2697480"/>
            <a:ext cx="52395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37960" y="275234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20 → 100</a:t>
            </a:r>
            <a:endParaRPr lang="en-US" sz="2800" dirty="0"/>
          </a:p>
        </p:txBody>
      </p:sp>
      <p:sp>
        <p:nvSpPr>
          <p:cNvPr id="12" name="Text 9"/>
          <p:cNvSpPr/>
          <p:nvPr/>
        </p:nvSpPr>
        <p:spPr>
          <a:xfrm>
            <a:off x="6537960" y="331927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Lemons in Stock; delta -5 became +80, the table row followed</a:t>
            </a:r>
            <a:endParaRPr lang="en-US" sz="1050" dirty="0"/>
          </a:p>
        </p:txBody>
      </p:sp>
      <p:sp>
        <p:nvSpPr>
          <p:cNvPr id="13" name="Text 10"/>
          <p:cNvSpPr/>
          <p:nvPr/>
        </p:nvSpPr>
        <p:spPr>
          <a:xfrm>
            <a:off x="6400800" y="4023360"/>
            <a:ext cx="523951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page sent </a:t>
            </a:r>
            <a:pPr indent="0" marL="0">
              <a:buNone/>
            </a:pPr>
            <a:r>
              <a:rPr lang="en-US" sz="1150" dirty="0">
                <a:solidFill>
                  <a:srgbClr val="BE123C"/>
                </a:solidFill>
                <a:latin typeface="Courier New" pitchFamily="34" charset="0"/>
                <a:ea typeface="Courier New" pitchFamily="34" charset="-122"/>
                <a:cs typeface="Courier New" pitchFamily="34" charset="-120"/>
              </a:rPr>
              <a:t>{"source": "button", "action": "restock_lemons", "payload": {"label": "Restock Lemons"}}</a:t>
            </a:r>
            <a:pPr indent="0" marL="0">
              <a:buNone/>
            </a:pPr>
            <a:r>
              <a:rPr lang="en-US" sz="1250" dirty="0">
                <a:solidFill>
                  <a:srgbClr val="1F2937"/>
                </a:solidFill>
                <a:latin typeface="Calibri" pitchFamily="34" charset="0"/>
                <a:ea typeface="Calibri" pitchFamily="34" charset="-122"/>
                <a:cs typeface="Calibri" pitchFamily="34" charset="-120"/>
              </a:rPr>
              <a:t>; it is in the yellow inbox panel.</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t>
            </a:r>
            <a:pPr indent="0" marL="0">
              <a:buNone/>
            </a:pPr>
            <a:r>
              <a:rPr lang="en-US" sz="1150" dirty="0">
                <a:solidFill>
                  <a:srgbClr val="BE123C"/>
                </a:solidFill>
                <a:latin typeface="Courier New" pitchFamily="34" charset="0"/>
                <a:ea typeface="Courier New" pitchFamily="34" charset="-122"/>
                <a:cs typeface="Courier New" pitchFamily="34" charset="-120"/>
              </a:rPr>
              <a:t>metric_inventory</a:t>
            </a:r>
            <a:pPr indent="0" marL="0">
              <a:buNone/>
            </a:pPr>
            <a:r>
              <a:rPr lang="en-US" sz="1250" dirty="0">
                <a:solidFill>
                  <a:srgbClr val="1F2937"/>
                </a:solidFill>
                <a:latin typeface="Calibri" pitchFamily="34" charset="0"/>
                <a:ea typeface="Calibri" pitchFamily="34" charset="-122"/>
                <a:cs typeface="Calibri" pitchFamily="34" charset="-120"/>
              </a:rPr>
              <a:t> and </a:t>
            </a:r>
            <a:pPr indent="0" marL="0">
              <a:buNone/>
            </a:pPr>
            <a:r>
              <a:rPr lang="en-US" sz="1150" dirty="0">
                <a:solidFill>
                  <a:srgbClr val="BE123C"/>
                </a:solidFill>
                <a:latin typeface="Courier New" pitchFamily="34" charset="0"/>
                <a:ea typeface="Courier New" pitchFamily="34" charset="-122"/>
                <a:cs typeface="Courier New" pitchFamily="34" charset="-120"/>
              </a:rPr>
              <a:t>table_inventory</a:t>
            </a:r>
            <a:pPr indent="0" marL="0">
              <a:buNone/>
            </a:pPr>
            <a:r>
              <a:rPr lang="en-US" sz="1250" dirty="0">
                <a:solidFill>
                  <a:srgbClr val="1F2937"/>
                </a:solidFill>
                <a:latin typeface="Calibri" pitchFamily="34" charset="0"/>
                <a:ea typeface="Calibri" pitchFamily="34" charset="-122"/>
                <a:cs typeface="Calibri" pitchFamily="34" charset="-120"/>
              </a:rPr>
              <a:t> changed; the gauge, the chart and the other metrics came back identical.</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whole layout was re-sent. A patch protocol would send only the two elements; sub-themes 03 and 05 do that.</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action name </a:t>
            </a:r>
            <a:pPr indent="0" marL="0">
              <a:buNone/>
            </a:pPr>
            <a:r>
              <a:rPr lang="en-US" sz="1200" dirty="0">
                <a:solidFill>
                  <a:srgbClr val="BE123C"/>
                </a:solidFill>
                <a:latin typeface="Courier New" pitchFamily="34" charset="0"/>
                <a:ea typeface="Courier New" pitchFamily="34" charset="-122"/>
                <a:cs typeface="Courier New" pitchFamily="34" charset="-120"/>
              </a:rPr>
              <a:t>restock_lemons</a:t>
            </a:r>
            <a:pPr indent="0" marL="0">
              <a:buNone/>
            </a:pPr>
            <a:r>
              <a:rPr lang="en-US" sz="1200" dirty="0">
                <a:solidFill>
                  <a:srgbClr val="4B5563"/>
                </a:solidFill>
                <a:latin typeface="Calibri" pitchFamily="34" charset="0"/>
                <a:ea typeface="Calibri" pitchFamily="34" charset="-122"/>
                <a:cs typeface="Calibri" pitchFamily="34" charset="-120"/>
              </a:rPr>
              <a:t> appears in no schema. The page treats it as opaque, the server as text, and only the model interprets it.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82296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Sub-theme 02</a:t>
            </a:r>
            <a:endParaRPr lang="en-US" sz="1300" dirty="0"/>
          </a:p>
        </p:txBody>
      </p:sp>
      <p:sp>
        <p:nvSpPr>
          <p:cNvPr id="3" name="Text 1"/>
          <p:cNvSpPr/>
          <p:nvPr/>
        </p:nvSpPr>
        <p:spPr>
          <a:xfrm>
            <a:off x="731520" y="1280160"/>
            <a:ext cx="1051560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AG-UI, the transport</a:t>
            </a:r>
            <a:endParaRPr lang="en-US" sz="4000" dirty="0"/>
          </a:p>
        </p:txBody>
      </p:sp>
      <p:sp>
        <p:nvSpPr>
          <p:cNvPr id="4" name="Text 2"/>
          <p:cNvSpPr/>
          <p:nvPr/>
        </p:nvSpPr>
        <p:spPr>
          <a:xfrm>
            <a:off x="731520" y="2560320"/>
            <a:ext cx="6583680" cy="201168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The report separates what the model generates from how it travels to the screen. Sub-theme 01 was about generation; this sub-theme is about transport. AG-UI is the transport for a product you own: one RunAgentInput request in, one stream of typed events out. Three steps build the server with ag-ui-protocol, write the client by hand so the wire stays visible, then replace it with @ag-ui/client and put the harness codelab's coding agent behind the protocol.</a:t>
            </a:r>
            <a:endParaRPr lang="en-US" sz="1600" dirty="0"/>
          </a:p>
        </p:txBody>
      </p:sp>
      <p:sp>
        <p:nvSpPr>
          <p:cNvPr id="5" name="Shape 3"/>
          <p:cNvSpPr/>
          <p:nvPr/>
        </p:nvSpPr>
        <p:spPr>
          <a:xfrm>
            <a:off x="7680960" y="2606040"/>
            <a:ext cx="3931920" cy="603504"/>
          </a:xfrm>
          <a:prstGeom prst="roundRect">
            <a:avLst>
              <a:gd name="adj" fmla="val 12121"/>
            </a:avLst>
          </a:prstGeom>
          <a:solidFill>
            <a:srgbClr val="1E2761"/>
          </a:solidFill>
          <a:ln w="12700">
            <a:solidFill>
              <a:srgbClr val="3B4A8A"/>
            </a:solidFill>
            <a:prstDash val="solid"/>
          </a:ln>
        </p:spPr>
      </p:sp>
      <p:sp>
        <p:nvSpPr>
          <p:cNvPr id="6" name="Text 4"/>
          <p:cNvSpPr/>
          <p:nvPr/>
        </p:nvSpPr>
        <p:spPr>
          <a:xfrm>
            <a:off x="7818120" y="2606040"/>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02.1  </a:t>
            </a:r>
            <a:pPr indent="0" marL="0">
              <a:buNone/>
            </a:pPr>
            <a:r>
              <a:rPr lang="en-US" sz="1250" dirty="0">
                <a:solidFill>
                  <a:srgbClr val="FFFFFF"/>
                </a:solidFill>
                <a:latin typeface="Calibri" pitchFamily="34" charset="0"/>
                <a:ea typeface="Calibri" pitchFamily="34" charset="-122"/>
                <a:cs typeface="Calibri" pitchFamily="34" charset="-120"/>
              </a:rPr>
              <a:t>An AG-UI server: RUN_STARTED, TEXT_MESSAGE_*, RUN_FINISHED over SSE</a:t>
            </a:r>
            <a:endParaRPr lang="en-US" sz="1250" dirty="0"/>
          </a:p>
        </p:txBody>
      </p:sp>
      <p:sp>
        <p:nvSpPr>
          <p:cNvPr id="7" name="Shape 5"/>
          <p:cNvSpPr/>
          <p:nvPr/>
        </p:nvSpPr>
        <p:spPr>
          <a:xfrm>
            <a:off x="7680960" y="3319272"/>
            <a:ext cx="3931920" cy="603504"/>
          </a:xfrm>
          <a:prstGeom prst="roundRect">
            <a:avLst>
              <a:gd name="adj" fmla="val 12121"/>
            </a:avLst>
          </a:prstGeom>
          <a:solidFill>
            <a:srgbClr val="1E2761"/>
          </a:solidFill>
          <a:ln w="12700">
            <a:solidFill>
              <a:srgbClr val="3B4A8A"/>
            </a:solidFill>
            <a:prstDash val="solid"/>
          </a:ln>
        </p:spPr>
      </p:sp>
      <p:sp>
        <p:nvSpPr>
          <p:cNvPr id="8" name="Text 6"/>
          <p:cNvSpPr/>
          <p:nvPr/>
        </p:nvSpPr>
        <p:spPr>
          <a:xfrm>
            <a:off x="7818120" y="3319272"/>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02.2  </a:t>
            </a:r>
            <a:pPr indent="0" marL="0">
              <a:buNone/>
            </a:pPr>
            <a:r>
              <a:rPr lang="en-US" sz="1250" dirty="0">
                <a:solidFill>
                  <a:srgbClr val="FFFFFF"/>
                </a:solidFill>
                <a:latin typeface="Calibri" pitchFamily="34" charset="0"/>
                <a:ea typeface="Calibri" pitchFamily="34" charset="-122"/>
                <a:cs typeface="Calibri" pitchFamily="34" charset="-120"/>
              </a:rPr>
              <a:t>Tool calls and shared state: STATE_SNAPSHOT, STATE_DELTA, a client tool</a:t>
            </a:r>
            <a:endParaRPr lang="en-US" sz="1250" dirty="0"/>
          </a:p>
        </p:txBody>
      </p:sp>
      <p:sp>
        <p:nvSpPr>
          <p:cNvPr id="9" name="Shape 7"/>
          <p:cNvSpPr/>
          <p:nvPr/>
        </p:nvSpPr>
        <p:spPr>
          <a:xfrm>
            <a:off x="7680960" y="4032504"/>
            <a:ext cx="3931920" cy="603504"/>
          </a:xfrm>
          <a:prstGeom prst="roundRect">
            <a:avLst>
              <a:gd name="adj" fmla="val 12121"/>
            </a:avLst>
          </a:prstGeom>
          <a:solidFill>
            <a:srgbClr val="1E2761"/>
          </a:solidFill>
          <a:ln w="12700">
            <a:solidFill>
              <a:srgbClr val="3B4A8A"/>
            </a:solidFill>
            <a:prstDash val="solid"/>
          </a:ln>
        </p:spPr>
      </p:sp>
      <p:sp>
        <p:nvSpPr>
          <p:cNvPr id="10" name="Text 8"/>
          <p:cNvSpPr/>
          <p:nvPr/>
        </p:nvSpPr>
        <p:spPr>
          <a:xfrm>
            <a:off x="7818120" y="4032504"/>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02.3  </a:t>
            </a:r>
            <a:pPr indent="0" marL="0">
              <a:buNone/>
            </a:pPr>
            <a:r>
              <a:rPr lang="en-US" sz="1250" dirty="0">
                <a:solidFill>
                  <a:srgbClr val="FFFFFF"/>
                </a:solidFill>
                <a:latin typeface="Calibri" pitchFamily="34" charset="0"/>
                <a:ea typeface="Calibri" pitchFamily="34" charset="-122"/>
                <a:cs typeface="Calibri" pitchFamily="34" charset="-120"/>
              </a:rPr>
              <a:t>The harness codelab's loop over AG-UI, with HttpAgent in the page</a:t>
            </a:r>
            <a:endParaRPr lang="en-US" sz="1250" dirty="0"/>
          </a:p>
        </p:txBody>
      </p:sp>
      <p:sp>
        <p:nvSpPr>
          <p:cNvPr id="11" name="Text 9"/>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A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02.1 · LEVEL 5 OF 23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A run is a request; the reply is a stream of typed events</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30</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AG-UI fixes the </a:t>
            </a:r>
            <a:pPr indent="0" marL="0">
              <a:buNone/>
            </a:pPr>
            <a:r>
              <a:rPr lang="en-US" sz="1600" b="1" dirty="0">
                <a:solidFill>
                  <a:srgbClr val="141B3D"/>
                </a:solidFill>
                <a:latin typeface="Calibri" pitchFamily="34" charset="0"/>
                <a:ea typeface="Calibri" pitchFamily="34" charset="-122"/>
                <a:cs typeface="Calibri" pitchFamily="34" charset="-120"/>
              </a:rPr>
              <a:t>vocabulary</a:t>
            </a:r>
            <a:pPr indent="0" marL="0">
              <a:buNone/>
            </a:pPr>
            <a:r>
              <a:rPr lang="en-US" sz="1600" dirty="0">
                <a:solidFill>
                  <a:srgbClr val="141B3D"/>
                </a:solidFill>
                <a:latin typeface="Calibri" pitchFamily="34" charset="0"/>
                <a:ea typeface="Calibri" pitchFamily="34" charset="-122"/>
                <a:cs typeface="Calibri" pitchFamily="34" charset="-120"/>
              </a:rPr>
              <a:t> of what crosses the wire, so any AG-UI client can read any AG-UI agent.</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request is one object, RunAgentInput: threadId, runId, messages, tools, context, state.</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reply is text/event-stream: one JSON event per data: line, camelCase keys.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 text message is three kinds of event joined by one messageId.</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Every run ends with exactly one terminal event: RUN_FINISHED or RUN_ERROR.</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server is stateless between runs; the client owns the history and sends all of it.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EventSource only does GET, so the page reads the body with fetch.</a:t>
            </a:r>
            <a:endParaRPr lang="en-US" sz="1350" dirty="0"/>
          </a:p>
        </p:txBody>
      </p:sp>
      <p:sp>
        <p:nvSpPr>
          <p:cNvPr id="7" name="Shape 5"/>
          <p:cNvSpPr/>
          <p:nvPr/>
        </p:nvSpPr>
        <p:spPr>
          <a:xfrm>
            <a:off x="6035040" y="1600200"/>
            <a:ext cx="2377440" cy="475488"/>
          </a:xfrm>
          <a:prstGeom prst="roundRect">
            <a:avLst>
              <a:gd name="adj" fmla="val 15385"/>
            </a:avLst>
          </a:prstGeom>
          <a:solidFill>
            <a:srgbClr val="F6F7FB"/>
          </a:solidFill>
          <a:ln w="12700">
            <a:solidFill>
              <a:srgbClr val="141B3D"/>
            </a:solidFill>
            <a:prstDash val="solid"/>
          </a:ln>
        </p:spPr>
      </p:sp>
      <p:sp>
        <p:nvSpPr>
          <p:cNvPr id="8" name="Text 6"/>
          <p:cNvSpPr/>
          <p:nvPr/>
        </p:nvSpPr>
        <p:spPr>
          <a:xfrm>
            <a:off x="6126480" y="1600200"/>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RUN_STARTED</a:t>
            </a:r>
            <a:endParaRPr lang="en-US" sz="1050" dirty="0"/>
          </a:p>
        </p:txBody>
      </p:sp>
      <p:sp>
        <p:nvSpPr>
          <p:cNvPr id="9" name="Text 7"/>
          <p:cNvSpPr/>
          <p:nvPr/>
        </p:nvSpPr>
        <p:spPr>
          <a:xfrm>
            <a:off x="8549640" y="1600200"/>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threadId and runId: the run has an identity</a:t>
            </a:r>
            <a:endParaRPr lang="en-US" sz="1150" dirty="0"/>
          </a:p>
        </p:txBody>
      </p:sp>
      <p:sp>
        <p:nvSpPr>
          <p:cNvPr id="10" name="Shape 8"/>
          <p:cNvSpPr/>
          <p:nvPr/>
        </p:nvSpPr>
        <p:spPr>
          <a:xfrm>
            <a:off x="6035040" y="2167128"/>
            <a:ext cx="2377440" cy="475488"/>
          </a:xfrm>
          <a:prstGeom prst="roundRect">
            <a:avLst>
              <a:gd name="adj" fmla="val 15385"/>
            </a:avLst>
          </a:prstGeom>
          <a:solidFill>
            <a:srgbClr val="F6F7FB"/>
          </a:solidFill>
          <a:ln w="12700">
            <a:solidFill>
              <a:srgbClr val="141B3D"/>
            </a:solidFill>
            <a:prstDash val="solid"/>
          </a:ln>
        </p:spPr>
      </p:sp>
      <p:sp>
        <p:nvSpPr>
          <p:cNvPr id="11" name="Text 9"/>
          <p:cNvSpPr/>
          <p:nvPr/>
        </p:nvSpPr>
        <p:spPr>
          <a:xfrm>
            <a:off x="6126480" y="2167128"/>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TEXT_MESSAGE_START</a:t>
            </a:r>
            <a:endParaRPr lang="en-US" sz="1050" dirty="0"/>
          </a:p>
        </p:txBody>
      </p:sp>
      <p:sp>
        <p:nvSpPr>
          <p:cNvPr id="12" name="Text 10"/>
          <p:cNvSpPr/>
          <p:nvPr/>
        </p:nvSpPr>
        <p:spPr>
          <a:xfrm>
            <a:off x="8549640" y="2167128"/>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new messageId, role assistant</a:t>
            </a:r>
            <a:endParaRPr lang="en-US" sz="1150" dirty="0"/>
          </a:p>
        </p:txBody>
      </p:sp>
      <p:sp>
        <p:nvSpPr>
          <p:cNvPr id="13" name="Shape 11"/>
          <p:cNvSpPr/>
          <p:nvPr/>
        </p:nvSpPr>
        <p:spPr>
          <a:xfrm>
            <a:off x="6035040" y="2734056"/>
            <a:ext cx="2377440" cy="475488"/>
          </a:xfrm>
          <a:prstGeom prst="roundRect">
            <a:avLst>
              <a:gd name="adj" fmla="val 15385"/>
            </a:avLst>
          </a:prstGeom>
          <a:solidFill>
            <a:srgbClr val="F6F7FB"/>
          </a:solidFill>
          <a:ln w="12700">
            <a:solidFill>
              <a:srgbClr val="141B3D"/>
            </a:solidFill>
            <a:prstDash val="solid"/>
          </a:ln>
        </p:spPr>
      </p:sp>
      <p:sp>
        <p:nvSpPr>
          <p:cNvPr id="14" name="Text 12"/>
          <p:cNvSpPr/>
          <p:nvPr/>
        </p:nvSpPr>
        <p:spPr>
          <a:xfrm>
            <a:off x="6126480" y="2734056"/>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TEXT_MESSAGE_CONTENT</a:t>
            </a:r>
            <a:endParaRPr lang="en-US" sz="1050" dirty="0"/>
          </a:p>
        </p:txBody>
      </p:sp>
      <p:sp>
        <p:nvSpPr>
          <p:cNvPr id="15" name="Text 13"/>
          <p:cNvSpPr/>
          <p:nvPr/>
        </p:nvSpPr>
        <p:spPr>
          <a:xfrm>
            <a:off x="8549640" y="2734056"/>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one delta per model chunk, same messageId</a:t>
            </a:r>
            <a:endParaRPr lang="en-US" sz="1150" dirty="0"/>
          </a:p>
        </p:txBody>
      </p:sp>
      <p:sp>
        <p:nvSpPr>
          <p:cNvPr id="16" name="Shape 14"/>
          <p:cNvSpPr/>
          <p:nvPr/>
        </p:nvSpPr>
        <p:spPr>
          <a:xfrm>
            <a:off x="6035040" y="3300984"/>
            <a:ext cx="2377440" cy="475488"/>
          </a:xfrm>
          <a:prstGeom prst="roundRect">
            <a:avLst>
              <a:gd name="adj" fmla="val 15385"/>
            </a:avLst>
          </a:prstGeom>
          <a:solidFill>
            <a:srgbClr val="F6F7FB"/>
          </a:solidFill>
          <a:ln w="12700">
            <a:solidFill>
              <a:srgbClr val="141B3D"/>
            </a:solidFill>
            <a:prstDash val="solid"/>
          </a:ln>
        </p:spPr>
      </p:sp>
      <p:sp>
        <p:nvSpPr>
          <p:cNvPr id="17" name="Text 15"/>
          <p:cNvSpPr/>
          <p:nvPr/>
        </p:nvSpPr>
        <p:spPr>
          <a:xfrm>
            <a:off x="6126480" y="3300984"/>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TEXT_MESSAGE_END</a:t>
            </a:r>
            <a:endParaRPr lang="en-US" sz="1050" dirty="0"/>
          </a:p>
        </p:txBody>
      </p:sp>
      <p:sp>
        <p:nvSpPr>
          <p:cNvPr id="18" name="Text 16"/>
          <p:cNvSpPr/>
          <p:nvPr/>
        </p:nvSpPr>
        <p:spPr>
          <a:xfrm>
            <a:off x="8549640" y="3300984"/>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message is complete; the client stores it</a:t>
            </a:r>
            <a:endParaRPr lang="en-US" sz="1150" dirty="0"/>
          </a:p>
        </p:txBody>
      </p:sp>
      <p:sp>
        <p:nvSpPr>
          <p:cNvPr id="19" name="Shape 17"/>
          <p:cNvSpPr/>
          <p:nvPr/>
        </p:nvSpPr>
        <p:spPr>
          <a:xfrm>
            <a:off x="6035040" y="3867912"/>
            <a:ext cx="2377440" cy="475488"/>
          </a:xfrm>
          <a:prstGeom prst="roundRect">
            <a:avLst>
              <a:gd name="adj" fmla="val 15385"/>
            </a:avLst>
          </a:prstGeom>
          <a:solidFill>
            <a:srgbClr val="ECFDF5"/>
          </a:solidFill>
          <a:ln w="12700">
            <a:solidFill>
              <a:srgbClr val="15803D"/>
            </a:solidFill>
            <a:prstDash val="solid"/>
          </a:ln>
        </p:spPr>
      </p:sp>
      <p:sp>
        <p:nvSpPr>
          <p:cNvPr id="20" name="Text 18"/>
          <p:cNvSpPr/>
          <p:nvPr/>
        </p:nvSpPr>
        <p:spPr>
          <a:xfrm>
            <a:off x="6126480" y="3867912"/>
            <a:ext cx="2194560" cy="475488"/>
          </a:xfrm>
          <a:prstGeom prst="rect">
            <a:avLst/>
          </a:prstGeom>
          <a:noFill/>
          <a:ln/>
        </p:spPr>
        <p:txBody>
          <a:bodyPr wrap="square" lIns="0" tIns="0" rIns="0" bIns="0" rtlCol="0" anchor="ctr"/>
          <a:lstStyle/>
          <a:p>
            <a:pPr indent="0" marL="0">
              <a:buNone/>
            </a:pPr>
            <a:r>
              <a:rPr lang="en-US" sz="1050" b="1" dirty="0">
                <a:solidFill>
                  <a:srgbClr val="15803D"/>
                </a:solidFill>
                <a:latin typeface="Courier New" pitchFamily="34" charset="0"/>
                <a:ea typeface="Courier New" pitchFamily="34" charset="-122"/>
                <a:cs typeface="Courier New" pitchFamily="34" charset="-120"/>
              </a:rPr>
              <a:t>RUN_FINISHED</a:t>
            </a:r>
            <a:endParaRPr lang="en-US" sz="1050" dirty="0"/>
          </a:p>
        </p:txBody>
      </p:sp>
      <p:sp>
        <p:nvSpPr>
          <p:cNvPr id="21" name="Text 19"/>
          <p:cNvSpPr/>
          <p:nvPr/>
        </p:nvSpPr>
        <p:spPr>
          <a:xfrm>
            <a:off x="8549640" y="3867912"/>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one terminal event on success</a:t>
            </a:r>
            <a:endParaRPr lang="en-US" sz="1150" dirty="0"/>
          </a:p>
        </p:txBody>
      </p:sp>
      <p:sp>
        <p:nvSpPr>
          <p:cNvPr id="22" name="Shape 20"/>
          <p:cNvSpPr/>
          <p:nvPr/>
        </p:nvSpPr>
        <p:spPr>
          <a:xfrm>
            <a:off x="6035040" y="4434840"/>
            <a:ext cx="2377440" cy="475488"/>
          </a:xfrm>
          <a:prstGeom prst="roundRect">
            <a:avLst>
              <a:gd name="adj" fmla="val 15385"/>
            </a:avLst>
          </a:prstGeom>
          <a:solidFill>
            <a:srgbClr val="FFF4E5"/>
          </a:solidFill>
          <a:ln w="12700">
            <a:solidFill>
              <a:srgbClr val="D97706"/>
            </a:solidFill>
            <a:prstDash val="solid"/>
          </a:ln>
        </p:spPr>
      </p:sp>
      <p:sp>
        <p:nvSpPr>
          <p:cNvPr id="23" name="Text 21"/>
          <p:cNvSpPr/>
          <p:nvPr/>
        </p:nvSpPr>
        <p:spPr>
          <a:xfrm>
            <a:off x="6126480" y="4434840"/>
            <a:ext cx="2194560" cy="475488"/>
          </a:xfrm>
          <a:prstGeom prst="rect">
            <a:avLst/>
          </a:prstGeom>
          <a:noFill/>
          <a:ln/>
        </p:spPr>
        <p:txBody>
          <a:bodyPr wrap="square" lIns="0" tIns="0" rIns="0" bIns="0" rtlCol="0" anchor="ctr"/>
          <a:lstStyle/>
          <a:p>
            <a:pPr indent="0" marL="0">
              <a:buNone/>
            </a:pPr>
            <a:r>
              <a:rPr lang="en-US" sz="1050" b="1" dirty="0">
                <a:solidFill>
                  <a:srgbClr val="D97706"/>
                </a:solidFill>
                <a:latin typeface="Courier New" pitchFamily="34" charset="0"/>
                <a:ea typeface="Courier New" pitchFamily="34" charset="-122"/>
                <a:cs typeface="Courier New" pitchFamily="34" charset="-120"/>
              </a:rPr>
              <a:t>RUN_ERROR</a:t>
            </a:r>
            <a:endParaRPr lang="en-US" sz="1050" dirty="0"/>
          </a:p>
        </p:txBody>
      </p:sp>
      <p:sp>
        <p:nvSpPr>
          <p:cNvPr id="24" name="Text 22"/>
          <p:cNvSpPr/>
          <p:nvPr/>
        </p:nvSpPr>
        <p:spPr>
          <a:xfrm>
            <a:off x="8549640" y="4434840"/>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one terminal event on failure</a:t>
            </a:r>
            <a:endParaRPr lang="en-US" sz="1150" dirty="0"/>
          </a:p>
        </p:txBody>
      </p:sp>
      <p:sp>
        <p:nvSpPr>
          <p:cNvPr id="25" name="Text 23"/>
          <p:cNvSpPr/>
          <p:nvPr/>
        </p:nvSpPr>
        <p:spPr>
          <a:xfrm>
            <a:off x="6035040" y="5349240"/>
            <a:ext cx="5577840" cy="320040"/>
          </a:xfrm>
          <a:prstGeom prst="rect">
            <a:avLst/>
          </a:prstGeom>
          <a:noFill/>
          <a:ln/>
        </p:spPr>
        <p:txBody>
          <a:bodyPr wrap="square" lIns="0" tIns="0" rIns="0" bIns="0" rtlCol="0" anchor="ctr"/>
          <a:lstStyle/>
          <a:p>
            <a:pPr indent="0" marL="0">
              <a:buNone/>
            </a:pPr>
            <a:r>
              <a:rPr lang="en-US" sz="1050" i="1" dirty="0">
                <a:solidFill>
                  <a:srgbClr val="8B93A7"/>
                </a:solidFill>
                <a:latin typeface="Calibri" pitchFamily="34" charset="0"/>
                <a:ea typeface="Calibri" pitchFamily="34" charset="-122"/>
                <a:cs typeface="Calibri" pitchFamily="34" charset="-120"/>
              </a:rPr>
              <a:t>The whole vocabulary of step 02.1. Tool calls and state arrive in step 02.2.</a:t>
            </a:r>
            <a:endParaRPr lang="en-US" sz="1050" dirty="0"/>
          </a:p>
        </p:txBody>
      </p:sp>
      <p:sp>
        <p:nvSpPr>
          <p:cNvPr id="26" name="Shape 24"/>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7" name="Text 25"/>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A transport is a fixed vocabulary of events with a join key; the messageId is that key.</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The agent is a generator with two exits and one join key</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31</a:t>
            </a:r>
            <a:endParaRPr lang="en-US" sz="1000" dirty="0"/>
          </a:p>
        </p:txBody>
      </p:sp>
      <p:sp>
        <p:nvSpPr>
          <p:cNvPr id="5" name="Shape 3"/>
          <p:cNvSpPr/>
          <p:nvPr/>
        </p:nvSpPr>
        <p:spPr>
          <a:xfrm>
            <a:off x="548640" y="1417320"/>
            <a:ext cx="7406640" cy="2851785"/>
          </a:xfrm>
          <a:prstGeom prst="roundRect">
            <a:avLst>
              <a:gd name="adj" fmla="val 3206"/>
            </a:avLst>
          </a:prstGeom>
          <a:solidFill>
            <a:srgbClr val="0F172A"/>
          </a:solidFill>
          <a:ln w="12700">
            <a:solidFill>
              <a:srgbClr val="0F172A"/>
            </a:solidFill>
            <a:prstDash val="solid"/>
          </a:ln>
        </p:spPr>
      </p:sp>
      <p:sp>
        <p:nvSpPr>
          <p:cNvPr id="6" name="Text 4"/>
          <p:cNvSpPr/>
          <p:nvPr/>
        </p:nvSpPr>
        <p:spPr>
          <a:xfrm>
            <a:off x="731520" y="1554480"/>
            <a:ext cx="7040880" cy="2577465"/>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run(input: RunAgentInput):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the events of one run. A model failure becomes RUN_ERROR, not a broken stream."""</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yield RunStartedEvent(thread_id=input.thread_id, run_id=input.run_id)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message_id = str(uuid4())</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try: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TextMessageStartEvent(message_id=message_id, role="assistant")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delta in stream_text(to_openai(input.messages)):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TextMessageContentEvent(message_id=message_id, delta=delta)</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TextMessageEndEvent(message_id=message_id)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except Exception as error:  # noqa: BLE001 - the client must see a terminal event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RunErrorEvent(message=str(error))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RunFinishedEvent(thread_id=input.thread_id, run_id=input.run_id)</a:t>
            </a:r>
            <a:endParaRPr lang="en-US" sz="1050" dirty="0"/>
          </a:p>
        </p:txBody>
      </p:sp>
      <p:sp>
        <p:nvSpPr>
          <p:cNvPr id="7" name="Text 5"/>
          <p:cNvSpPr/>
          <p:nvPr/>
        </p:nvSpPr>
        <p:spPr>
          <a:xfrm>
            <a:off x="548640" y="4314825"/>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02_ag_ui/step_01_ag_ui_server/agent.py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run announces itself with the ids from the request. The generator yields pydantic events from </a:t>
            </a:r>
            <a:pPr indent="0" marL="0">
              <a:buNone/>
            </a:pPr>
            <a:r>
              <a:rPr lang="en-US" sz="1200" b="1" dirty="0">
                <a:solidFill>
                  <a:srgbClr val="141B3D"/>
                </a:solidFill>
                <a:latin typeface="Calibri" pitchFamily="34" charset="0"/>
                <a:ea typeface="Calibri" pitchFamily="34" charset="-122"/>
                <a:cs typeface="Calibri" pitchFamily="34" charset="-120"/>
              </a:rPr>
              <a:t>ag_ui.core</a:t>
            </a:r>
            <a:pPr indent="0" marL="0">
              <a:buNone/>
            </a:pPr>
            <a:r>
              <a:rPr lang="en-US" sz="1200" dirty="0">
                <a:solidFill>
                  <a:srgbClr val="1F2937"/>
                </a:solidFill>
                <a:latin typeface="Calibri" pitchFamily="34" charset="0"/>
                <a:ea typeface="Calibri" pitchFamily="34" charset="-122"/>
                <a:cs typeface="Calibri" pitchFamily="34" charset="-120"/>
              </a:rPr>
              <a:t> and never touches HTTP.</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One </a:t>
            </a:r>
            <a:pPr indent="0" marL="0">
              <a:buNone/>
            </a:pPr>
            <a:r>
              <a:rPr lang="en-US" sz="1200" b="1" dirty="0">
                <a:solidFill>
                  <a:srgbClr val="141B3D"/>
                </a:solidFill>
                <a:latin typeface="Calibri" pitchFamily="34" charset="0"/>
                <a:ea typeface="Calibri" pitchFamily="34" charset="-122"/>
                <a:cs typeface="Calibri" pitchFamily="34" charset="-120"/>
              </a:rPr>
              <a:t>message_id</a:t>
            </a:r>
            <a:pPr indent="0" marL="0">
              <a:buNone/>
            </a:pPr>
            <a:r>
              <a:rPr lang="en-US" sz="1200" dirty="0">
                <a:solidFill>
                  <a:srgbClr val="1F2937"/>
                </a:solidFill>
                <a:latin typeface="Calibri" pitchFamily="34" charset="0"/>
                <a:ea typeface="Calibri" pitchFamily="34" charset="-122"/>
                <a:cs typeface="Calibri" pitchFamily="34" charset="-120"/>
              </a:rPr>
              <a:t> for the start, every delta and the end. The client joins them on it.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model failure becomes </a:t>
            </a:r>
            <a:pPr indent="0" marL="0">
              <a:buNone/>
            </a:pPr>
            <a:r>
              <a:rPr lang="en-US" sz="1200" b="1" dirty="0">
                <a:solidFill>
                  <a:srgbClr val="141B3D"/>
                </a:solidFill>
                <a:latin typeface="Calibri" pitchFamily="34" charset="0"/>
                <a:ea typeface="Calibri" pitchFamily="34" charset="-122"/>
                <a:cs typeface="Calibri" pitchFamily="34" charset="-120"/>
              </a:rPr>
              <a:t>RUN_ERROR</a:t>
            </a:r>
            <a:pPr indent="0" marL="0">
              <a:buNone/>
            </a:pPr>
            <a:r>
              <a:rPr lang="en-US" sz="1200" dirty="0">
                <a:solidFill>
                  <a:srgbClr val="1F2937"/>
                </a:solidFill>
                <a:latin typeface="Calibri" pitchFamily="34" charset="0"/>
                <a:ea typeface="Calibri" pitchFamily="34" charset="-122"/>
                <a:cs typeface="Calibri" pitchFamily="34" charset="-120"/>
              </a:rPr>
              <a:t>, not a broken stream. Success ends with RUN_FINISHED. Exactly one terminal event either way.</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server.py wraps this in EventEncoder and a StreamingResponse, so the first event leaves before the model has finished.</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The page reads the stream with fetch, because the request has a body</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32</a:t>
            </a:r>
            <a:endParaRPr lang="en-US" sz="1000" dirty="0"/>
          </a:p>
        </p:txBody>
      </p:sp>
      <p:sp>
        <p:nvSpPr>
          <p:cNvPr id="5" name="Shape 3"/>
          <p:cNvSpPr/>
          <p:nvPr/>
        </p:nvSpPr>
        <p:spPr>
          <a:xfrm>
            <a:off x="548640" y="1417320"/>
            <a:ext cx="7406640" cy="2689098"/>
          </a:xfrm>
          <a:prstGeom prst="roundRect">
            <a:avLst>
              <a:gd name="adj" fmla="val 3400"/>
            </a:avLst>
          </a:prstGeom>
          <a:solidFill>
            <a:srgbClr val="0F172A"/>
          </a:solidFill>
          <a:ln w="12700">
            <a:solidFill>
              <a:srgbClr val="0F172A"/>
            </a:solidFill>
            <a:prstDash val="solid"/>
          </a:ln>
        </p:spPr>
      </p:sp>
      <p:sp>
        <p:nvSpPr>
          <p:cNvPr id="6" name="Text 4"/>
          <p:cNvSpPr/>
          <p:nvPr/>
        </p:nvSpPr>
        <p:spPr>
          <a:xfrm>
            <a:off x="731520" y="1554480"/>
            <a:ext cx="7040880" cy="2414778"/>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async function* readEvents(response)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reader = response.body.getReader();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decoder = new TextDecoder();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let buffer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while (true)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 value, done } = await reader.read();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(done) break;</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buffer += decoder.decode(value, { stream: true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let cut;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while ((cut = buffer.indexOf("\n\n")) &gt;= 0)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block = buffer.slice(0, cut);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buffer = buffer.slice(cut + 2);</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event = parseBlock(block);</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(event) yield event;</a:t>
            </a:r>
            <a:endParaRPr lang="en-US" sz="1050" dirty="0"/>
          </a:p>
        </p:txBody>
      </p:sp>
      <p:sp>
        <p:nvSpPr>
          <p:cNvPr id="7" name="Text 5"/>
          <p:cNvSpPr/>
          <p:nvPr/>
        </p:nvSpPr>
        <p:spPr>
          <a:xfrm>
            <a:off x="548640" y="4152138"/>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02_ag_ui/step_01_ag_ui_server/sse.mjs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b="1" dirty="0">
                <a:solidFill>
                  <a:srgbClr val="141B3D"/>
                </a:solidFill>
                <a:latin typeface="Calibri" pitchFamily="34" charset="0"/>
                <a:ea typeface="Calibri" pitchFamily="34" charset="-122"/>
                <a:cs typeface="Calibri" pitchFamily="34" charset="-120"/>
              </a:rPr>
              <a:t>response.body.getReader()</a:t>
            </a:r>
            <a:pPr indent="0" marL="0">
              <a:buNone/>
            </a:pPr>
            <a:r>
              <a:rPr lang="en-US" sz="1200" dirty="0">
                <a:solidFill>
                  <a:srgbClr val="1F2937"/>
                </a:solidFill>
                <a:latin typeface="Calibri" pitchFamily="34" charset="0"/>
                <a:ea typeface="Calibri" pitchFamily="34" charset="-122"/>
                <a:cs typeface="Calibri" pitchFamily="34" charset="-120"/>
              </a:rPr>
              <a:t> gives raw bytes. EventSource would parse SSE for free, but it cannot POST a RunAgentInput.</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chunk can end in the middle of an event. The buffer holds the remainder until the next blank line.</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One block is the data: lines up to a blank line; </a:t>
            </a:r>
            <a:pPr indent="0" marL="0">
              <a:buNone/>
            </a:pPr>
            <a:r>
              <a:rPr lang="en-US" sz="1200" b="1" dirty="0">
                <a:solidFill>
                  <a:srgbClr val="141B3D"/>
                </a:solidFill>
                <a:latin typeface="Calibri" pitchFamily="34" charset="0"/>
                <a:ea typeface="Calibri" pitchFamily="34" charset="-122"/>
                <a:cs typeface="Calibri" pitchFamily="34" charset="-120"/>
              </a:rPr>
              <a:t>parseBlock</a:t>
            </a:r>
            <a:pPr indent="0" marL="0">
              <a:buNone/>
            </a:pPr>
            <a:r>
              <a:rPr lang="en-US" sz="1200" dirty="0">
                <a:solidFill>
                  <a:srgbClr val="1F2937"/>
                </a:solidFill>
                <a:latin typeface="Calibri" pitchFamily="34" charset="0"/>
                <a:ea typeface="Calibri" pitchFamily="34" charset="-122"/>
                <a:cs typeface="Calibri" pitchFamily="34" charset="-120"/>
              </a:rPr>
              <a:t> turns it into one JSON event, and app.js switches on event.type.</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app.js keeps the messages array; a finished assistant message joins it, so the next run sends the whole conversation back.</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02.1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One request, 22 events, one terminal event</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33</a:t>
            </a:r>
            <a:endParaRPr lang="en-US" sz="1000" dirty="0"/>
          </a:p>
        </p:txBody>
      </p:sp>
      <p:pic>
        <p:nvPicPr>
          <p:cNvPr id="5" name="Image 0" descr="C:\Users\evija\simple-coding-harness\genui\02_ag_ui\step_01_ag_ui_server\demo.png">    </p:cNvPr>
          <p:cNvPicPr>
            <a:picLocks noChangeAspect="1"/>
          </p:cNvPicPr>
          <p:nvPr/>
        </p:nvPicPr>
        <p:blipFill>
          <a:blip r:embed="rId1"/>
          <a:srcRect l="0" r="0" t="0" b="0"/>
          <a:stretch/>
        </p:blipFill>
        <p:spPr>
          <a:xfrm>
            <a:off x="548640" y="1417320"/>
            <a:ext cx="6583680" cy="3950208"/>
          </a:xfrm>
          <a:prstGeom prst="rect">
            <a:avLst/>
          </a:prstGeom>
        </p:spPr>
      </p:pic>
      <p:sp>
        <p:nvSpPr>
          <p:cNvPr id="6" name="Shape 3"/>
          <p:cNvSpPr/>
          <p:nvPr/>
        </p:nvSpPr>
        <p:spPr>
          <a:xfrm>
            <a:off x="548640" y="1417320"/>
            <a:ext cx="6583680" cy="3950208"/>
          </a:xfrm>
          <a:prstGeom prst="rect">
            <a:avLst/>
          </a:prstGeom>
          <a:ln w="12700">
            <a:solidFill>
              <a:srgbClr val="D7DAE5"/>
            </a:solidFill>
            <a:prstDash val="solid"/>
          </a:ln>
        </p:spPr>
      </p:sp>
      <p:sp>
        <p:nvSpPr>
          <p:cNvPr id="7" name="Shape 4"/>
          <p:cNvSpPr/>
          <p:nvPr/>
        </p:nvSpPr>
        <p:spPr>
          <a:xfrm>
            <a:off x="7498080" y="1417320"/>
            <a:ext cx="414223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635240" y="1472184"/>
            <a:ext cx="386791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18</a:t>
            </a:r>
            <a:endParaRPr lang="en-US" sz="2800" dirty="0"/>
          </a:p>
        </p:txBody>
      </p:sp>
      <p:sp>
        <p:nvSpPr>
          <p:cNvPr id="9" name="Text 6"/>
          <p:cNvSpPr/>
          <p:nvPr/>
        </p:nvSpPr>
        <p:spPr>
          <a:xfrm>
            <a:off x="7635240" y="203911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TEXT_MESSAGE_CONTENT events in the recorded run</a:t>
            </a:r>
            <a:endParaRPr lang="en-US" sz="1050" dirty="0"/>
          </a:p>
        </p:txBody>
      </p:sp>
      <p:sp>
        <p:nvSpPr>
          <p:cNvPr id="10" name="Shape 7"/>
          <p:cNvSpPr/>
          <p:nvPr/>
        </p:nvSpPr>
        <p:spPr>
          <a:xfrm>
            <a:off x="7498080" y="2697480"/>
            <a:ext cx="414223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635240" y="2752344"/>
            <a:ext cx="3867912"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5</a:t>
            </a:r>
            <a:endParaRPr lang="en-US" sz="2800" dirty="0"/>
          </a:p>
        </p:txBody>
      </p:sp>
      <p:sp>
        <p:nvSpPr>
          <p:cNvPr id="12" name="Text 9"/>
          <p:cNvSpPr/>
          <p:nvPr/>
        </p:nvSpPr>
        <p:spPr>
          <a:xfrm>
            <a:off x="7635240" y="331927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event kinds on the wire</a:t>
            </a:r>
            <a:endParaRPr lang="en-US" sz="1050" dirty="0"/>
          </a:p>
        </p:txBody>
      </p:sp>
      <p:sp>
        <p:nvSpPr>
          <p:cNvPr id="13" name="Text 10"/>
          <p:cNvSpPr/>
          <p:nvPr/>
        </p:nvSpPr>
        <p:spPr>
          <a:xfrm>
            <a:off x="7498080" y="4023360"/>
            <a:ext cx="414223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Left: the answer rendered word by word from the deltas.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Right: every event as one line, camelCase keys, the same messageId on start, content and end.</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page ran the prompt as a second request and got a different sentence; the wire looked the same.</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Checkpoint: set API_KEY to a wrong value. The stream still ends with one terminal event, now RUN_ERROR, and the page still reaches a final status.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02.2 · LEVEL 6 OF 23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Generative UI as shared state: the model patches an object, the page renders it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34</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Nothing on the wire says "metric card". A tool returns a </a:t>
            </a:r>
            <a:pPr indent="0" marL="0">
              <a:buNone/>
            </a:pPr>
            <a:r>
              <a:rPr lang="en-US" sz="1600" b="1" dirty="0">
                <a:solidFill>
                  <a:srgbClr val="141B3D"/>
                </a:solidFill>
                <a:latin typeface="Calibri" pitchFamily="34" charset="0"/>
                <a:ea typeface="Calibri" pitchFamily="34" charset="-122"/>
                <a:cs typeface="Calibri" pitchFamily="34" charset="-120"/>
              </a:rPr>
              <a:t>JSON Patch</a:t>
            </a:r>
            <a:pPr indent="0" marL="0">
              <a:buNone/>
            </a:pPr>
            <a:r>
              <a:rPr lang="en-US" sz="1600" dirty="0">
                <a:solidFill>
                  <a:srgbClr val="141B3D"/>
                </a:solidFill>
                <a:latin typeface="Calibri" pitchFamily="34" charset="0"/>
                <a:ea typeface="Calibri" pitchFamily="34" charset="-122"/>
                <a:cs typeface="Calibri" pitchFamily="34" charset="-120"/>
              </a:rPr>
              <a:t> to a dashboard object; the page re-renders the object.</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Tool calls stream in three parts joined by toolCallId; the result is a fourth event.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STATE_SNAPSHOT opens the run with the whole object; STATE_DELTA carries a patch.</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Server tools draw nothing: show_metric returns an add on /dashboard/metrics/-.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client owns the object and sends it back, so the next run continues from the same dashboard.</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 client tool is declared in RunAgentInput.tools; the server streams the call and ends the run.</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page answers as a tool message and starts the next run with no user text.</a:t>
            </a:r>
            <a:endParaRPr lang="en-US" sz="1350" dirty="0"/>
          </a:p>
        </p:txBody>
      </p:sp>
      <p:sp>
        <p:nvSpPr>
          <p:cNvPr id="7" name="Shape 5"/>
          <p:cNvSpPr/>
          <p:nvPr/>
        </p:nvSpPr>
        <p:spPr>
          <a:xfrm>
            <a:off x="6035040" y="1600200"/>
            <a:ext cx="2377440" cy="475488"/>
          </a:xfrm>
          <a:prstGeom prst="roundRect">
            <a:avLst>
              <a:gd name="adj" fmla="val 15385"/>
            </a:avLst>
          </a:prstGeom>
          <a:solidFill>
            <a:srgbClr val="FFF1F2"/>
          </a:solidFill>
          <a:ln w="12700">
            <a:solidFill>
              <a:srgbClr val="BE123C"/>
            </a:solidFill>
            <a:prstDash val="solid"/>
          </a:ln>
        </p:spPr>
      </p:sp>
      <p:sp>
        <p:nvSpPr>
          <p:cNvPr id="8" name="Text 6"/>
          <p:cNvSpPr/>
          <p:nvPr/>
        </p:nvSpPr>
        <p:spPr>
          <a:xfrm>
            <a:off x="6126480" y="1600200"/>
            <a:ext cx="2194560" cy="475488"/>
          </a:xfrm>
          <a:prstGeom prst="rect">
            <a:avLst/>
          </a:prstGeom>
          <a:noFill/>
          <a:ln/>
        </p:spPr>
        <p:txBody>
          <a:bodyPr wrap="square" lIns="0" tIns="0" rIns="0" bIns="0" rtlCol="0" anchor="ctr"/>
          <a:lstStyle/>
          <a:p>
            <a:pPr indent="0" marL="0">
              <a:buNone/>
            </a:pPr>
            <a:r>
              <a:rPr lang="en-US" sz="1050" b="1" dirty="0">
                <a:solidFill>
                  <a:srgbClr val="BE123C"/>
                </a:solidFill>
                <a:latin typeface="Courier New" pitchFamily="34" charset="0"/>
                <a:ea typeface="Courier New" pitchFamily="34" charset="-122"/>
                <a:cs typeface="Courier New" pitchFamily="34" charset="-120"/>
              </a:rPr>
              <a:t>STATE_SNAPSHOT</a:t>
            </a:r>
            <a:endParaRPr lang="en-US" sz="1050" dirty="0"/>
          </a:p>
        </p:txBody>
      </p:sp>
      <p:sp>
        <p:nvSpPr>
          <p:cNvPr id="9" name="Text 7"/>
          <p:cNvSpPr/>
          <p:nvPr/>
        </p:nvSpPr>
        <p:spPr>
          <a:xfrm>
            <a:off x="8549640" y="1600200"/>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state this run starts from, sent or empty</a:t>
            </a:r>
            <a:endParaRPr lang="en-US" sz="1150" dirty="0"/>
          </a:p>
        </p:txBody>
      </p:sp>
      <p:sp>
        <p:nvSpPr>
          <p:cNvPr id="10" name="Shape 8"/>
          <p:cNvSpPr/>
          <p:nvPr/>
        </p:nvSpPr>
        <p:spPr>
          <a:xfrm>
            <a:off x="6035040" y="2167128"/>
            <a:ext cx="2377440" cy="475488"/>
          </a:xfrm>
          <a:prstGeom prst="roundRect">
            <a:avLst>
              <a:gd name="adj" fmla="val 15385"/>
            </a:avLst>
          </a:prstGeom>
          <a:solidFill>
            <a:srgbClr val="F6F7FB"/>
          </a:solidFill>
          <a:ln w="12700">
            <a:solidFill>
              <a:srgbClr val="141B3D"/>
            </a:solidFill>
            <a:prstDash val="solid"/>
          </a:ln>
        </p:spPr>
      </p:sp>
      <p:sp>
        <p:nvSpPr>
          <p:cNvPr id="11" name="Text 9"/>
          <p:cNvSpPr/>
          <p:nvPr/>
        </p:nvSpPr>
        <p:spPr>
          <a:xfrm>
            <a:off x="6126480" y="2167128"/>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TOOL_CALL_START</a:t>
            </a:r>
            <a:endParaRPr lang="en-US" sz="1050" dirty="0"/>
          </a:p>
        </p:txBody>
      </p:sp>
      <p:sp>
        <p:nvSpPr>
          <p:cNvPr id="12" name="Text 10"/>
          <p:cNvSpPr/>
          <p:nvPr/>
        </p:nvSpPr>
        <p:spPr>
          <a:xfrm>
            <a:off x="8549640" y="2167128"/>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toolCallId and toolCallName</a:t>
            </a:r>
            <a:endParaRPr lang="en-US" sz="1150" dirty="0"/>
          </a:p>
        </p:txBody>
      </p:sp>
      <p:sp>
        <p:nvSpPr>
          <p:cNvPr id="13" name="Shape 11"/>
          <p:cNvSpPr/>
          <p:nvPr/>
        </p:nvSpPr>
        <p:spPr>
          <a:xfrm>
            <a:off x="6035040" y="2734056"/>
            <a:ext cx="2377440" cy="475488"/>
          </a:xfrm>
          <a:prstGeom prst="roundRect">
            <a:avLst>
              <a:gd name="adj" fmla="val 15385"/>
            </a:avLst>
          </a:prstGeom>
          <a:solidFill>
            <a:srgbClr val="F6F7FB"/>
          </a:solidFill>
          <a:ln w="12700">
            <a:solidFill>
              <a:srgbClr val="141B3D"/>
            </a:solidFill>
            <a:prstDash val="solid"/>
          </a:ln>
        </p:spPr>
      </p:sp>
      <p:sp>
        <p:nvSpPr>
          <p:cNvPr id="14" name="Text 12"/>
          <p:cNvSpPr/>
          <p:nvPr/>
        </p:nvSpPr>
        <p:spPr>
          <a:xfrm>
            <a:off x="6126480" y="2734056"/>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TOOL_CALL_ARGS</a:t>
            </a:r>
            <a:endParaRPr lang="en-US" sz="1050" dirty="0"/>
          </a:p>
        </p:txBody>
      </p:sp>
      <p:sp>
        <p:nvSpPr>
          <p:cNvPr id="15" name="Text 13"/>
          <p:cNvSpPr/>
          <p:nvPr/>
        </p:nvSpPr>
        <p:spPr>
          <a:xfrm>
            <a:off x="8549640" y="2734056"/>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JSON arguments, in pieces as the model streams</a:t>
            </a:r>
            <a:endParaRPr lang="en-US" sz="1150" dirty="0"/>
          </a:p>
        </p:txBody>
      </p:sp>
      <p:sp>
        <p:nvSpPr>
          <p:cNvPr id="16" name="Shape 14"/>
          <p:cNvSpPr/>
          <p:nvPr/>
        </p:nvSpPr>
        <p:spPr>
          <a:xfrm>
            <a:off x="6035040" y="3300984"/>
            <a:ext cx="2377440" cy="475488"/>
          </a:xfrm>
          <a:prstGeom prst="roundRect">
            <a:avLst>
              <a:gd name="adj" fmla="val 15385"/>
            </a:avLst>
          </a:prstGeom>
          <a:solidFill>
            <a:srgbClr val="F6F7FB"/>
          </a:solidFill>
          <a:ln w="12700">
            <a:solidFill>
              <a:srgbClr val="141B3D"/>
            </a:solidFill>
            <a:prstDash val="solid"/>
          </a:ln>
        </p:spPr>
      </p:sp>
      <p:sp>
        <p:nvSpPr>
          <p:cNvPr id="17" name="Text 15"/>
          <p:cNvSpPr/>
          <p:nvPr/>
        </p:nvSpPr>
        <p:spPr>
          <a:xfrm>
            <a:off x="6126480" y="3300984"/>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TOOL_CALL_END</a:t>
            </a:r>
            <a:endParaRPr lang="en-US" sz="1050" dirty="0"/>
          </a:p>
        </p:txBody>
      </p:sp>
      <p:sp>
        <p:nvSpPr>
          <p:cNvPr id="18" name="Text 16"/>
          <p:cNvSpPr/>
          <p:nvPr/>
        </p:nvSpPr>
        <p:spPr>
          <a:xfrm>
            <a:off x="8549640" y="3300984"/>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arguments are complete; the server parses them now</a:t>
            </a:r>
            <a:endParaRPr lang="en-US" sz="1150" dirty="0"/>
          </a:p>
        </p:txBody>
      </p:sp>
      <p:sp>
        <p:nvSpPr>
          <p:cNvPr id="19" name="Shape 17"/>
          <p:cNvSpPr/>
          <p:nvPr/>
        </p:nvSpPr>
        <p:spPr>
          <a:xfrm>
            <a:off x="6035040" y="3867912"/>
            <a:ext cx="2377440" cy="475488"/>
          </a:xfrm>
          <a:prstGeom prst="roundRect">
            <a:avLst>
              <a:gd name="adj" fmla="val 15385"/>
            </a:avLst>
          </a:prstGeom>
          <a:solidFill>
            <a:srgbClr val="FFF1F2"/>
          </a:solidFill>
          <a:ln w="12700">
            <a:solidFill>
              <a:srgbClr val="BE123C"/>
            </a:solidFill>
            <a:prstDash val="solid"/>
          </a:ln>
        </p:spPr>
      </p:sp>
      <p:sp>
        <p:nvSpPr>
          <p:cNvPr id="20" name="Text 18"/>
          <p:cNvSpPr/>
          <p:nvPr/>
        </p:nvSpPr>
        <p:spPr>
          <a:xfrm>
            <a:off x="6126480" y="3867912"/>
            <a:ext cx="2194560" cy="475488"/>
          </a:xfrm>
          <a:prstGeom prst="rect">
            <a:avLst/>
          </a:prstGeom>
          <a:noFill/>
          <a:ln/>
        </p:spPr>
        <p:txBody>
          <a:bodyPr wrap="square" lIns="0" tIns="0" rIns="0" bIns="0" rtlCol="0" anchor="ctr"/>
          <a:lstStyle/>
          <a:p>
            <a:pPr indent="0" marL="0">
              <a:buNone/>
            </a:pPr>
            <a:r>
              <a:rPr lang="en-US" sz="1050" b="1" dirty="0">
                <a:solidFill>
                  <a:srgbClr val="BE123C"/>
                </a:solidFill>
                <a:latin typeface="Courier New" pitchFamily="34" charset="0"/>
                <a:ea typeface="Courier New" pitchFamily="34" charset="-122"/>
                <a:cs typeface="Courier New" pitchFamily="34" charset="-120"/>
              </a:rPr>
              <a:t>STATE_DELTA</a:t>
            </a:r>
            <a:endParaRPr lang="en-US" sz="1050" dirty="0"/>
          </a:p>
        </p:txBody>
      </p:sp>
      <p:sp>
        <p:nvSpPr>
          <p:cNvPr id="21" name="Text 19"/>
          <p:cNvSpPr/>
          <p:nvPr/>
        </p:nvSpPr>
        <p:spPr>
          <a:xfrm>
            <a:off x="8549640" y="3867912"/>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JSON Patch: add, replace or remove at a JSON Pointer</a:t>
            </a:r>
            <a:endParaRPr lang="en-US" sz="1150" dirty="0"/>
          </a:p>
        </p:txBody>
      </p:sp>
      <p:sp>
        <p:nvSpPr>
          <p:cNvPr id="22" name="Shape 20"/>
          <p:cNvSpPr/>
          <p:nvPr/>
        </p:nvSpPr>
        <p:spPr>
          <a:xfrm>
            <a:off x="6035040" y="4434840"/>
            <a:ext cx="2377440" cy="475488"/>
          </a:xfrm>
          <a:prstGeom prst="roundRect">
            <a:avLst>
              <a:gd name="adj" fmla="val 15385"/>
            </a:avLst>
          </a:prstGeom>
          <a:solidFill>
            <a:srgbClr val="ECFDF5"/>
          </a:solidFill>
          <a:ln w="12700">
            <a:solidFill>
              <a:srgbClr val="15803D"/>
            </a:solidFill>
            <a:prstDash val="solid"/>
          </a:ln>
        </p:spPr>
      </p:sp>
      <p:sp>
        <p:nvSpPr>
          <p:cNvPr id="23" name="Text 21"/>
          <p:cNvSpPr/>
          <p:nvPr/>
        </p:nvSpPr>
        <p:spPr>
          <a:xfrm>
            <a:off x="6126480" y="4434840"/>
            <a:ext cx="2194560" cy="475488"/>
          </a:xfrm>
          <a:prstGeom prst="rect">
            <a:avLst/>
          </a:prstGeom>
          <a:noFill/>
          <a:ln/>
        </p:spPr>
        <p:txBody>
          <a:bodyPr wrap="square" lIns="0" tIns="0" rIns="0" bIns="0" rtlCol="0" anchor="ctr"/>
          <a:lstStyle/>
          <a:p>
            <a:pPr indent="0" marL="0">
              <a:buNone/>
            </a:pPr>
            <a:r>
              <a:rPr lang="en-US" sz="1050" b="1" dirty="0">
                <a:solidFill>
                  <a:srgbClr val="15803D"/>
                </a:solidFill>
                <a:latin typeface="Courier New" pitchFamily="34" charset="0"/>
                <a:ea typeface="Courier New" pitchFamily="34" charset="-122"/>
                <a:cs typeface="Courier New" pitchFamily="34" charset="-120"/>
              </a:rPr>
              <a:t>TOOL_CALL_RESULT</a:t>
            </a:r>
            <a:endParaRPr lang="en-US" sz="1050" dirty="0"/>
          </a:p>
        </p:txBody>
      </p:sp>
      <p:sp>
        <p:nvSpPr>
          <p:cNvPr id="24" name="Text 22"/>
          <p:cNvSpPr/>
          <p:nvPr/>
        </p:nvSpPr>
        <p:spPr>
          <a:xfrm>
            <a:off x="8549640" y="4434840"/>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tool's answer, role tool; absent for a client tool</a:t>
            </a:r>
            <a:endParaRPr lang="en-US" sz="1150" dirty="0"/>
          </a:p>
        </p:txBody>
      </p:sp>
      <p:sp>
        <p:nvSpPr>
          <p:cNvPr id="25" name="Text 23"/>
          <p:cNvSpPr/>
          <p:nvPr/>
        </p:nvSpPr>
        <p:spPr>
          <a:xfrm>
            <a:off x="6035040" y="5349240"/>
            <a:ext cx="5577840" cy="320040"/>
          </a:xfrm>
          <a:prstGeom prst="rect">
            <a:avLst/>
          </a:prstGeom>
          <a:noFill/>
          <a:ln/>
        </p:spPr>
        <p:txBody>
          <a:bodyPr wrap="square" lIns="0" tIns="0" rIns="0" bIns="0" rtlCol="0" anchor="ctr"/>
          <a:lstStyle/>
          <a:p>
            <a:pPr indent="0" marL="0">
              <a:buNone/>
            </a:pPr>
            <a:r>
              <a:rPr lang="en-US" sz="1050" i="1" dirty="0">
                <a:solidFill>
                  <a:srgbClr val="8B93A7"/>
                </a:solidFill>
                <a:latin typeface="Calibri" pitchFamily="34" charset="0"/>
                <a:ea typeface="Calibri" pitchFamily="34" charset="-122"/>
                <a:cs typeface="Calibri" pitchFamily="34" charset="-120"/>
              </a:rPr>
              <a:t>The step 02.1 events are still there. These six are new.</a:t>
            </a:r>
            <a:endParaRPr lang="en-US" sz="1050" dirty="0"/>
          </a:p>
        </p:txBody>
      </p:sp>
      <p:sp>
        <p:nvSpPr>
          <p:cNvPr id="26" name="Shape 24"/>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7" name="Text 25"/>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The component vocabulary lives in the state shape and the renderers, not in the protocol.</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Apply the patch on the server first, then send it; stop the run for a client tool</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35</a:t>
            </a:r>
            <a:endParaRPr lang="en-US" sz="1000" dirty="0"/>
          </a:p>
        </p:txBody>
      </p:sp>
      <p:sp>
        <p:nvSpPr>
          <p:cNvPr id="5" name="Shape 3"/>
          <p:cNvSpPr/>
          <p:nvPr/>
        </p:nvSpPr>
        <p:spPr>
          <a:xfrm>
            <a:off x="548640" y="1417320"/>
            <a:ext cx="7406640" cy="3177159"/>
          </a:xfrm>
          <a:prstGeom prst="roundRect">
            <a:avLst>
              <a:gd name="adj" fmla="val 2878"/>
            </a:avLst>
          </a:prstGeom>
          <a:solidFill>
            <a:srgbClr val="0F172A"/>
          </a:solidFill>
          <a:ln w="12700">
            <a:solidFill>
              <a:srgbClr val="0F172A"/>
            </a:solidFill>
            <a:prstDash val="solid"/>
          </a:ln>
        </p:spPr>
      </p:sp>
      <p:sp>
        <p:nvSpPr>
          <p:cNvPr id="6" name="Text 4"/>
          <p:cNvSpPr/>
          <p:nvPr/>
        </p:nvSpPr>
        <p:spPr>
          <a:xfrm>
            <a:off x="731520" y="1554480"/>
            <a:ext cx="7040880" cy="2902839"/>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waiting_on_client = False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for call_id, call in calls.items():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call["name"] in client_tools: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waiting_on_client = True  # the page runs it; its result opens the next run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continue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result, operations = execute(call["name"], json.loads(call["arguments"] or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operations: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apply_patch(state, operations)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StateDeltaEvent(delta=operations)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ToolCallResultEvent(message_id=str(uuid4()), tool_call_id=call_id, content=result, ro…</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messages.append({"role": "tool", "tool_call_id": call_id, "content": result})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if waiting_on_client: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break</a:t>
            </a:r>
            <a:endParaRPr lang="en-US" sz="1050" dirty="0"/>
          </a:p>
        </p:txBody>
      </p:sp>
      <p:sp>
        <p:nvSpPr>
          <p:cNvPr id="7" name="Text 5"/>
          <p:cNvSpPr/>
          <p:nvPr/>
        </p:nvSpPr>
        <p:spPr>
          <a:xfrm>
            <a:off x="548640" y="4640199"/>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02_ag_ui/step_02_ag_ui_tools_and_state/agent.py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tool the page declared gets </a:t>
            </a:r>
            <a:pPr indent="0" marL="0">
              <a:buNone/>
            </a:pPr>
            <a:r>
              <a:rPr lang="en-US" sz="1200" b="1" dirty="0">
                <a:solidFill>
                  <a:srgbClr val="141B3D"/>
                </a:solidFill>
                <a:latin typeface="Calibri" pitchFamily="34" charset="0"/>
                <a:ea typeface="Calibri" pitchFamily="34" charset="-122"/>
                <a:cs typeface="Calibri" pitchFamily="34" charset="-120"/>
              </a:rPr>
              <a:t>no result on the server</a:t>
            </a:r>
            <a:pPr indent="0" marL="0">
              <a:buNone/>
            </a:pPr>
            <a:r>
              <a:rPr lang="en-US" sz="1200" dirty="0">
                <a:solidFill>
                  <a:srgbClr val="1F2937"/>
                </a:solidFill>
                <a:latin typeface="Calibri" pitchFamily="34" charset="0"/>
                <a:ea typeface="Calibri" pitchFamily="34" charset="-122"/>
                <a:cs typeface="Calibri" pitchFamily="34" charset="-120"/>
              </a:rPr>
              <a:t>. The flag is set and the loop moves on; the answer arrives on the next run.</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b="1" dirty="0">
                <a:solidFill>
                  <a:srgbClr val="141B3D"/>
                </a:solidFill>
                <a:latin typeface="Calibri" pitchFamily="34" charset="0"/>
                <a:ea typeface="Calibri" pitchFamily="34" charset="-122"/>
                <a:cs typeface="Calibri" pitchFamily="34" charset="-120"/>
              </a:rPr>
              <a:t>apply_patch</a:t>
            </a:r>
            <a:pPr indent="0" marL="0">
              <a:buNone/>
            </a:pPr>
            <a:r>
              <a:rPr lang="en-US" sz="1200" dirty="0">
                <a:solidFill>
                  <a:srgbClr val="1F2937"/>
                </a:solidFill>
                <a:latin typeface="Calibri" pitchFamily="34" charset="0"/>
                <a:ea typeface="Calibri" pitchFamily="34" charset="-122"/>
                <a:cs typeface="Calibri" pitchFamily="34" charset="-120"/>
              </a:rPr>
              <a:t> on the server copy, then the same operations go out as STATE_DELTA. Both copies stay equal.</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run ends with the call still open. The page draws the buttons; the click becomes a tool message.</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run opened with yield StateSnapshotEvent(snapshot=state), where state is the client's copy or initial_state().</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Server tools return patches; not one of them draws anything</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36</a:t>
            </a:r>
            <a:endParaRPr lang="en-US" sz="1000" dirty="0"/>
          </a:p>
        </p:txBody>
      </p:sp>
      <p:sp>
        <p:nvSpPr>
          <p:cNvPr id="5" name="Shape 3"/>
          <p:cNvSpPr/>
          <p:nvPr/>
        </p:nvSpPr>
        <p:spPr>
          <a:xfrm>
            <a:off x="548640" y="1417320"/>
            <a:ext cx="7406640" cy="3014472"/>
          </a:xfrm>
          <a:prstGeom prst="roundRect">
            <a:avLst>
              <a:gd name="adj" fmla="val 3033"/>
            </a:avLst>
          </a:prstGeom>
          <a:solidFill>
            <a:srgbClr val="0F172A"/>
          </a:solidFill>
          <a:ln w="12700">
            <a:solidFill>
              <a:srgbClr val="0F172A"/>
            </a:solidFill>
            <a:prstDash val="solid"/>
          </a:ln>
        </p:spPr>
      </p:sp>
      <p:sp>
        <p:nvSpPr>
          <p:cNvPr id="6" name="Text 4"/>
          <p:cNvSpPr/>
          <p:nvPr/>
        </p:nvSpPr>
        <p:spPr>
          <a:xfrm>
            <a:off x="731520" y="1554480"/>
            <a:ext cx="7040880" cy="2740152"/>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show_metric(title: str, value: str, delta: str = "") -&gt; list: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"""Add one metric card to the dashboard."""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[{"op": "add", "path": "/dashboard/metrics/-", "value": {"title": title, "value": va…</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show_table(columns: list, rows: list) -&gt; list: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"""Set the dashboard table (one table, replaced each time)."""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[{"op": "replace", "path": "/dashboard/table", "value": {"columns": columns, "rows":…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show_chart(kind: str, labels: list, values: list) -&gt; list: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"""Set the dashboard chart. kind is 'bar' or 'line'."""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[{"op": "replace", "path": "/dashboard/chart", "value": {"kind": kind, "labels": lab…</a:t>
            </a:r>
            <a:endParaRPr lang="en-US" sz="1050" dirty="0"/>
          </a:p>
        </p:txBody>
      </p:sp>
      <p:sp>
        <p:nvSpPr>
          <p:cNvPr id="7" name="Text 5"/>
          <p:cNvSpPr/>
          <p:nvPr/>
        </p:nvSpPr>
        <p:spPr>
          <a:xfrm>
            <a:off x="548640" y="4477512"/>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02_ag_ui/step_02_ag_ui_tools_and_state/tools.py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b="1" dirty="0">
                <a:solidFill>
                  <a:srgbClr val="141B3D"/>
                </a:solidFill>
                <a:latin typeface="Calibri" pitchFamily="34" charset="0"/>
                <a:ea typeface="Calibri" pitchFamily="34" charset="-122"/>
                <a:cs typeface="Calibri" pitchFamily="34" charset="-120"/>
              </a:rPr>
              <a:t>/dashboard/metrics/-</a:t>
            </a:r>
            <a:pPr indent="0" marL="0">
              <a:buNone/>
            </a:pPr>
            <a:r>
              <a:rPr lang="en-US" sz="1200" dirty="0">
                <a:solidFill>
                  <a:srgbClr val="1F2937"/>
                </a:solidFill>
                <a:latin typeface="Calibri" pitchFamily="34" charset="0"/>
                <a:ea typeface="Calibri" pitchFamily="34" charset="-122"/>
                <a:cs typeface="Calibri" pitchFamily="34" charset="-120"/>
              </a:rPr>
              <a:t> is JSON Pointer for append. Three metrics in the recorded run became three add operations.</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One table, </a:t>
            </a:r>
            <a:pPr indent="0" marL="0">
              <a:buNone/>
            </a:pPr>
            <a:r>
              <a:rPr lang="en-US" sz="1200" b="1" dirty="0">
                <a:solidFill>
                  <a:srgbClr val="141B3D"/>
                </a:solidFill>
                <a:latin typeface="Calibri" pitchFamily="34" charset="0"/>
                <a:ea typeface="Calibri" pitchFamily="34" charset="-122"/>
                <a:cs typeface="Calibri" pitchFamily="34" charset="-120"/>
              </a:rPr>
              <a:t>replaced</a:t>
            </a:r>
            <a:pPr indent="0" marL="0">
              <a:buNone/>
            </a:pPr>
            <a:r>
              <a:rPr lang="en-US" sz="1200" dirty="0">
                <a:solidFill>
                  <a:srgbClr val="1F2937"/>
                </a:solidFill>
                <a:latin typeface="Calibri" pitchFamily="34" charset="0"/>
                <a:ea typeface="Calibri" pitchFamily="34" charset="-122"/>
                <a:cs typeface="Calibri" pitchFamily="34" charset="-120"/>
              </a:rPr>
              <a:t> each time. The page's renderer decides what a table looks like; the protocol only moves the object.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Each tool is a pure function from arguments to operations. json_patch.py and json-patch.mjs apply them identically on both sides.</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render.mjs rebuilds the dashboard from the state object on every STATE_SNAPSHOT and STATE_DELTA.</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02.2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Three runs: build the dashboard, ask the page, record the answer</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37</a:t>
            </a:r>
            <a:endParaRPr lang="en-US" sz="1000" dirty="0"/>
          </a:p>
        </p:txBody>
      </p:sp>
      <p:pic>
        <p:nvPicPr>
          <p:cNvPr id="5" name="Image 0" descr="C:\Users\evija\simple-coding-harness\genui\02_ag_ui\step_02_ag_ui_tools_and_state\demo.png">    </p:cNvPr>
          <p:cNvPicPr>
            <a:picLocks noChangeAspect="1"/>
          </p:cNvPicPr>
          <p:nvPr/>
        </p:nvPicPr>
        <p:blipFill>
          <a:blip r:embed="rId1"/>
          <a:srcRect l="0" r="0" t="0" b="0"/>
          <a:stretch/>
        </p:blipFill>
        <p:spPr>
          <a:xfrm>
            <a:off x="548640" y="1417320"/>
            <a:ext cx="5477256" cy="4480560"/>
          </a:xfrm>
          <a:prstGeom prst="rect">
            <a:avLst/>
          </a:prstGeom>
        </p:spPr>
      </p:pic>
      <p:sp>
        <p:nvSpPr>
          <p:cNvPr id="6" name="Shape 3"/>
          <p:cNvSpPr/>
          <p:nvPr/>
        </p:nvSpPr>
        <p:spPr>
          <a:xfrm>
            <a:off x="548640" y="1417320"/>
            <a:ext cx="5477256" cy="4480560"/>
          </a:xfrm>
          <a:prstGeom prst="rect">
            <a:avLst/>
          </a:prstGeom>
          <a:ln w="12700">
            <a:solidFill>
              <a:srgbClr val="D7DAE5"/>
            </a:solidFill>
            <a:prstDash val="solid"/>
          </a:ln>
        </p:spPr>
      </p:sp>
      <p:sp>
        <p:nvSpPr>
          <p:cNvPr id="7" name="Shape 4"/>
          <p:cNvSpPr/>
          <p:nvPr/>
        </p:nvSpPr>
        <p:spPr>
          <a:xfrm>
            <a:off x="6391656" y="1417320"/>
            <a:ext cx="5248656"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28816" y="1472184"/>
            <a:ext cx="4974336"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64</a:t>
            </a:r>
            <a:endParaRPr lang="en-US" sz="2800" dirty="0"/>
          </a:p>
        </p:txBody>
      </p:sp>
      <p:sp>
        <p:nvSpPr>
          <p:cNvPr id="9" name="Text 6"/>
          <p:cNvSpPr/>
          <p:nvPr/>
        </p:nvSpPr>
        <p:spPr>
          <a:xfrm>
            <a:off x="6528816" y="2039112"/>
            <a:ext cx="4974336"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TOOL_CALL_ARGS events to stream show_table's arguments</a:t>
            </a:r>
            <a:endParaRPr lang="en-US" sz="1050" dirty="0"/>
          </a:p>
        </p:txBody>
      </p:sp>
      <p:sp>
        <p:nvSpPr>
          <p:cNvPr id="10" name="Shape 7"/>
          <p:cNvSpPr/>
          <p:nvPr/>
        </p:nvSpPr>
        <p:spPr>
          <a:xfrm>
            <a:off x="6391656" y="2697480"/>
            <a:ext cx="5248656"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28816" y="2752344"/>
            <a:ext cx="4974336"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3</a:t>
            </a:r>
            <a:endParaRPr lang="en-US" sz="2800" dirty="0"/>
          </a:p>
        </p:txBody>
      </p:sp>
      <p:sp>
        <p:nvSpPr>
          <p:cNvPr id="12" name="Text 9"/>
          <p:cNvSpPr/>
          <p:nvPr/>
        </p:nvSpPr>
        <p:spPr>
          <a:xfrm>
            <a:off x="6528816" y="3319272"/>
            <a:ext cx="4974336"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metrics in the second run's STATE_SNAPSHOT: the page sent the dashboard back</a:t>
            </a:r>
            <a:endParaRPr lang="en-US" sz="1050" dirty="0"/>
          </a:p>
        </p:txBody>
      </p:sp>
      <p:sp>
        <p:nvSpPr>
          <p:cNvPr id="13" name="Text 10"/>
          <p:cNvSpPr/>
          <p:nvPr/>
        </p:nvSpPr>
        <p:spPr>
          <a:xfrm>
            <a:off x="6391656" y="4023360"/>
            <a:ext cx="5248656" cy="18745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Run 1 opens with STATE_SNAPSHOT at 0 metrics, then show_metric three times, show_table, show_chart, each followed by a STATE_DELTA.</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Run 2: the model calls confirm_purchase and the run finishes with no TOOL_CALL_RESULT; the confirm panel appears on the left.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Run 3, after the click: record_purchase adds to /dashboard/purchases/-.</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Right: the dashboard rendered from state, never from a component message.</a:t>
            </a:r>
            <a:endParaRPr lang="en-US" sz="11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Checkpoint: remove confirm_purchase from CLIENT_TOOLS in app.js and ask to buy something. Why does the run no longer stop early?</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02.3 · LEVEL 7 OF 23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A terminal and AG-UI are two transports for the same loop</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38</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The harness codelab's coding agent runs from a browser with </a:t>
            </a:r>
            <a:pPr indent="0" marL="0">
              <a:buNone/>
            </a:pPr>
            <a:r>
              <a:rPr lang="en-US" sz="1600" b="1" dirty="0">
                <a:solidFill>
                  <a:srgbClr val="141B3D"/>
                </a:solidFill>
                <a:latin typeface="Calibri" pitchFamily="34" charset="0"/>
                <a:ea typeface="Calibri" pitchFamily="34" charset="-122"/>
                <a:cs typeface="Calibri" pitchFamily="34" charset="-120"/>
              </a:rPr>
              <a:t>no change to harness/</a:t>
            </a:r>
            <a:pPr indent="0" marL="0">
              <a:buNone/>
            </a:pPr>
            <a:r>
              <a:rPr lang="en-US" sz="1600" dirty="0">
                <a:solidFill>
                  <a:srgbClr val="141B3D"/>
                </a:solidFill>
                <a:latin typeface="Calibri" pitchFamily="34" charset="0"/>
                <a:ea typeface="Calibri" pitchFamily="34" charset="-122"/>
                <a:cs typeface="Calibri" pitchFamily="34" charset="-120"/>
              </a:rPr>
              <a:t>. A bridge translates its side effects into events.</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harness/ is a verbatim copy of the harness codelab's step 21: call_llm, execute, todos, permissions.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 text delta from on_delta becomes TEXT_MESSAGE_CONTENT; an assembled tool call becomes three TOOL_CALL_* events.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plan is shared state: STATE_SNAPSHOT {todos} at the start, STATE_DELTA replace /todos after every write_todos.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 permission question becomes a CUSTOM event named permission, because the browser has no prompt.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Token usage the harness already collects rides on RUN_FINISHED in the TokenUsage shape.</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page uses HttpAgent from @ag-ui/client: no SSE parsing, no message bookkeeping.</a:t>
            </a:r>
            <a:endParaRPr lang="en-US" sz="1300" dirty="0"/>
          </a:p>
        </p:txBody>
      </p:sp>
      <p:sp>
        <p:nvSpPr>
          <p:cNvPr id="7" name="Shape 5"/>
          <p:cNvSpPr/>
          <p:nvPr/>
        </p:nvSpPr>
        <p:spPr>
          <a:xfrm>
            <a:off x="6035040" y="1600200"/>
            <a:ext cx="2377440" cy="450669"/>
          </a:xfrm>
          <a:prstGeom prst="roundRect">
            <a:avLst>
              <a:gd name="adj" fmla="val 16232"/>
            </a:avLst>
          </a:prstGeom>
          <a:solidFill>
            <a:srgbClr val="FFF1F2"/>
          </a:solidFill>
          <a:ln w="12700">
            <a:solidFill>
              <a:srgbClr val="BE123C"/>
            </a:solidFill>
            <a:prstDash val="solid"/>
          </a:ln>
        </p:spPr>
      </p:sp>
      <p:sp>
        <p:nvSpPr>
          <p:cNvPr id="8" name="Text 6"/>
          <p:cNvSpPr/>
          <p:nvPr/>
        </p:nvSpPr>
        <p:spPr>
          <a:xfrm>
            <a:off x="6126480" y="1600200"/>
            <a:ext cx="2194560" cy="450669"/>
          </a:xfrm>
          <a:prstGeom prst="rect">
            <a:avLst/>
          </a:prstGeom>
          <a:noFill/>
          <a:ln/>
        </p:spPr>
        <p:txBody>
          <a:bodyPr wrap="square" lIns="0" tIns="0" rIns="0" bIns="0" rtlCol="0" anchor="ctr"/>
          <a:lstStyle/>
          <a:p>
            <a:pPr indent="0" marL="0">
              <a:buNone/>
            </a:pPr>
            <a:r>
              <a:rPr lang="en-US" sz="1050" b="1" dirty="0">
                <a:solidFill>
                  <a:srgbClr val="BE123C"/>
                </a:solidFill>
                <a:latin typeface="Courier New" pitchFamily="34" charset="0"/>
                <a:ea typeface="Courier New" pitchFamily="34" charset="-122"/>
                <a:cs typeface="Courier New" pitchFamily="34" charset="-120"/>
              </a:rPr>
              <a:t>STATE_SNAPSHOT</a:t>
            </a:r>
            <a:endParaRPr lang="en-US" sz="1050" dirty="0"/>
          </a:p>
        </p:txBody>
      </p:sp>
      <p:sp>
        <p:nvSpPr>
          <p:cNvPr id="9" name="Text 7"/>
          <p:cNvSpPr/>
          <p:nvPr/>
        </p:nvSpPr>
        <p:spPr>
          <a:xfrm>
            <a:off x="8549640" y="1600200"/>
            <a:ext cx="3063240" cy="450669"/>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{"todos": [...]}: the harness's plan, module global</a:t>
            </a:r>
            <a:endParaRPr lang="en-US" sz="1150" dirty="0"/>
          </a:p>
        </p:txBody>
      </p:sp>
      <p:sp>
        <p:nvSpPr>
          <p:cNvPr id="10" name="Shape 8"/>
          <p:cNvSpPr/>
          <p:nvPr/>
        </p:nvSpPr>
        <p:spPr>
          <a:xfrm>
            <a:off x="6035040" y="2142309"/>
            <a:ext cx="2377440" cy="450669"/>
          </a:xfrm>
          <a:prstGeom prst="roundRect">
            <a:avLst>
              <a:gd name="adj" fmla="val 16232"/>
            </a:avLst>
          </a:prstGeom>
          <a:solidFill>
            <a:srgbClr val="F6F7FB"/>
          </a:solidFill>
          <a:ln w="12700">
            <a:solidFill>
              <a:srgbClr val="141B3D"/>
            </a:solidFill>
            <a:prstDash val="solid"/>
          </a:ln>
        </p:spPr>
      </p:sp>
      <p:sp>
        <p:nvSpPr>
          <p:cNvPr id="11" name="Text 9"/>
          <p:cNvSpPr/>
          <p:nvPr/>
        </p:nvSpPr>
        <p:spPr>
          <a:xfrm>
            <a:off x="6126480" y="2142309"/>
            <a:ext cx="2194560" cy="450669"/>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TEXT_MESSAGE_CONTENT</a:t>
            </a:r>
            <a:endParaRPr lang="en-US" sz="1050" dirty="0"/>
          </a:p>
        </p:txBody>
      </p:sp>
      <p:sp>
        <p:nvSpPr>
          <p:cNvPr id="12" name="Text 10"/>
          <p:cNvSpPr/>
          <p:nvPr/>
        </p:nvSpPr>
        <p:spPr>
          <a:xfrm>
            <a:off x="8549640" y="2142309"/>
            <a:ext cx="3063240" cy="450669"/>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one per on_delta callback from call_llm</a:t>
            </a:r>
            <a:endParaRPr lang="en-US" sz="1150" dirty="0"/>
          </a:p>
        </p:txBody>
      </p:sp>
      <p:sp>
        <p:nvSpPr>
          <p:cNvPr id="13" name="Shape 11"/>
          <p:cNvSpPr/>
          <p:nvPr/>
        </p:nvSpPr>
        <p:spPr>
          <a:xfrm>
            <a:off x="6035040" y="2684417"/>
            <a:ext cx="2377440" cy="450669"/>
          </a:xfrm>
          <a:prstGeom prst="roundRect">
            <a:avLst>
              <a:gd name="adj" fmla="val 16232"/>
            </a:avLst>
          </a:prstGeom>
          <a:solidFill>
            <a:srgbClr val="F6F7FB"/>
          </a:solidFill>
          <a:ln w="12700">
            <a:solidFill>
              <a:srgbClr val="141B3D"/>
            </a:solidFill>
            <a:prstDash val="solid"/>
          </a:ln>
        </p:spPr>
      </p:sp>
      <p:sp>
        <p:nvSpPr>
          <p:cNvPr id="14" name="Text 12"/>
          <p:cNvSpPr/>
          <p:nvPr/>
        </p:nvSpPr>
        <p:spPr>
          <a:xfrm>
            <a:off x="6126480" y="2684417"/>
            <a:ext cx="2194560" cy="450669"/>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TOOL_CALL_ARGS</a:t>
            </a:r>
            <a:endParaRPr lang="en-US" sz="1050" dirty="0"/>
          </a:p>
        </p:txBody>
      </p:sp>
      <p:sp>
        <p:nvSpPr>
          <p:cNvPr id="15" name="Text 13"/>
          <p:cNvSpPr/>
          <p:nvPr/>
        </p:nvSpPr>
        <p:spPr>
          <a:xfrm>
            <a:off x="8549640" y="2684417"/>
            <a:ext cx="3063240" cy="450669"/>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one delta: the harness assembles the call first</a:t>
            </a:r>
            <a:endParaRPr lang="en-US" sz="1150" dirty="0"/>
          </a:p>
        </p:txBody>
      </p:sp>
      <p:sp>
        <p:nvSpPr>
          <p:cNvPr id="16" name="Shape 14"/>
          <p:cNvSpPr/>
          <p:nvPr/>
        </p:nvSpPr>
        <p:spPr>
          <a:xfrm>
            <a:off x="6035040" y="3226526"/>
            <a:ext cx="2377440" cy="450669"/>
          </a:xfrm>
          <a:prstGeom prst="roundRect">
            <a:avLst>
              <a:gd name="adj" fmla="val 16232"/>
            </a:avLst>
          </a:prstGeom>
          <a:solidFill>
            <a:srgbClr val="F6F7FB"/>
          </a:solidFill>
          <a:ln w="12700">
            <a:solidFill>
              <a:srgbClr val="141B3D"/>
            </a:solidFill>
            <a:prstDash val="solid"/>
          </a:ln>
        </p:spPr>
      </p:sp>
      <p:sp>
        <p:nvSpPr>
          <p:cNvPr id="17" name="Text 15"/>
          <p:cNvSpPr/>
          <p:nvPr/>
        </p:nvSpPr>
        <p:spPr>
          <a:xfrm>
            <a:off x="6126480" y="3226526"/>
            <a:ext cx="2194560" cy="450669"/>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TOOL_CALL_RESULT</a:t>
            </a:r>
            <a:endParaRPr lang="en-US" sz="1050" dirty="0"/>
          </a:p>
        </p:txBody>
      </p:sp>
      <p:sp>
        <p:nvSpPr>
          <p:cNvPr id="18" name="Text 16"/>
          <p:cNvSpPr/>
          <p:nvPr/>
        </p:nvSpPr>
        <p:spPr>
          <a:xfrm>
            <a:off x="8549640" y="3226526"/>
            <a:ext cx="3063240" cy="450669"/>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return of tools.execute, permission layer included</a:t>
            </a:r>
            <a:endParaRPr lang="en-US" sz="1150" dirty="0"/>
          </a:p>
        </p:txBody>
      </p:sp>
      <p:sp>
        <p:nvSpPr>
          <p:cNvPr id="19" name="Shape 17"/>
          <p:cNvSpPr/>
          <p:nvPr/>
        </p:nvSpPr>
        <p:spPr>
          <a:xfrm>
            <a:off x="6035040" y="3768634"/>
            <a:ext cx="2377440" cy="450669"/>
          </a:xfrm>
          <a:prstGeom prst="roundRect">
            <a:avLst>
              <a:gd name="adj" fmla="val 16232"/>
            </a:avLst>
          </a:prstGeom>
          <a:solidFill>
            <a:srgbClr val="FFF4E5"/>
          </a:solidFill>
          <a:ln w="12700">
            <a:solidFill>
              <a:srgbClr val="D97706"/>
            </a:solidFill>
            <a:prstDash val="solid"/>
          </a:ln>
        </p:spPr>
      </p:sp>
      <p:sp>
        <p:nvSpPr>
          <p:cNvPr id="20" name="Text 18"/>
          <p:cNvSpPr/>
          <p:nvPr/>
        </p:nvSpPr>
        <p:spPr>
          <a:xfrm>
            <a:off x="6126480" y="3768634"/>
            <a:ext cx="2194560" cy="450669"/>
          </a:xfrm>
          <a:prstGeom prst="rect">
            <a:avLst/>
          </a:prstGeom>
          <a:noFill/>
          <a:ln/>
        </p:spPr>
        <p:txBody>
          <a:bodyPr wrap="square" lIns="0" tIns="0" rIns="0" bIns="0" rtlCol="0" anchor="ctr"/>
          <a:lstStyle/>
          <a:p>
            <a:pPr indent="0" marL="0">
              <a:buNone/>
            </a:pPr>
            <a:r>
              <a:rPr lang="en-US" sz="1050" b="1" dirty="0">
                <a:solidFill>
                  <a:srgbClr val="D97706"/>
                </a:solidFill>
                <a:latin typeface="Courier New" pitchFamily="34" charset="0"/>
                <a:ea typeface="Courier New" pitchFamily="34" charset="-122"/>
                <a:cs typeface="Courier New" pitchFamily="34" charset="-120"/>
              </a:rPr>
              <a:t>CUSTOM permission</a:t>
            </a:r>
            <a:endParaRPr lang="en-US" sz="1050" dirty="0"/>
          </a:p>
        </p:txBody>
      </p:sp>
      <p:sp>
        <p:nvSpPr>
          <p:cNvPr id="21" name="Text 19"/>
          <p:cNvSpPr/>
          <p:nvPr/>
        </p:nvSpPr>
        <p:spPr>
          <a:xfrm>
            <a:off x="8549640" y="3768634"/>
            <a:ext cx="3063240" cy="450669"/>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reason and decision; the terminal asked at the prompt</a:t>
            </a:r>
            <a:endParaRPr lang="en-US" sz="1150" dirty="0"/>
          </a:p>
        </p:txBody>
      </p:sp>
      <p:sp>
        <p:nvSpPr>
          <p:cNvPr id="22" name="Shape 20"/>
          <p:cNvSpPr/>
          <p:nvPr/>
        </p:nvSpPr>
        <p:spPr>
          <a:xfrm>
            <a:off x="6035040" y="4310743"/>
            <a:ext cx="2377440" cy="450669"/>
          </a:xfrm>
          <a:prstGeom prst="roundRect">
            <a:avLst>
              <a:gd name="adj" fmla="val 16232"/>
            </a:avLst>
          </a:prstGeom>
          <a:solidFill>
            <a:srgbClr val="FFF1F2"/>
          </a:solidFill>
          <a:ln w="12700">
            <a:solidFill>
              <a:srgbClr val="BE123C"/>
            </a:solidFill>
            <a:prstDash val="solid"/>
          </a:ln>
        </p:spPr>
      </p:sp>
      <p:sp>
        <p:nvSpPr>
          <p:cNvPr id="23" name="Text 21"/>
          <p:cNvSpPr/>
          <p:nvPr/>
        </p:nvSpPr>
        <p:spPr>
          <a:xfrm>
            <a:off x="6126480" y="4310743"/>
            <a:ext cx="2194560" cy="450669"/>
          </a:xfrm>
          <a:prstGeom prst="rect">
            <a:avLst/>
          </a:prstGeom>
          <a:noFill/>
          <a:ln/>
        </p:spPr>
        <p:txBody>
          <a:bodyPr wrap="square" lIns="0" tIns="0" rIns="0" bIns="0" rtlCol="0" anchor="ctr"/>
          <a:lstStyle/>
          <a:p>
            <a:pPr indent="0" marL="0">
              <a:buNone/>
            </a:pPr>
            <a:r>
              <a:rPr lang="en-US" sz="1050" b="1" dirty="0">
                <a:solidFill>
                  <a:srgbClr val="BE123C"/>
                </a:solidFill>
                <a:latin typeface="Courier New" pitchFamily="34" charset="0"/>
                <a:ea typeface="Courier New" pitchFamily="34" charset="-122"/>
                <a:cs typeface="Courier New" pitchFamily="34" charset="-120"/>
              </a:rPr>
              <a:t>STATE_DELTA</a:t>
            </a:r>
            <a:endParaRPr lang="en-US" sz="1050" dirty="0"/>
          </a:p>
        </p:txBody>
      </p:sp>
      <p:sp>
        <p:nvSpPr>
          <p:cNvPr id="24" name="Text 22"/>
          <p:cNvSpPr/>
          <p:nvPr/>
        </p:nvSpPr>
        <p:spPr>
          <a:xfrm>
            <a:off x="8549640" y="4310743"/>
            <a:ext cx="3063240" cy="450669"/>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replace /todos after write_todos</a:t>
            </a:r>
            <a:endParaRPr lang="en-US" sz="1150" dirty="0"/>
          </a:p>
        </p:txBody>
      </p:sp>
      <p:sp>
        <p:nvSpPr>
          <p:cNvPr id="25" name="Shape 23"/>
          <p:cNvSpPr/>
          <p:nvPr/>
        </p:nvSpPr>
        <p:spPr>
          <a:xfrm>
            <a:off x="6035040" y="4852851"/>
            <a:ext cx="2377440" cy="450669"/>
          </a:xfrm>
          <a:prstGeom prst="roundRect">
            <a:avLst>
              <a:gd name="adj" fmla="val 16232"/>
            </a:avLst>
          </a:prstGeom>
          <a:solidFill>
            <a:srgbClr val="ECFDF5"/>
          </a:solidFill>
          <a:ln w="12700">
            <a:solidFill>
              <a:srgbClr val="15803D"/>
            </a:solidFill>
            <a:prstDash val="solid"/>
          </a:ln>
        </p:spPr>
      </p:sp>
      <p:sp>
        <p:nvSpPr>
          <p:cNvPr id="26" name="Text 24"/>
          <p:cNvSpPr/>
          <p:nvPr/>
        </p:nvSpPr>
        <p:spPr>
          <a:xfrm>
            <a:off x="6126480" y="4852851"/>
            <a:ext cx="2194560" cy="450669"/>
          </a:xfrm>
          <a:prstGeom prst="rect">
            <a:avLst/>
          </a:prstGeom>
          <a:noFill/>
          <a:ln/>
        </p:spPr>
        <p:txBody>
          <a:bodyPr wrap="square" lIns="0" tIns="0" rIns="0" bIns="0" rtlCol="0" anchor="ctr"/>
          <a:lstStyle/>
          <a:p>
            <a:pPr indent="0" marL="0">
              <a:buNone/>
            </a:pPr>
            <a:r>
              <a:rPr lang="en-US" sz="1050" b="1" dirty="0">
                <a:solidFill>
                  <a:srgbClr val="15803D"/>
                </a:solidFill>
                <a:latin typeface="Courier New" pitchFamily="34" charset="0"/>
                <a:ea typeface="Courier New" pitchFamily="34" charset="-122"/>
                <a:cs typeface="Courier New" pitchFamily="34" charset="-120"/>
              </a:rPr>
              <a:t>RUN_FINISHED</a:t>
            </a:r>
            <a:endParaRPr lang="en-US" sz="1050" dirty="0"/>
          </a:p>
        </p:txBody>
      </p:sp>
      <p:sp>
        <p:nvSpPr>
          <p:cNvPr id="27" name="Text 25"/>
          <p:cNvSpPr/>
          <p:nvPr/>
        </p:nvSpPr>
        <p:spPr>
          <a:xfrm>
            <a:off x="8549640" y="4852851"/>
            <a:ext cx="3063240" cy="450669"/>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with usage: input and output tokens</a:t>
            </a:r>
            <a:endParaRPr lang="en-US" sz="1150" dirty="0"/>
          </a:p>
        </p:txBody>
      </p:sp>
      <p:sp>
        <p:nvSpPr>
          <p:cNvPr id="28" name="Text 26"/>
          <p:cNvSpPr/>
          <p:nvPr/>
        </p:nvSpPr>
        <p:spPr>
          <a:xfrm>
            <a:off x="6035040" y="5349240"/>
            <a:ext cx="5577840" cy="320040"/>
          </a:xfrm>
          <a:prstGeom prst="rect">
            <a:avLst/>
          </a:prstGeom>
          <a:noFill/>
          <a:ln/>
        </p:spPr>
        <p:txBody>
          <a:bodyPr wrap="square" lIns="0" tIns="0" rIns="0" bIns="0" rtlCol="0" anchor="ctr"/>
          <a:lstStyle/>
          <a:p>
            <a:pPr indent="0" marL="0">
              <a:buNone/>
            </a:pPr>
            <a:r>
              <a:rPr lang="en-US" sz="1050" i="1" dirty="0">
                <a:solidFill>
                  <a:srgbClr val="8B93A7"/>
                </a:solidFill>
                <a:latin typeface="Calibri" pitchFamily="34" charset="0"/>
                <a:ea typeface="Calibri" pitchFamily="34" charset="-122"/>
                <a:cs typeface="Calibri" pitchFamily="34" charset="-120"/>
              </a:rPr>
              <a:t>The same vocabulary as steps 02.1 and 02.2, plus one CUSTOM event.</a:t>
            </a:r>
            <a:endParaRPr lang="en-US" sz="1050" dirty="0"/>
          </a:p>
        </p:txBody>
      </p:sp>
      <p:sp>
        <p:nvSpPr>
          <p:cNvPr id="29" name="Shape 27"/>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30" name="Text 28"/>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A second transport costs a bridge and a page, not a new agent.</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02.3 · THE BRIDGE</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Callbacks push, an event stream pulls; a queue between two threads joins them</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39</a:t>
            </a:r>
            <a:endParaRPr lang="en-US" sz="1000" dirty="0"/>
          </a:p>
        </p:txBody>
      </p:sp>
      <p:sp>
        <p:nvSpPr>
          <p:cNvPr id="5" name="Text 3"/>
          <p:cNvSpPr/>
          <p:nvPr/>
        </p:nvSpPr>
        <p:spPr>
          <a:xfrm>
            <a:off x="548640" y="1417320"/>
            <a:ext cx="11064240" cy="548640"/>
          </a:xfrm>
          <a:prstGeom prst="rect">
            <a:avLst/>
          </a:prstGeom>
          <a:noFill/>
          <a:ln/>
        </p:spPr>
        <p:txBody>
          <a:bodyPr wrap="square" lIns="0" tIns="0" rIns="0" bIns="0" rtlCol="0" anchor="ctr"/>
          <a:lstStyle/>
          <a:p>
            <a:pPr indent="0" marL="0">
              <a:buNone/>
            </a:pPr>
            <a:r>
              <a:rPr lang="en-US" sz="1500" dirty="0">
                <a:solidFill>
                  <a:srgbClr val="141B3D"/>
                </a:solidFill>
                <a:latin typeface="Calibri" pitchFamily="34" charset="0"/>
                <a:ea typeface="Calibri" pitchFamily="34" charset="-122"/>
                <a:cs typeface="Calibri" pitchFamily="34" charset="-120"/>
              </a:rPr>
              <a:t>call_llm blocks and reports text through </a:t>
            </a:r>
            <a:pPr indent="0" marL="0">
              <a:buNone/>
            </a:pPr>
            <a:r>
              <a:rPr lang="en-US" sz="1500" b="1" dirty="0">
                <a:solidFill>
                  <a:srgbClr val="141B3D"/>
                </a:solidFill>
                <a:latin typeface="Calibri" pitchFamily="34" charset="0"/>
                <a:ea typeface="Calibri" pitchFamily="34" charset="-122"/>
                <a:cs typeface="Calibri" pitchFamily="34" charset="-120"/>
              </a:rPr>
              <a:t>on_delta</a:t>
            </a:r>
            <a:pPr indent="0" marL="0">
              <a:buNone/>
            </a:pPr>
            <a:r>
              <a:rPr lang="en-US" sz="1500" dirty="0">
                <a:solidFill>
                  <a:srgbClr val="141B3D"/>
                </a:solidFill>
                <a:latin typeface="Calibri" pitchFamily="34" charset="0"/>
                <a:ea typeface="Calibri" pitchFamily="34" charset="-122"/>
                <a:cs typeface="Calibri" pitchFamily="34" charset="-120"/>
              </a:rPr>
              <a:t>. A worker thread runs it and puts every callback on a queue; a generator drains the queue and yields events; HttpAgent reads them in the page.</a:t>
            </a:r>
            <a:endParaRPr lang="en-US" sz="1500" dirty="0"/>
          </a:p>
        </p:txBody>
      </p:sp>
      <p:sp>
        <p:nvSpPr>
          <p:cNvPr id="6" name="Shape 4"/>
          <p:cNvSpPr/>
          <p:nvPr/>
        </p:nvSpPr>
        <p:spPr>
          <a:xfrm>
            <a:off x="548640" y="3337560"/>
            <a:ext cx="1956816" cy="1005840"/>
          </a:xfrm>
          <a:prstGeom prst="roundRect">
            <a:avLst>
              <a:gd name="adj" fmla="val 9091"/>
            </a:avLst>
          </a:prstGeom>
          <a:solidFill>
            <a:srgbClr val="F6F7FB"/>
          </a:solidFill>
          <a:ln w="15875">
            <a:solidFill>
              <a:srgbClr val="141B3D"/>
            </a:solidFill>
            <a:prstDash val="solid"/>
          </a:ln>
        </p:spPr>
      </p:sp>
      <p:sp>
        <p:nvSpPr>
          <p:cNvPr id="7" name="Text 5"/>
          <p:cNvSpPr/>
          <p:nvPr/>
        </p:nvSpPr>
        <p:spPr>
          <a:xfrm>
            <a:off x="621792" y="3374136"/>
            <a:ext cx="1810512" cy="48463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harness loop</a:t>
            </a:r>
            <a:endParaRPr lang="en-US" sz="1200" dirty="0"/>
          </a:p>
        </p:txBody>
      </p:sp>
      <p:sp>
        <p:nvSpPr>
          <p:cNvPr id="8" name="Text 6"/>
          <p:cNvSpPr/>
          <p:nvPr/>
        </p:nvSpPr>
        <p:spPr>
          <a:xfrm>
            <a:off x="621792" y="3858768"/>
            <a:ext cx="1810512" cy="44805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call_llm(on_delta), execute, write_todos</a:t>
            </a:r>
            <a:endParaRPr lang="en-US" sz="950" dirty="0"/>
          </a:p>
        </p:txBody>
      </p:sp>
      <p:sp>
        <p:nvSpPr>
          <p:cNvPr id="9" name="Shape 7"/>
          <p:cNvSpPr/>
          <p:nvPr/>
        </p:nvSpPr>
        <p:spPr>
          <a:xfrm>
            <a:off x="2532888" y="3840480"/>
            <a:ext cx="265176" cy="9144"/>
          </a:xfrm>
          <a:prstGeom prst="line">
            <a:avLst/>
          </a:prstGeom>
          <a:noFill/>
          <a:ln w="19050">
            <a:solidFill>
              <a:srgbClr val="4B5563"/>
            </a:solidFill>
            <a:prstDash val="solid"/>
            <a:tailEnd type="triangle"/>
          </a:ln>
        </p:spPr>
      </p:sp>
      <p:sp>
        <p:nvSpPr>
          <p:cNvPr id="10" name="Shape 8"/>
          <p:cNvSpPr/>
          <p:nvPr/>
        </p:nvSpPr>
        <p:spPr>
          <a:xfrm>
            <a:off x="2825496" y="3337560"/>
            <a:ext cx="1956816" cy="1005840"/>
          </a:xfrm>
          <a:prstGeom prst="roundRect">
            <a:avLst>
              <a:gd name="adj" fmla="val 9091"/>
            </a:avLst>
          </a:prstGeom>
          <a:solidFill>
            <a:srgbClr val="FFF1F2"/>
          </a:solidFill>
          <a:ln w="15875">
            <a:solidFill>
              <a:srgbClr val="BE123C"/>
            </a:solidFill>
            <a:prstDash val="solid"/>
          </a:ln>
        </p:spPr>
      </p:sp>
      <p:sp>
        <p:nvSpPr>
          <p:cNvPr id="11" name="Text 9"/>
          <p:cNvSpPr/>
          <p:nvPr/>
        </p:nvSpPr>
        <p:spPr>
          <a:xfrm>
            <a:off x="2898648" y="3374136"/>
            <a:ext cx="1810512" cy="484632"/>
          </a:xfrm>
          <a:prstGeom prst="rect">
            <a:avLst/>
          </a:prstGeom>
          <a:noFill/>
          <a:ln/>
        </p:spPr>
        <p:txBody>
          <a:bodyPr wrap="square" lIns="0" tIns="0" rIns="0" bIns="0" rtlCol="0" anchor="b"/>
          <a:lstStyle/>
          <a:p>
            <a:pPr algn="ctr" indent="0" marL="0">
              <a:buNone/>
            </a:pPr>
            <a:r>
              <a:rPr lang="en-US" sz="1200" b="1" dirty="0">
                <a:solidFill>
                  <a:srgbClr val="BE123C"/>
                </a:solidFill>
                <a:latin typeface="Calibri" pitchFamily="34" charset="0"/>
                <a:ea typeface="Calibri" pitchFamily="34" charset="-122"/>
                <a:cs typeface="Calibri" pitchFamily="34" charset="-120"/>
              </a:rPr>
              <a:t>queue</a:t>
            </a:r>
            <a:endParaRPr lang="en-US" sz="1200" dirty="0"/>
          </a:p>
        </p:txBody>
      </p:sp>
      <p:sp>
        <p:nvSpPr>
          <p:cNvPr id="12" name="Text 10"/>
          <p:cNvSpPr/>
          <p:nvPr/>
        </p:nvSpPr>
        <p:spPr>
          <a:xfrm>
            <a:off x="2898648" y="3858768"/>
            <a:ext cx="1810512" cy="44805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("delta", text) then ("message", result)</a:t>
            </a:r>
            <a:endParaRPr lang="en-US" sz="950" dirty="0"/>
          </a:p>
        </p:txBody>
      </p:sp>
      <p:sp>
        <p:nvSpPr>
          <p:cNvPr id="13" name="Shape 11"/>
          <p:cNvSpPr/>
          <p:nvPr/>
        </p:nvSpPr>
        <p:spPr>
          <a:xfrm>
            <a:off x="4809744" y="3840480"/>
            <a:ext cx="265176" cy="9144"/>
          </a:xfrm>
          <a:prstGeom prst="line">
            <a:avLst/>
          </a:prstGeom>
          <a:noFill/>
          <a:ln w="19050">
            <a:solidFill>
              <a:srgbClr val="4B5563"/>
            </a:solidFill>
            <a:prstDash val="solid"/>
            <a:tailEnd type="triangle"/>
          </a:ln>
        </p:spPr>
      </p:sp>
      <p:sp>
        <p:nvSpPr>
          <p:cNvPr id="14" name="Shape 12"/>
          <p:cNvSpPr/>
          <p:nvPr/>
        </p:nvSpPr>
        <p:spPr>
          <a:xfrm>
            <a:off x="5102352" y="3337560"/>
            <a:ext cx="1956816" cy="1005840"/>
          </a:xfrm>
          <a:prstGeom prst="roundRect">
            <a:avLst>
              <a:gd name="adj" fmla="val 9091"/>
            </a:avLst>
          </a:prstGeom>
          <a:solidFill>
            <a:srgbClr val="F6F7FB"/>
          </a:solidFill>
          <a:ln w="15875">
            <a:solidFill>
              <a:srgbClr val="141B3D"/>
            </a:solidFill>
            <a:prstDash val="solid"/>
          </a:ln>
        </p:spPr>
      </p:sp>
      <p:sp>
        <p:nvSpPr>
          <p:cNvPr id="15" name="Text 13"/>
          <p:cNvSpPr/>
          <p:nvPr/>
        </p:nvSpPr>
        <p:spPr>
          <a:xfrm>
            <a:off x="5175504" y="3374136"/>
            <a:ext cx="1810512" cy="48463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generator</a:t>
            </a:r>
            <a:endParaRPr lang="en-US" sz="1200" dirty="0"/>
          </a:p>
        </p:txBody>
      </p:sp>
      <p:sp>
        <p:nvSpPr>
          <p:cNvPr id="16" name="Text 14"/>
          <p:cNvSpPr/>
          <p:nvPr/>
        </p:nvSpPr>
        <p:spPr>
          <a:xfrm>
            <a:off x="5175504" y="3858768"/>
            <a:ext cx="1810512" cy="44805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bridge.run(): one harness turn</a:t>
            </a:r>
            <a:endParaRPr lang="en-US" sz="950" dirty="0"/>
          </a:p>
        </p:txBody>
      </p:sp>
      <p:sp>
        <p:nvSpPr>
          <p:cNvPr id="17" name="Shape 15"/>
          <p:cNvSpPr/>
          <p:nvPr/>
        </p:nvSpPr>
        <p:spPr>
          <a:xfrm>
            <a:off x="7086600" y="3840480"/>
            <a:ext cx="265176" cy="9144"/>
          </a:xfrm>
          <a:prstGeom prst="line">
            <a:avLst/>
          </a:prstGeom>
          <a:noFill/>
          <a:ln w="19050">
            <a:solidFill>
              <a:srgbClr val="4B5563"/>
            </a:solidFill>
            <a:prstDash val="solid"/>
            <a:tailEnd type="triangle"/>
          </a:ln>
        </p:spPr>
      </p:sp>
      <p:sp>
        <p:nvSpPr>
          <p:cNvPr id="18" name="Shape 16"/>
          <p:cNvSpPr/>
          <p:nvPr/>
        </p:nvSpPr>
        <p:spPr>
          <a:xfrm>
            <a:off x="7379208" y="3337560"/>
            <a:ext cx="1956816" cy="1005840"/>
          </a:xfrm>
          <a:prstGeom prst="roundRect">
            <a:avLst>
              <a:gd name="adj" fmla="val 9091"/>
            </a:avLst>
          </a:prstGeom>
          <a:solidFill>
            <a:srgbClr val="F6F7FB"/>
          </a:solidFill>
          <a:ln w="15875">
            <a:solidFill>
              <a:srgbClr val="141B3D"/>
            </a:solidFill>
            <a:prstDash val="solid"/>
          </a:ln>
        </p:spPr>
      </p:sp>
      <p:sp>
        <p:nvSpPr>
          <p:cNvPr id="19" name="Text 17"/>
          <p:cNvSpPr/>
          <p:nvPr/>
        </p:nvSpPr>
        <p:spPr>
          <a:xfrm>
            <a:off x="7452360" y="3374136"/>
            <a:ext cx="1810512" cy="48463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AG-UI events</a:t>
            </a:r>
            <a:endParaRPr lang="en-US" sz="1200" dirty="0"/>
          </a:p>
        </p:txBody>
      </p:sp>
      <p:sp>
        <p:nvSpPr>
          <p:cNvPr id="20" name="Text 18"/>
          <p:cNvSpPr/>
          <p:nvPr/>
        </p:nvSpPr>
        <p:spPr>
          <a:xfrm>
            <a:off x="7452360" y="3858768"/>
            <a:ext cx="1810512" cy="44805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TEXT_*, TOOL_CALL_*, STATE_*, CUSTOM</a:t>
            </a:r>
            <a:endParaRPr lang="en-US" sz="950" dirty="0"/>
          </a:p>
        </p:txBody>
      </p:sp>
      <p:sp>
        <p:nvSpPr>
          <p:cNvPr id="21" name="Shape 19"/>
          <p:cNvSpPr/>
          <p:nvPr/>
        </p:nvSpPr>
        <p:spPr>
          <a:xfrm>
            <a:off x="9363456" y="3840480"/>
            <a:ext cx="265176" cy="9144"/>
          </a:xfrm>
          <a:prstGeom prst="line">
            <a:avLst/>
          </a:prstGeom>
          <a:noFill/>
          <a:ln w="19050">
            <a:solidFill>
              <a:srgbClr val="4B5563"/>
            </a:solidFill>
            <a:prstDash val="solid"/>
            <a:tailEnd type="triangle"/>
          </a:ln>
        </p:spPr>
      </p:sp>
      <p:sp>
        <p:nvSpPr>
          <p:cNvPr id="22" name="Shape 20"/>
          <p:cNvSpPr/>
          <p:nvPr/>
        </p:nvSpPr>
        <p:spPr>
          <a:xfrm>
            <a:off x="9656064" y="3337560"/>
            <a:ext cx="1956816" cy="1005840"/>
          </a:xfrm>
          <a:prstGeom prst="roundRect">
            <a:avLst>
              <a:gd name="adj" fmla="val 9091"/>
            </a:avLst>
          </a:prstGeom>
          <a:solidFill>
            <a:srgbClr val="ECFDF5"/>
          </a:solidFill>
          <a:ln w="15875">
            <a:solidFill>
              <a:srgbClr val="15803D"/>
            </a:solidFill>
            <a:prstDash val="solid"/>
          </a:ln>
        </p:spPr>
      </p:sp>
      <p:sp>
        <p:nvSpPr>
          <p:cNvPr id="23" name="Text 21"/>
          <p:cNvSpPr/>
          <p:nvPr/>
        </p:nvSpPr>
        <p:spPr>
          <a:xfrm>
            <a:off x="9729216" y="3374136"/>
            <a:ext cx="1810512" cy="484632"/>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HttpAgent</a:t>
            </a:r>
            <a:endParaRPr lang="en-US" sz="1200" dirty="0"/>
          </a:p>
        </p:txBody>
      </p:sp>
      <p:sp>
        <p:nvSpPr>
          <p:cNvPr id="24" name="Text 22"/>
          <p:cNvSpPr/>
          <p:nvPr/>
        </p:nvSpPr>
        <p:spPr>
          <a:xfrm>
            <a:off x="9729216" y="3858768"/>
            <a:ext cx="1810512" cy="44805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@ag-ui/client in the page</a:t>
            </a:r>
            <a:endParaRPr lang="en-US" sz="950" dirty="0"/>
          </a:p>
        </p:txBody>
      </p:sp>
      <p:sp>
        <p:nvSpPr>
          <p:cNvPr id="25" name="Text 23"/>
          <p:cNvSpPr/>
          <p:nvPr/>
        </p:nvSpPr>
        <p:spPr>
          <a:xfrm>
            <a:off x="548640" y="5669280"/>
            <a:ext cx="110642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server.py moves into the work directory before it imports the harness, which reads the current directory at import time.</a:t>
            </a:r>
            <a:endParaRPr lang="en-US" sz="1050" dirty="0"/>
          </a:p>
        </p:txBody>
      </p:sp>
      <p:sp>
        <p:nvSpPr>
          <p:cNvPr id="26" name="Shape 24"/>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7" name="Text 25"/>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The bridge is 150 lines and the page is 90; harness/ has no diff against the harness codelab.</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Every side effect of one tool call becomes an event; execute is the harness's own</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40</a:t>
            </a:r>
            <a:endParaRPr lang="en-US" sz="1000" dirty="0"/>
          </a:p>
        </p:txBody>
      </p:sp>
      <p:sp>
        <p:nvSpPr>
          <p:cNvPr id="5" name="Shape 3"/>
          <p:cNvSpPr/>
          <p:nvPr/>
        </p:nvSpPr>
        <p:spPr>
          <a:xfrm>
            <a:off x="548640" y="1417320"/>
            <a:ext cx="7406640" cy="3502533"/>
          </a:xfrm>
          <a:prstGeom prst="roundRect">
            <a:avLst>
              <a:gd name="adj" fmla="val 2611"/>
            </a:avLst>
          </a:prstGeom>
          <a:solidFill>
            <a:srgbClr val="0F172A"/>
          </a:solidFill>
          <a:ln w="12700">
            <a:solidFill>
              <a:srgbClr val="0F172A"/>
            </a:solidFill>
            <a:prstDash val="solid"/>
          </a:ln>
        </p:spPr>
      </p:sp>
      <p:sp>
        <p:nvSpPr>
          <p:cNvPr id="6" name="Text 4"/>
          <p:cNvSpPr/>
          <p:nvPr/>
        </p:nvSpPr>
        <p:spPr>
          <a:xfrm>
            <a:off x="731520" y="1554480"/>
            <a:ext cx="7040880" cy="3228213"/>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for tool_call in message.tool_calls: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ToolCallStartEvent(tool_call_id=tool_call.id, tool_call_name=tool_call.function.name,…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yield ToolCallArgsEvent(tool_call_id=tool_call.id, delta=tool_call.function.arguments)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ToolCallEndEvent(tool_call_id=tool_call.id)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ASKED.clear()</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args, result = execute(tool_call)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reason in ASKED: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CustomEvent(name="permission", value={"reason": reason, "decision": "allow"})</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ToolCallResultEvent(message_id=str(uuid4()), tool_call_id=tool_call.id, content=resul…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messages.append({"role": "tool", "tool_call_id": tool_call.id, "content": result})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tool_call.function.name == "write_todos":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StateDeltaEvent(delta=[{"op": "replace", "path": "/todos", "value": copy.deepcopy…</a:t>
            </a:r>
            <a:endParaRPr lang="en-US" sz="1050" dirty="0"/>
          </a:p>
        </p:txBody>
      </p:sp>
      <p:sp>
        <p:nvSpPr>
          <p:cNvPr id="7" name="Text 5"/>
          <p:cNvSpPr/>
          <p:nvPr/>
        </p:nvSpPr>
        <p:spPr>
          <a:xfrm>
            <a:off x="548640" y="4965573"/>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02_ag_ui/step_03_ag_ui_from_the_harness/bridge.py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arguments go out as </a:t>
            </a:r>
            <a:pPr indent="0" marL="0">
              <a:buNone/>
            </a:pPr>
            <a:r>
              <a:rPr lang="en-US" sz="1200" b="1" dirty="0">
                <a:solidFill>
                  <a:srgbClr val="141B3D"/>
                </a:solidFill>
                <a:latin typeface="Calibri" pitchFamily="34" charset="0"/>
                <a:ea typeface="Calibri" pitchFamily="34" charset="-122"/>
                <a:cs typeface="Calibri" pitchFamily="34" charset="-120"/>
              </a:rPr>
              <a:t>one TOOL_CALL_ARGS delta</a:t>
            </a:r>
            <a:pPr indent="0" marL="0">
              <a:buNone/>
            </a:pPr>
            <a:r>
              <a:rPr lang="en-US" sz="1200" dirty="0">
                <a:solidFill>
                  <a:srgbClr val="1F2937"/>
                </a:solidFill>
                <a:latin typeface="Calibri" pitchFamily="34" charset="0"/>
                <a:ea typeface="Calibri" pitchFamily="34" charset="-122"/>
                <a:cs typeface="Calibri" pitchFamily="34" charset="-120"/>
              </a:rPr>
              <a:t>, because the harness assembles the call before the loop sees it. Step 02.2 streamed them in pieces; both are legal.</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b="1" dirty="0">
                <a:solidFill>
                  <a:srgbClr val="141B3D"/>
                </a:solidFill>
                <a:latin typeface="Calibri" pitchFamily="34" charset="0"/>
                <a:ea typeface="Calibri" pitchFamily="34" charset="-122"/>
                <a:cs typeface="Calibri" pitchFamily="34" charset="-120"/>
              </a:rPr>
              <a:t>execute</a:t>
            </a:r>
            <a:pPr indent="0" marL="0">
              <a:buNone/>
            </a:pPr>
            <a:r>
              <a:rPr lang="en-US" sz="1200" dirty="0">
                <a:solidFill>
                  <a:srgbClr val="1F2937"/>
                </a:solidFill>
                <a:latin typeface="Calibri" pitchFamily="34" charset="0"/>
                <a:ea typeface="Calibri" pitchFamily="34" charset="-122"/>
                <a:cs typeface="Calibri" pitchFamily="34" charset="-120"/>
              </a:rPr>
              <a:t> is the harness's function, permission layer included. ui.approve is replaced by a stand-in that records the reason, allows, and each reason becomes a CUSTOM event.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After </a:t>
            </a:r>
            <a:pPr indent="0" marL="0">
              <a:buNone/>
            </a:pPr>
            <a:r>
              <a:rPr lang="en-US" sz="1200" b="1" dirty="0">
                <a:solidFill>
                  <a:srgbClr val="141B3D"/>
                </a:solidFill>
                <a:latin typeface="Calibri" pitchFamily="34" charset="0"/>
                <a:ea typeface="Calibri" pitchFamily="34" charset="-122"/>
                <a:cs typeface="Calibri" pitchFamily="34" charset="-120"/>
              </a:rPr>
              <a:t>write_todos</a:t>
            </a:r>
            <a:pPr indent="0" marL="0">
              <a:buNone/>
            </a:pPr>
            <a:r>
              <a:rPr lang="en-US" sz="1200" dirty="0">
                <a:solidFill>
                  <a:srgbClr val="1F2937"/>
                </a:solidFill>
                <a:latin typeface="Calibri" pitchFamily="34" charset="0"/>
                <a:ea typeface="Calibri" pitchFamily="34" charset="-122"/>
                <a:cs typeface="Calibri" pitchFamily="34" charset="-120"/>
              </a:rPr>
              <a:t>, the plan goes out as a replace on /todos. The page's copy of the state is refreshed from the module global.</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run closes with RunFinishedEvent(..., usage=[token_usage(usage)]): the same dict the terminal prints after every reply.</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02.3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page subscribes instead of parsing: HttpAgent keeps the buffer, the messages and the state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41</a:t>
            </a:r>
            <a:endParaRPr lang="en-US" sz="1000" dirty="0"/>
          </a:p>
        </p:txBody>
      </p:sp>
      <p:sp>
        <p:nvSpPr>
          <p:cNvPr id="5" name="Shape 3"/>
          <p:cNvSpPr/>
          <p:nvPr/>
        </p:nvSpPr>
        <p:spPr>
          <a:xfrm>
            <a:off x="548640" y="1737360"/>
            <a:ext cx="7406640" cy="2851785"/>
          </a:xfrm>
          <a:prstGeom prst="roundRect">
            <a:avLst>
              <a:gd name="adj" fmla="val 3206"/>
            </a:avLst>
          </a:prstGeom>
          <a:solidFill>
            <a:srgbClr val="0F172A"/>
          </a:solidFill>
          <a:ln w="12700">
            <a:solidFill>
              <a:srgbClr val="0F172A"/>
            </a:solidFill>
            <a:prstDash val="solid"/>
          </a:ln>
        </p:spPr>
      </p:sp>
      <p:sp>
        <p:nvSpPr>
          <p:cNvPr id="6" name="Text 4"/>
          <p:cNvSpPr/>
          <p:nvPr/>
        </p:nvSpPr>
        <p:spPr>
          <a:xfrm>
            <a:off x="731520" y="1874520"/>
            <a:ext cx="7040880" cy="2577465"/>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agent.subscribe({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onEvent({ event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wire.textContent += JSON.stringify(event) + "\n";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onTextMessageStartEvent()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textElement = addMessage("assistant",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onTextMessageContentEvent({ textMessageBuffer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textElement.textContent = textMessageBuffer; // the client keeps the buffer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onToolCallStartEvent({ event })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toolElements[event.toolCallId] = addMessage("tool", `${event.toolCallName}(`);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p:txBody>
      </p:sp>
      <p:sp>
        <p:nvSpPr>
          <p:cNvPr id="7" name="Text 5"/>
          <p:cNvSpPr/>
          <p:nvPr/>
        </p:nvSpPr>
        <p:spPr>
          <a:xfrm>
            <a:off x="548640" y="4634865"/>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02_ag_ui/step_03_ag_ui_from_the_harness/app.js</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b="1" dirty="0">
                <a:solidFill>
                  <a:srgbClr val="141B3D"/>
                </a:solidFill>
                <a:latin typeface="Calibri" pitchFamily="34" charset="0"/>
                <a:ea typeface="Calibri" pitchFamily="34" charset="-122"/>
                <a:cs typeface="Calibri" pitchFamily="34" charset="-120"/>
              </a:rPr>
              <a:t>onEvent</a:t>
            </a:r>
            <a:pPr indent="0" marL="0">
              <a:buNone/>
            </a:pPr>
            <a:r>
              <a:rPr lang="en-US" sz="1200" dirty="0">
                <a:solidFill>
                  <a:srgbClr val="1F2937"/>
                </a:solidFill>
                <a:latin typeface="Calibri" pitchFamily="34" charset="0"/>
                <a:ea typeface="Calibri" pitchFamily="34" charset="-122"/>
                <a:cs typeface="Calibri" pitchFamily="34" charset="-120"/>
              </a:rPr>
              <a:t> sees every event, which is how the wire panel is still drawn. The subscriber gets one method per event type.</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b="1" dirty="0">
                <a:solidFill>
                  <a:srgbClr val="141B3D"/>
                </a:solidFill>
                <a:latin typeface="Calibri" pitchFamily="34" charset="0"/>
                <a:ea typeface="Calibri" pitchFamily="34" charset="-122"/>
                <a:cs typeface="Calibri" pitchFamily="34" charset="-120"/>
              </a:rPr>
              <a:t>textMessageBuffer</a:t>
            </a:r>
            <a:pPr indent="0" marL="0">
              <a:buNone/>
            </a:pPr>
            <a:r>
              <a:rPr lang="en-US" sz="1200" dirty="0">
                <a:solidFill>
                  <a:srgbClr val="1F2937"/>
                </a:solidFill>
                <a:latin typeface="Calibri" pitchFamily="34" charset="0"/>
                <a:ea typeface="Calibri" pitchFamily="34" charset="-122"/>
                <a:cs typeface="Calibri" pitchFamily="34" charset="-120"/>
              </a:rPr>
              <a:t> is the text so far, kept by the client. sse.mjs and the messages array from steps 02.1 and 02.2 are gone.</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Later handlers draw tool results, the permission line from CUSTOM, and the todo list from </a:t>
            </a:r>
            <a:pPr indent="0" marL="0">
              <a:buNone/>
            </a:pPr>
            <a:r>
              <a:rPr lang="en-US" sz="1200" b="1" dirty="0">
                <a:solidFill>
                  <a:srgbClr val="141B3D"/>
                </a:solidFill>
                <a:latin typeface="Calibri" pitchFamily="34" charset="0"/>
                <a:ea typeface="Calibri" pitchFamily="34" charset="-122"/>
                <a:cs typeface="Calibri" pitchFamily="34" charset="-120"/>
              </a:rPr>
              <a:t>onStateChanged</a:t>
            </a:r>
            <a:pPr indent="0" marL="0">
              <a:buNone/>
            </a:pPr>
            <a:r>
              <a:rPr lang="en-US" sz="1200" dirty="0">
                <a:solidFill>
                  <a:srgbClr val="1F2937"/>
                </a:solidFill>
                <a:latin typeface="Calibri" pitchFamily="34" charset="0"/>
                <a:ea typeface="Calibri" pitchFamily="34" charset="-122"/>
                <a:cs typeface="Calibri" pitchFamily="34" charset="-120"/>
              </a:rPr>
              <a:t>. After the run, agent.messages and agent.state hold everything the next run sends.</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agent.addMessage(...) then await agent.runAgent() is the whole run. The bundle exists because @ag-ui/client imports rxjs and zod by bare name.</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02.3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 coding task from the browser: files written, a command run, a plan as state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42</a:t>
            </a:r>
            <a:endParaRPr lang="en-US" sz="1000" dirty="0"/>
          </a:p>
        </p:txBody>
      </p:sp>
      <p:pic>
        <p:nvPicPr>
          <p:cNvPr id="5" name="Image 0" descr="C:\Users\evija\simple-coding-harness\genui\02_ag_ui\step_03_ag_ui_from_the_harness\demo.png">    </p:cNvPr>
          <p:cNvPicPr>
            <a:picLocks noChangeAspect="1"/>
          </p:cNvPicPr>
          <p:nvPr/>
        </p:nvPicPr>
        <p:blipFill>
          <a:blip r:embed="rId1"/>
          <a:srcRect l="0" r="0" t="0" b="0"/>
          <a:stretch/>
        </p:blipFill>
        <p:spPr>
          <a:xfrm>
            <a:off x="548640" y="1417320"/>
            <a:ext cx="5477256" cy="4480560"/>
          </a:xfrm>
          <a:prstGeom prst="rect">
            <a:avLst/>
          </a:prstGeom>
        </p:spPr>
      </p:pic>
      <p:sp>
        <p:nvSpPr>
          <p:cNvPr id="6" name="Shape 3"/>
          <p:cNvSpPr/>
          <p:nvPr/>
        </p:nvSpPr>
        <p:spPr>
          <a:xfrm>
            <a:off x="548640" y="1417320"/>
            <a:ext cx="5477256" cy="4480560"/>
          </a:xfrm>
          <a:prstGeom prst="rect">
            <a:avLst/>
          </a:prstGeom>
          <a:ln w="12700">
            <a:solidFill>
              <a:srgbClr val="D7DAE5"/>
            </a:solidFill>
            <a:prstDash val="solid"/>
          </a:ln>
        </p:spPr>
      </p:sp>
      <p:sp>
        <p:nvSpPr>
          <p:cNvPr id="7" name="Shape 4"/>
          <p:cNvSpPr/>
          <p:nvPr/>
        </p:nvSpPr>
        <p:spPr>
          <a:xfrm>
            <a:off x="6391656" y="1417320"/>
            <a:ext cx="5248656"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28816" y="1472184"/>
            <a:ext cx="4974336"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1,148 / 28</a:t>
            </a:r>
            <a:endParaRPr lang="en-US" sz="2800" dirty="0"/>
          </a:p>
        </p:txBody>
      </p:sp>
      <p:sp>
        <p:nvSpPr>
          <p:cNvPr id="9" name="Text 6"/>
          <p:cNvSpPr/>
          <p:nvPr/>
        </p:nvSpPr>
        <p:spPr>
          <a:xfrm>
            <a:off x="6528816" y="2039112"/>
            <a:ext cx="4974336"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tokens in / out on the first RUN_FINISHED</a:t>
            </a:r>
            <a:endParaRPr lang="en-US" sz="1050" dirty="0"/>
          </a:p>
        </p:txBody>
      </p:sp>
      <p:sp>
        <p:nvSpPr>
          <p:cNvPr id="10" name="Shape 7"/>
          <p:cNvSpPr/>
          <p:nvPr/>
        </p:nvSpPr>
        <p:spPr>
          <a:xfrm>
            <a:off x="6391656" y="2697480"/>
            <a:ext cx="5248656"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28816" y="2752344"/>
            <a:ext cx="4974336"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2,053 / 50</a:t>
            </a:r>
            <a:endParaRPr lang="en-US" sz="2800" dirty="0"/>
          </a:p>
        </p:txBody>
      </p:sp>
      <p:sp>
        <p:nvSpPr>
          <p:cNvPr id="12" name="Text 9"/>
          <p:cNvSpPr/>
          <p:nvPr/>
        </p:nvSpPr>
        <p:spPr>
          <a:xfrm>
            <a:off x="6528816" y="3319272"/>
            <a:ext cx="4974336"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tokens in / out on the second, 46 event lines</a:t>
            </a:r>
            <a:endParaRPr lang="en-US" sz="1050" dirty="0"/>
          </a:p>
        </p:txBody>
      </p:sp>
      <p:sp>
        <p:nvSpPr>
          <p:cNvPr id="13" name="Text 10"/>
          <p:cNvSpPr/>
          <p:nvPr/>
        </p:nvSpPr>
        <p:spPr>
          <a:xfrm>
            <a:off x="6391656" y="4023360"/>
            <a:ext cx="5248656"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Task 1: write_file hello.py, bash python hello.py, CUSTOM permission: run: python hello.py -&gt; allow, then 27 text deltas.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Task 2 plans with write_todos first; the page ends with two todos completed and one in progress, drawn from agent.state.</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Right: the todo panel is shared state, not chat.</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Checkpoint: set HARNESS_WORKDIR to a project of your own and ask for a change from the browser. Then diff harness/ against the harness codelab's step 21: it is empty.</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82296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Sub-theme 03 · Levels 8 to 10 of 23</a:t>
            </a:r>
            <a:endParaRPr lang="en-US" sz="1300" dirty="0"/>
          </a:p>
        </p:txBody>
      </p:sp>
      <p:sp>
        <p:nvSpPr>
          <p:cNvPr id="3" name="Text 1"/>
          <p:cNvSpPr/>
          <p:nvPr/>
        </p:nvSpPr>
        <p:spPr>
          <a:xfrm>
            <a:off x="731520" y="1280160"/>
            <a:ext cx="1051560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A2UI, Google's declarative protocol</a:t>
            </a:r>
            <a:endParaRPr lang="en-US" sz="4000" dirty="0"/>
          </a:p>
        </p:txBody>
      </p:sp>
      <p:sp>
        <p:nvSpPr>
          <p:cNvPr id="4" name="Text 2"/>
          <p:cNvSpPr/>
          <p:nvPr/>
        </p:nvSpPr>
        <p:spPr>
          <a:xfrm>
            <a:off x="731520" y="2560320"/>
            <a:ext cx="6583680" cy="201168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Sub-theme 01 found that a flat element map streams best. A2UI v0.9.1 is that shape as a published protocol: four envelope messages, a flat component list joined by ids, a data model addressed by JSON Pointer, and a swappable catalog. The report places it in the declarative middle of the generation axis. This sub-theme builds the messages by hand, has the model write them through the official SDK, then renders them with Google's Lit renderer over the AG-UI transport from sub-theme 02.</a:t>
            </a:r>
            <a:endParaRPr lang="en-US" sz="1600" dirty="0"/>
          </a:p>
        </p:txBody>
      </p:sp>
      <p:sp>
        <p:nvSpPr>
          <p:cNvPr id="5" name="Shape 3"/>
          <p:cNvSpPr/>
          <p:nvPr/>
        </p:nvSpPr>
        <p:spPr>
          <a:xfrm>
            <a:off x="7680960" y="2606040"/>
            <a:ext cx="3931920" cy="603504"/>
          </a:xfrm>
          <a:prstGeom prst="roundRect">
            <a:avLst>
              <a:gd name="adj" fmla="val 12121"/>
            </a:avLst>
          </a:prstGeom>
          <a:solidFill>
            <a:srgbClr val="1E2761"/>
          </a:solidFill>
          <a:ln w="12700">
            <a:solidFill>
              <a:srgbClr val="3B4A8A"/>
            </a:solidFill>
            <a:prstDash val="solid"/>
          </a:ln>
        </p:spPr>
      </p:sp>
      <p:sp>
        <p:nvSpPr>
          <p:cNvPr id="6" name="Text 4"/>
          <p:cNvSpPr/>
          <p:nvPr/>
        </p:nvSpPr>
        <p:spPr>
          <a:xfrm>
            <a:off x="7818120" y="2606040"/>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03.1  </a:t>
            </a:r>
            <a:pPr indent="0" marL="0">
              <a:buNone/>
            </a:pPr>
            <a:r>
              <a:rPr lang="en-US" sz="1250" dirty="0">
                <a:solidFill>
                  <a:srgbClr val="FFFFFF"/>
                </a:solidFill>
                <a:latin typeface="Calibri" pitchFamily="34" charset="0"/>
                <a:ea typeface="Calibri" pitchFamily="34" charset="-122"/>
                <a:cs typeface="Calibri" pitchFamily="34" charset="-120"/>
              </a:rPr>
              <a:t>A2UI messages by hand</a:t>
            </a:r>
            <a:endParaRPr lang="en-US" sz="1250" dirty="0"/>
          </a:p>
        </p:txBody>
      </p:sp>
      <p:sp>
        <p:nvSpPr>
          <p:cNvPr id="7" name="Shape 5"/>
          <p:cNvSpPr/>
          <p:nvPr/>
        </p:nvSpPr>
        <p:spPr>
          <a:xfrm>
            <a:off x="7680960" y="3319272"/>
            <a:ext cx="3931920" cy="603504"/>
          </a:xfrm>
          <a:prstGeom prst="roundRect">
            <a:avLst>
              <a:gd name="adj" fmla="val 12121"/>
            </a:avLst>
          </a:prstGeom>
          <a:solidFill>
            <a:srgbClr val="1E2761"/>
          </a:solidFill>
          <a:ln w="12700">
            <a:solidFill>
              <a:srgbClr val="3B4A8A"/>
            </a:solidFill>
            <a:prstDash val="solid"/>
          </a:ln>
        </p:spPr>
      </p:sp>
      <p:sp>
        <p:nvSpPr>
          <p:cNvPr id="8" name="Text 6"/>
          <p:cNvSpPr/>
          <p:nvPr/>
        </p:nvSpPr>
        <p:spPr>
          <a:xfrm>
            <a:off x="7818120" y="3319272"/>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03.2  </a:t>
            </a:r>
            <a:pPr indent="0" marL="0">
              <a:buNone/>
            </a:pPr>
            <a:r>
              <a:rPr lang="en-US" sz="1250" dirty="0">
                <a:solidFill>
                  <a:srgbClr val="FFFFFF"/>
                </a:solidFill>
                <a:latin typeface="Calibri" pitchFamily="34" charset="0"/>
                <a:ea typeface="Calibri" pitchFamily="34" charset="-122"/>
                <a:cs typeface="Calibri" pitchFamily="34" charset="-120"/>
              </a:rPr>
              <a:t>A2UI from a model</a:t>
            </a:r>
            <a:endParaRPr lang="en-US" sz="1250" dirty="0"/>
          </a:p>
        </p:txBody>
      </p:sp>
      <p:sp>
        <p:nvSpPr>
          <p:cNvPr id="9" name="Shape 7"/>
          <p:cNvSpPr/>
          <p:nvPr/>
        </p:nvSpPr>
        <p:spPr>
          <a:xfrm>
            <a:off x="7680960" y="4032504"/>
            <a:ext cx="3931920" cy="603504"/>
          </a:xfrm>
          <a:prstGeom prst="roundRect">
            <a:avLst>
              <a:gd name="adj" fmla="val 12121"/>
            </a:avLst>
          </a:prstGeom>
          <a:solidFill>
            <a:srgbClr val="1E2761"/>
          </a:solidFill>
          <a:ln w="12700">
            <a:solidFill>
              <a:srgbClr val="3B4A8A"/>
            </a:solidFill>
            <a:prstDash val="solid"/>
          </a:ln>
        </p:spPr>
      </p:sp>
      <p:sp>
        <p:nvSpPr>
          <p:cNvPr id="10" name="Text 8"/>
          <p:cNvSpPr/>
          <p:nvPr/>
        </p:nvSpPr>
        <p:spPr>
          <a:xfrm>
            <a:off x="7818120" y="4032504"/>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03.3  </a:t>
            </a:r>
            <a:pPr indent="0" marL="0">
              <a:buNone/>
            </a:pPr>
            <a:r>
              <a:rPr lang="en-US" sz="1250" dirty="0">
                <a:solidFill>
                  <a:srgbClr val="FFFFFF"/>
                </a:solidFill>
                <a:latin typeface="Calibri" pitchFamily="34" charset="0"/>
                <a:ea typeface="Calibri" pitchFamily="34" charset="-122"/>
                <a:cs typeface="Calibri" pitchFamily="34" charset="-120"/>
              </a:rPr>
              <a:t>The official renderer, over AG-UI</a:t>
            </a:r>
            <a:endParaRPr lang="en-US" sz="1250" dirty="0"/>
          </a:p>
        </p:txBody>
      </p:sp>
      <p:sp>
        <p:nvSpPr>
          <p:cNvPr id="11" name="Text 9"/>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AB8"/>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SUB-THEME 03 · THE SHAPE OF THE PROTOCOL</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Structure and data are two messages; a binding is the only join</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44</a:t>
            </a:r>
            <a:endParaRPr lang="en-US" sz="1000" dirty="0"/>
          </a:p>
        </p:txBody>
      </p:sp>
      <p:sp>
        <p:nvSpPr>
          <p:cNvPr id="5" name="Text 3"/>
          <p:cNvSpPr/>
          <p:nvPr/>
        </p:nvSpPr>
        <p:spPr>
          <a:xfrm>
            <a:off x="548640" y="1417320"/>
            <a:ext cx="11064240" cy="548640"/>
          </a:xfrm>
          <a:prstGeom prst="rect">
            <a:avLst/>
          </a:prstGeom>
          <a:noFill/>
          <a:ln/>
        </p:spPr>
        <p:txBody>
          <a:bodyPr wrap="square" lIns="0" tIns="0" rIns="0" bIns="0" rtlCol="0" anchor="ctr"/>
          <a:lstStyle/>
          <a:p>
            <a:pPr indent="0" marL="0">
              <a:buNone/>
            </a:pPr>
            <a:r>
              <a:rPr lang="en-US" sz="1500" dirty="0">
                <a:solidFill>
                  <a:srgbClr val="BE123C"/>
                </a:solidFill>
                <a:latin typeface="Courier New" pitchFamily="34" charset="0"/>
                <a:ea typeface="Courier New" pitchFamily="34" charset="-122"/>
                <a:cs typeface="Courier New" pitchFamily="34" charset="-120"/>
              </a:rPr>
              <a:t>updateComponents</a:t>
            </a:r>
            <a:pPr indent="0" marL="0">
              <a:buNone/>
            </a:pPr>
            <a:r>
              <a:rPr lang="en-US" sz="1500" dirty="0">
                <a:solidFill>
                  <a:srgbClr val="141B3D"/>
                </a:solidFill>
                <a:latin typeface="Calibri" pitchFamily="34" charset="0"/>
                <a:ea typeface="Calibri" pitchFamily="34" charset="-122"/>
                <a:cs typeface="Calibri" pitchFamily="34" charset="-120"/>
              </a:rPr>
              <a:t> says there is a text field bound to </a:t>
            </a:r>
            <a:pPr indent="0" marL="0">
              <a:buNone/>
            </a:pPr>
            <a:r>
              <a:rPr lang="en-US" sz="1500" dirty="0">
                <a:solidFill>
                  <a:srgbClr val="BE123C"/>
                </a:solidFill>
                <a:latin typeface="Courier New" pitchFamily="34" charset="0"/>
                <a:ea typeface="Courier New" pitchFamily="34" charset="-122"/>
                <a:cs typeface="Courier New" pitchFamily="34" charset="-120"/>
              </a:rPr>
              <a:t>/contact/email</a:t>
            </a:r>
            <a:pPr indent="0" marL="0">
              <a:buNone/>
            </a:pPr>
            <a:r>
              <a:rPr lang="en-US" sz="1500" dirty="0">
                <a:solidFill>
                  <a:srgbClr val="141B3D"/>
                </a:solidFill>
                <a:latin typeface="Calibri" pitchFamily="34" charset="0"/>
                <a:ea typeface="Calibri" pitchFamily="34" charset="-122"/>
                <a:cs typeface="Calibri" pitchFamily="34" charset="-120"/>
              </a:rPr>
              <a:t>. </a:t>
            </a:r>
            <a:pPr indent="0" marL="0">
              <a:buNone/>
            </a:pPr>
            <a:r>
              <a:rPr lang="en-US" sz="1500" dirty="0">
                <a:solidFill>
                  <a:srgbClr val="BE123C"/>
                </a:solidFill>
                <a:latin typeface="Courier New" pitchFamily="34" charset="0"/>
                <a:ea typeface="Courier New" pitchFamily="34" charset="-122"/>
                <a:cs typeface="Courier New" pitchFamily="34" charset="-120"/>
              </a:rPr>
              <a:t>updateDataModel</a:t>
            </a:r>
            <a:pPr indent="0" marL="0">
              <a:buNone/>
            </a:pPr>
            <a:r>
              <a:rPr lang="en-US" sz="1500" dirty="0">
                <a:solidFill>
                  <a:srgbClr val="141B3D"/>
                </a:solidFill>
                <a:latin typeface="Calibri" pitchFamily="34" charset="0"/>
                <a:ea typeface="Calibri" pitchFamily="34" charset="-122"/>
                <a:cs typeface="Calibri" pitchFamily="34" charset="-120"/>
              </a:rPr>
              <a:t> says what is at </a:t>
            </a:r>
            <a:pPr indent="0" marL="0">
              <a:buNone/>
            </a:pPr>
            <a:r>
              <a:rPr lang="en-US" sz="1500" dirty="0">
                <a:solidFill>
                  <a:srgbClr val="BE123C"/>
                </a:solidFill>
                <a:latin typeface="Courier New" pitchFamily="34" charset="0"/>
                <a:ea typeface="Courier New" pitchFamily="34" charset="-122"/>
                <a:cs typeface="Courier New" pitchFamily="34" charset="-120"/>
              </a:rPr>
              <a:t>/contact/email</a:t>
            </a:r>
            <a:pPr indent="0" marL="0">
              <a:buNone/>
            </a:pPr>
            <a:r>
              <a:rPr lang="en-US" sz="1500" dirty="0">
                <a:solidFill>
                  <a:srgbClr val="141B3D"/>
                </a:solidFill>
                <a:latin typeface="Calibri" pitchFamily="34" charset="0"/>
                <a:ea typeface="Calibri" pitchFamily="34" charset="-122"/>
                <a:cs typeface="Calibri" pitchFamily="34" charset="-120"/>
              </a:rPr>
              <a:t>. Neither message resends the other.</a:t>
            </a:r>
            <a:endParaRPr lang="en-US" sz="1500" dirty="0"/>
          </a:p>
        </p:txBody>
      </p:sp>
      <p:sp>
        <p:nvSpPr>
          <p:cNvPr id="6" name="Shape 4"/>
          <p:cNvSpPr/>
          <p:nvPr/>
        </p:nvSpPr>
        <p:spPr>
          <a:xfrm>
            <a:off x="548640" y="3337560"/>
            <a:ext cx="3474720" cy="1005840"/>
          </a:xfrm>
          <a:prstGeom prst="roundRect">
            <a:avLst>
              <a:gd name="adj" fmla="val 9091"/>
            </a:avLst>
          </a:prstGeom>
          <a:solidFill>
            <a:srgbClr val="EEF0FF"/>
          </a:solidFill>
          <a:ln w="15875">
            <a:solidFill>
              <a:srgbClr val="2F3CFF"/>
            </a:solidFill>
            <a:prstDash val="solid"/>
          </a:ln>
        </p:spPr>
      </p:sp>
      <p:sp>
        <p:nvSpPr>
          <p:cNvPr id="7" name="Text 5"/>
          <p:cNvSpPr/>
          <p:nvPr/>
        </p:nvSpPr>
        <p:spPr>
          <a:xfrm>
            <a:off x="621792" y="3374136"/>
            <a:ext cx="3328416" cy="48463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updateComponents</a:t>
            </a:r>
            <a:endParaRPr lang="en-US" sz="1200" dirty="0"/>
          </a:p>
        </p:txBody>
      </p:sp>
      <p:sp>
        <p:nvSpPr>
          <p:cNvPr id="8" name="Text 6"/>
          <p:cNvSpPr/>
          <p:nvPr/>
        </p:nvSpPr>
        <p:spPr>
          <a:xfrm>
            <a:off x="621792" y="3858768"/>
            <a:ext cx="3328416" cy="44805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a flat list; Card -&gt; form_container -&gt; children, all by id</a:t>
            </a:r>
            <a:endParaRPr lang="en-US" sz="950" dirty="0"/>
          </a:p>
        </p:txBody>
      </p:sp>
      <p:sp>
        <p:nvSpPr>
          <p:cNvPr id="9" name="Shape 7"/>
          <p:cNvSpPr/>
          <p:nvPr/>
        </p:nvSpPr>
        <p:spPr>
          <a:xfrm>
            <a:off x="4050792" y="3840480"/>
            <a:ext cx="265176" cy="9144"/>
          </a:xfrm>
          <a:prstGeom prst="line">
            <a:avLst/>
          </a:prstGeom>
          <a:noFill/>
          <a:ln w="19050">
            <a:solidFill>
              <a:srgbClr val="4B5563"/>
            </a:solidFill>
            <a:prstDash val="solid"/>
            <a:tailEnd type="triangle"/>
          </a:ln>
        </p:spPr>
      </p:sp>
      <p:sp>
        <p:nvSpPr>
          <p:cNvPr id="10" name="Shape 8"/>
          <p:cNvSpPr/>
          <p:nvPr/>
        </p:nvSpPr>
        <p:spPr>
          <a:xfrm>
            <a:off x="4343400" y="3337560"/>
            <a:ext cx="3474720" cy="1005840"/>
          </a:xfrm>
          <a:prstGeom prst="roundRect">
            <a:avLst>
              <a:gd name="adj" fmla="val 9091"/>
            </a:avLst>
          </a:prstGeom>
          <a:solidFill>
            <a:srgbClr val="F6F7FB"/>
          </a:solidFill>
          <a:ln w="15875">
            <a:solidFill>
              <a:srgbClr val="141B3D"/>
            </a:solidFill>
            <a:prstDash val="solid"/>
          </a:ln>
        </p:spPr>
      </p:sp>
      <p:sp>
        <p:nvSpPr>
          <p:cNvPr id="11" name="Text 9"/>
          <p:cNvSpPr/>
          <p:nvPr/>
        </p:nvSpPr>
        <p:spPr>
          <a:xfrm>
            <a:off x="4416552" y="3374136"/>
            <a:ext cx="3328416" cy="48463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 "path": "/contact/email" }</a:t>
            </a:r>
            <a:endParaRPr lang="en-US" sz="1200" dirty="0"/>
          </a:p>
        </p:txBody>
      </p:sp>
      <p:sp>
        <p:nvSpPr>
          <p:cNvPr id="12" name="Text 10"/>
          <p:cNvSpPr/>
          <p:nvPr/>
        </p:nvSpPr>
        <p:spPr>
          <a:xfrm>
            <a:off x="4416552" y="3858768"/>
            <a:ext cx="3328416" cy="44805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a binding: the component names a place, not a value</a:t>
            </a:r>
            <a:endParaRPr lang="en-US" sz="950" dirty="0"/>
          </a:p>
        </p:txBody>
      </p:sp>
      <p:sp>
        <p:nvSpPr>
          <p:cNvPr id="13" name="Shape 11"/>
          <p:cNvSpPr/>
          <p:nvPr/>
        </p:nvSpPr>
        <p:spPr>
          <a:xfrm>
            <a:off x="7845552" y="3840480"/>
            <a:ext cx="265176" cy="9144"/>
          </a:xfrm>
          <a:prstGeom prst="line">
            <a:avLst/>
          </a:prstGeom>
          <a:noFill/>
          <a:ln w="19050">
            <a:solidFill>
              <a:srgbClr val="4B5563"/>
            </a:solidFill>
            <a:prstDash val="solid"/>
            <a:tailEnd type="triangle"/>
          </a:ln>
        </p:spPr>
      </p:sp>
      <p:sp>
        <p:nvSpPr>
          <p:cNvPr id="14" name="Shape 12"/>
          <p:cNvSpPr/>
          <p:nvPr/>
        </p:nvSpPr>
        <p:spPr>
          <a:xfrm>
            <a:off x="8138160" y="3337560"/>
            <a:ext cx="3474720" cy="1005840"/>
          </a:xfrm>
          <a:prstGeom prst="roundRect">
            <a:avLst>
              <a:gd name="adj" fmla="val 9091"/>
            </a:avLst>
          </a:prstGeom>
          <a:solidFill>
            <a:srgbClr val="FFF1F2"/>
          </a:solidFill>
          <a:ln w="15875">
            <a:solidFill>
              <a:srgbClr val="BE123C"/>
            </a:solidFill>
            <a:prstDash val="solid"/>
          </a:ln>
        </p:spPr>
      </p:sp>
      <p:sp>
        <p:nvSpPr>
          <p:cNvPr id="15" name="Text 13"/>
          <p:cNvSpPr/>
          <p:nvPr/>
        </p:nvSpPr>
        <p:spPr>
          <a:xfrm>
            <a:off x="8211312" y="3374136"/>
            <a:ext cx="3328416" cy="484632"/>
          </a:xfrm>
          <a:prstGeom prst="rect">
            <a:avLst/>
          </a:prstGeom>
          <a:noFill/>
          <a:ln/>
        </p:spPr>
        <p:txBody>
          <a:bodyPr wrap="square" lIns="0" tIns="0" rIns="0" bIns="0" rtlCol="0" anchor="b"/>
          <a:lstStyle/>
          <a:p>
            <a:pPr algn="ctr" indent="0" marL="0">
              <a:buNone/>
            </a:pPr>
            <a:r>
              <a:rPr lang="en-US" sz="1200" b="1" dirty="0">
                <a:solidFill>
                  <a:srgbClr val="BE123C"/>
                </a:solidFill>
                <a:latin typeface="Calibri" pitchFamily="34" charset="0"/>
                <a:ea typeface="Calibri" pitchFamily="34" charset="-122"/>
                <a:cs typeface="Calibri" pitchFamily="34" charset="-120"/>
              </a:rPr>
              <a:t>updateDataModel</a:t>
            </a:r>
            <a:endParaRPr lang="en-US" sz="1200" dirty="0"/>
          </a:p>
        </p:txBody>
      </p:sp>
      <p:sp>
        <p:nvSpPr>
          <p:cNvPr id="16" name="Text 14"/>
          <p:cNvSpPr/>
          <p:nvPr/>
        </p:nvSpPr>
        <p:spPr>
          <a:xfrm>
            <a:off x="8211312" y="3858768"/>
            <a:ext cx="3328416" cy="44805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one JSON document per surface, addressed by JSON Pointer</a:t>
            </a:r>
            <a:endParaRPr lang="en-US" sz="950" dirty="0"/>
          </a:p>
        </p:txBody>
      </p:sp>
      <p:sp>
        <p:nvSpPr>
          <p:cNvPr id="17" name="Text 15"/>
          <p:cNvSpPr/>
          <p:nvPr/>
        </p:nvSpPr>
        <p:spPr>
          <a:xfrm>
            <a:off x="548640" y="5669280"/>
            <a:ext cx="110642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client keeps a component map and a data model per surface. A tree is never on the wire; it is rebuilt at paint time from the ids.</a:t>
            </a:r>
            <a:endParaRPr lang="en-US" sz="1050" dirty="0"/>
          </a:p>
        </p:txBody>
      </p:sp>
      <p:sp>
        <p:nvSpPr>
          <p:cNvPr id="18" name="Shape 16"/>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19" name="Text 17"/>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A client that keeps a map of components and a pointer-addressed document can render any catalog.</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03.1 · LEVEL 8 OF 23 · DECLARATIVE GENERATION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whole server-to-client protocol is four messages; everything else is the catalog</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45</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A2UI v0.9.1 is the </a:t>
            </a:r>
            <a:pPr indent="0" marL="0">
              <a:buNone/>
            </a:pPr>
            <a:r>
              <a:rPr lang="en-US" sz="1600" b="1" dirty="0">
                <a:solidFill>
                  <a:srgbClr val="141B3D"/>
                </a:solidFill>
                <a:latin typeface="Calibri" pitchFamily="34" charset="0"/>
                <a:ea typeface="Calibri" pitchFamily="34" charset="-122"/>
                <a:cs typeface="Calibri" pitchFamily="34" charset="-120"/>
              </a:rPr>
              <a:t>flat element map</a:t>
            </a:r>
            <a:pPr indent="0" marL="0">
              <a:buNone/>
            </a:pPr>
            <a:r>
              <a:rPr lang="en-US" sz="1600" dirty="0">
                <a:solidFill>
                  <a:srgbClr val="141B3D"/>
                </a:solidFill>
                <a:latin typeface="Calibri" pitchFamily="34" charset="0"/>
                <a:ea typeface="Calibri" pitchFamily="34" charset="-122"/>
                <a:cs typeface="Calibri" pitchFamily="34" charset="-120"/>
              </a:rPr>
              <a:t> from sub-theme 01, published as a protocol with a schema.</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Each message is a JSON object with a version and exactly one of four keys.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createSurface opens a surface and names the catalog it will use.</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updateComponents sends a flat list; one component must have the id root.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updateDataModel writes a value at a JSON Pointer path, or deletes it.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deleteSurface drops the surface and every piece of state under it.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Validation runs against three official schemas; a registry plugs the catalog in.</a:t>
            </a:r>
            <a:endParaRPr lang="en-US" sz="1350" dirty="0"/>
          </a:p>
        </p:txBody>
      </p:sp>
      <p:sp>
        <p:nvSpPr>
          <p:cNvPr id="7" name="Shape 5"/>
          <p:cNvSpPr/>
          <p:nvPr/>
        </p:nvSpPr>
        <p:spPr>
          <a:xfrm>
            <a:off x="6035040" y="1600200"/>
            <a:ext cx="2377440" cy="475488"/>
          </a:xfrm>
          <a:prstGeom prst="roundRect">
            <a:avLst>
              <a:gd name="adj" fmla="val 15385"/>
            </a:avLst>
          </a:prstGeom>
          <a:solidFill>
            <a:srgbClr val="F6F7FB"/>
          </a:solidFill>
          <a:ln w="12700">
            <a:solidFill>
              <a:srgbClr val="141B3D"/>
            </a:solidFill>
            <a:prstDash val="solid"/>
          </a:ln>
        </p:spPr>
      </p:sp>
      <p:sp>
        <p:nvSpPr>
          <p:cNvPr id="8" name="Text 6"/>
          <p:cNvSpPr/>
          <p:nvPr/>
        </p:nvSpPr>
        <p:spPr>
          <a:xfrm>
            <a:off x="6126480" y="1600200"/>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createSurface</a:t>
            </a:r>
            <a:endParaRPr lang="en-US" sz="1050" dirty="0"/>
          </a:p>
        </p:txBody>
      </p:sp>
      <p:sp>
        <p:nvSpPr>
          <p:cNvPr id="9" name="Text 7"/>
          <p:cNvSpPr/>
          <p:nvPr/>
        </p:nvSpPr>
        <p:spPr>
          <a:xfrm>
            <a:off x="8549640" y="1600200"/>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surfaceId, catalogId, optional theme and sendDataModel</a:t>
            </a:r>
            <a:endParaRPr lang="en-US" sz="1150" dirty="0"/>
          </a:p>
        </p:txBody>
      </p:sp>
      <p:sp>
        <p:nvSpPr>
          <p:cNvPr id="10" name="Shape 8"/>
          <p:cNvSpPr/>
          <p:nvPr/>
        </p:nvSpPr>
        <p:spPr>
          <a:xfrm>
            <a:off x="6035040" y="2167128"/>
            <a:ext cx="2377440" cy="475488"/>
          </a:xfrm>
          <a:prstGeom prst="roundRect">
            <a:avLst>
              <a:gd name="adj" fmla="val 15385"/>
            </a:avLst>
          </a:prstGeom>
          <a:solidFill>
            <a:srgbClr val="EEF0FF"/>
          </a:solidFill>
          <a:ln w="12700">
            <a:solidFill>
              <a:srgbClr val="2F3CFF"/>
            </a:solidFill>
            <a:prstDash val="solid"/>
          </a:ln>
        </p:spPr>
      </p:sp>
      <p:sp>
        <p:nvSpPr>
          <p:cNvPr id="11" name="Text 9"/>
          <p:cNvSpPr/>
          <p:nvPr/>
        </p:nvSpPr>
        <p:spPr>
          <a:xfrm>
            <a:off x="6126480" y="2167128"/>
            <a:ext cx="2194560" cy="475488"/>
          </a:xfrm>
          <a:prstGeom prst="rect">
            <a:avLst/>
          </a:prstGeom>
          <a:noFill/>
          <a:ln/>
        </p:spPr>
        <p:txBody>
          <a:bodyPr wrap="square" lIns="0" tIns="0" rIns="0" bIns="0" rtlCol="0" anchor="ctr"/>
          <a:lstStyle/>
          <a:p>
            <a:pPr indent="0" marL="0">
              <a:buNone/>
            </a:pPr>
            <a:r>
              <a:rPr lang="en-US" sz="1050" b="1" dirty="0">
                <a:solidFill>
                  <a:srgbClr val="2F3CFF"/>
                </a:solidFill>
                <a:latin typeface="Courier New" pitchFamily="34" charset="0"/>
                <a:ea typeface="Courier New" pitchFamily="34" charset="-122"/>
                <a:cs typeface="Courier New" pitchFamily="34" charset="-120"/>
              </a:rPr>
              <a:t>updateComponents</a:t>
            </a:r>
            <a:endParaRPr lang="en-US" sz="1050" dirty="0"/>
          </a:p>
        </p:txBody>
      </p:sp>
      <p:sp>
        <p:nvSpPr>
          <p:cNvPr id="12" name="Text 10"/>
          <p:cNvSpPr/>
          <p:nvPr/>
        </p:nvSpPr>
        <p:spPr>
          <a:xfrm>
            <a:off x="8549640" y="2167128"/>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flat list of components joined by ids</a:t>
            </a:r>
            <a:endParaRPr lang="en-US" sz="1150" dirty="0"/>
          </a:p>
        </p:txBody>
      </p:sp>
      <p:sp>
        <p:nvSpPr>
          <p:cNvPr id="13" name="Shape 11"/>
          <p:cNvSpPr/>
          <p:nvPr/>
        </p:nvSpPr>
        <p:spPr>
          <a:xfrm>
            <a:off x="6035040" y="2734056"/>
            <a:ext cx="2377440" cy="475488"/>
          </a:xfrm>
          <a:prstGeom prst="roundRect">
            <a:avLst>
              <a:gd name="adj" fmla="val 15385"/>
            </a:avLst>
          </a:prstGeom>
          <a:solidFill>
            <a:srgbClr val="FFF1F2"/>
          </a:solidFill>
          <a:ln w="12700">
            <a:solidFill>
              <a:srgbClr val="BE123C"/>
            </a:solidFill>
            <a:prstDash val="solid"/>
          </a:ln>
        </p:spPr>
      </p:sp>
      <p:sp>
        <p:nvSpPr>
          <p:cNvPr id="14" name="Text 12"/>
          <p:cNvSpPr/>
          <p:nvPr/>
        </p:nvSpPr>
        <p:spPr>
          <a:xfrm>
            <a:off x="6126480" y="2734056"/>
            <a:ext cx="2194560" cy="475488"/>
          </a:xfrm>
          <a:prstGeom prst="rect">
            <a:avLst/>
          </a:prstGeom>
          <a:noFill/>
          <a:ln/>
        </p:spPr>
        <p:txBody>
          <a:bodyPr wrap="square" lIns="0" tIns="0" rIns="0" bIns="0" rtlCol="0" anchor="ctr"/>
          <a:lstStyle/>
          <a:p>
            <a:pPr indent="0" marL="0">
              <a:buNone/>
            </a:pPr>
            <a:r>
              <a:rPr lang="en-US" sz="1050" b="1" dirty="0">
                <a:solidFill>
                  <a:srgbClr val="BE123C"/>
                </a:solidFill>
                <a:latin typeface="Courier New" pitchFamily="34" charset="0"/>
                <a:ea typeface="Courier New" pitchFamily="34" charset="-122"/>
                <a:cs typeface="Courier New" pitchFamily="34" charset="-120"/>
              </a:rPr>
              <a:t>updateDataModel</a:t>
            </a:r>
            <a:endParaRPr lang="en-US" sz="1050" dirty="0"/>
          </a:p>
        </p:txBody>
      </p:sp>
      <p:sp>
        <p:nvSpPr>
          <p:cNvPr id="15" name="Text 13"/>
          <p:cNvSpPr/>
          <p:nvPr/>
        </p:nvSpPr>
        <p:spPr>
          <a:xfrm>
            <a:off x="8549640" y="2734056"/>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path (JSON Pointer) and value, or path alone to remove</a:t>
            </a:r>
            <a:endParaRPr lang="en-US" sz="1150" dirty="0"/>
          </a:p>
        </p:txBody>
      </p:sp>
      <p:sp>
        <p:nvSpPr>
          <p:cNvPr id="16" name="Shape 14"/>
          <p:cNvSpPr/>
          <p:nvPr/>
        </p:nvSpPr>
        <p:spPr>
          <a:xfrm>
            <a:off x="6035040" y="3300984"/>
            <a:ext cx="2377440" cy="475488"/>
          </a:xfrm>
          <a:prstGeom prst="roundRect">
            <a:avLst>
              <a:gd name="adj" fmla="val 15385"/>
            </a:avLst>
          </a:prstGeom>
          <a:solidFill>
            <a:srgbClr val="F6F7FB"/>
          </a:solidFill>
          <a:ln w="12700">
            <a:solidFill>
              <a:srgbClr val="141B3D"/>
            </a:solidFill>
            <a:prstDash val="solid"/>
          </a:ln>
        </p:spPr>
      </p:sp>
      <p:sp>
        <p:nvSpPr>
          <p:cNvPr id="17" name="Text 15"/>
          <p:cNvSpPr/>
          <p:nvPr/>
        </p:nvSpPr>
        <p:spPr>
          <a:xfrm>
            <a:off x="6126480" y="3300984"/>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deleteSurface</a:t>
            </a:r>
            <a:endParaRPr lang="en-US" sz="1050" dirty="0"/>
          </a:p>
        </p:txBody>
      </p:sp>
      <p:sp>
        <p:nvSpPr>
          <p:cNvPr id="18" name="Text 16"/>
          <p:cNvSpPr/>
          <p:nvPr/>
        </p:nvSpPr>
        <p:spPr>
          <a:xfrm>
            <a:off x="8549640" y="3300984"/>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client forgets the surface and its state</a:t>
            </a:r>
            <a:endParaRPr lang="en-US" sz="1150" dirty="0"/>
          </a:p>
        </p:txBody>
      </p:sp>
      <p:sp>
        <p:nvSpPr>
          <p:cNvPr id="19" name="Text 17"/>
          <p:cNvSpPr/>
          <p:nvPr/>
        </p:nvSpPr>
        <p:spPr>
          <a:xfrm>
            <a:off x="6035040" y="5349240"/>
            <a:ext cx="5577840" cy="320040"/>
          </a:xfrm>
          <a:prstGeom prst="rect">
            <a:avLst/>
          </a:prstGeom>
          <a:noFill/>
          <a:ln/>
        </p:spPr>
        <p:txBody>
          <a:bodyPr wrap="square" lIns="0" tIns="0" rIns="0" bIns="0" rtlCol="0" anchor="ctr"/>
          <a:lstStyle/>
          <a:p>
            <a:pPr indent="0" marL="0">
              <a:buNone/>
            </a:pPr>
            <a:r>
              <a:rPr lang="en-US" sz="1050" i="1" dirty="0">
                <a:solidFill>
                  <a:srgbClr val="8B93A7"/>
                </a:solidFill>
                <a:latin typeface="Calibri" pitchFamily="34" charset="0"/>
                <a:ea typeface="Calibri" pitchFamily="34" charset="-122"/>
                <a:cs typeface="Calibri" pitchFamily="34" charset="-120"/>
              </a:rPr>
              <a:t>The envelope schema. Which components may appear inside updateComponents is the catalog's business, not the envelope's.</a:t>
            </a:r>
            <a:endParaRPr lang="en-US" sz="1050" dirty="0"/>
          </a:p>
        </p:txBody>
      </p:sp>
      <p:sp>
        <p:nvSpPr>
          <p:cNvPr id="20" name="Shape 18"/>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1" name="Text 19"/>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A2UI is a flat map plus a data model; a client that keeps those two things can render any catalog.</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Three of the four builders fit on one slide; the shape is the lesson</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46</a:t>
            </a:r>
            <a:endParaRPr lang="en-US" sz="1000" dirty="0"/>
          </a:p>
        </p:txBody>
      </p:sp>
      <p:sp>
        <p:nvSpPr>
          <p:cNvPr id="5" name="Shape 3"/>
          <p:cNvSpPr/>
          <p:nvPr/>
        </p:nvSpPr>
        <p:spPr>
          <a:xfrm>
            <a:off x="548640" y="1417320"/>
            <a:ext cx="7406640" cy="3502533"/>
          </a:xfrm>
          <a:prstGeom prst="roundRect">
            <a:avLst>
              <a:gd name="adj" fmla="val 2611"/>
            </a:avLst>
          </a:prstGeom>
          <a:solidFill>
            <a:srgbClr val="0F172A"/>
          </a:solidFill>
          <a:ln w="12700">
            <a:solidFill>
              <a:srgbClr val="0F172A"/>
            </a:solidFill>
            <a:prstDash val="solid"/>
          </a:ln>
        </p:spPr>
      </p:sp>
      <p:sp>
        <p:nvSpPr>
          <p:cNvPr id="6" name="Text 4"/>
          <p:cNvSpPr/>
          <p:nvPr/>
        </p:nvSpPr>
        <p:spPr>
          <a:xfrm>
            <a:off x="731520" y="1554480"/>
            <a:ext cx="7040880" cy="3228213"/>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update_components(surface_id, components):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"""An updateComponents message: a flat list; one component must have id 'root'."""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{"version": VERSION, "updateComponents": {"surfaceId": surface_id, "components": list(components)}}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update_data_model(surface_id, path="/", value=None, remove=False):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"""An updateDataModel message. Omit value (remove=True) to delete the key at path."""</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body = {"surfaceId": surface_id, "path": path}</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not remove: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body["value"] = value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{"version": VERSION, "updateDataModel": body}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delete_surface(surface_id):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 deleteSurface message: the client drops the surface and its state."""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{"version": VERSION, "deleteSurface": {"surfaceId": surface_id}}</a:t>
            </a:r>
            <a:endParaRPr lang="en-US" sz="1050" dirty="0"/>
          </a:p>
        </p:txBody>
      </p:sp>
      <p:sp>
        <p:nvSpPr>
          <p:cNvPr id="7" name="Text 5"/>
          <p:cNvSpPr/>
          <p:nvPr/>
        </p:nvSpPr>
        <p:spPr>
          <a:xfrm>
            <a:off x="548640" y="4965573"/>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03_a2ui/step_01_a2ui_messages_by_hand/a2ui.py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flat list under </a:t>
            </a:r>
            <a:pPr indent="0" marL="0">
              <a:buNone/>
            </a:pPr>
            <a:r>
              <a:rPr lang="en-US" sz="1200" dirty="0">
                <a:solidFill>
                  <a:srgbClr val="BE123C"/>
                </a:solidFill>
                <a:latin typeface="Courier New" pitchFamily="34" charset="0"/>
                <a:ea typeface="Courier New" pitchFamily="34" charset="-122"/>
                <a:cs typeface="Courier New" pitchFamily="34" charset="-120"/>
              </a:rPr>
              <a:t>components</a:t>
            </a:r>
            <a:pPr indent="0" marL="0">
              <a:buNone/>
            </a:pPr>
            <a:r>
              <a:rPr lang="en-US" sz="1200" dirty="0">
                <a:solidFill>
                  <a:srgbClr val="1F2937"/>
                </a:solidFill>
                <a:latin typeface="Calibri" pitchFamily="34" charset="0"/>
                <a:ea typeface="Calibri" pitchFamily="34" charset="-122"/>
                <a:cs typeface="Calibri" pitchFamily="34" charset="-120"/>
              </a:rPr>
              <a:t>. The nested tree never crosses the wire; the client rebuilds it from ids.</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path</a:t>
            </a:r>
            <a:pPr indent="0" marL="0">
              <a:buNone/>
            </a:pPr>
            <a:r>
              <a:rPr lang="en-US" sz="1200" dirty="0">
                <a:solidFill>
                  <a:srgbClr val="1F2937"/>
                </a:solidFill>
                <a:latin typeface="Calibri" pitchFamily="34" charset="0"/>
                <a:ea typeface="Calibri" pitchFamily="34" charset="-122"/>
                <a:cs typeface="Calibri" pitchFamily="34" charset="-120"/>
              </a:rPr>
              <a:t> is a JSON Pointer into the surface's data model. Omitting </a:t>
            </a:r>
            <a:pPr indent="0" marL="0">
              <a:buNone/>
            </a:pPr>
            <a:r>
              <a:rPr lang="en-US" sz="1200" dirty="0">
                <a:solidFill>
                  <a:srgbClr val="BE123C"/>
                </a:solidFill>
                <a:latin typeface="Courier New" pitchFamily="34" charset="0"/>
                <a:ea typeface="Courier New" pitchFamily="34" charset="-122"/>
                <a:cs typeface="Courier New" pitchFamily="34" charset="-120"/>
              </a:rPr>
              <a:t>value</a:t>
            </a:r>
            <a:pPr indent="0" marL="0">
              <a:buNone/>
            </a:pPr>
            <a:r>
              <a:rPr lang="en-US" sz="1200" dirty="0">
                <a:solidFill>
                  <a:srgbClr val="1F2937"/>
                </a:solidFill>
                <a:latin typeface="Calibri" pitchFamily="34" charset="0"/>
                <a:ea typeface="Calibri" pitchFamily="34" charset="-122"/>
                <a:cs typeface="Calibri" pitchFamily="34" charset="-120"/>
              </a:rPr>
              <a:t> turns the write into a delete.</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deleteSurface</a:t>
            </a:r>
            <a:pPr indent="0" marL="0">
              <a:buNone/>
            </a:pPr>
            <a:r>
              <a:rPr lang="en-US" sz="1200" dirty="0">
                <a:solidFill>
                  <a:srgbClr val="1F2937"/>
                </a:solidFill>
                <a:latin typeface="Calibri" pitchFamily="34" charset="0"/>
                <a:ea typeface="Calibri" pitchFamily="34" charset="-122"/>
                <a:cs typeface="Calibri" pitchFamily="34" charset="-120"/>
              </a:rPr>
              <a:t> carries only the id. The page keeps nothing else; the server owns the conversation.</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Each builder returns the envelope: a version and exactly one of the four keys. </a:t>
            </a:r>
            <a:pPr indent="0" marL="0">
              <a:buNone/>
            </a:pPr>
            <a:r>
              <a:rPr lang="en-US" sz="1250" dirty="0">
                <a:solidFill>
                  <a:srgbClr val="BE123C"/>
                </a:solidFill>
                <a:latin typeface="Courier New" pitchFamily="34" charset="0"/>
                <a:ea typeface="Courier New" pitchFamily="34" charset="-122"/>
                <a:cs typeface="Courier New" pitchFamily="34" charset="-120"/>
              </a:rPr>
              <a:t>validate()</a:t>
            </a:r>
            <a:pPr indent="0" marL="0">
              <a:buNone/>
            </a:pPr>
            <a:r>
              <a:rPr lang="en-US" sz="1250" dirty="0">
                <a:solidFill>
                  <a:srgbClr val="4B5563"/>
                </a:solidFill>
                <a:latin typeface="Calibri" pitchFamily="34" charset="0"/>
                <a:ea typeface="Calibri" pitchFamily="34" charset="-122"/>
                <a:cs typeface="Calibri" pitchFamily="34" charset="-120"/>
              </a:rPr>
              <a:t> checks the result against the official schemas.</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client state has no DOM in it: a map for structure, a pointer write for data</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47</a:t>
            </a:r>
            <a:endParaRPr lang="en-US" sz="1000" dirty="0"/>
          </a:p>
        </p:txBody>
      </p:sp>
      <p:sp>
        <p:nvSpPr>
          <p:cNvPr id="5" name="Shape 3"/>
          <p:cNvSpPr/>
          <p:nvPr/>
        </p:nvSpPr>
        <p:spPr>
          <a:xfrm>
            <a:off x="548640" y="1417320"/>
            <a:ext cx="7406640" cy="2526411"/>
          </a:xfrm>
          <a:prstGeom prst="roundRect">
            <a:avLst>
              <a:gd name="adj" fmla="val 3619"/>
            </a:avLst>
          </a:prstGeom>
          <a:solidFill>
            <a:srgbClr val="0F172A"/>
          </a:solidFill>
          <a:ln w="12700">
            <a:solidFill>
              <a:srgbClr val="0F172A"/>
            </a:solidFill>
            <a:prstDash val="solid"/>
          </a:ln>
        </p:spPr>
      </p:sp>
      <p:sp>
        <p:nvSpPr>
          <p:cNvPr id="6" name="Text 4"/>
          <p:cNvSpPr/>
          <p:nvPr/>
        </p:nvSpPr>
        <p:spPr>
          <a:xfrm>
            <a:off x="731520" y="1554480"/>
            <a:ext cx="7040880" cy="2252091"/>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apply(message)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kind = messageType(message);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body = message[kind];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(kind === 'updateComponents')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for (const component of body.components) this.components.set(component.id, component);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else if (kind === 'updateDataModel')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('value' in body) pointerSet(this.data, body.path ?? '/', body.value);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else pointerDelete(this.data, body.path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else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throw new Error(`${kind} is not a surface update`);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548640" y="3989451"/>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03_a2ui/step_01_a2ui_messages_by_hand/static/surface.mjs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Components go into a </a:t>
            </a:r>
            <a:pPr indent="0" marL="0">
              <a:buNone/>
            </a:pPr>
            <a:r>
              <a:rPr lang="en-US" sz="1200" dirty="0">
                <a:solidFill>
                  <a:srgbClr val="BE123C"/>
                </a:solidFill>
                <a:latin typeface="Courier New" pitchFamily="34" charset="0"/>
                <a:ea typeface="Courier New" pitchFamily="34" charset="-122"/>
                <a:cs typeface="Courier New" pitchFamily="34" charset="-120"/>
              </a:rPr>
              <a:t>Map</a:t>
            </a:r>
            <a:pPr indent="0" marL="0">
              <a:buNone/>
            </a:pPr>
            <a:r>
              <a:rPr lang="en-US" sz="1200" dirty="0">
                <a:solidFill>
                  <a:srgbClr val="1F2937"/>
                </a:solidFill>
                <a:latin typeface="Calibri" pitchFamily="34" charset="0"/>
                <a:ea typeface="Calibri" pitchFamily="34" charset="-122"/>
                <a:cs typeface="Calibri" pitchFamily="34" charset="-120"/>
              </a:rPr>
              <a:t> keyed by id. Any order, any time; a parent may name a child that has not arrived.</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Data goes through </a:t>
            </a:r>
            <a:pPr indent="0" marL="0">
              <a:buNone/>
            </a:pPr>
            <a:r>
              <a:rPr lang="en-US" sz="1200" dirty="0">
                <a:solidFill>
                  <a:srgbClr val="BE123C"/>
                </a:solidFill>
                <a:latin typeface="Courier New" pitchFamily="34" charset="0"/>
                <a:ea typeface="Courier New" pitchFamily="34" charset="-122"/>
                <a:cs typeface="Courier New" pitchFamily="34" charset="-120"/>
              </a:rPr>
              <a:t>pointerSet</a:t>
            </a:r>
            <a:pPr indent="0" marL="0">
              <a:buNone/>
            </a:pPr>
            <a:r>
              <a:rPr lang="en-US" sz="1200" dirty="0">
                <a:solidFill>
                  <a:srgbClr val="1F2937"/>
                </a:solidFill>
                <a:latin typeface="Calibri" pitchFamily="34" charset="0"/>
                <a:ea typeface="Calibri" pitchFamily="34" charset="-122"/>
                <a:cs typeface="Calibri" pitchFamily="34" charset="-120"/>
              </a:rPr>
              <a:t>. A bound </a:t>
            </a:r>
            <a:pPr indent="0" marL="0">
              <a:buNone/>
            </a:pPr>
            <a:r>
              <a:rPr lang="en-US" sz="1200" dirty="0">
                <a:solidFill>
                  <a:srgbClr val="BE123C"/>
                </a:solidFill>
                <a:latin typeface="Courier New" pitchFamily="34" charset="0"/>
                <a:ea typeface="Courier New" pitchFamily="34" charset="-122"/>
                <a:cs typeface="Courier New" pitchFamily="34" charset="-120"/>
              </a:rPr>
              <a:t>Text</a:t>
            </a:r>
            <a:pPr indent="0" marL="0">
              <a:buNone/>
            </a:pPr>
            <a:r>
              <a:rPr lang="en-US" sz="1200" dirty="0">
                <a:solidFill>
                  <a:srgbClr val="1F2937"/>
                </a:solidFill>
                <a:latin typeface="Calibri" pitchFamily="34" charset="0"/>
                <a:ea typeface="Calibri" pitchFamily="34" charset="-122"/>
                <a:cs typeface="Calibri" pitchFamily="34" charset="-120"/>
              </a:rPr>
              <a:t> reads the same document at paint time, so typing shows at once.</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Anything else is not a surface update. </a:t>
            </a:r>
            <a:pPr indent="0" marL="0">
              <a:buNone/>
            </a:pPr>
            <a:r>
              <a:rPr lang="en-US" sz="1200" dirty="0">
                <a:solidFill>
                  <a:srgbClr val="BE123C"/>
                </a:solidFill>
                <a:latin typeface="Courier New" pitchFamily="34" charset="0"/>
                <a:ea typeface="Courier New" pitchFamily="34" charset="-122"/>
                <a:cs typeface="Courier New" pitchFamily="34" charset="-120"/>
              </a:rPr>
              <a:t>createSurface</a:t>
            </a:r>
            <a:pPr indent="0" marL="0">
              <a:buNone/>
            </a:pPr>
            <a:r>
              <a:rPr lang="en-US" sz="1200" dirty="0">
                <a:solidFill>
                  <a:srgbClr val="1F2937"/>
                </a:solidFill>
                <a:latin typeface="Calibri" pitchFamily="34" charset="0"/>
                <a:ea typeface="Calibri" pitchFamily="34" charset="-122"/>
                <a:cs typeface="Calibri" pitchFamily="34" charset="-120"/>
              </a:rPr>
              <a:t> and </a:t>
            </a:r>
            <a:pPr indent="0" marL="0">
              <a:buNone/>
            </a:pPr>
            <a:r>
              <a:rPr lang="en-US" sz="1200" dirty="0">
                <a:solidFill>
                  <a:srgbClr val="BE123C"/>
                </a:solidFill>
                <a:latin typeface="Courier New" pitchFamily="34" charset="0"/>
                <a:ea typeface="Courier New" pitchFamily="34" charset="-122"/>
                <a:cs typeface="Courier New" pitchFamily="34" charset="-120"/>
              </a:rPr>
              <a:t>deleteSurface</a:t>
            </a:r>
            <a:pPr indent="0" marL="0">
              <a:buNone/>
            </a:pPr>
            <a:r>
              <a:rPr lang="en-US" sz="1200" dirty="0">
                <a:solidFill>
                  <a:srgbClr val="1F2937"/>
                </a:solidFill>
                <a:latin typeface="Calibri" pitchFamily="34" charset="0"/>
                <a:ea typeface="Calibri" pitchFamily="34" charset="-122"/>
                <a:cs typeface="Calibri" pitchFamily="34" charset="-120"/>
              </a:rPr>
              <a:t> are the store's business, not the surface's.</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tree()</a:t>
            </a:r>
            <a:pPr indent="0" marL="0">
              <a:buNone/>
            </a:pPr>
            <a:r>
              <a:rPr lang="en-US" sz="1250" dirty="0">
                <a:solidFill>
                  <a:srgbClr val="4B5563"/>
                </a:solidFill>
                <a:latin typeface="Calibri" pitchFamily="34" charset="0"/>
                <a:ea typeface="Calibri" pitchFamily="34" charset="-122"/>
                <a:cs typeface="Calibri" pitchFamily="34" charset="-120"/>
              </a:rPr>
              <a:t> rebuilds the nested view from the map when the page paints, marking ids that have not arrived as </a:t>
            </a:r>
            <a:pPr indent="0" marL="0">
              <a:buNone/>
            </a:pPr>
            <a:r>
              <a:rPr lang="en-US" sz="1250" dirty="0">
                <a:solidFill>
                  <a:srgbClr val="BE123C"/>
                </a:solidFill>
                <a:latin typeface="Courier New" pitchFamily="34" charset="0"/>
                <a:ea typeface="Courier New" pitchFamily="34" charset="-122"/>
                <a:cs typeface="Courier New" pitchFamily="34" charset="-120"/>
              </a:rPr>
              <a:t>{missing: true}</a:t>
            </a:r>
            <a:pPr indent="0" marL="0">
              <a:buNone/>
            </a:pPr>
            <a:r>
              <a:rPr lang="en-US" sz="1250" dirty="0">
                <a:solidFill>
                  <a:srgbClr val="4B5563"/>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03.1 · QUICK DEMO</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spec's contact form: 4 messages, 25 components, 0 missing refs, one repaired rule set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48</a:t>
            </a:r>
            <a:endParaRPr lang="en-US" sz="1000" dirty="0"/>
          </a:p>
        </p:txBody>
      </p:sp>
      <p:pic>
        <p:nvPicPr>
          <p:cNvPr id="5" name="Image 0" descr="C:\Users\evija\simple-coding-harness\genui\03_a2ui\step_01_a2ui_messages_by_hand\demo.png">    </p:cNvPr>
          <p:cNvPicPr>
            <a:picLocks noChangeAspect="1"/>
          </p:cNvPicPr>
          <p:nvPr/>
        </p:nvPicPr>
        <p:blipFill>
          <a:blip r:embed="rId1"/>
          <a:srcRect l="0" r="0" t="0" b="0"/>
          <a:stretch/>
        </p:blipFill>
        <p:spPr>
          <a:xfrm>
            <a:off x="548640" y="1737360"/>
            <a:ext cx="4251960" cy="4480560"/>
          </a:xfrm>
          <a:prstGeom prst="rect">
            <a:avLst/>
          </a:prstGeom>
        </p:spPr>
      </p:pic>
      <p:sp>
        <p:nvSpPr>
          <p:cNvPr id="6" name="Shape 3"/>
          <p:cNvSpPr/>
          <p:nvPr/>
        </p:nvSpPr>
        <p:spPr>
          <a:xfrm>
            <a:off x="548640" y="1737360"/>
            <a:ext cx="4251960" cy="4480560"/>
          </a:xfrm>
          <a:prstGeom prst="rect">
            <a:avLst/>
          </a:prstGeom>
          <a:ln w="12700">
            <a:solidFill>
              <a:srgbClr val="D7DAE5"/>
            </a:solidFill>
            <a:prstDash val="solid"/>
          </a:ln>
        </p:spPr>
      </p:sp>
      <p:sp>
        <p:nvSpPr>
          <p:cNvPr id="7" name="Shape 4"/>
          <p:cNvSpPr/>
          <p:nvPr/>
        </p:nvSpPr>
        <p:spPr>
          <a:xfrm>
            <a:off x="5166360" y="1737360"/>
            <a:ext cx="647395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5303520" y="1792224"/>
            <a:ext cx="619963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25</a:t>
            </a:r>
            <a:endParaRPr lang="en-US" sz="2800" dirty="0"/>
          </a:p>
        </p:txBody>
      </p:sp>
      <p:sp>
        <p:nvSpPr>
          <p:cNvPr id="9" name="Text 6"/>
          <p:cNvSpPr/>
          <p:nvPr/>
        </p:nvSpPr>
        <p:spPr>
          <a:xfrm>
            <a:off x="5303520" y="2359152"/>
            <a:ext cx="619963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components in the map after updateComponents, missing refs 0</a:t>
            </a:r>
            <a:endParaRPr lang="en-US" sz="1050" dirty="0"/>
          </a:p>
        </p:txBody>
      </p:sp>
      <p:sp>
        <p:nvSpPr>
          <p:cNvPr id="10" name="Shape 7"/>
          <p:cNvSpPr/>
          <p:nvPr/>
        </p:nvSpPr>
        <p:spPr>
          <a:xfrm>
            <a:off x="5166360" y="3017520"/>
            <a:ext cx="647395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5303520" y="3072384"/>
            <a:ext cx="619963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3</a:t>
            </a:r>
            <a:endParaRPr lang="en-US" sz="2800" dirty="0"/>
          </a:p>
        </p:txBody>
      </p:sp>
      <p:sp>
        <p:nvSpPr>
          <p:cNvPr id="12" name="Text 9"/>
          <p:cNvSpPr/>
          <p:nvPr/>
        </p:nvSpPr>
        <p:spPr>
          <a:xfrm>
            <a:off x="5303520" y="3639312"/>
            <a:ext cx="619963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check rules repair_checks rewrote so the spec's own stream validates</a:t>
            </a:r>
            <a:endParaRPr lang="en-US" sz="1050" dirty="0"/>
          </a:p>
        </p:txBody>
      </p:sp>
      <p:sp>
        <p:nvSpPr>
          <p:cNvPr id="13" name="Text 10"/>
          <p:cNvSpPr/>
          <p:nvPr/>
        </p:nvSpPr>
        <p:spPr>
          <a:xfrm>
            <a:off x="5166360" y="4343400"/>
            <a:ext cx="6473952" cy="155448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The second message fails the spec's own schema at /updateComponents/components/14/checks/0: condition is required.</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After updateDataModel the page shows 8 inputs, first name John, newsletter box checked.</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Clicking Send Message produces a submitContactForm action with its context resolved at click time.</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deleteSurface leaves 0 surfaces on the page; nothing else was ever stored there.</a:t>
            </a:r>
            <a:endParaRPr lang="en-US" sz="10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Checkpoint: reorder contact_form.jsonl so a child precedes its parent. The page renders the same form; the map ignores order.</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03.2 · LEVEL 9 OF 23 · DECLARATIVE GENERATION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Prompt-first: the catalog rides in the prompt, so a loop has to check the output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49</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Nothing constrains the model at generation time; the protocol pairs the prompt with a </a:t>
            </a:r>
            <a:pPr indent="0" marL="0">
              <a:buNone/>
            </a:pPr>
            <a:r>
              <a:rPr lang="en-US" sz="1600" b="1" dirty="0">
                <a:solidFill>
                  <a:srgbClr val="141B3D"/>
                </a:solidFill>
                <a:latin typeface="Calibri" pitchFamily="34" charset="0"/>
                <a:ea typeface="Calibri" pitchFamily="34" charset="-122"/>
                <a:cs typeface="Calibri" pitchFamily="34" charset="-120"/>
              </a:rPr>
              <a:t>generate, validate, correct</a:t>
            </a:r>
            <a:pPr indent="0" marL="0">
              <a:buNone/>
            </a:pPr>
            <a:r>
              <a:rPr lang="en-US" sz="1600" dirty="0">
                <a:solidFill>
                  <a:srgbClr val="141B3D"/>
                </a:solidFill>
                <a:latin typeface="Calibri" pitchFamily="34" charset="0"/>
                <a:ea typeface="Calibri" pitchFamily="34" charset="-122"/>
                <a:cs typeface="Calibri" pitchFamily="34" charset="-120"/>
              </a:rPr>
              <a:t> loop.</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DirectJsonFormat renders the Basic Catalog schema into the system prompt.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DirectJsonStreamParser yields updateComponents as soon as a component is reachable from root.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Children not seen yet become empty loading_&lt;id&gt; rows, so the page never has a missing ref.</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full parser repairs small faults such as trailing commas and validates each block.</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On failure the partial surfaces are deleted and the error becomes the next user turn, once.</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report calls this the cost of the declarative middle: someone has to check.</a:t>
            </a:r>
            <a:endParaRPr lang="en-US" sz="1350" dirty="0"/>
          </a:p>
        </p:txBody>
      </p:sp>
      <p:sp>
        <p:nvSpPr>
          <p:cNvPr id="7" name="Shape 5"/>
          <p:cNvSpPr/>
          <p:nvPr/>
        </p:nvSpPr>
        <p:spPr>
          <a:xfrm>
            <a:off x="6903720" y="1600200"/>
            <a:ext cx="3840480" cy="484632"/>
          </a:xfrm>
          <a:prstGeom prst="roundRect">
            <a:avLst>
              <a:gd name="adj" fmla="val 18868"/>
            </a:avLst>
          </a:prstGeom>
          <a:solidFill>
            <a:srgbClr val="F6F7FB"/>
          </a:solidFill>
          <a:ln w="15875">
            <a:solidFill>
              <a:srgbClr val="141B3D"/>
            </a:solidFill>
            <a:prstDash val="solid"/>
          </a:ln>
        </p:spPr>
      </p:sp>
      <p:sp>
        <p:nvSpPr>
          <p:cNvPr id="8" name="Text 6"/>
          <p:cNvSpPr/>
          <p:nvPr/>
        </p:nvSpPr>
        <p:spPr>
          <a:xfrm>
            <a:off x="6976872" y="1636776"/>
            <a:ext cx="3694176" cy="248260"/>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prompt</a:t>
            </a:r>
            <a:endParaRPr lang="en-US" sz="1200" dirty="0"/>
          </a:p>
        </p:txBody>
      </p:sp>
      <p:sp>
        <p:nvSpPr>
          <p:cNvPr id="9" name="Text 7"/>
          <p:cNvSpPr/>
          <p:nvPr/>
        </p:nvSpPr>
        <p:spPr>
          <a:xfrm>
            <a:off x="6976872" y="1885036"/>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role + workflow rules + catalog schema</a:t>
            </a:r>
            <a:endParaRPr lang="en-US" sz="950" dirty="0"/>
          </a:p>
        </p:txBody>
      </p:sp>
      <p:sp>
        <p:nvSpPr>
          <p:cNvPr id="10" name="Shape 8"/>
          <p:cNvSpPr/>
          <p:nvPr/>
        </p:nvSpPr>
        <p:spPr>
          <a:xfrm>
            <a:off x="8823960" y="2112264"/>
            <a:ext cx="9144" cy="265176"/>
          </a:xfrm>
          <a:prstGeom prst="line">
            <a:avLst/>
          </a:prstGeom>
          <a:noFill/>
          <a:ln w="19050">
            <a:solidFill>
              <a:srgbClr val="4B5563"/>
            </a:solidFill>
            <a:prstDash val="solid"/>
            <a:tailEnd type="triangle"/>
          </a:ln>
        </p:spPr>
      </p:sp>
      <p:sp>
        <p:nvSpPr>
          <p:cNvPr id="11" name="Shape 9"/>
          <p:cNvSpPr/>
          <p:nvPr/>
        </p:nvSpPr>
        <p:spPr>
          <a:xfrm>
            <a:off x="6903720" y="2404872"/>
            <a:ext cx="3840480" cy="484632"/>
          </a:xfrm>
          <a:prstGeom prst="roundRect">
            <a:avLst>
              <a:gd name="adj" fmla="val 18868"/>
            </a:avLst>
          </a:prstGeom>
          <a:solidFill>
            <a:srgbClr val="F6F7FB"/>
          </a:solidFill>
          <a:ln w="15875">
            <a:solidFill>
              <a:srgbClr val="141B3D"/>
            </a:solidFill>
            <a:prstDash val="solid"/>
          </a:ln>
        </p:spPr>
      </p:sp>
      <p:sp>
        <p:nvSpPr>
          <p:cNvPr id="12" name="Text 10"/>
          <p:cNvSpPr/>
          <p:nvPr/>
        </p:nvSpPr>
        <p:spPr>
          <a:xfrm>
            <a:off x="6976872" y="2441448"/>
            <a:ext cx="3694176" cy="248260"/>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stream parser</a:t>
            </a:r>
            <a:endParaRPr lang="en-US" sz="1200" dirty="0"/>
          </a:p>
        </p:txBody>
      </p:sp>
      <p:sp>
        <p:nvSpPr>
          <p:cNvPr id="13" name="Text 11"/>
          <p:cNvSpPr/>
          <p:nvPr/>
        </p:nvSpPr>
        <p:spPr>
          <a:xfrm>
            <a:off x="6976872" y="2689708"/>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progressive updateComponents</a:t>
            </a:r>
            <a:endParaRPr lang="en-US" sz="950" dirty="0"/>
          </a:p>
        </p:txBody>
      </p:sp>
      <p:sp>
        <p:nvSpPr>
          <p:cNvPr id="14" name="Shape 12"/>
          <p:cNvSpPr/>
          <p:nvPr/>
        </p:nvSpPr>
        <p:spPr>
          <a:xfrm>
            <a:off x="8823960" y="2916936"/>
            <a:ext cx="9144" cy="265176"/>
          </a:xfrm>
          <a:prstGeom prst="line">
            <a:avLst/>
          </a:prstGeom>
          <a:noFill/>
          <a:ln w="19050">
            <a:solidFill>
              <a:srgbClr val="4B5563"/>
            </a:solidFill>
            <a:prstDash val="solid"/>
            <a:tailEnd type="triangle"/>
          </a:ln>
        </p:spPr>
      </p:sp>
      <p:sp>
        <p:nvSpPr>
          <p:cNvPr id="15" name="Shape 13"/>
          <p:cNvSpPr/>
          <p:nvPr/>
        </p:nvSpPr>
        <p:spPr>
          <a:xfrm>
            <a:off x="6903720" y="3209544"/>
            <a:ext cx="3840480" cy="484632"/>
          </a:xfrm>
          <a:prstGeom prst="roundRect">
            <a:avLst>
              <a:gd name="adj" fmla="val 18868"/>
            </a:avLst>
          </a:prstGeom>
          <a:solidFill>
            <a:srgbClr val="F6F7FB"/>
          </a:solidFill>
          <a:ln w="15875">
            <a:solidFill>
              <a:srgbClr val="141B3D"/>
            </a:solidFill>
            <a:prstDash val="solid"/>
          </a:ln>
        </p:spPr>
      </p:sp>
      <p:sp>
        <p:nvSpPr>
          <p:cNvPr id="16" name="Text 14"/>
          <p:cNvSpPr/>
          <p:nvPr/>
        </p:nvSpPr>
        <p:spPr>
          <a:xfrm>
            <a:off x="6976872" y="3246120"/>
            <a:ext cx="3694176" cy="248260"/>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full parser + repair</a:t>
            </a:r>
            <a:endParaRPr lang="en-US" sz="1200" dirty="0"/>
          </a:p>
        </p:txBody>
      </p:sp>
      <p:sp>
        <p:nvSpPr>
          <p:cNvPr id="17" name="Text 15"/>
          <p:cNvSpPr/>
          <p:nvPr/>
        </p:nvSpPr>
        <p:spPr>
          <a:xfrm>
            <a:off x="6976872" y="3494380"/>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runs on the finished reply</a:t>
            </a:r>
            <a:endParaRPr lang="en-US" sz="950" dirty="0"/>
          </a:p>
        </p:txBody>
      </p:sp>
      <p:sp>
        <p:nvSpPr>
          <p:cNvPr id="18" name="Shape 16"/>
          <p:cNvSpPr/>
          <p:nvPr/>
        </p:nvSpPr>
        <p:spPr>
          <a:xfrm>
            <a:off x="8823960" y="3721608"/>
            <a:ext cx="9144" cy="265176"/>
          </a:xfrm>
          <a:prstGeom prst="line">
            <a:avLst/>
          </a:prstGeom>
          <a:noFill/>
          <a:ln w="19050">
            <a:solidFill>
              <a:srgbClr val="4B5563"/>
            </a:solidFill>
            <a:prstDash val="solid"/>
            <a:tailEnd type="triangle"/>
          </a:ln>
        </p:spPr>
      </p:sp>
      <p:sp>
        <p:nvSpPr>
          <p:cNvPr id="19" name="Shape 17"/>
          <p:cNvSpPr/>
          <p:nvPr/>
        </p:nvSpPr>
        <p:spPr>
          <a:xfrm>
            <a:off x="6903720" y="4014216"/>
            <a:ext cx="3840480" cy="484632"/>
          </a:xfrm>
          <a:prstGeom prst="roundRect">
            <a:avLst>
              <a:gd name="adj" fmla="val 18868"/>
            </a:avLst>
          </a:prstGeom>
          <a:solidFill>
            <a:srgbClr val="EEF0FF"/>
          </a:solidFill>
          <a:ln w="15875">
            <a:solidFill>
              <a:srgbClr val="2F3CFF"/>
            </a:solidFill>
            <a:prstDash val="solid"/>
          </a:ln>
        </p:spPr>
      </p:sp>
      <p:sp>
        <p:nvSpPr>
          <p:cNvPr id="20" name="Text 18"/>
          <p:cNvSpPr/>
          <p:nvPr/>
        </p:nvSpPr>
        <p:spPr>
          <a:xfrm>
            <a:off x="6976872" y="4050792"/>
            <a:ext cx="3694176" cy="248260"/>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validate</a:t>
            </a:r>
            <a:endParaRPr lang="en-US" sz="1200" dirty="0"/>
          </a:p>
        </p:txBody>
      </p:sp>
      <p:sp>
        <p:nvSpPr>
          <p:cNvPr id="21" name="Text 19"/>
          <p:cNvSpPr/>
          <p:nvPr/>
        </p:nvSpPr>
        <p:spPr>
          <a:xfrm>
            <a:off x="6976872" y="4299052"/>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each block against the catalog</a:t>
            </a:r>
            <a:endParaRPr lang="en-US" sz="950" dirty="0"/>
          </a:p>
        </p:txBody>
      </p:sp>
      <p:sp>
        <p:nvSpPr>
          <p:cNvPr id="22" name="Shape 20"/>
          <p:cNvSpPr/>
          <p:nvPr/>
        </p:nvSpPr>
        <p:spPr>
          <a:xfrm>
            <a:off x="8823960" y="4526280"/>
            <a:ext cx="9144" cy="265176"/>
          </a:xfrm>
          <a:prstGeom prst="line">
            <a:avLst/>
          </a:prstGeom>
          <a:noFill/>
          <a:ln w="19050">
            <a:solidFill>
              <a:srgbClr val="4B5563"/>
            </a:solidFill>
            <a:prstDash val="solid"/>
            <a:tailEnd type="triangle"/>
          </a:ln>
        </p:spPr>
      </p:sp>
      <p:sp>
        <p:nvSpPr>
          <p:cNvPr id="23" name="Shape 21"/>
          <p:cNvSpPr/>
          <p:nvPr/>
        </p:nvSpPr>
        <p:spPr>
          <a:xfrm>
            <a:off x="6903720" y="4818888"/>
            <a:ext cx="3840480" cy="484632"/>
          </a:xfrm>
          <a:prstGeom prst="roundRect">
            <a:avLst>
              <a:gd name="adj" fmla="val 18868"/>
            </a:avLst>
          </a:prstGeom>
          <a:solidFill>
            <a:srgbClr val="EEF0FF"/>
          </a:solidFill>
          <a:ln w="15875">
            <a:solidFill>
              <a:srgbClr val="2F3CFF"/>
            </a:solidFill>
            <a:prstDash val="dash"/>
          </a:ln>
        </p:spPr>
      </p:sp>
      <p:sp>
        <p:nvSpPr>
          <p:cNvPr id="24" name="Text 22"/>
          <p:cNvSpPr/>
          <p:nvPr/>
        </p:nvSpPr>
        <p:spPr>
          <a:xfrm>
            <a:off x="6976872" y="4855464"/>
            <a:ext cx="3694176" cy="248260"/>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correction turn</a:t>
            </a:r>
            <a:endParaRPr lang="en-US" sz="1200" dirty="0"/>
          </a:p>
        </p:txBody>
      </p:sp>
      <p:sp>
        <p:nvSpPr>
          <p:cNvPr id="25" name="Text 23"/>
          <p:cNvSpPr/>
          <p:nvPr/>
        </p:nvSpPr>
        <p:spPr>
          <a:xfrm>
            <a:off x="6976872" y="5103724"/>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the validator's text, back to the model</a:t>
            </a:r>
            <a:endParaRPr lang="en-US" sz="950" dirty="0"/>
          </a:p>
        </p:txBody>
      </p:sp>
      <p:sp>
        <p:nvSpPr>
          <p:cNvPr id="26" name="Text 24"/>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Streaming is an optimisation on top of the validated result, never a replacement for it.</a:t>
            </a:r>
            <a:endParaRPr lang="en-US" sz="1050" dirty="0"/>
          </a:p>
        </p:txBody>
      </p:sp>
      <p:sp>
        <p:nvSpPr>
          <p:cNvPr id="27" name="Shape 25"/>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8" name="Text 26"/>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Prompt-first generation is cheap to build and costs a full catalog schema per request, plus a second request whenever validation fails.</a:t>
            </a:r>
            <a:endParaRPr lang="en-US" sz="12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The SDK gives three things: a prompt, a stream parser and a full parser</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50</a:t>
            </a:r>
            <a:endParaRPr lang="en-US" sz="1000" dirty="0"/>
          </a:p>
        </p:txBody>
      </p:sp>
      <p:sp>
        <p:nvSpPr>
          <p:cNvPr id="5" name="Shape 3"/>
          <p:cNvSpPr/>
          <p:nvPr/>
        </p:nvSpPr>
        <p:spPr>
          <a:xfrm>
            <a:off x="548640" y="1417320"/>
            <a:ext cx="7406640" cy="2201037"/>
          </a:xfrm>
          <a:prstGeom prst="roundRect">
            <a:avLst>
              <a:gd name="adj" fmla="val 4154"/>
            </a:avLst>
          </a:prstGeom>
          <a:solidFill>
            <a:srgbClr val="0F172A"/>
          </a:solidFill>
          <a:ln w="12700">
            <a:solidFill>
              <a:srgbClr val="0F172A"/>
            </a:solidFill>
            <a:prstDash val="solid"/>
          </a:ln>
        </p:spPr>
      </p:sp>
      <p:sp>
        <p:nvSpPr>
          <p:cNvPr id="6" name="Text 4"/>
          <p:cNvSpPr/>
          <p:nvPr/>
        </p:nvSpPr>
        <p:spPr>
          <a:xfrm>
            <a:off x="731520" y="1554480"/>
            <a:ext cx="7040880" cy="1926717"/>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system_prompt():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"""Role text, the SDK's workflow rules, then the full JSON schema of the catalog."""</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inference_format().prompt_generator.generate(role_description=ROLE, include_schema=True)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stream_parser():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"""Feed model text chunks in; get A2UI messages out as soon as they are usable."""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DirectJsonStreamParser(inference_format()._supported_catalogs[0])</a:t>
            </a:r>
            <a:endParaRPr lang="en-US" sz="1050" dirty="0"/>
          </a:p>
        </p:txBody>
      </p:sp>
      <p:sp>
        <p:nvSpPr>
          <p:cNvPr id="7" name="Text 5"/>
          <p:cNvSpPr/>
          <p:nvPr/>
        </p:nvSpPr>
        <p:spPr>
          <a:xfrm>
            <a:off x="548640" y="3664077"/>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03_a2ui/step_02_a2ui_from_a_model/prompt.py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210312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include_schema=True</a:t>
            </a:r>
            <a:pPr indent="0" marL="0">
              <a:buNone/>
            </a:pPr>
            <a:r>
              <a:rPr lang="en-US" sz="1200" dirty="0">
                <a:solidFill>
                  <a:srgbClr val="1F2937"/>
                </a:solidFill>
                <a:latin typeface="Calibri" pitchFamily="34" charset="0"/>
                <a:ea typeface="Calibri" pitchFamily="34" charset="-122"/>
                <a:cs typeface="Calibri" pitchFamily="34" charset="-120"/>
              </a:rPr>
              <a:t> puts the full Basic Catalog JSON schema in the prompt: 41,083 characters before the user types.</a:t>
            </a:r>
            <a:endParaRPr lang="en-US" sz="1200" dirty="0"/>
          </a:p>
        </p:txBody>
      </p:sp>
      <p:sp>
        <p:nvSpPr>
          <p:cNvPr id="11" name="Shape 9"/>
          <p:cNvSpPr/>
          <p:nvPr/>
        </p:nvSpPr>
        <p:spPr>
          <a:xfrm>
            <a:off x="8183880" y="365760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6576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621024"/>
            <a:ext cx="3063240" cy="2103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stream parser is fed model chunks and yields messages as soon as they are usable. It does not repair.</a:t>
            </a:r>
            <a:endParaRPr lang="en-US" sz="1200" dirty="0"/>
          </a:p>
        </p:txBody>
      </p:sp>
      <p:sp>
        <p:nvSpPr>
          <p:cNvPr id="14" name="Text 12"/>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parse_reply()</a:t>
            </a:r>
            <a:pPr indent="0" marL="0">
              <a:buNone/>
            </a:pPr>
            <a:r>
              <a:rPr lang="en-US" sz="1250" dirty="0">
                <a:solidFill>
                  <a:srgbClr val="4B5563"/>
                </a:solidFill>
                <a:latin typeface="Calibri" pitchFamily="34" charset="0"/>
                <a:ea typeface="Calibri" pitchFamily="34" charset="-122"/>
                <a:cs typeface="Calibri" pitchFamily="34" charset="-120"/>
              </a:rPr>
              <a:t> is the third piece: it runs the full parser on the finished text and raises with the validator's message when the reply cannot be made valid.</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correction loop: withdraw what streamed, hand the error back, try once more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51</a:t>
            </a:r>
            <a:endParaRPr lang="en-US" sz="1000" dirty="0"/>
          </a:p>
        </p:txBody>
      </p:sp>
      <p:sp>
        <p:nvSpPr>
          <p:cNvPr id="5" name="Shape 3"/>
          <p:cNvSpPr/>
          <p:nvPr/>
        </p:nvSpPr>
        <p:spPr>
          <a:xfrm>
            <a:off x="548640" y="1417320"/>
            <a:ext cx="7406640" cy="2201037"/>
          </a:xfrm>
          <a:prstGeom prst="roundRect">
            <a:avLst>
              <a:gd name="adj" fmla="val 4154"/>
            </a:avLst>
          </a:prstGeom>
          <a:solidFill>
            <a:srgbClr val="0F172A"/>
          </a:solidFill>
          <a:ln w="12700">
            <a:solidFill>
              <a:srgbClr val="0F172A"/>
            </a:solidFill>
            <a:prstDash val="solid"/>
          </a:ln>
        </p:spPr>
      </p:sp>
      <p:sp>
        <p:nvSpPr>
          <p:cNvPr id="6" name="Text 4"/>
          <p:cNvSpPr/>
          <p:nvPr/>
        </p:nvSpPr>
        <p:spPr>
          <a:xfrm>
            <a:off x="731520" y="1554480"/>
            <a:ext cx="7040880" cy="1926717"/>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text = "".join(reply)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try:</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messages, prose = prompt.parse_reply(text)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except ValueError as error: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"note", {"attempt": attempt, "error": str(error)[:300]}</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surface_id in created: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yield mirror(envelope.delete_surface(surface_id))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conversation += [{"role": "assistant", "content": text},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{"role": "user", "content": f"The reply failed validation. Fix it and send the complete reply again.\n{error}"}]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continue</a:t>
            </a:r>
            <a:endParaRPr lang="en-US" sz="1050" dirty="0"/>
          </a:p>
        </p:txBody>
      </p:sp>
      <p:sp>
        <p:nvSpPr>
          <p:cNvPr id="7" name="Text 5"/>
          <p:cNvSpPr/>
          <p:nvPr/>
        </p:nvSpPr>
        <p:spPr>
          <a:xfrm>
            <a:off x="548640" y="3664077"/>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03_a2ui/step_02_a2ui_from_a_model/server.py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full parser runs on the finished reply. This is the validated result the page will keep.</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surface the stream created is deleted first. The page must not keep a half-rendered, invalid form.</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validator's message becomes the next user turn, and the loop goes round once more; ATTEMPTS is 2.</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Before this block, the same loop fed each chunk to the stream parser and yielded its </a:t>
            </a:r>
            <a:pPr indent="0" marL="0">
              <a:buNone/>
            </a:pPr>
            <a:r>
              <a:rPr lang="en-US" sz="1250" dirty="0">
                <a:solidFill>
                  <a:srgbClr val="BE123C"/>
                </a:solidFill>
                <a:latin typeface="Courier New" pitchFamily="34" charset="0"/>
                <a:ea typeface="Courier New" pitchFamily="34" charset="-122"/>
                <a:cs typeface="Courier New" pitchFamily="34" charset="-120"/>
              </a:rPr>
              <a:t>updateComponents</a:t>
            </a:r>
            <a:pPr indent="0" marL="0">
              <a:buNone/>
            </a:pPr>
            <a:r>
              <a:rPr lang="en-US" sz="1250" dirty="0">
                <a:solidFill>
                  <a:srgbClr val="4B5563"/>
                </a:solidFill>
                <a:latin typeface="Calibri" pitchFamily="34" charset="0"/>
                <a:ea typeface="Calibri" pitchFamily="34" charset="-122"/>
                <a:cs typeface="Calibri" pitchFamily="34" charset="-120"/>
              </a:rPr>
              <a:t> messages straight to the page.</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03.2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createSurface at 4.86s, 38 progressive updates, the final form at 10.81s, one attempt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52</a:t>
            </a:r>
            <a:endParaRPr lang="en-US" sz="1000" dirty="0"/>
          </a:p>
        </p:txBody>
      </p:sp>
      <p:pic>
        <p:nvPicPr>
          <p:cNvPr id="5" name="Image 0" descr="C:\Users\evija\simple-coding-harness\genui\03_a2ui\step_02_a2ui_from_a_model\demo.png">    </p:cNvPr>
          <p:cNvPicPr>
            <a:picLocks noChangeAspect="1"/>
          </p:cNvPicPr>
          <p:nvPr/>
        </p:nvPicPr>
        <p:blipFill>
          <a:blip r:embed="rId1"/>
          <a:srcRect l="0" r="0" t="0" b="0"/>
          <a:stretch/>
        </p:blipFill>
        <p:spPr>
          <a:xfrm>
            <a:off x="548640" y="1417320"/>
            <a:ext cx="4480560" cy="4480560"/>
          </a:xfrm>
          <a:prstGeom prst="rect">
            <a:avLst/>
          </a:prstGeom>
        </p:spPr>
      </p:pic>
      <p:sp>
        <p:nvSpPr>
          <p:cNvPr id="6" name="Shape 3"/>
          <p:cNvSpPr/>
          <p:nvPr/>
        </p:nvSpPr>
        <p:spPr>
          <a:xfrm>
            <a:off x="548640" y="1417320"/>
            <a:ext cx="4480560" cy="4480560"/>
          </a:xfrm>
          <a:prstGeom prst="rect">
            <a:avLst/>
          </a:prstGeom>
          <a:ln w="12700">
            <a:solidFill>
              <a:srgbClr val="D7DAE5"/>
            </a:solidFill>
            <a:prstDash val="solid"/>
          </a:ln>
        </p:spPr>
      </p:sp>
      <p:sp>
        <p:nvSpPr>
          <p:cNvPr id="7" name="Shape 4"/>
          <p:cNvSpPr/>
          <p:nvPr/>
        </p:nvSpPr>
        <p:spPr>
          <a:xfrm>
            <a:off x="5394960" y="1417320"/>
            <a:ext cx="624535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5532120" y="1472184"/>
            <a:ext cx="597103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9,929</a:t>
            </a:r>
            <a:endParaRPr lang="en-US" sz="2800" dirty="0"/>
          </a:p>
        </p:txBody>
      </p:sp>
      <p:sp>
        <p:nvSpPr>
          <p:cNvPr id="9" name="Text 6"/>
          <p:cNvSpPr/>
          <p:nvPr/>
        </p:nvSpPr>
        <p:spPr>
          <a:xfrm>
            <a:off x="5532120" y="2039112"/>
            <a:ext cx="597103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prompt tokens on gpt-4.1-mini; 600 completion tokens</a:t>
            </a:r>
            <a:endParaRPr lang="en-US" sz="1050" dirty="0"/>
          </a:p>
        </p:txBody>
      </p:sp>
      <p:sp>
        <p:nvSpPr>
          <p:cNvPr id="10" name="Shape 7"/>
          <p:cNvSpPr/>
          <p:nvPr/>
        </p:nvSpPr>
        <p:spPr>
          <a:xfrm>
            <a:off x="5394960" y="2697480"/>
            <a:ext cx="624535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5532120" y="2752344"/>
            <a:ext cx="597103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38</a:t>
            </a:r>
            <a:endParaRPr lang="en-US" sz="2800" dirty="0"/>
          </a:p>
        </p:txBody>
      </p:sp>
      <p:sp>
        <p:nvSpPr>
          <p:cNvPr id="12" name="Text 9"/>
          <p:cNvSpPr/>
          <p:nvPr/>
        </p:nvSpPr>
        <p:spPr>
          <a:xfrm>
            <a:off x="5532120" y="3319272"/>
            <a:ext cx="597103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progressive updateComponents messages before the final one</a:t>
            </a:r>
            <a:endParaRPr lang="en-US" sz="1050" dirty="0"/>
          </a:p>
        </p:txBody>
      </p:sp>
      <p:sp>
        <p:nvSpPr>
          <p:cNvPr id="13" name="Text 10"/>
          <p:cNvSpPr/>
          <p:nvPr/>
        </p:nvSpPr>
        <p:spPr>
          <a:xfrm>
            <a:off x="5394960" y="4023360"/>
            <a:ext cx="624535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POST went out at 0.40s; createSurface arrived at 4.86s; the final updateComponents at 10.81s.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click at 11.00s posted {firstName: Ada, email: ada@example.com, newsletter: true}; the status Text showed the server's reply.</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Many of the 38 messages are the same components again: the stream parser re-sends a component each time a cut string heals.</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Checkpoint: a custom catalog with fewer components is the usual answer to the 41K-character prompt.</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03.3 · LEVEL 10 OF 23 · DECLARATIVE GENERATION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A2UI is a generation format and AG-UI is a transport; one CUSTOM event joins them</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53</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Each layer stops where its vocabulary ends: </a:t>
            </a:r>
            <a:pPr indent="0" marL="0">
              <a:buNone/>
            </a:pPr>
            <a:r>
              <a:rPr lang="en-US" sz="1600" b="1" dirty="0">
                <a:solidFill>
                  <a:srgbClr val="141B3D"/>
                </a:solidFill>
                <a:latin typeface="Calibri" pitchFamily="34" charset="0"/>
                <a:ea typeface="Calibri" pitchFamily="34" charset="-122"/>
                <a:cs typeface="Calibri" pitchFamily="34" charset="-120"/>
              </a:rPr>
              <a:t>A2A</a:t>
            </a:r>
            <a:pPr indent="0" marL="0">
              <a:buNone/>
            </a:pPr>
            <a:r>
              <a:rPr lang="en-US" sz="1600" dirty="0">
                <a:solidFill>
                  <a:srgbClr val="141B3D"/>
                </a:solidFill>
                <a:latin typeface="Calibri" pitchFamily="34" charset="0"/>
                <a:ea typeface="Calibri" pitchFamily="34" charset="-122"/>
                <a:cs typeface="Calibri" pitchFamily="34" charset="-120"/>
              </a:rPr>
              <a:t> moves messages between agents, </a:t>
            </a:r>
            <a:pPr indent="0" marL="0">
              <a:buNone/>
            </a:pPr>
            <a:r>
              <a:rPr lang="en-US" sz="1600" b="1" dirty="0">
                <a:solidFill>
                  <a:srgbClr val="141B3D"/>
                </a:solidFill>
                <a:latin typeface="Calibri" pitchFamily="34" charset="0"/>
                <a:ea typeface="Calibri" pitchFamily="34" charset="-122"/>
                <a:cs typeface="Calibri" pitchFamily="34" charset="-120"/>
              </a:rPr>
              <a:t>AG-UI</a:t>
            </a:r>
            <a:pPr indent="0" marL="0">
              <a:buNone/>
            </a:pPr>
            <a:r>
              <a:rPr lang="en-US" sz="1600" dirty="0">
                <a:solidFill>
                  <a:srgbClr val="141B3D"/>
                </a:solidFill>
                <a:latin typeface="Calibri" pitchFamily="34" charset="0"/>
                <a:ea typeface="Calibri" pitchFamily="34" charset="-122"/>
                <a:cs typeface="Calibri" pitchFamily="34" charset="-120"/>
              </a:rPr>
              <a:t> moves runs to a browser, </a:t>
            </a:r>
            <a:pPr indent="0" marL="0">
              <a:buNone/>
            </a:pPr>
            <a:r>
              <a:rPr lang="en-US" sz="1600" b="1" dirty="0">
                <a:solidFill>
                  <a:srgbClr val="141B3D"/>
                </a:solidFill>
                <a:latin typeface="Calibri" pitchFamily="34" charset="0"/>
                <a:ea typeface="Calibri" pitchFamily="34" charset="-122"/>
                <a:cs typeface="Calibri" pitchFamily="34" charset="-120"/>
              </a:rPr>
              <a:t>A2UI</a:t>
            </a:r>
            <a:pPr indent="0" marL="0">
              <a:buNone/>
            </a:pPr>
            <a:r>
              <a:rPr lang="en-US" sz="1600" dirty="0">
                <a:solidFill>
                  <a:srgbClr val="141B3D"/>
                </a:solidFill>
                <a:latin typeface="Calibri" pitchFamily="34" charset="0"/>
                <a:ea typeface="Calibri" pitchFamily="34" charset="-122"/>
                <a:cs typeface="Calibri" pitchFamily="34" charset="-120"/>
              </a:rPr>
              <a:t> names components.</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AG-UI does not know what a surface is; A2UI does not know what a run is.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Every A2UI envelope becomes the value of one CUSTOM event named a2ui.</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Correction attempts become STEP_STARTED and STEP_FINISHED; usage rides in RUN_FINISHED.</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 click is a second run; the action and the client data model travel in forwardedProps.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official @a2ui/lit renderer replaces render.mjs: markdown Text and catalog functions run.</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This step has no second agent, so A2A is not on the wire; its slot is where run() reads the last user message.</a:t>
            </a:r>
            <a:endParaRPr lang="en-US" sz="1350" dirty="0"/>
          </a:p>
        </p:txBody>
      </p:sp>
      <p:sp>
        <p:nvSpPr>
          <p:cNvPr id="7" name="Shape 5"/>
          <p:cNvSpPr/>
          <p:nvPr/>
        </p:nvSpPr>
        <p:spPr>
          <a:xfrm>
            <a:off x="6035040" y="1600200"/>
            <a:ext cx="5577840" cy="777240"/>
          </a:xfrm>
          <a:prstGeom prst="roundRect">
            <a:avLst>
              <a:gd name="adj" fmla="val 11765"/>
            </a:avLst>
          </a:prstGeom>
          <a:solidFill>
            <a:srgbClr val="F6F7FB"/>
          </a:solidFill>
          <a:ln w="15875">
            <a:solidFill>
              <a:srgbClr val="141B3D"/>
            </a:solidFill>
            <a:prstDash val="solid"/>
          </a:ln>
        </p:spPr>
      </p:sp>
      <p:sp>
        <p:nvSpPr>
          <p:cNvPr id="8" name="Text 6"/>
          <p:cNvSpPr/>
          <p:nvPr/>
        </p:nvSpPr>
        <p:spPr>
          <a:xfrm>
            <a:off x="6108192" y="1636776"/>
            <a:ext cx="5431536" cy="370332"/>
          </a:xfrm>
          <a:prstGeom prst="rect">
            <a:avLst/>
          </a:prstGeom>
          <a:noFill/>
          <a:ln/>
        </p:spPr>
        <p:txBody>
          <a:bodyPr wrap="square" lIns="0" tIns="0" rIns="0" bIns="0" rtlCol="0" anchor="b"/>
          <a:lstStyle/>
          <a:p>
            <a:pPr algn="ctr" indent="0" marL="0">
              <a:buNone/>
            </a:pPr>
            <a:r>
              <a:rPr lang="en-US" sz="1300" b="1" dirty="0">
                <a:solidFill>
                  <a:srgbClr val="141B3D"/>
                </a:solidFill>
                <a:latin typeface="Calibri" pitchFamily="34" charset="0"/>
                <a:ea typeface="Calibri" pitchFamily="34" charset="-122"/>
                <a:cs typeface="Calibri" pitchFamily="34" charset="-120"/>
              </a:rPr>
              <a:t>A2A</a:t>
            </a:r>
            <a:endParaRPr lang="en-US" sz="1300" dirty="0"/>
          </a:p>
        </p:txBody>
      </p:sp>
      <p:sp>
        <p:nvSpPr>
          <p:cNvPr id="9" name="Text 7"/>
          <p:cNvSpPr/>
          <p:nvPr/>
        </p:nvSpPr>
        <p:spPr>
          <a:xfrm>
            <a:off x="6108192" y="2007108"/>
            <a:ext cx="543153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agent to agent: A2UI messages as parts of A2A messages</a:t>
            </a:r>
            <a:endParaRPr lang="en-US" sz="1050" dirty="0"/>
          </a:p>
        </p:txBody>
      </p:sp>
      <p:sp>
        <p:nvSpPr>
          <p:cNvPr id="10" name="Shape 8"/>
          <p:cNvSpPr/>
          <p:nvPr/>
        </p:nvSpPr>
        <p:spPr>
          <a:xfrm>
            <a:off x="6355080" y="2487168"/>
            <a:ext cx="4937760" cy="777240"/>
          </a:xfrm>
          <a:prstGeom prst="roundRect">
            <a:avLst>
              <a:gd name="adj" fmla="val 11765"/>
            </a:avLst>
          </a:prstGeom>
          <a:solidFill>
            <a:srgbClr val="F6F7FB"/>
          </a:solidFill>
          <a:ln w="15875">
            <a:solidFill>
              <a:srgbClr val="141B3D"/>
            </a:solidFill>
            <a:prstDash val="solid"/>
          </a:ln>
        </p:spPr>
      </p:sp>
      <p:sp>
        <p:nvSpPr>
          <p:cNvPr id="11" name="Text 9"/>
          <p:cNvSpPr/>
          <p:nvPr/>
        </p:nvSpPr>
        <p:spPr>
          <a:xfrm>
            <a:off x="6428232" y="2523744"/>
            <a:ext cx="4791456" cy="370332"/>
          </a:xfrm>
          <a:prstGeom prst="rect">
            <a:avLst/>
          </a:prstGeom>
          <a:noFill/>
          <a:ln/>
        </p:spPr>
        <p:txBody>
          <a:bodyPr wrap="square" lIns="0" tIns="0" rIns="0" bIns="0" rtlCol="0" anchor="b"/>
          <a:lstStyle/>
          <a:p>
            <a:pPr algn="ctr" indent="0" marL="0">
              <a:buNone/>
            </a:pPr>
            <a:r>
              <a:rPr lang="en-US" sz="1300" b="1" dirty="0">
                <a:solidFill>
                  <a:srgbClr val="141B3D"/>
                </a:solidFill>
                <a:latin typeface="Calibri" pitchFamily="34" charset="0"/>
                <a:ea typeface="Calibri" pitchFamily="34" charset="-122"/>
                <a:cs typeface="Calibri" pitchFamily="34" charset="-120"/>
              </a:rPr>
              <a:t>AG-UI</a:t>
            </a:r>
            <a:endParaRPr lang="en-US" sz="1300" dirty="0"/>
          </a:p>
        </p:txBody>
      </p:sp>
      <p:sp>
        <p:nvSpPr>
          <p:cNvPr id="12" name="Text 10"/>
          <p:cNvSpPr/>
          <p:nvPr/>
        </p:nvSpPr>
        <p:spPr>
          <a:xfrm>
            <a:off x="6428232" y="2894076"/>
            <a:ext cx="479145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agent to browser: a run, ordered events, forwardedProps</a:t>
            </a:r>
            <a:endParaRPr lang="en-US" sz="1050" dirty="0"/>
          </a:p>
        </p:txBody>
      </p:sp>
      <p:sp>
        <p:nvSpPr>
          <p:cNvPr id="13" name="Shape 11"/>
          <p:cNvSpPr/>
          <p:nvPr/>
        </p:nvSpPr>
        <p:spPr>
          <a:xfrm>
            <a:off x="6675120" y="3374136"/>
            <a:ext cx="4297680" cy="777240"/>
          </a:xfrm>
          <a:prstGeom prst="roundRect">
            <a:avLst>
              <a:gd name="adj" fmla="val 11765"/>
            </a:avLst>
          </a:prstGeom>
          <a:solidFill>
            <a:srgbClr val="EEF0FF"/>
          </a:solidFill>
          <a:ln w="15875">
            <a:solidFill>
              <a:srgbClr val="2F3CFF"/>
            </a:solidFill>
            <a:prstDash val="solid"/>
          </a:ln>
        </p:spPr>
      </p:sp>
      <p:sp>
        <p:nvSpPr>
          <p:cNvPr id="14" name="Text 12"/>
          <p:cNvSpPr/>
          <p:nvPr/>
        </p:nvSpPr>
        <p:spPr>
          <a:xfrm>
            <a:off x="6748272" y="3410712"/>
            <a:ext cx="4151376" cy="370332"/>
          </a:xfrm>
          <a:prstGeom prst="rect">
            <a:avLst/>
          </a:prstGeom>
          <a:noFill/>
          <a:ln/>
        </p:spPr>
        <p:txBody>
          <a:bodyPr wrap="square" lIns="0" tIns="0" rIns="0" bIns="0" rtlCol="0" anchor="b"/>
          <a:lstStyle/>
          <a:p>
            <a:pPr algn="ctr" indent="0" marL="0">
              <a:buNone/>
            </a:pPr>
            <a:r>
              <a:rPr lang="en-US" sz="1300" b="1" dirty="0">
                <a:solidFill>
                  <a:srgbClr val="2F3CFF"/>
                </a:solidFill>
                <a:latin typeface="Calibri" pitchFamily="34" charset="0"/>
                <a:ea typeface="Calibri" pitchFamily="34" charset="-122"/>
                <a:cs typeface="Calibri" pitchFamily="34" charset="-120"/>
              </a:rPr>
              <a:t>A2UI</a:t>
            </a:r>
            <a:endParaRPr lang="en-US" sz="1300" dirty="0"/>
          </a:p>
        </p:txBody>
      </p:sp>
      <p:sp>
        <p:nvSpPr>
          <p:cNvPr id="15" name="Text 13"/>
          <p:cNvSpPr/>
          <p:nvPr/>
        </p:nvSpPr>
        <p:spPr>
          <a:xfrm>
            <a:off x="6748272" y="3781044"/>
            <a:ext cx="415137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the four envelope messages and the catalog</a:t>
            </a:r>
            <a:endParaRPr lang="en-US" sz="1050" dirty="0"/>
          </a:p>
        </p:txBody>
      </p:sp>
      <p:sp>
        <p:nvSpPr>
          <p:cNvPr id="16" name="Text 14"/>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report's stack. Nothing in A2UI changes to ride AG-UI, and nothing in AG-UI changes to carry it.</a:t>
            </a:r>
            <a:endParaRPr lang="en-US" sz="1050" dirty="0"/>
          </a:p>
        </p:txBody>
      </p:sp>
      <p:sp>
        <p:nvSpPr>
          <p:cNvPr id="17" name="Shape 15"/>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18" name="Text 16"/>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Transport and generation format are separate choices; one AG-UI event type carries the whole A2UI protocol.</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On the page, the join is one case in the event switch</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54</a:t>
            </a:r>
            <a:endParaRPr lang="en-US" sz="1000" dirty="0"/>
          </a:p>
        </p:txBody>
      </p:sp>
      <p:sp>
        <p:nvSpPr>
          <p:cNvPr id="5" name="Shape 3"/>
          <p:cNvSpPr/>
          <p:nvPr/>
        </p:nvSpPr>
        <p:spPr>
          <a:xfrm>
            <a:off x="548640" y="1417320"/>
            <a:ext cx="7406640" cy="2526411"/>
          </a:xfrm>
          <a:prstGeom prst="roundRect">
            <a:avLst>
              <a:gd name="adj" fmla="val 3619"/>
            </a:avLst>
          </a:prstGeom>
          <a:solidFill>
            <a:srgbClr val="0F172A"/>
          </a:solidFill>
          <a:ln w="12700">
            <a:solidFill>
              <a:srgbClr val="0F172A"/>
            </a:solidFill>
            <a:prstDash val="solid"/>
          </a:ln>
        </p:spPr>
      </p:sp>
      <p:sp>
        <p:nvSpPr>
          <p:cNvPr id="6" name="Text 4"/>
          <p:cNvSpPr/>
          <p:nvPr/>
        </p:nvSpPr>
        <p:spPr>
          <a:xfrm>
            <a:off x="731520" y="1554480"/>
            <a:ext cx="7040880" cy="2252091"/>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function onEvent(event)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switch (event.type)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case 'CUSTOM':</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(event.name === 'a2ui')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processor.processMessages([event.value]);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kind = Object.keys(event.value).find((k) =&gt; k !== 'version');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count = event.value.updateComponents?.components.length;</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note(`CUSTOM a2ui ${kind}${count ? ` (${count} components)`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else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note(`CUSTOM ${event.name} ${JSON.stringify(event.value).slice(0, 120)}`);</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break;</a:t>
            </a:r>
            <a:endParaRPr lang="en-US" sz="1050" dirty="0"/>
          </a:p>
        </p:txBody>
      </p:sp>
      <p:sp>
        <p:nvSpPr>
          <p:cNvPr id="7" name="Text 5"/>
          <p:cNvSpPr/>
          <p:nvPr/>
        </p:nvSpPr>
        <p:spPr>
          <a:xfrm>
            <a:off x="548640" y="3989451"/>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03_a2ui/step_03_a2ui_lit_and_ag_ui/src/page.mjs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CUSTOM event named </a:t>
            </a:r>
            <a:pPr indent="0" marL="0">
              <a:buNone/>
            </a:pPr>
            <a:r>
              <a:rPr lang="en-US" sz="1200" dirty="0">
                <a:solidFill>
                  <a:srgbClr val="BE123C"/>
                </a:solidFill>
                <a:latin typeface="Courier New" pitchFamily="34" charset="0"/>
                <a:ea typeface="Courier New" pitchFamily="34" charset="-122"/>
                <a:cs typeface="Courier New" pitchFamily="34" charset="-120"/>
              </a:rPr>
              <a:t>a2ui</a:t>
            </a:r>
            <a:pPr indent="0" marL="0">
              <a:buNone/>
            </a:pPr>
            <a:r>
              <a:rPr lang="en-US" sz="1200" dirty="0">
                <a:solidFill>
                  <a:srgbClr val="1F2937"/>
                </a:solidFill>
                <a:latin typeface="Calibri" pitchFamily="34" charset="0"/>
                <a:ea typeface="Calibri" pitchFamily="34" charset="-122"/>
                <a:cs typeface="Calibri" pitchFamily="34" charset="-120"/>
              </a:rPr>
              <a:t> is the whole join. Its value is one A2UI envelope, handed to the official </a:t>
            </a:r>
            <a:pPr indent="0" marL="0">
              <a:buNone/>
            </a:pPr>
            <a:r>
              <a:rPr lang="en-US" sz="1200" dirty="0">
                <a:solidFill>
                  <a:srgbClr val="BE123C"/>
                </a:solidFill>
                <a:latin typeface="Courier New" pitchFamily="34" charset="0"/>
                <a:ea typeface="Courier New" pitchFamily="34" charset="-122"/>
                <a:cs typeface="Courier New" pitchFamily="34" charset="-120"/>
              </a:rPr>
              <a:t>MessageProcessor</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processMessages</a:t>
            </a:r>
            <a:pPr indent="0" marL="0">
              <a:buNone/>
            </a:pPr>
            <a:r>
              <a:rPr lang="en-US" sz="1200" dirty="0">
                <a:solidFill>
                  <a:srgbClr val="1F2937"/>
                </a:solidFill>
                <a:latin typeface="Calibri" pitchFamily="34" charset="0"/>
                <a:ea typeface="Calibri" pitchFamily="34" charset="-122"/>
                <a:cs typeface="Calibri" pitchFamily="34" charset="-120"/>
              </a:rPr>
              <a:t> is </a:t>
            </a:r>
            <a:pPr indent="0" marL="0">
              <a:buNone/>
            </a:pPr>
            <a:r>
              <a:rPr lang="en-US" sz="1200" dirty="0">
                <a:solidFill>
                  <a:srgbClr val="BE123C"/>
                </a:solidFill>
                <a:latin typeface="Courier New" pitchFamily="34" charset="0"/>
                <a:ea typeface="Courier New" pitchFamily="34" charset="-122"/>
                <a:cs typeface="Courier New" pitchFamily="34" charset="-120"/>
              </a:rPr>
              <a:t>@a2ui/web_core</a:t>
            </a:r>
            <a:pPr indent="0" marL="0">
              <a:buNone/>
            </a:pPr>
            <a:r>
              <a:rPr lang="en-US" sz="1200" dirty="0">
                <a:solidFill>
                  <a:srgbClr val="1F2937"/>
                </a:solidFill>
                <a:latin typeface="Calibri" pitchFamily="34" charset="0"/>
                <a:ea typeface="Calibri" pitchFamily="34" charset="-122"/>
                <a:cs typeface="Calibri" pitchFamily="34" charset="-120"/>
              </a:rPr>
              <a:t>'s state machine; </a:t>
            </a:r>
            <a:pPr indent="0" marL="0">
              <a:buNone/>
            </a:pPr>
            <a:r>
              <a:rPr lang="en-US" sz="1200" dirty="0">
                <a:solidFill>
                  <a:srgbClr val="BE123C"/>
                </a:solidFill>
                <a:latin typeface="Courier New" pitchFamily="34" charset="0"/>
                <a:ea typeface="Courier New" pitchFamily="34" charset="-122"/>
                <a:cs typeface="Courier New" pitchFamily="34" charset="-120"/>
              </a:rPr>
              <a:t>A2uiSurface</a:t>
            </a:r>
            <a:pPr indent="0" marL="0">
              <a:buNone/>
            </a:pPr>
            <a:r>
              <a:rPr lang="en-US" sz="1200" dirty="0">
                <a:solidFill>
                  <a:srgbClr val="1F2937"/>
                </a:solidFill>
                <a:latin typeface="Calibri" pitchFamily="34" charset="0"/>
                <a:ea typeface="Calibri" pitchFamily="34" charset="-122"/>
                <a:cs typeface="Calibri" pitchFamily="34" charset="-120"/>
              </a:rPr>
              <a:t> elements re-render from signals, nothing is torn down.</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Other CUSTOM names, such as </a:t>
            </a:r>
            <a:pPr indent="0" marL="0">
              <a:buNone/>
            </a:pPr>
            <a:r>
              <a:rPr lang="en-US" sz="1200" dirty="0">
                <a:solidFill>
                  <a:srgbClr val="BE123C"/>
                </a:solidFill>
                <a:latin typeface="Courier New" pitchFamily="34" charset="0"/>
                <a:ea typeface="Courier New" pitchFamily="34" charset="-122"/>
                <a:cs typeface="Courier New" pitchFamily="34" charset="-120"/>
              </a:rPr>
              <a:t>a2ui.note</a:t>
            </a:r>
            <a:pPr indent="0" marL="0">
              <a:buNone/>
            </a:pPr>
            <a:r>
              <a:rPr lang="en-US" sz="1200" dirty="0">
                <a:solidFill>
                  <a:srgbClr val="1F2937"/>
                </a:solidFill>
                <a:latin typeface="Calibri" pitchFamily="34" charset="0"/>
                <a:ea typeface="Calibri" pitchFamily="34" charset="-122"/>
                <a:cs typeface="Calibri" pitchFamily="34" charset="-120"/>
              </a:rPr>
              <a:t>, are logged. AG-UI carries them without knowing what they mean.</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processor was built once over the Lit Basic Catalog, with an alias so the spec's v0_9_1 catalog id resolves to the v0_9 registration.</a:t>
            </a:r>
            <a:endParaRPr lang="en-US" sz="12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03.3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On the server, one function maps the loop's (kind, payload) pairs onto AG-UI event classes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55</a:t>
            </a:r>
            <a:endParaRPr lang="en-US" sz="1000" dirty="0"/>
          </a:p>
        </p:txBody>
      </p:sp>
      <p:sp>
        <p:nvSpPr>
          <p:cNvPr id="5" name="Shape 3"/>
          <p:cNvSpPr/>
          <p:nvPr/>
        </p:nvSpPr>
        <p:spPr>
          <a:xfrm>
            <a:off x="548640" y="1737360"/>
            <a:ext cx="7406640" cy="2526411"/>
          </a:xfrm>
          <a:prstGeom prst="roundRect">
            <a:avLst>
              <a:gd name="adj" fmla="val 3619"/>
            </a:avLst>
          </a:prstGeom>
          <a:solidFill>
            <a:srgbClr val="0F172A"/>
          </a:solidFill>
          <a:ln w="12700">
            <a:solidFill>
              <a:srgbClr val="0F172A"/>
            </a:solidFill>
            <a:prstDash val="solid"/>
          </a:ln>
        </p:spPr>
      </p:sp>
      <p:sp>
        <p:nvSpPr>
          <p:cNvPr id="6" name="Text 4"/>
          <p:cNvSpPr/>
          <p:nvPr/>
        </p:nvSpPr>
        <p:spPr>
          <a:xfrm>
            <a:off x="731520" y="1874520"/>
            <a:ext cx="7040880" cy="2252091"/>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to_events(agent_input, pairs):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"""Map the loop's (kind, payload) pairs onto AG-UI event objects."""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ids = dict(thread_id=agent_input.thread_id, run_id=agent_input.run_id)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RunStartedEvent(**ids)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kind, payload in pairs: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kind is None: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CustomEvent(name="a2ui", value=payload)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elif kind == "note":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CustomEvent(name="a2ui.note", value=payload)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elif kind == "step":</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step = StepStartedEvent if payload["started"] else StepFinishedEvent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yield step(step_name=f"attempt {payload['attempt']}")</a:t>
            </a:r>
            <a:endParaRPr lang="en-US" sz="1050" dirty="0"/>
          </a:p>
        </p:txBody>
      </p:sp>
      <p:sp>
        <p:nvSpPr>
          <p:cNvPr id="7" name="Text 5"/>
          <p:cNvSpPr/>
          <p:nvPr/>
        </p:nvSpPr>
        <p:spPr>
          <a:xfrm>
            <a:off x="548640" y="4309491"/>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03_a2ui/step_03_a2ui_lit_and_ag_ui/server.py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9431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kind is None</a:t>
            </a:r>
            <a:pPr indent="0" marL="0">
              <a:buNone/>
            </a:pPr>
            <a:r>
              <a:rPr lang="en-US" sz="1200" dirty="0">
                <a:solidFill>
                  <a:srgbClr val="1F2937"/>
                </a:solidFill>
                <a:latin typeface="Calibri" pitchFamily="34" charset="0"/>
                <a:ea typeface="Calibri" pitchFamily="34" charset="-122"/>
                <a:cs typeface="Calibri" pitchFamily="34" charset="-120"/>
              </a:rPr>
              <a:t> is an A2UI envelope: it becomes the value of a </a:t>
            </a:r>
            <a:pPr indent="0" marL="0">
              <a:buNone/>
            </a:pPr>
            <a:r>
              <a:rPr lang="en-US" sz="1200" dirty="0">
                <a:solidFill>
                  <a:srgbClr val="BE123C"/>
                </a:solidFill>
                <a:latin typeface="Courier New" pitchFamily="34" charset="0"/>
                <a:ea typeface="Courier New" pitchFamily="34" charset="-122"/>
                <a:cs typeface="Courier New" pitchFamily="34" charset="-120"/>
              </a:rPr>
              <a:t>CustomEvent</a:t>
            </a:r>
            <a:pPr indent="0" marL="0">
              <a:buNone/>
            </a:pPr>
            <a:r>
              <a:rPr lang="en-US" sz="1200" dirty="0">
                <a:solidFill>
                  <a:srgbClr val="1F2937"/>
                </a:solidFill>
                <a:latin typeface="Calibri" pitchFamily="34" charset="0"/>
                <a:ea typeface="Calibri" pitchFamily="34" charset="-122"/>
                <a:cs typeface="Calibri" pitchFamily="34" charset="-120"/>
              </a:rPr>
              <a:t> named </a:t>
            </a:r>
            <a:pPr indent="0" marL="0">
              <a:buNone/>
            </a:pPr>
            <a:r>
              <a:rPr lang="en-US" sz="1200" dirty="0">
                <a:solidFill>
                  <a:srgbClr val="BE123C"/>
                </a:solidFill>
                <a:latin typeface="Courier New" pitchFamily="34" charset="0"/>
                <a:ea typeface="Courier New" pitchFamily="34" charset="-122"/>
                <a:cs typeface="Courier New" pitchFamily="34" charset="-120"/>
              </a:rPr>
              <a:t>a2ui</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8183880" y="381762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8176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781044"/>
            <a:ext cx="3063240" cy="19431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Attempts of the correction loop become AG-UI steps, so a client can show 'attempt 2' without reading A2UI.</a:t>
            </a:r>
            <a:endParaRPr lang="en-US" sz="1200" dirty="0"/>
          </a:p>
        </p:txBody>
      </p:sp>
      <p:sp>
        <p:nvSpPr>
          <p:cNvPr id="14" name="Text 12"/>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Below this, </a:t>
            </a:r>
            <a:pPr indent="0" marL="0">
              <a:buNone/>
            </a:pPr>
            <a:r>
              <a:rPr lang="en-US" sz="1250" dirty="0">
                <a:solidFill>
                  <a:srgbClr val="BE123C"/>
                </a:solidFill>
                <a:latin typeface="Courier New" pitchFamily="34" charset="0"/>
                <a:ea typeface="Courier New" pitchFamily="34" charset="-122"/>
                <a:cs typeface="Courier New" pitchFamily="34" charset="-120"/>
              </a:rPr>
              <a:t>text</a:t>
            </a:r>
            <a:pPr indent="0" marL="0">
              <a:buNone/>
            </a:pPr>
            <a:r>
              <a:rPr lang="en-US" sz="1250" dirty="0">
                <a:solidFill>
                  <a:srgbClr val="4B5563"/>
                </a:solidFill>
                <a:latin typeface="Calibri" pitchFamily="34" charset="0"/>
                <a:ea typeface="Calibri" pitchFamily="34" charset="-122"/>
                <a:cs typeface="Calibri" pitchFamily="34" charset="-120"/>
              </a:rPr>
              <a:t> becomes a TEXT_MESSAGE triple, </a:t>
            </a:r>
            <a:pPr indent="0" marL="0">
              <a:buNone/>
            </a:pPr>
            <a:r>
              <a:rPr lang="en-US" sz="1250" dirty="0">
                <a:solidFill>
                  <a:srgbClr val="BE123C"/>
                </a:solidFill>
                <a:latin typeface="Courier New" pitchFamily="34" charset="0"/>
                <a:ea typeface="Courier New" pitchFamily="34" charset="-122"/>
                <a:cs typeface="Courier New" pitchFamily="34" charset="-120"/>
              </a:rPr>
              <a:t>error</a:t>
            </a:r>
            <a:pPr indent="0" marL="0">
              <a:buNone/>
            </a:pPr>
            <a:r>
              <a:rPr lang="en-US" sz="1250" dirty="0">
                <a:solidFill>
                  <a:srgbClr val="4B5563"/>
                </a:solidFill>
                <a:latin typeface="Calibri" pitchFamily="34" charset="0"/>
                <a:ea typeface="Calibri" pitchFamily="34" charset="-122"/>
                <a:cs typeface="Calibri" pitchFamily="34" charset="-120"/>
              </a:rPr>
              <a:t> a RUN_ERROR, and </a:t>
            </a:r>
            <a:pPr indent="0" marL="0">
              <a:buNone/>
            </a:pPr>
            <a:r>
              <a:rPr lang="en-US" sz="1250" dirty="0">
                <a:solidFill>
                  <a:srgbClr val="BE123C"/>
                </a:solidFill>
                <a:latin typeface="Courier New" pitchFamily="34" charset="0"/>
                <a:ea typeface="Courier New" pitchFamily="34" charset="-122"/>
                <a:cs typeface="Courier New" pitchFamily="34" charset="-120"/>
              </a:rPr>
              <a:t>done</a:t>
            </a:r>
            <a:pPr indent="0" marL="0">
              <a:buNone/>
            </a:pPr>
            <a:r>
              <a:rPr lang="en-US" sz="1250" dirty="0">
                <a:solidFill>
                  <a:srgbClr val="4B5563"/>
                </a:solidFill>
                <a:latin typeface="Calibri" pitchFamily="34" charset="0"/>
                <a:ea typeface="Calibri" pitchFamily="34" charset="-122"/>
                <a:cs typeface="Calibri" pitchFamily="34" charset="-120"/>
              </a:rPr>
              <a:t> a RUN_FINISHED whose result carries the usage. </a:t>
            </a:r>
            <a:pPr indent="0" marL="0">
              <a:buNone/>
            </a:pPr>
            <a:r>
              <a:rPr lang="en-US" sz="1250" dirty="0">
                <a:solidFill>
                  <a:srgbClr val="BE123C"/>
                </a:solidFill>
                <a:latin typeface="Courier New" pitchFamily="34" charset="0"/>
                <a:ea typeface="Courier New" pitchFamily="34" charset="-122"/>
                <a:cs typeface="Courier New" pitchFamily="34" charset="-120"/>
              </a:rPr>
              <a:t>EventEncoder</a:t>
            </a:r>
            <a:pPr indent="0" marL="0">
              <a:buNone/>
            </a:pPr>
            <a:r>
              <a:rPr lang="en-US" sz="1250" dirty="0">
                <a:solidFill>
                  <a:srgbClr val="4B5563"/>
                </a:solidFill>
                <a:latin typeface="Calibri" pitchFamily="34" charset="0"/>
                <a:ea typeface="Calibri" pitchFamily="34" charset="-122"/>
                <a:cs typeface="Calibri" pitchFamily="34" charset="-120"/>
              </a:rPr>
              <a:t> writes the frames.</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03.3 · QUICK DEMO</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same form drawn by @a2ui/lit 0.11.0, fed by 54 CUSTOM a2ui events between RUN_STARTED and RUN_FINISHED</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56</a:t>
            </a:r>
            <a:endParaRPr lang="en-US" sz="1000" dirty="0"/>
          </a:p>
        </p:txBody>
      </p:sp>
      <p:pic>
        <p:nvPicPr>
          <p:cNvPr id="5" name="Image 0" descr="C:\Users\evija\simple-coding-harness\genui\03_a2ui\step_03_a2ui_lit_and_ag_ui\demo.png">    </p:cNvPr>
          <p:cNvPicPr>
            <a:picLocks noChangeAspect="1"/>
          </p:cNvPicPr>
          <p:nvPr/>
        </p:nvPicPr>
        <p:blipFill>
          <a:blip r:embed="rId1"/>
          <a:srcRect l="0" r="0" t="0" b="0"/>
          <a:stretch/>
        </p:blipFill>
        <p:spPr>
          <a:xfrm>
            <a:off x="548640" y="1737360"/>
            <a:ext cx="4480560" cy="4480560"/>
          </a:xfrm>
          <a:prstGeom prst="rect">
            <a:avLst/>
          </a:prstGeom>
        </p:spPr>
      </p:pic>
      <p:sp>
        <p:nvSpPr>
          <p:cNvPr id="6" name="Shape 3"/>
          <p:cNvSpPr/>
          <p:nvPr/>
        </p:nvSpPr>
        <p:spPr>
          <a:xfrm>
            <a:off x="548640" y="1737360"/>
            <a:ext cx="4480560" cy="4480560"/>
          </a:xfrm>
          <a:prstGeom prst="rect">
            <a:avLst/>
          </a:prstGeom>
          <a:ln w="12700">
            <a:solidFill>
              <a:srgbClr val="D7DAE5"/>
            </a:solidFill>
            <a:prstDash val="solid"/>
          </a:ln>
        </p:spPr>
      </p:sp>
      <p:sp>
        <p:nvSpPr>
          <p:cNvPr id="7" name="Shape 4"/>
          <p:cNvSpPr/>
          <p:nvPr/>
        </p:nvSpPr>
        <p:spPr>
          <a:xfrm>
            <a:off x="5394960" y="1737360"/>
            <a:ext cx="624535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5532120" y="1792224"/>
            <a:ext cx="597103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54</a:t>
            </a:r>
            <a:endParaRPr lang="en-US" sz="2800" dirty="0"/>
          </a:p>
        </p:txBody>
      </p:sp>
      <p:sp>
        <p:nvSpPr>
          <p:cNvPr id="9" name="Text 6"/>
          <p:cNvSpPr/>
          <p:nvPr/>
        </p:nvSpPr>
        <p:spPr>
          <a:xfrm>
            <a:off x="5532120" y="2359152"/>
            <a:ext cx="597103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CUSTOM a2ui updateComponents events before RUN_FINISHED at 15.64s</a:t>
            </a:r>
            <a:endParaRPr lang="en-US" sz="1050" dirty="0"/>
          </a:p>
        </p:txBody>
      </p:sp>
      <p:sp>
        <p:nvSpPr>
          <p:cNvPr id="10" name="Shape 7"/>
          <p:cNvSpPr/>
          <p:nvPr/>
        </p:nvSpPr>
        <p:spPr>
          <a:xfrm>
            <a:off x="5394960" y="3017520"/>
            <a:ext cx="624535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5532120" y="3072384"/>
            <a:ext cx="597103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9,929</a:t>
            </a:r>
            <a:endParaRPr lang="en-US" sz="2800" dirty="0"/>
          </a:p>
        </p:txBody>
      </p:sp>
      <p:sp>
        <p:nvSpPr>
          <p:cNvPr id="12" name="Text 9"/>
          <p:cNvSpPr/>
          <p:nvPr/>
        </p:nvSpPr>
        <p:spPr>
          <a:xfrm>
            <a:off x="5532120" y="3639312"/>
            <a:ext cx="597103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prompt tokens; 686 completion tokens, reported in RUN_FINISHED.result</a:t>
            </a:r>
            <a:endParaRPr lang="en-US" sz="1050" dirty="0"/>
          </a:p>
        </p:txBody>
      </p:sp>
      <p:sp>
        <p:nvSpPr>
          <p:cNvPr id="13" name="Text 10"/>
          <p:cNvSpPr/>
          <p:nvPr/>
        </p:nvSpPr>
        <p:spPr>
          <a:xfrm>
            <a:off x="5394960" y="4343400"/>
            <a:ext cx="6245352" cy="15544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run started at 1.63s; createSurface arrived at 7.19s; STEP_STARTED and STEP_FINISHED bracket attempt 1.</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click at 15.78s sent a second run; RUN_FINISHED for it came at 15.81s with {answered: submit}.</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Text reading # Contact Us is a heading here; in step 03.1 it was raw text. The official renderer renders markdown.</a:t>
            </a:r>
            <a:endParaRPr lang="en-US" sz="120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Checkpoint: compare a Text reading # Contact Us here and in step 03.1. The official renderer renders markdown and runs catalog functions; the hand renderer did neither.</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03.3 · QUICK DEMO · THE WIRE OF AN ACTION RUN</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 click's whole answer is three lines: RUN_STARTED, one CUSTOM a2ui event, RUN_FINISHED</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57</a:t>
            </a:r>
            <a:endParaRPr lang="en-US" sz="1000" dirty="0"/>
          </a:p>
        </p:txBody>
      </p:sp>
      <p:sp>
        <p:nvSpPr>
          <p:cNvPr id="5" name="Shape 3"/>
          <p:cNvSpPr/>
          <p:nvPr/>
        </p:nvSpPr>
        <p:spPr>
          <a:xfrm>
            <a:off x="548640" y="1417320"/>
            <a:ext cx="6583680" cy="4480560"/>
          </a:xfrm>
          <a:prstGeom prst="roundRect">
            <a:avLst>
              <a:gd name="adj" fmla="val 2041"/>
            </a:avLst>
          </a:prstGeom>
          <a:solidFill>
            <a:srgbClr val="0F172A"/>
          </a:solidFill>
          <a:ln w="12700">
            <a:solidFill>
              <a:srgbClr val="0F172A"/>
            </a:solidFill>
            <a:prstDash val="solid"/>
          </a:ln>
        </p:spPr>
      </p:sp>
      <p:sp>
        <p:nvSpPr>
          <p:cNvPr id="6" name="Text 4"/>
          <p:cNvSpPr/>
          <p:nvPr/>
        </p:nvSpPr>
        <p:spPr>
          <a:xfrm>
            <a:off x="731520" y="1554480"/>
            <a:ext cx="6217920" cy="4206240"/>
          </a:xfrm>
          <a:prstGeom prst="rect">
            <a:avLst/>
          </a:prstGeom>
          <a:noFill/>
          <a:ln/>
        </p:spPr>
        <p:txBody>
          <a:bodyPr wrap="square" lIns="0" tIns="0" rIns="0" bIns="0" rtlCol="0" anchor="t"/>
          <a:lstStyle/>
          <a:p>
            <a:pPr indent="0" marL="0">
              <a:buNone/>
            </a:pPr>
            <a:r>
              <a:rPr lang="en-US" sz="1000" dirty="0">
                <a:solidFill>
                  <a:srgbClr val="E2E8F0"/>
                </a:solidFill>
                <a:latin typeface="Courier New" pitchFamily="34" charset="0"/>
                <a:ea typeface="Courier New" pitchFamily="34" charset="-122"/>
                <a:cs typeface="Courier New" pitchFamily="34" charset="-120"/>
              </a:rPr>
              <a:t>click -&gt; 15.78s action submit from sendButton</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{"firstName":"Ada","email":"ada@example.com","newsletter":true}</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15.81s RUN_FINISHED {"answered":"submit"}</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wire of an action run (POST /agent), one AG-UI event per data: line:</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data: {"type":"RUN_STARTED","threadId":"t1","runId":"r2"}</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data: {"type":"CUSTOM","name":"a2ui","value":{"version":"v0.9.1",</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"updateDataModel":{"surfaceId":"main","path":"/form/status",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"value":"Server got 'submit' at 15:04:04 with firstName='Ada', ...</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data: {"type":"RUN_FINISHED","threadId":"t1","runId":"r2",</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"result":{"answered":"submit"}}</a:t>
            </a:r>
            <a:endParaRPr lang="en-US" sz="1000" dirty="0"/>
          </a:p>
        </p:txBody>
      </p:sp>
      <p:sp>
        <p:nvSpPr>
          <p:cNvPr id="7" name="Shape 5"/>
          <p:cNvSpPr/>
          <p:nvPr/>
        </p:nvSpPr>
        <p:spPr>
          <a:xfrm>
            <a:off x="7498080" y="1417320"/>
            <a:ext cx="4114800" cy="1188720"/>
          </a:xfrm>
          <a:prstGeom prst="roundRect">
            <a:avLst>
              <a:gd name="adj" fmla="val 7692"/>
            </a:avLst>
          </a:prstGeom>
          <a:solidFill>
            <a:srgbClr val="F6F7FB"/>
          </a:solidFill>
          <a:ln w="12700">
            <a:solidFill>
              <a:srgbClr val="F6F7FB"/>
            </a:solidFill>
            <a:prstDash val="solid"/>
          </a:ln>
        </p:spPr>
      </p:sp>
      <p:sp>
        <p:nvSpPr>
          <p:cNvPr id="8" name="Text 6"/>
          <p:cNvSpPr/>
          <p:nvPr/>
        </p:nvSpPr>
        <p:spPr>
          <a:xfrm>
            <a:off x="7635240" y="1472184"/>
            <a:ext cx="384048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3</a:t>
            </a:r>
            <a:endParaRPr lang="en-US" sz="2800" dirty="0"/>
          </a:p>
        </p:txBody>
      </p:sp>
      <p:sp>
        <p:nvSpPr>
          <p:cNvPr id="9" name="Text 7"/>
          <p:cNvSpPr/>
          <p:nvPr/>
        </p:nvSpPr>
        <p:spPr>
          <a:xfrm>
            <a:off x="7635240" y="2039112"/>
            <a:ext cx="384048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AG-UI events in the action run, answered in 0.03s</a:t>
            </a:r>
            <a:endParaRPr lang="en-US" sz="1050" dirty="0"/>
          </a:p>
        </p:txBody>
      </p:sp>
      <p:sp>
        <p:nvSpPr>
          <p:cNvPr id="10" name="Text 8"/>
          <p:cNvSpPr/>
          <p:nvPr/>
        </p:nvSpPr>
        <p:spPr>
          <a:xfrm>
            <a:off x="7498080" y="2743200"/>
            <a:ext cx="4114800" cy="31546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action and the client data model arrived in forwardedProps; AG-UI has no message type for them.</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answer is one updateDataModel into /form/status, the path the server's mirror found the status Text bound to.</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One threadId for the page, a new runId per generation or click. A surface lives across runs until deleteSurface.</a:t>
            </a:r>
            <a:endParaRPr lang="en-US" sz="1250" dirty="0"/>
          </a:p>
        </p:txBody>
      </p:sp>
      <p:sp>
        <p:nvSpPr>
          <p:cNvPr id="11" name="Text 9"/>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status Text read: Server got 'submit' at 15:04:04 with firstName='Ada', email='ada@example.com', newsletter=True; client data model had 92 bytes.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82296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Sub-theme 04 · Levels 11 to 14 of 23</a:t>
            </a:r>
            <a:endParaRPr lang="en-US" sz="1300" dirty="0"/>
          </a:p>
        </p:txBody>
      </p:sp>
      <p:sp>
        <p:nvSpPr>
          <p:cNvPr id="3" name="Text 1"/>
          <p:cNvSpPr/>
          <p:nvPr/>
        </p:nvSpPr>
        <p:spPr>
          <a:xfrm>
            <a:off x="731520" y="1280160"/>
            <a:ext cx="1051560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OpenUI Lang, the line-oriented format</a:t>
            </a:r>
            <a:endParaRPr lang="en-US" sz="4000" dirty="0"/>
          </a:p>
        </p:txBody>
      </p:sp>
      <p:sp>
        <p:nvSpPr>
          <p:cNvPr id="4" name="Text 2"/>
          <p:cNvSpPr/>
          <p:nvPr/>
        </p:nvSpPr>
        <p:spPr>
          <a:xfrm>
            <a:off x="731520" y="2560320"/>
            <a:ext cx="6583680" cy="201168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This sub-theme is about generation, not transport. OpenUI Lang is the language the report places in the declarative middle of its spectrum and measures as the most token-efficient open format: one statement per line, id = Component(args), positional arguments, references allowed before their definition. Sub-theme 01 streamed a JSON element map and paid for every key and bracket; this sub-theme replaces the JSON with the language, builds the parser by hand, swaps in the real packages, recomputes the report's token table cell by cell, and builds the report's hybrid on OpenUI's own reference implementation.</a:t>
            </a:r>
            <a:endParaRPr lang="en-US" sz="1600" dirty="0"/>
          </a:p>
        </p:txBody>
      </p:sp>
      <p:sp>
        <p:nvSpPr>
          <p:cNvPr id="5" name="Shape 3"/>
          <p:cNvSpPr/>
          <p:nvPr/>
        </p:nvSpPr>
        <p:spPr>
          <a:xfrm>
            <a:off x="7680960" y="2606040"/>
            <a:ext cx="3931920" cy="603504"/>
          </a:xfrm>
          <a:prstGeom prst="roundRect">
            <a:avLst>
              <a:gd name="adj" fmla="val 12121"/>
            </a:avLst>
          </a:prstGeom>
          <a:solidFill>
            <a:srgbClr val="1E2761"/>
          </a:solidFill>
          <a:ln w="12700">
            <a:solidFill>
              <a:srgbClr val="3B4A8A"/>
            </a:solidFill>
            <a:prstDash val="solid"/>
          </a:ln>
        </p:spPr>
      </p:sp>
      <p:sp>
        <p:nvSpPr>
          <p:cNvPr id="6" name="Text 4"/>
          <p:cNvSpPr/>
          <p:nvPr/>
        </p:nvSpPr>
        <p:spPr>
          <a:xfrm>
            <a:off x="7818120" y="2606040"/>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04.1  </a:t>
            </a:r>
            <a:pPr indent="0" marL="0">
              <a:buNone/>
            </a:pPr>
            <a:r>
              <a:rPr lang="en-US" sz="1250" dirty="0">
                <a:solidFill>
                  <a:srgbClr val="FFFFFF"/>
                </a:solidFill>
                <a:latin typeface="Calibri" pitchFamily="34" charset="0"/>
                <a:ea typeface="Calibri" pitchFamily="34" charset="-122"/>
                <a:cs typeface="Calibri" pitchFamily="34" charset="-120"/>
              </a:rPr>
              <a:t>OpenUI Lang, parsed by hand</a:t>
            </a:r>
            <a:endParaRPr lang="en-US" sz="1250" dirty="0"/>
          </a:p>
        </p:txBody>
      </p:sp>
      <p:sp>
        <p:nvSpPr>
          <p:cNvPr id="7" name="Shape 5"/>
          <p:cNvSpPr/>
          <p:nvPr/>
        </p:nvSpPr>
        <p:spPr>
          <a:xfrm>
            <a:off x="7680960" y="3319272"/>
            <a:ext cx="3931920" cy="603504"/>
          </a:xfrm>
          <a:prstGeom prst="roundRect">
            <a:avLst>
              <a:gd name="adj" fmla="val 12121"/>
            </a:avLst>
          </a:prstGeom>
          <a:solidFill>
            <a:srgbClr val="1E2761"/>
          </a:solidFill>
          <a:ln w="12700">
            <a:solidFill>
              <a:srgbClr val="3B4A8A"/>
            </a:solidFill>
            <a:prstDash val="solid"/>
          </a:ln>
        </p:spPr>
      </p:sp>
      <p:sp>
        <p:nvSpPr>
          <p:cNvPr id="8" name="Text 6"/>
          <p:cNvSpPr/>
          <p:nvPr/>
        </p:nvSpPr>
        <p:spPr>
          <a:xfrm>
            <a:off x="7818120" y="3319272"/>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04.2  </a:t>
            </a:r>
            <a:pPr indent="0" marL="0">
              <a:buNone/>
            </a:pPr>
            <a:r>
              <a:rPr lang="en-US" sz="1250" dirty="0">
                <a:solidFill>
                  <a:srgbClr val="FFFFFF"/>
                </a:solidFill>
                <a:latin typeface="Calibri" pitchFamily="34" charset="0"/>
                <a:ea typeface="Calibri" pitchFamily="34" charset="-122"/>
                <a:cs typeface="Calibri" pitchFamily="34" charset="-120"/>
              </a:rPr>
              <a:t>lang-core and react-lang</a:t>
            </a:r>
            <a:endParaRPr lang="en-US" sz="1250" dirty="0"/>
          </a:p>
        </p:txBody>
      </p:sp>
      <p:sp>
        <p:nvSpPr>
          <p:cNvPr id="9" name="Shape 7"/>
          <p:cNvSpPr/>
          <p:nvPr/>
        </p:nvSpPr>
        <p:spPr>
          <a:xfrm>
            <a:off x="7680960" y="4032504"/>
            <a:ext cx="3931920" cy="603504"/>
          </a:xfrm>
          <a:prstGeom prst="roundRect">
            <a:avLst>
              <a:gd name="adj" fmla="val 12121"/>
            </a:avLst>
          </a:prstGeom>
          <a:solidFill>
            <a:srgbClr val="1E2761"/>
          </a:solidFill>
          <a:ln w="12700">
            <a:solidFill>
              <a:srgbClr val="3B4A8A"/>
            </a:solidFill>
            <a:prstDash val="solid"/>
          </a:ln>
        </p:spPr>
      </p:sp>
      <p:sp>
        <p:nvSpPr>
          <p:cNvPr id="10" name="Text 8"/>
          <p:cNvSpPr/>
          <p:nvPr/>
        </p:nvSpPr>
        <p:spPr>
          <a:xfrm>
            <a:off x="7818120" y="4032504"/>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04.3  </a:t>
            </a:r>
            <a:pPr indent="0" marL="0">
              <a:buNone/>
            </a:pPr>
            <a:r>
              <a:rPr lang="en-US" sz="1250" dirty="0">
                <a:solidFill>
                  <a:srgbClr val="FFFFFF"/>
                </a:solidFill>
                <a:latin typeface="Calibri" pitchFamily="34" charset="0"/>
                <a:ea typeface="Calibri" pitchFamily="34" charset="-122"/>
                <a:cs typeface="Calibri" pitchFamily="34" charset="-120"/>
              </a:rPr>
              <a:t>The token benchmark, reproduced</a:t>
            </a:r>
            <a:endParaRPr lang="en-US" sz="1250" dirty="0"/>
          </a:p>
        </p:txBody>
      </p:sp>
      <p:sp>
        <p:nvSpPr>
          <p:cNvPr id="11" name="Shape 9"/>
          <p:cNvSpPr/>
          <p:nvPr/>
        </p:nvSpPr>
        <p:spPr>
          <a:xfrm>
            <a:off x="7680960" y="4745736"/>
            <a:ext cx="3931920" cy="603504"/>
          </a:xfrm>
          <a:prstGeom prst="roundRect">
            <a:avLst>
              <a:gd name="adj" fmla="val 12121"/>
            </a:avLst>
          </a:prstGeom>
          <a:solidFill>
            <a:srgbClr val="1E2761"/>
          </a:solidFill>
          <a:ln w="12700">
            <a:solidFill>
              <a:srgbClr val="3B4A8A"/>
            </a:solidFill>
            <a:prstDash val="solid"/>
          </a:ln>
        </p:spPr>
      </p:sp>
      <p:sp>
        <p:nvSpPr>
          <p:cNvPr id="12" name="Text 10"/>
          <p:cNvSpPr/>
          <p:nvPr/>
        </p:nvSpPr>
        <p:spPr>
          <a:xfrm>
            <a:off x="7818120" y="4745736"/>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04.4  </a:t>
            </a:r>
            <a:pPr indent="0" marL="0">
              <a:buNone/>
            </a:pPr>
            <a:r>
              <a:rPr lang="en-US" sz="1250" dirty="0">
                <a:solidFill>
                  <a:srgbClr val="FFFFFF"/>
                </a:solidFill>
                <a:latin typeface="Calibri" pitchFamily="34" charset="0"/>
                <a:ea typeface="Calibri" pitchFamily="34" charset="-122"/>
                <a:cs typeface="Calibri" pitchFamily="34" charset="-120"/>
              </a:rPr>
              <a:t>OpenUI's html artifact</a:t>
            </a:r>
            <a:endParaRPr lang="en-US" sz="125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AB8"/>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04.1 · LEVEL 11 OF 23 · DECLARATIVE GENERATION · YOUR OWN PRODUCT</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One statement per line, positional arguments, forward references: the layout paints first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59</a:t>
            </a:r>
            <a:endParaRPr lang="en-US" sz="1000" dirty="0"/>
          </a:p>
        </p:txBody>
      </p:sp>
      <p:sp>
        <p:nvSpPr>
          <p:cNvPr id="5" name="Text 3"/>
          <p:cNvSpPr/>
          <p:nvPr/>
        </p:nvSpPr>
        <p:spPr>
          <a:xfrm>
            <a:off x="548640" y="173736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A JSON tree cannot render until its closing bracket arrives. An OpenUI Lang program is </a:t>
            </a:r>
            <a:pPr indent="0" marL="0">
              <a:buNone/>
            </a:pPr>
            <a:r>
              <a:rPr lang="en-US" sz="1600" b="1" dirty="0">
                <a:solidFill>
                  <a:srgbClr val="141B3D"/>
                </a:solidFill>
                <a:latin typeface="Calibri" pitchFamily="34" charset="0"/>
                <a:ea typeface="Calibri" pitchFamily="34" charset="-122"/>
                <a:cs typeface="Calibri" pitchFamily="34" charset="-120"/>
              </a:rPr>
              <a:t>renderable after its first line</a:t>
            </a:r>
            <a:pPr indent="0" marL="0">
              <a:buNone/>
            </a:pPr>
            <a:r>
              <a:rPr lang="en-US" sz="1600" dirty="0">
                <a:solidFill>
                  <a:srgbClr val="141B3D"/>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548640" y="2606040"/>
            <a:ext cx="5120640" cy="3154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 newline outside brackets and strings ends a statement; the parser acts on every complete line.</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Text("...", "heading") has no key names; the catalog's property order names the arguments.</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root names chart five lines before chart is defined; the resolver turns a missing name into a placeholder.</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renderer draws a placeholder as a grey skeleton box, so the layout appears and fills in top-down.</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resolver is re-run on every pushed line, never patched; a half-written line is held back, not guessed at.</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Two parsers, Python for the tests and JavaScript for the page, produce byte-identical trees.</a:t>
            </a:r>
            <a:endParaRPr lang="en-US" sz="1200" dirty="0"/>
          </a:p>
        </p:txBody>
      </p:sp>
      <p:sp>
        <p:nvSpPr>
          <p:cNvPr id="7" name="Shape 5"/>
          <p:cNvSpPr/>
          <p:nvPr/>
        </p:nvSpPr>
        <p:spPr>
          <a:xfrm>
            <a:off x="6035040" y="1920240"/>
            <a:ext cx="3067812" cy="3383280"/>
          </a:xfrm>
          <a:prstGeom prst="roundRect">
            <a:avLst>
              <a:gd name="adj" fmla="val 2981"/>
            </a:avLst>
          </a:prstGeom>
          <a:solidFill>
            <a:srgbClr val="0F172A"/>
          </a:solidFill>
          <a:ln w="12700">
            <a:solidFill>
              <a:srgbClr val="0F172A"/>
            </a:solidFill>
            <a:prstDash val="solid"/>
          </a:ln>
        </p:spPr>
      </p:sp>
      <p:sp>
        <p:nvSpPr>
          <p:cNvPr id="8" name="Text 6"/>
          <p:cNvSpPr/>
          <p:nvPr/>
        </p:nvSpPr>
        <p:spPr>
          <a:xfrm>
            <a:off x="6172200" y="2029968"/>
            <a:ext cx="2793492" cy="3163824"/>
          </a:xfrm>
          <a:prstGeom prst="rect">
            <a:avLst/>
          </a:prstGeom>
          <a:noFill/>
          <a:ln/>
        </p:spPr>
        <p:txBody>
          <a:bodyPr wrap="square" lIns="0" tIns="0" rIns="0" bIns="0" rtlCol="0" anchor="t"/>
          <a:lstStyle/>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root = Stack([title, kpis, chart])</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title = Text("Week 37", "heading")</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kpis = Stack([revenue, cups], "row")</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revenue = Metric("Revenue", "$482")</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cups = Metric("Cups sold", 241)</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chart = BarChart("Cups", days, [..])</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days = ["Mon", "Tue", "Wed"]</a:t>
            </a:r>
            <a:endParaRPr lang="en-US" sz="1050" dirty="0"/>
          </a:p>
        </p:txBody>
      </p:sp>
      <p:sp>
        <p:nvSpPr>
          <p:cNvPr id="9" name="Shape 7"/>
          <p:cNvSpPr/>
          <p:nvPr/>
        </p:nvSpPr>
        <p:spPr>
          <a:xfrm>
            <a:off x="9270187" y="1920240"/>
            <a:ext cx="2342693" cy="3383280"/>
          </a:xfrm>
          <a:prstGeom prst="roundRect">
            <a:avLst>
              <a:gd name="adj" fmla="val 3903"/>
            </a:avLst>
          </a:prstGeom>
          <a:solidFill>
            <a:srgbClr val="FFFFFF"/>
          </a:solidFill>
          <a:ln w="12700">
            <a:solidFill>
              <a:srgbClr val="D7DAE5"/>
            </a:solidFill>
            <a:prstDash val="solid"/>
          </a:ln>
        </p:spPr>
      </p:sp>
      <p:sp>
        <p:nvSpPr>
          <p:cNvPr id="10" name="Shape 8"/>
          <p:cNvSpPr/>
          <p:nvPr/>
        </p:nvSpPr>
        <p:spPr>
          <a:xfrm>
            <a:off x="9407347" y="2057400"/>
            <a:ext cx="2068373" cy="685800"/>
          </a:xfrm>
          <a:prstGeom prst="roundRect">
            <a:avLst>
              <a:gd name="adj" fmla="val 13333"/>
            </a:avLst>
          </a:prstGeom>
          <a:solidFill>
            <a:srgbClr val="EEF0FF"/>
          </a:solidFill>
          <a:ln w="15875">
            <a:solidFill>
              <a:srgbClr val="2F3CFF"/>
            </a:solidFill>
            <a:prstDash val="solid"/>
          </a:ln>
        </p:spPr>
      </p:sp>
      <p:sp>
        <p:nvSpPr>
          <p:cNvPr id="11" name="Text 9"/>
          <p:cNvSpPr/>
          <p:nvPr/>
        </p:nvSpPr>
        <p:spPr>
          <a:xfrm>
            <a:off x="9480499" y="2093976"/>
            <a:ext cx="1922069" cy="612648"/>
          </a:xfrm>
          <a:prstGeom prst="rect">
            <a:avLst/>
          </a:prstGeom>
          <a:noFill/>
          <a:ln/>
        </p:spPr>
        <p:txBody>
          <a:bodyPr wrap="square" lIns="0" tIns="0" rIns="0" bIns="0" rtlCol="0" anchor="ctr"/>
          <a:lstStyle/>
          <a:p>
            <a:pPr algn="ctr" indent="0" marL="0">
              <a:buNone/>
            </a:pPr>
            <a:r>
              <a:rPr lang="en-US" sz="1100" b="1" dirty="0">
                <a:solidFill>
                  <a:srgbClr val="2F3CFF"/>
                </a:solidFill>
                <a:latin typeface="Calibri" pitchFamily="34" charset="0"/>
                <a:ea typeface="Calibri" pitchFamily="34" charset="-122"/>
                <a:cs typeface="Calibri" pitchFamily="34" charset="-120"/>
              </a:rPr>
              <a:t>title</a:t>
            </a:r>
            <a:endParaRPr lang="en-US" sz="1100" dirty="0"/>
          </a:p>
        </p:txBody>
      </p:sp>
      <p:sp>
        <p:nvSpPr>
          <p:cNvPr id="12" name="Shape 10"/>
          <p:cNvSpPr/>
          <p:nvPr/>
        </p:nvSpPr>
        <p:spPr>
          <a:xfrm>
            <a:off x="9407347" y="2834640"/>
            <a:ext cx="2068373" cy="685800"/>
          </a:xfrm>
          <a:prstGeom prst="roundRect">
            <a:avLst>
              <a:gd name="adj" fmla="val 13333"/>
            </a:avLst>
          </a:prstGeom>
          <a:solidFill>
            <a:srgbClr val="FFF4E5"/>
          </a:solidFill>
          <a:ln w="15875">
            <a:solidFill>
              <a:srgbClr val="D97706"/>
            </a:solidFill>
            <a:prstDash val="dash"/>
          </a:ln>
        </p:spPr>
      </p:sp>
      <p:sp>
        <p:nvSpPr>
          <p:cNvPr id="13" name="Text 11"/>
          <p:cNvSpPr/>
          <p:nvPr/>
        </p:nvSpPr>
        <p:spPr>
          <a:xfrm>
            <a:off x="9480499" y="2871216"/>
            <a:ext cx="1922069" cy="358902"/>
          </a:xfrm>
          <a:prstGeom prst="rect">
            <a:avLst/>
          </a:prstGeom>
          <a:noFill/>
          <a:ln/>
        </p:spPr>
        <p:txBody>
          <a:bodyPr wrap="square" lIns="0" tIns="0" rIns="0" bIns="0" rtlCol="0" anchor="b"/>
          <a:lstStyle/>
          <a:p>
            <a:pPr algn="ctr" indent="0" marL="0">
              <a:buNone/>
            </a:pPr>
            <a:r>
              <a:rPr lang="en-US" sz="1100" b="1" dirty="0">
                <a:solidFill>
                  <a:srgbClr val="D97706"/>
                </a:solidFill>
                <a:latin typeface="Calibri" pitchFamily="34" charset="0"/>
                <a:ea typeface="Calibri" pitchFamily="34" charset="-122"/>
                <a:cs typeface="Calibri" pitchFamily="34" charset="-120"/>
              </a:rPr>
              <a:t>revenue</a:t>
            </a:r>
            <a:endParaRPr lang="en-US" sz="1100" dirty="0"/>
          </a:p>
        </p:txBody>
      </p:sp>
      <p:sp>
        <p:nvSpPr>
          <p:cNvPr id="14" name="Text 12"/>
          <p:cNvSpPr/>
          <p:nvPr/>
        </p:nvSpPr>
        <p:spPr>
          <a:xfrm>
            <a:off x="9480499" y="3230118"/>
            <a:ext cx="1922069" cy="253746"/>
          </a:xfrm>
          <a:prstGeom prst="rect">
            <a:avLst/>
          </a:prstGeom>
          <a:noFill/>
          <a:ln/>
        </p:spPr>
        <p:txBody>
          <a:bodyPr wrap="square" lIns="0" tIns="0" rIns="0" bIns="0" rtlCol="0" anchor="t"/>
          <a:lstStyle/>
          <a:p>
            <a:pPr algn="ctr" indent="0" marL="0">
              <a:buNone/>
            </a:pPr>
            <a:r>
              <a:rPr lang="en-US" sz="850" dirty="0">
                <a:solidFill>
                  <a:srgbClr val="4B5563"/>
                </a:solidFill>
                <a:latin typeface="Calibri" pitchFamily="34" charset="0"/>
                <a:ea typeface="Calibri" pitchFamily="34" charset="-122"/>
                <a:cs typeface="Calibri" pitchFamily="34" charset="-120"/>
              </a:rPr>
              <a:t>waiting for its statement</a:t>
            </a:r>
            <a:endParaRPr lang="en-US" sz="850" dirty="0"/>
          </a:p>
        </p:txBody>
      </p:sp>
      <p:sp>
        <p:nvSpPr>
          <p:cNvPr id="15" name="Shape 13"/>
          <p:cNvSpPr/>
          <p:nvPr/>
        </p:nvSpPr>
        <p:spPr>
          <a:xfrm>
            <a:off x="9407347" y="3611880"/>
            <a:ext cx="2068373" cy="685800"/>
          </a:xfrm>
          <a:prstGeom prst="roundRect">
            <a:avLst>
              <a:gd name="adj" fmla="val 13333"/>
            </a:avLst>
          </a:prstGeom>
          <a:solidFill>
            <a:srgbClr val="FFF4E5"/>
          </a:solidFill>
          <a:ln w="15875">
            <a:solidFill>
              <a:srgbClr val="D97706"/>
            </a:solidFill>
            <a:prstDash val="dash"/>
          </a:ln>
        </p:spPr>
      </p:sp>
      <p:sp>
        <p:nvSpPr>
          <p:cNvPr id="16" name="Text 14"/>
          <p:cNvSpPr/>
          <p:nvPr/>
        </p:nvSpPr>
        <p:spPr>
          <a:xfrm>
            <a:off x="9480499" y="3648456"/>
            <a:ext cx="1922069" cy="358902"/>
          </a:xfrm>
          <a:prstGeom prst="rect">
            <a:avLst/>
          </a:prstGeom>
          <a:noFill/>
          <a:ln/>
        </p:spPr>
        <p:txBody>
          <a:bodyPr wrap="square" lIns="0" tIns="0" rIns="0" bIns="0" rtlCol="0" anchor="b"/>
          <a:lstStyle/>
          <a:p>
            <a:pPr algn="ctr" indent="0" marL="0">
              <a:buNone/>
            </a:pPr>
            <a:r>
              <a:rPr lang="en-US" sz="1100" b="1" dirty="0">
                <a:solidFill>
                  <a:srgbClr val="D97706"/>
                </a:solidFill>
                <a:latin typeface="Calibri" pitchFamily="34" charset="0"/>
                <a:ea typeface="Calibri" pitchFamily="34" charset="-122"/>
                <a:cs typeface="Calibri" pitchFamily="34" charset="-120"/>
              </a:rPr>
              <a:t>cups</a:t>
            </a:r>
            <a:endParaRPr lang="en-US" sz="1100" dirty="0"/>
          </a:p>
        </p:txBody>
      </p:sp>
      <p:sp>
        <p:nvSpPr>
          <p:cNvPr id="17" name="Text 15"/>
          <p:cNvSpPr/>
          <p:nvPr/>
        </p:nvSpPr>
        <p:spPr>
          <a:xfrm>
            <a:off x="9480499" y="4007358"/>
            <a:ext cx="1922069" cy="253746"/>
          </a:xfrm>
          <a:prstGeom prst="rect">
            <a:avLst/>
          </a:prstGeom>
          <a:noFill/>
          <a:ln/>
        </p:spPr>
        <p:txBody>
          <a:bodyPr wrap="square" lIns="0" tIns="0" rIns="0" bIns="0" rtlCol="0" anchor="t"/>
          <a:lstStyle/>
          <a:p>
            <a:pPr algn="ctr" indent="0" marL="0">
              <a:buNone/>
            </a:pPr>
            <a:r>
              <a:rPr lang="en-US" sz="850" dirty="0">
                <a:solidFill>
                  <a:srgbClr val="4B5563"/>
                </a:solidFill>
                <a:latin typeface="Calibri" pitchFamily="34" charset="0"/>
                <a:ea typeface="Calibri" pitchFamily="34" charset="-122"/>
                <a:cs typeface="Calibri" pitchFamily="34" charset="-120"/>
              </a:rPr>
              <a:t>waiting for its statement</a:t>
            </a:r>
            <a:endParaRPr lang="en-US" sz="850" dirty="0"/>
          </a:p>
        </p:txBody>
      </p:sp>
      <p:sp>
        <p:nvSpPr>
          <p:cNvPr id="18" name="Shape 16"/>
          <p:cNvSpPr/>
          <p:nvPr/>
        </p:nvSpPr>
        <p:spPr>
          <a:xfrm>
            <a:off x="9407347" y="4389120"/>
            <a:ext cx="2068373" cy="685800"/>
          </a:xfrm>
          <a:prstGeom prst="roundRect">
            <a:avLst>
              <a:gd name="adj" fmla="val 13333"/>
            </a:avLst>
          </a:prstGeom>
          <a:solidFill>
            <a:srgbClr val="FFF4E5"/>
          </a:solidFill>
          <a:ln w="15875">
            <a:solidFill>
              <a:srgbClr val="D97706"/>
            </a:solidFill>
            <a:prstDash val="dash"/>
          </a:ln>
        </p:spPr>
      </p:sp>
      <p:sp>
        <p:nvSpPr>
          <p:cNvPr id="19" name="Text 17"/>
          <p:cNvSpPr/>
          <p:nvPr/>
        </p:nvSpPr>
        <p:spPr>
          <a:xfrm>
            <a:off x="9480499" y="4425696"/>
            <a:ext cx="1922069" cy="358902"/>
          </a:xfrm>
          <a:prstGeom prst="rect">
            <a:avLst/>
          </a:prstGeom>
          <a:noFill/>
          <a:ln/>
        </p:spPr>
        <p:txBody>
          <a:bodyPr wrap="square" lIns="0" tIns="0" rIns="0" bIns="0" rtlCol="0" anchor="b"/>
          <a:lstStyle/>
          <a:p>
            <a:pPr algn="ctr" indent="0" marL="0">
              <a:buNone/>
            </a:pPr>
            <a:r>
              <a:rPr lang="en-US" sz="1100" b="1" dirty="0">
                <a:solidFill>
                  <a:srgbClr val="D97706"/>
                </a:solidFill>
                <a:latin typeface="Calibri" pitchFamily="34" charset="0"/>
                <a:ea typeface="Calibri" pitchFamily="34" charset="-122"/>
                <a:cs typeface="Calibri" pitchFamily="34" charset="-120"/>
              </a:rPr>
              <a:t>chart</a:t>
            </a:r>
            <a:endParaRPr lang="en-US" sz="1100" dirty="0"/>
          </a:p>
        </p:txBody>
      </p:sp>
      <p:sp>
        <p:nvSpPr>
          <p:cNvPr id="20" name="Text 18"/>
          <p:cNvSpPr/>
          <p:nvPr/>
        </p:nvSpPr>
        <p:spPr>
          <a:xfrm>
            <a:off x="9480499" y="4784598"/>
            <a:ext cx="1922069" cy="253746"/>
          </a:xfrm>
          <a:prstGeom prst="rect">
            <a:avLst/>
          </a:prstGeom>
          <a:noFill/>
          <a:ln/>
        </p:spPr>
        <p:txBody>
          <a:bodyPr wrap="square" lIns="0" tIns="0" rIns="0" bIns="0" rtlCol="0" anchor="t"/>
          <a:lstStyle/>
          <a:p>
            <a:pPr algn="ctr" indent="0" marL="0">
              <a:buNone/>
            </a:pPr>
            <a:r>
              <a:rPr lang="en-US" sz="850" dirty="0">
                <a:solidFill>
                  <a:srgbClr val="4B5563"/>
                </a:solidFill>
                <a:latin typeface="Calibri" pitchFamily="34" charset="0"/>
                <a:ea typeface="Calibri" pitchFamily="34" charset="-122"/>
                <a:cs typeface="Calibri" pitchFamily="34" charset="-120"/>
              </a:rPr>
              <a:t>waiting for its statement</a:t>
            </a:r>
            <a:endParaRPr lang="en-US" sz="850" dirty="0"/>
          </a:p>
        </p:txBody>
      </p:sp>
      <p:sp>
        <p:nvSpPr>
          <p:cNvPr id="21" name="Text 19"/>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A shortened program after three lines: the Stack and the title are drawn, three names wait for their statements.</a:t>
            </a:r>
            <a:endParaRPr lang="en-US" sz="1050" dirty="0"/>
          </a:p>
        </p:txBody>
      </p:sp>
      <p:sp>
        <p:nvSpPr>
          <p:cNvPr id="22" name="Shape 20"/>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3" name="Text 21"/>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One statement per line, positional arguments and forward references are the whole design; the catalog, not the parser, names the arguments.</a:t>
            </a:r>
            <a:endParaRPr lang="en-US" sz="12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04.1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 name with no statement yet becomes a placeholder, and the renderer draws that as a skeleton</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60</a:t>
            </a:r>
            <a:endParaRPr lang="en-US" sz="1000" dirty="0"/>
          </a:p>
        </p:txBody>
      </p:sp>
      <p:sp>
        <p:nvSpPr>
          <p:cNvPr id="5" name="Shape 3"/>
          <p:cNvSpPr/>
          <p:nvPr/>
        </p:nvSpPr>
        <p:spPr>
          <a:xfrm>
            <a:off x="548640" y="1737360"/>
            <a:ext cx="7406640" cy="2363724"/>
          </a:xfrm>
          <a:prstGeom prst="roundRect">
            <a:avLst>
              <a:gd name="adj" fmla="val 3868"/>
            </a:avLst>
          </a:prstGeom>
          <a:solidFill>
            <a:srgbClr val="0F172A"/>
          </a:solidFill>
          <a:ln w="12700">
            <a:solidFill>
              <a:srgbClr val="0F172A"/>
            </a:solidFill>
            <a:prstDash val="solid"/>
          </a:ln>
        </p:spPr>
      </p:sp>
      <p:sp>
        <p:nvSpPr>
          <p:cNvPr id="6" name="Text 4"/>
          <p:cNvSpPr/>
          <p:nvPr/>
        </p:nvSpPr>
        <p:spPr>
          <a:xfrm>
            <a:off x="731520" y="1874520"/>
            <a:ext cx="7040880" cy="2089404"/>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reference(name: str) -&gt; object: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name not in program.statements or name in visiting:</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unresolved.append(name)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{"type": "placeholder", "name": 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visiting.add(name)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try: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result = value(program.statements[name])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finally: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visiting.discard(name)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isinstance(result, dict) and result.get("type") == "element":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result["statementId"] = 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result</a:t>
            </a:r>
            <a:endParaRPr lang="en-US" sz="1050" dirty="0"/>
          </a:p>
        </p:txBody>
      </p:sp>
      <p:sp>
        <p:nvSpPr>
          <p:cNvPr id="7" name="Text 5"/>
          <p:cNvSpPr/>
          <p:nvPr/>
        </p:nvSpPr>
        <p:spPr>
          <a:xfrm>
            <a:off x="548640" y="4146804"/>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04_openui_lang/step_01_openui_lang_parser/openui_parse.py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Two reasons to give up: the statement has not arrived, or the name is already on the stack, which is a cycle.</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placeholder is a real node in the tree. The page shows it as a grey box; </a:t>
            </a:r>
            <a:pPr indent="0" marL="0">
              <a:buNone/>
            </a:pPr>
            <a:r>
              <a:rPr lang="en-US" sz="1200" dirty="0">
                <a:solidFill>
                  <a:srgbClr val="BE123C"/>
                </a:solidFill>
                <a:latin typeface="Courier New" pitchFamily="34" charset="0"/>
                <a:ea typeface="Courier New" pitchFamily="34" charset="-122"/>
                <a:cs typeface="Courier New" pitchFamily="34" charset="-120"/>
              </a:rPr>
              <a:t>unresolved</a:t>
            </a:r>
            <a:pPr indent="0" marL="0">
              <a:buNone/>
            </a:pPr>
            <a:r>
              <a:rPr lang="en-US" sz="1200" dirty="0">
                <a:solidFill>
                  <a:srgbClr val="1F2937"/>
                </a:solidFill>
                <a:latin typeface="Calibri" pitchFamily="34" charset="0"/>
                <a:ea typeface="Calibri" pitchFamily="34" charset="-122"/>
                <a:cs typeface="Calibri" pitchFamily="34" charset="-120"/>
              </a:rPr>
              <a:t> lists its name.</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 element that came from a statement remembers its id, so the page can find the DOM node it produced.</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resolver walks from </a:t>
            </a:r>
            <a:pPr indent="0" marL="0">
              <a:buNone/>
            </a:pPr>
            <a:r>
              <a:rPr lang="en-US" sz="1250" dirty="0">
                <a:solidFill>
                  <a:srgbClr val="BE123C"/>
                </a:solidFill>
                <a:latin typeface="Courier New" pitchFamily="34" charset="0"/>
                <a:ea typeface="Courier New" pitchFamily="34" charset="-122"/>
                <a:cs typeface="Courier New" pitchFamily="34" charset="-120"/>
              </a:rPr>
              <a:t>root</a:t>
            </a:r>
            <a:pPr indent="0" marL="0">
              <a:buNone/>
            </a:pPr>
            <a:r>
              <a:rPr lang="en-US" sz="1250" dirty="0">
                <a:solidFill>
                  <a:srgbClr val="4B5563"/>
                </a:solidFill>
                <a:latin typeface="Calibri" pitchFamily="34" charset="0"/>
                <a:ea typeface="Calibri" pitchFamily="34" charset="-122"/>
                <a:cs typeface="Calibri" pitchFamily="34" charset="-120"/>
              </a:rPr>
              <a:t>. It runs again on every pushed line, so a placeholder is replaced the moment its statement arrives.</a:t>
            </a:r>
            <a:endParaRPr lang="en-US" sz="12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04.1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parser never knows what "row" means; the catalog zips the positional arguments with names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61</a:t>
            </a:r>
            <a:endParaRPr lang="en-US" sz="1000" dirty="0"/>
          </a:p>
        </p:txBody>
      </p:sp>
      <p:sp>
        <p:nvSpPr>
          <p:cNvPr id="5" name="Shape 3"/>
          <p:cNvSpPr/>
          <p:nvPr/>
        </p:nvSpPr>
        <p:spPr>
          <a:xfrm>
            <a:off x="548640" y="1737360"/>
            <a:ext cx="7406640" cy="2201037"/>
          </a:xfrm>
          <a:prstGeom prst="roundRect">
            <a:avLst>
              <a:gd name="adj" fmla="val 4154"/>
            </a:avLst>
          </a:prstGeom>
          <a:solidFill>
            <a:srgbClr val="0F172A"/>
          </a:solidFill>
          <a:ln w="12700">
            <a:solidFill>
              <a:srgbClr val="0F172A"/>
            </a:solidFill>
            <a:prstDash val="solid"/>
          </a:ln>
        </p:spPr>
      </p:sp>
      <p:sp>
        <p:nvSpPr>
          <p:cNvPr id="6" name="Text 4"/>
          <p:cNvSpPr/>
          <p:nvPr/>
        </p:nvSpPr>
        <p:spPr>
          <a:xfrm>
            <a:off x="731520" y="1874520"/>
            <a:ext cx="7040880" cy="1926717"/>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element(node: dict) -&gt; object: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name = node["name"]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name not in catalog:</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errors.append(f"unknown component {name}")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None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params = catalog[name]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len(node["args"]) &gt; len(params):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errors.append(f"{name} takes {len(params)} arguments, got {len(node['args'])}")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props = {param: value(arg) for param, arg in zip(params, node["args"])}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{"type": "element", "typeName": name, "props": props}</a:t>
            </a:r>
            <a:endParaRPr lang="en-US" sz="1050" dirty="0"/>
          </a:p>
        </p:txBody>
      </p:sp>
      <p:sp>
        <p:nvSpPr>
          <p:cNvPr id="7" name="Text 5"/>
          <p:cNvSpPr/>
          <p:nvPr/>
        </p:nvSpPr>
        <p:spPr>
          <a:xfrm>
            <a:off x="548640" y="3984117"/>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04_openui_lang/step_01_openui_lang_parser/openui_parse.py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catalog is a map from component name to its parameter names, read from the </a:t>
            </a:r>
            <a:pPr indent="0" marL="0">
              <a:buNone/>
            </a:pPr>
            <a:r>
              <a:rPr lang="en-US" sz="1200" dirty="0">
                <a:solidFill>
                  <a:srgbClr val="BE123C"/>
                </a:solidFill>
                <a:latin typeface="Courier New" pitchFamily="34" charset="0"/>
                <a:ea typeface="Courier New" pitchFamily="34" charset="-122"/>
                <a:cs typeface="Courier New" pitchFamily="34" charset="-120"/>
              </a:rPr>
              <a:t>properties</a:t>
            </a:r>
            <a:pPr indent="0" marL="0">
              <a:buNone/>
            </a:pPr>
            <a:r>
              <a:rPr lang="en-US" sz="1200" dirty="0">
                <a:solidFill>
                  <a:srgbClr val="1F2937"/>
                </a:solidFill>
                <a:latin typeface="Calibri" pitchFamily="34" charset="0"/>
                <a:ea typeface="Calibri" pitchFamily="34" charset="-122"/>
                <a:cs typeface="Calibri" pitchFamily="34" charset="-120"/>
              </a:rPr>
              <a:t> order in </a:t>
            </a:r>
            <a:pPr indent="0" marL="0">
              <a:buNone/>
            </a:pPr>
            <a:r>
              <a:rPr lang="en-US" sz="1200" dirty="0">
                <a:solidFill>
                  <a:srgbClr val="BE123C"/>
                </a:solidFill>
                <a:latin typeface="Courier New" pitchFamily="34" charset="0"/>
                <a:ea typeface="Courier New" pitchFamily="34" charset="-122"/>
                <a:cs typeface="Courier New" pitchFamily="34" charset="-120"/>
              </a:rPr>
              <a:t>catalog.json</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zip</a:t>
            </a:r>
            <a:pPr indent="0" marL="0">
              <a:buNone/>
            </a:pPr>
            <a:r>
              <a:rPr lang="en-US" sz="1200" dirty="0">
                <a:solidFill>
                  <a:srgbClr val="1F2937"/>
                </a:solidFill>
                <a:latin typeface="Calibri" pitchFamily="34" charset="0"/>
                <a:ea typeface="Calibri" pitchFamily="34" charset="-122"/>
                <a:cs typeface="Calibri" pitchFamily="34" charset="-120"/>
              </a:rPr>
              <a:t> pairs each positional argument with a parameter name. Change the order in the catalog and the same text renders differently.</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element node carries a </a:t>
            </a:r>
            <a:pPr indent="0" marL="0">
              <a:buNone/>
            </a:pPr>
            <a:r>
              <a:rPr lang="en-US" sz="1200" dirty="0">
                <a:solidFill>
                  <a:srgbClr val="BE123C"/>
                </a:solidFill>
                <a:latin typeface="Courier New" pitchFamily="34" charset="0"/>
                <a:ea typeface="Courier New" pitchFamily="34" charset="-122"/>
                <a:cs typeface="Courier New" pitchFamily="34" charset="-120"/>
              </a:rPr>
              <a:t>typeName</a:t>
            </a:r>
            <a:pPr indent="0" marL="0">
              <a:buNone/>
            </a:pPr>
            <a:r>
              <a:rPr lang="en-US" sz="1200" dirty="0">
                <a:solidFill>
                  <a:srgbClr val="1F2937"/>
                </a:solidFill>
                <a:latin typeface="Calibri" pitchFamily="34" charset="0"/>
                <a:ea typeface="Calibri" pitchFamily="34" charset="-122"/>
                <a:cs typeface="Calibri" pitchFamily="34" charset="-120"/>
              </a:rPr>
              <a:t> and named </a:t>
            </a:r>
            <a:pPr indent="0" marL="0">
              <a:buNone/>
            </a:pPr>
            <a:r>
              <a:rPr lang="en-US" sz="1200" dirty="0">
                <a:solidFill>
                  <a:srgbClr val="BE123C"/>
                </a:solidFill>
                <a:latin typeface="Courier New" pitchFamily="34" charset="0"/>
                <a:ea typeface="Courier New" pitchFamily="34" charset="-122"/>
                <a:cs typeface="Courier New" pitchFamily="34" charset="-120"/>
              </a:rPr>
              <a:t>props</a:t>
            </a:r>
            <a:pPr indent="0" marL="0">
              <a:buNone/>
            </a:pPr>
            <a:r>
              <a:rPr lang="en-US" sz="1200" dirty="0">
                <a:solidFill>
                  <a:srgbClr val="1F2937"/>
                </a:solidFill>
                <a:latin typeface="Calibri" pitchFamily="34" charset="0"/>
                <a:ea typeface="Calibri" pitchFamily="34" charset="-122"/>
                <a:cs typeface="Calibri" pitchFamily="34" charset="-120"/>
              </a:rPr>
              <a:t>; the renderer keys one DOM function on the name.</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Checkpoint: swap </a:t>
            </a:r>
            <a:pPr indent="0" marL="0">
              <a:buNone/>
            </a:pPr>
            <a:r>
              <a:rPr lang="en-US" sz="1250" dirty="0">
                <a:solidFill>
                  <a:srgbClr val="BE123C"/>
                </a:solidFill>
                <a:latin typeface="Courier New" pitchFamily="34" charset="0"/>
                <a:ea typeface="Courier New" pitchFamily="34" charset="-122"/>
                <a:cs typeface="Courier New" pitchFamily="34" charset="-120"/>
              </a:rPr>
              <a:t>direction</a:t>
            </a:r>
            <a:pPr indent="0" marL="0">
              <a:buNone/>
            </a:pPr>
            <a:r>
              <a:rPr lang="en-US" sz="1250" dirty="0">
                <a:solidFill>
                  <a:srgbClr val="4B5563"/>
                </a:solidFill>
                <a:latin typeface="Calibri" pitchFamily="34" charset="0"/>
                <a:ea typeface="Calibri" pitchFamily="34" charset="-122"/>
                <a:cs typeface="Calibri" pitchFamily="34" charset="-120"/>
              </a:rPr>
              <a:t> and </a:t>
            </a:r>
            <a:pPr indent="0" marL="0">
              <a:buNone/>
            </a:pPr>
            <a:r>
              <a:rPr lang="en-US" sz="1250" dirty="0">
                <a:solidFill>
                  <a:srgbClr val="BE123C"/>
                </a:solidFill>
                <a:latin typeface="Courier New" pitchFamily="34" charset="0"/>
                <a:ea typeface="Courier New" pitchFamily="34" charset="-122"/>
                <a:cs typeface="Courier New" pitchFamily="34" charset="-120"/>
              </a:rPr>
              <a:t>gap</a:t>
            </a:r>
            <a:pPr indent="0" marL="0">
              <a:buNone/>
            </a:pPr>
            <a:r>
              <a:rPr lang="en-US" sz="1250" dirty="0">
                <a:solidFill>
                  <a:srgbClr val="4B5563"/>
                </a:solidFill>
                <a:latin typeface="Calibri" pitchFamily="34" charset="0"/>
                <a:ea typeface="Calibri" pitchFamily="34" charset="-122"/>
                <a:cs typeface="Calibri" pitchFamily="34" charset="-120"/>
              </a:rPr>
              <a:t> under </a:t>
            </a:r>
            <a:pPr indent="0" marL="0">
              <a:buNone/>
            </a:pPr>
            <a:r>
              <a:rPr lang="en-US" sz="1250" dirty="0">
                <a:solidFill>
                  <a:srgbClr val="BE123C"/>
                </a:solidFill>
                <a:latin typeface="Courier New" pitchFamily="34" charset="0"/>
                <a:ea typeface="Courier New" pitchFamily="34" charset="-122"/>
                <a:cs typeface="Courier New" pitchFamily="34" charset="-120"/>
              </a:rPr>
              <a:t>Stack</a:t>
            </a:r>
            <a:pPr indent="0" marL="0">
              <a:buNone/>
            </a:pPr>
            <a:r>
              <a:rPr lang="en-US" sz="1250" dirty="0">
                <a:solidFill>
                  <a:srgbClr val="4B5563"/>
                </a:solidFill>
                <a:latin typeface="Calibri" pitchFamily="34" charset="0"/>
                <a:ea typeface="Calibri" pitchFamily="34" charset="-122"/>
                <a:cs typeface="Calibri" pitchFamily="34" charset="-120"/>
              </a:rPr>
              <a:t> in </a:t>
            </a:r>
            <a:pPr indent="0" marL="0">
              <a:buNone/>
            </a:pPr>
            <a:r>
              <a:rPr lang="en-US" sz="1250" dirty="0">
                <a:solidFill>
                  <a:srgbClr val="BE123C"/>
                </a:solidFill>
                <a:latin typeface="Courier New" pitchFamily="34" charset="0"/>
                <a:ea typeface="Courier New" pitchFamily="34" charset="-122"/>
                <a:cs typeface="Courier New" pitchFamily="34" charset="-120"/>
              </a:rPr>
              <a:t>catalog.json</a:t>
            </a:r>
            <a:pPr indent="0" marL="0">
              <a:buNone/>
            </a:pPr>
            <a:r>
              <a:rPr lang="en-US" sz="1250" dirty="0">
                <a:solidFill>
                  <a:srgbClr val="4B5563"/>
                </a:solidFill>
                <a:latin typeface="Calibri" pitchFamily="34" charset="0"/>
                <a:ea typeface="Calibri" pitchFamily="34" charset="-122"/>
                <a:cs typeface="Calibri" pitchFamily="34" charset="-120"/>
              </a:rPr>
              <a:t> and render </a:t>
            </a:r>
            <a:pPr indent="0" marL="0">
              <a:buNone/>
            </a:pPr>
            <a:r>
              <a:rPr lang="en-US" sz="1250" dirty="0">
                <a:solidFill>
                  <a:srgbClr val="BE123C"/>
                </a:solidFill>
                <a:latin typeface="Courier New" pitchFamily="34" charset="0"/>
                <a:ea typeface="Courier New" pitchFamily="34" charset="-122"/>
                <a:cs typeface="Courier New" pitchFamily="34" charset="-120"/>
              </a:rPr>
              <a:t>program.oui</a:t>
            </a:r>
            <a:pPr indent="0" marL="0">
              <a:buNone/>
            </a:pPr>
            <a:r>
              <a:rPr lang="en-US" sz="1250" dirty="0">
                <a:solidFill>
                  <a:srgbClr val="4B5563"/>
                </a:solidFill>
                <a:latin typeface="Calibri" pitchFamily="34" charset="0"/>
                <a:ea typeface="Calibri" pitchFamily="34" charset="-122"/>
                <a:cs typeface="Calibri" pitchFamily="34" charset="-120"/>
              </a:rPr>
              <a:t> again. The catalog, not the parser, names the arguments.</a:t>
            </a:r>
            <a:endParaRPr lang="en-US" sz="12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04.1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After three lines the title is drawn and six forward references are skeletons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62</a:t>
            </a:r>
            <a:endParaRPr lang="en-US" sz="1000" dirty="0"/>
          </a:p>
        </p:txBody>
      </p:sp>
      <p:pic>
        <p:nvPicPr>
          <p:cNvPr id="5" name="Image 0" descr="C:\Users\evija\simple-coding-harness\genui\04_openui_lang\step_01_openui_lang_parser\demo_partial.png">    </p:cNvPr>
          <p:cNvPicPr>
            <a:picLocks noChangeAspect="1"/>
          </p:cNvPicPr>
          <p:nvPr/>
        </p:nvPicPr>
        <p:blipFill>
          <a:blip r:embed="rId1"/>
          <a:srcRect l="0" r="0" t="0" b="0"/>
          <a:stretch/>
        </p:blipFill>
        <p:spPr>
          <a:xfrm>
            <a:off x="548640" y="1417320"/>
            <a:ext cx="5486400" cy="4480560"/>
          </a:xfrm>
          <a:prstGeom prst="rect">
            <a:avLst/>
          </a:prstGeom>
        </p:spPr>
      </p:pic>
      <p:sp>
        <p:nvSpPr>
          <p:cNvPr id="6" name="Shape 3"/>
          <p:cNvSpPr/>
          <p:nvPr/>
        </p:nvSpPr>
        <p:spPr>
          <a:xfrm>
            <a:off x="548640" y="1417320"/>
            <a:ext cx="5486400" cy="4480560"/>
          </a:xfrm>
          <a:prstGeom prst="rect">
            <a:avLst/>
          </a:prstGeom>
          <a:ln w="12700">
            <a:solidFill>
              <a:srgbClr val="D7DAE5"/>
            </a:solidFill>
            <a:prstDash val="solid"/>
          </a:ln>
        </p:spPr>
      </p:sp>
      <p:sp>
        <p:nvSpPr>
          <p:cNvPr id="7" name="Shape 4"/>
          <p:cNvSpPr/>
          <p:nvPr/>
        </p:nvSpPr>
        <p:spPr>
          <a:xfrm>
            <a:off x="6400800" y="1417320"/>
            <a:ext cx="52395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37960" y="147218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5</a:t>
            </a:r>
            <a:endParaRPr lang="en-US" sz="2800" dirty="0"/>
          </a:p>
        </p:txBody>
      </p:sp>
      <p:sp>
        <p:nvSpPr>
          <p:cNvPr id="9" name="Text 6"/>
          <p:cNvSpPr/>
          <p:nvPr/>
        </p:nvSpPr>
        <p:spPr>
          <a:xfrm>
            <a:off x="6537960" y="203911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names unresolved after line 1, and the layout already exists</a:t>
            </a:r>
            <a:endParaRPr lang="en-US" sz="1050" dirty="0"/>
          </a:p>
        </p:txBody>
      </p:sp>
      <p:sp>
        <p:nvSpPr>
          <p:cNvPr id="10" name="Shape 7"/>
          <p:cNvSpPr/>
          <p:nvPr/>
        </p:nvSpPr>
        <p:spPr>
          <a:xfrm>
            <a:off x="6400800" y="2697480"/>
            <a:ext cx="52395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37960" y="2752344"/>
            <a:ext cx="496519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6</a:t>
            </a:r>
            <a:endParaRPr lang="en-US" sz="2800" dirty="0"/>
          </a:p>
        </p:txBody>
      </p:sp>
      <p:sp>
        <p:nvSpPr>
          <p:cNvPr id="12" name="Text 9"/>
          <p:cNvSpPr/>
          <p:nvPr/>
        </p:nvSpPr>
        <p:spPr>
          <a:xfrm>
            <a:off x="6537960" y="331927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skeleton boxes on the page after three lines</a:t>
            </a:r>
            <a:endParaRPr lang="en-US" sz="1050" dirty="0"/>
          </a:p>
        </p:txBody>
      </p:sp>
      <p:sp>
        <p:nvSpPr>
          <p:cNvPr id="13" name="Text 10"/>
          <p:cNvSpPr/>
          <p:nvPr/>
        </p:nvSpPr>
        <p:spPr>
          <a:xfrm>
            <a:off x="6400800" y="4023360"/>
            <a:ext cx="5239512" cy="18745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Line 1 is root = Stack([title, kpis, chart, table, actions], ...): five placeholders, one Stack.</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Line 3 adds kpis with three more names; the count goes up before it comes down.</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Each grey box is a placeholder node the resolver returned for a name with no statement yet.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Nothing in a JSON tree format is renderable at this point; the root object has not closed.</a:t>
            </a:r>
            <a:endParaRPr lang="en-US" sz="11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recorded run streams program.oui one line per SSE message and re-renders after every push.</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04.1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After the last line every skeleton has been replaced; both parsers agree byte for byte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63</a:t>
            </a:r>
            <a:endParaRPr lang="en-US" sz="1000" dirty="0"/>
          </a:p>
        </p:txBody>
      </p:sp>
      <p:pic>
        <p:nvPicPr>
          <p:cNvPr id="5" name="Image 0" descr="C:\Users\evija\simple-coding-harness\genui\04_openui_lang\step_01_openui_lang_parser\demo.png">    </p:cNvPr>
          <p:cNvPicPr>
            <a:picLocks noChangeAspect="1"/>
          </p:cNvPicPr>
          <p:nvPr/>
        </p:nvPicPr>
        <p:blipFill>
          <a:blip r:embed="rId1"/>
          <a:srcRect l="0" r="0" t="0" b="0"/>
          <a:stretch/>
        </p:blipFill>
        <p:spPr>
          <a:xfrm>
            <a:off x="548640" y="1417320"/>
            <a:ext cx="5486400" cy="4480560"/>
          </a:xfrm>
          <a:prstGeom prst="rect">
            <a:avLst/>
          </a:prstGeom>
        </p:spPr>
      </p:pic>
      <p:sp>
        <p:nvSpPr>
          <p:cNvPr id="6" name="Shape 3"/>
          <p:cNvSpPr/>
          <p:nvPr/>
        </p:nvSpPr>
        <p:spPr>
          <a:xfrm>
            <a:off x="548640" y="1417320"/>
            <a:ext cx="5486400" cy="4480560"/>
          </a:xfrm>
          <a:prstGeom prst="rect">
            <a:avLst/>
          </a:prstGeom>
          <a:ln w="12700">
            <a:solidFill>
              <a:srgbClr val="D7DAE5"/>
            </a:solidFill>
            <a:prstDash val="solid"/>
          </a:ln>
        </p:spPr>
      </p:sp>
      <p:sp>
        <p:nvSpPr>
          <p:cNvPr id="7" name="Shape 4"/>
          <p:cNvSpPr/>
          <p:nvPr/>
        </p:nvSpPr>
        <p:spPr>
          <a:xfrm>
            <a:off x="6400800" y="1417320"/>
            <a:ext cx="52395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37960" y="147218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12</a:t>
            </a:r>
            <a:endParaRPr lang="en-US" sz="2800" dirty="0"/>
          </a:p>
        </p:txBody>
      </p:sp>
      <p:sp>
        <p:nvSpPr>
          <p:cNvPr id="9" name="Text 6"/>
          <p:cNvSpPr/>
          <p:nvPr/>
        </p:nvSpPr>
        <p:spPr>
          <a:xfrm>
            <a:off x="6537960" y="203911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statements parsed from program.oui</a:t>
            </a:r>
            <a:endParaRPr lang="en-US" sz="1050" dirty="0"/>
          </a:p>
        </p:txBody>
      </p:sp>
      <p:sp>
        <p:nvSpPr>
          <p:cNvPr id="10" name="Shape 7"/>
          <p:cNvSpPr/>
          <p:nvPr/>
        </p:nvSpPr>
        <p:spPr>
          <a:xfrm>
            <a:off x="6400800" y="2697480"/>
            <a:ext cx="52395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37960" y="2752344"/>
            <a:ext cx="4965192"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0</a:t>
            </a:r>
            <a:endParaRPr lang="en-US" sz="2800" dirty="0"/>
          </a:p>
        </p:txBody>
      </p:sp>
      <p:sp>
        <p:nvSpPr>
          <p:cNvPr id="12" name="Text 9"/>
          <p:cNvSpPr/>
          <p:nvPr/>
        </p:nvSpPr>
        <p:spPr>
          <a:xfrm>
            <a:off x="6537960" y="331927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unresolved references and 0 errors after line 12</a:t>
            </a:r>
            <a:endParaRPr lang="en-US" sz="1050" dirty="0"/>
          </a:p>
        </p:txBody>
      </p:sp>
      <p:sp>
        <p:nvSpPr>
          <p:cNvPr id="13" name="Text 10"/>
          <p:cNvSpPr/>
          <p:nvPr/>
        </p:nvSpPr>
        <p:spPr>
          <a:xfrm>
            <a:off x="6400800" y="4023360"/>
            <a:ext cx="5239512" cy="187452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Line 7 references days one line before line 8 defines it; the chart is a skeleton for one line, then replaced.</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kpis = Stack([revenue, cups, margin], "row", "m") has no key names at all; the catalog supplied them.</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The Python and JavaScript parsers produce byte-identical trees for program.oui; test_step.py checks that.</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The reference parser goes one step further and auto-closes the pending line so a half-written statement renders too.</a:t>
            </a:r>
            <a:endParaRPr lang="en-US" sz="110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Checkpoint: swap the order of direction and gap under Stack in catalog.json. The same text renders differently.</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04.2 · LEVEL 12 OF 23 · DECLARATIVE GENERATION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One Zod catalog generates the prompt, the parser's parameter map and the renderers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64</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Step 04.1 kept the catalog, the parser and the renderer in three files. The official packages derive </a:t>
            </a:r>
            <a:pPr indent="0" marL="0">
              <a:buNone/>
            </a:pPr>
            <a:r>
              <a:rPr lang="en-US" sz="1600" b="1" dirty="0">
                <a:solidFill>
                  <a:srgbClr val="141B3D"/>
                </a:solidFill>
                <a:latin typeface="Calibri" pitchFamily="34" charset="0"/>
                <a:ea typeface="Calibri" pitchFamily="34" charset="-122"/>
                <a:cs typeface="Calibri" pitchFamily="34" charset="-120"/>
              </a:rPr>
              <a:t>all three from one source</a:t>
            </a:r>
            <a:pPr indent="0" marL="0">
              <a:buNone/>
            </a:pPr>
            <a:r>
              <a:rPr lang="en-US" sz="1600" dirty="0">
                <a:solidFill>
                  <a:srgbClr val="141B3D"/>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defineComponent() takes a name, a description, a Zod props schema and a React function.</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library.prompt() prints one signature line per component, in Zod key order, plus the language rules.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library.toJSONSchema() is the step 04.1 catalog shape; the streaming parser reads it to name the arguments.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&lt;Renderer&gt; from @openuidev/react-lang re-parses the accumulated text on every chunk and draws the catalog's components.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server forwards every model delta as one SSE message and never parses the program itself.</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React 19 ships CommonJS only, so esbuild bundles the page once; no config file, no dev server.</a:t>
            </a:r>
            <a:endParaRPr lang="en-US" sz="1300" dirty="0"/>
          </a:p>
        </p:txBody>
      </p:sp>
      <p:sp>
        <p:nvSpPr>
          <p:cNvPr id="7" name="Shape 5"/>
          <p:cNvSpPr/>
          <p:nvPr/>
        </p:nvSpPr>
        <p:spPr>
          <a:xfrm>
            <a:off x="6903720" y="1600200"/>
            <a:ext cx="3840480" cy="685800"/>
          </a:xfrm>
          <a:prstGeom prst="roundRect">
            <a:avLst>
              <a:gd name="adj" fmla="val 13333"/>
            </a:avLst>
          </a:prstGeom>
          <a:solidFill>
            <a:srgbClr val="EEF0FF"/>
          </a:solidFill>
          <a:ln w="15875">
            <a:solidFill>
              <a:srgbClr val="2F3CFF"/>
            </a:solidFill>
            <a:prstDash val="solid"/>
          </a:ln>
        </p:spPr>
      </p:sp>
      <p:sp>
        <p:nvSpPr>
          <p:cNvPr id="8" name="Text 6"/>
          <p:cNvSpPr/>
          <p:nvPr/>
        </p:nvSpPr>
        <p:spPr>
          <a:xfrm>
            <a:off x="6976872" y="1636776"/>
            <a:ext cx="3694176" cy="35890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defineComponent()</a:t>
            </a:r>
            <a:endParaRPr lang="en-US" sz="1200" dirty="0"/>
          </a:p>
        </p:txBody>
      </p:sp>
      <p:sp>
        <p:nvSpPr>
          <p:cNvPr id="9" name="Text 7"/>
          <p:cNvSpPr/>
          <p:nvPr/>
        </p:nvSpPr>
        <p:spPr>
          <a:xfrm>
            <a:off x="6976872" y="199567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a name, a description, a Zod props schema, a React function</a:t>
            </a:r>
            <a:endParaRPr lang="en-US" sz="950" dirty="0"/>
          </a:p>
        </p:txBody>
      </p:sp>
      <p:sp>
        <p:nvSpPr>
          <p:cNvPr id="10" name="Shape 8"/>
          <p:cNvSpPr/>
          <p:nvPr/>
        </p:nvSpPr>
        <p:spPr>
          <a:xfrm>
            <a:off x="8823960" y="2313432"/>
            <a:ext cx="9144" cy="265176"/>
          </a:xfrm>
          <a:prstGeom prst="line">
            <a:avLst/>
          </a:prstGeom>
          <a:noFill/>
          <a:ln w="19050">
            <a:solidFill>
              <a:srgbClr val="4B5563"/>
            </a:solidFill>
            <a:prstDash val="solid"/>
            <a:tailEnd type="triangle"/>
          </a:ln>
        </p:spPr>
      </p:sp>
      <p:sp>
        <p:nvSpPr>
          <p:cNvPr id="11" name="Shape 9"/>
          <p:cNvSpPr/>
          <p:nvPr/>
        </p:nvSpPr>
        <p:spPr>
          <a:xfrm>
            <a:off x="6903720" y="2606040"/>
            <a:ext cx="3840480" cy="685800"/>
          </a:xfrm>
          <a:prstGeom prst="roundRect">
            <a:avLst>
              <a:gd name="adj" fmla="val 13333"/>
            </a:avLst>
          </a:prstGeom>
          <a:solidFill>
            <a:srgbClr val="F6F7FB"/>
          </a:solidFill>
          <a:ln w="15875">
            <a:solidFill>
              <a:srgbClr val="141B3D"/>
            </a:solidFill>
            <a:prstDash val="solid"/>
          </a:ln>
        </p:spPr>
      </p:sp>
      <p:sp>
        <p:nvSpPr>
          <p:cNvPr id="12" name="Text 10"/>
          <p:cNvSpPr/>
          <p:nvPr/>
        </p:nvSpPr>
        <p:spPr>
          <a:xfrm>
            <a:off x="6976872" y="2642616"/>
            <a:ext cx="3694176" cy="35890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library.prompt()</a:t>
            </a:r>
            <a:endParaRPr lang="en-US" sz="1200" dirty="0"/>
          </a:p>
        </p:txBody>
      </p:sp>
      <p:sp>
        <p:nvSpPr>
          <p:cNvPr id="13" name="Text 11"/>
          <p:cNvSpPr/>
          <p:nvPr/>
        </p:nvSpPr>
        <p:spPr>
          <a:xfrm>
            <a:off x="6976872" y="300151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one signature line per component, in Zod key order</a:t>
            </a:r>
            <a:endParaRPr lang="en-US" sz="950" dirty="0"/>
          </a:p>
        </p:txBody>
      </p:sp>
      <p:sp>
        <p:nvSpPr>
          <p:cNvPr id="14" name="Shape 12"/>
          <p:cNvSpPr/>
          <p:nvPr/>
        </p:nvSpPr>
        <p:spPr>
          <a:xfrm>
            <a:off x="8823960" y="3319272"/>
            <a:ext cx="9144" cy="265176"/>
          </a:xfrm>
          <a:prstGeom prst="line">
            <a:avLst/>
          </a:prstGeom>
          <a:noFill/>
          <a:ln w="19050">
            <a:solidFill>
              <a:srgbClr val="4B5563"/>
            </a:solidFill>
            <a:prstDash val="solid"/>
            <a:tailEnd type="triangle"/>
          </a:ln>
        </p:spPr>
      </p:sp>
      <p:sp>
        <p:nvSpPr>
          <p:cNvPr id="15" name="Shape 13"/>
          <p:cNvSpPr/>
          <p:nvPr/>
        </p:nvSpPr>
        <p:spPr>
          <a:xfrm>
            <a:off x="6903720" y="3611880"/>
            <a:ext cx="3840480" cy="685800"/>
          </a:xfrm>
          <a:prstGeom prst="roundRect">
            <a:avLst>
              <a:gd name="adj" fmla="val 13333"/>
            </a:avLst>
          </a:prstGeom>
          <a:solidFill>
            <a:srgbClr val="F6F7FB"/>
          </a:solidFill>
          <a:ln w="15875">
            <a:solidFill>
              <a:srgbClr val="141B3D"/>
            </a:solidFill>
            <a:prstDash val="solid"/>
          </a:ln>
        </p:spPr>
      </p:sp>
      <p:sp>
        <p:nvSpPr>
          <p:cNvPr id="16" name="Text 14"/>
          <p:cNvSpPr/>
          <p:nvPr/>
        </p:nvSpPr>
        <p:spPr>
          <a:xfrm>
            <a:off x="6976872" y="3648456"/>
            <a:ext cx="3694176" cy="35890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createStreamingParser()</a:t>
            </a:r>
            <a:endParaRPr lang="en-US" sz="1200" dirty="0"/>
          </a:p>
        </p:txBody>
      </p:sp>
      <p:sp>
        <p:nvSpPr>
          <p:cNvPr id="17" name="Text 15"/>
          <p:cNvSpPr/>
          <p:nvPr/>
        </p:nvSpPr>
        <p:spPr>
          <a:xfrm>
            <a:off x="6976872" y="400735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toJSONSchema() maps positional arguments to prop names</a:t>
            </a:r>
            <a:endParaRPr lang="en-US" sz="950" dirty="0"/>
          </a:p>
        </p:txBody>
      </p:sp>
      <p:sp>
        <p:nvSpPr>
          <p:cNvPr id="18" name="Shape 16"/>
          <p:cNvSpPr/>
          <p:nvPr/>
        </p:nvSpPr>
        <p:spPr>
          <a:xfrm>
            <a:off x="8823960" y="4325112"/>
            <a:ext cx="9144" cy="265176"/>
          </a:xfrm>
          <a:prstGeom prst="line">
            <a:avLst/>
          </a:prstGeom>
          <a:noFill/>
          <a:ln w="19050">
            <a:solidFill>
              <a:srgbClr val="4B5563"/>
            </a:solidFill>
            <a:prstDash val="solid"/>
            <a:tailEnd type="triangle"/>
          </a:ln>
        </p:spPr>
      </p:sp>
      <p:sp>
        <p:nvSpPr>
          <p:cNvPr id="19" name="Shape 17"/>
          <p:cNvSpPr/>
          <p:nvPr/>
        </p:nvSpPr>
        <p:spPr>
          <a:xfrm>
            <a:off x="6903720" y="4617720"/>
            <a:ext cx="3840480" cy="685800"/>
          </a:xfrm>
          <a:prstGeom prst="roundRect">
            <a:avLst>
              <a:gd name="adj" fmla="val 13333"/>
            </a:avLst>
          </a:prstGeom>
          <a:solidFill>
            <a:srgbClr val="ECFDF5"/>
          </a:solidFill>
          <a:ln w="15875">
            <a:solidFill>
              <a:srgbClr val="15803D"/>
            </a:solidFill>
            <a:prstDash val="solid"/>
          </a:ln>
        </p:spPr>
      </p:sp>
      <p:sp>
        <p:nvSpPr>
          <p:cNvPr id="20" name="Text 18"/>
          <p:cNvSpPr/>
          <p:nvPr/>
        </p:nvSpPr>
        <p:spPr>
          <a:xfrm>
            <a:off x="6976872" y="4654296"/>
            <a:ext cx="3694176" cy="358902"/>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&lt;Renderer&gt;</a:t>
            </a:r>
            <a:endParaRPr lang="en-US" sz="1200" dirty="0"/>
          </a:p>
        </p:txBody>
      </p:sp>
      <p:sp>
        <p:nvSpPr>
          <p:cNvPr id="21" name="Text 19"/>
          <p:cNvSpPr/>
          <p:nvPr/>
        </p:nvSpPr>
        <p:spPr>
          <a:xfrm>
            <a:off x="6976872" y="501319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the same React functions draw the element nodes</a:t>
            </a:r>
            <a:endParaRPr lang="en-US" sz="950" dirty="0"/>
          </a:p>
        </p:txBody>
      </p:sp>
      <p:sp>
        <p:nvSpPr>
          <p:cNvPr id="22" name="Text 20"/>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One definition, three uses. Add a component and the prompt, the parser and the renderer change together.</a:t>
            </a:r>
            <a:endParaRPr lang="en-US" sz="1050" dirty="0"/>
          </a:p>
        </p:txBody>
      </p:sp>
      <p:sp>
        <p:nvSpPr>
          <p:cNvPr id="23" name="Shape 21"/>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4" name="Text 22"/>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In the declarative mode the catalog is code, not prose, and the model can only produce what the catalog allows.</a:t>
            </a:r>
            <a:endParaRPr lang="en-US" sz="12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04.2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Three Zod keys become the signature line, the parameter map and the props the renderer receives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65</a:t>
            </a:r>
            <a:endParaRPr lang="en-US" sz="1000" dirty="0"/>
          </a:p>
        </p:txBody>
      </p:sp>
      <p:sp>
        <p:nvSpPr>
          <p:cNvPr id="5" name="Shape 3"/>
          <p:cNvSpPr/>
          <p:nvPr/>
        </p:nvSpPr>
        <p:spPr>
          <a:xfrm>
            <a:off x="548640" y="1737360"/>
            <a:ext cx="7406640" cy="2851785"/>
          </a:xfrm>
          <a:prstGeom prst="roundRect">
            <a:avLst>
              <a:gd name="adj" fmla="val 3206"/>
            </a:avLst>
          </a:prstGeom>
          <a:solidFill>
            <a:srgbClr val="0F172A"/>
          </a:solidFill>
          <a:ln w="12700">
            <a:solidFill>
              <a:srgbClr val="0F172A"/>
            </a:solidFill>
            <a:prstDash val="solid"/>
          </a:ln>
        </p:spPr>
      </p:sp>
      <p:sp>
        <p:nvSpPr>
          <p:cNvPr id="6" name="Text 4"/>
          <p:cNvSpPr/>
          <p:nvPr/>
        </p:nvSpPr>
        <p:spPr>
          <a:xfrm>
            <a:off x="731520" y="1874520"/>
            <a:ext cx="7040880" cy="2577465"/>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const Metric = defineComponent({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name: "Metric",</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description: "One number with a label and an optional change",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props: z.object({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label: z.string(),</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value: z.union([z.string(), z.number()]),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delta: z.string().optional().describe('such as "+12%"'),</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component: ({ props }) =&gt;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h("div", { className: "metric"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h("div", { className: "label" }, props.label),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h("div", { className: "value" }, String(props.value)),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h("div", { className: `delta ${String(props.delta ?? "").startsWith("-") ? "down" : "up"}` }, props.delta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548640" y="4634865"/>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04_openui_lang/step_02_openui_react_lang/library.mjs</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description goes into the prompt after the signature. Text on a prop's </a:t>
            </a:r>
            <a:pPr indent="0" marL="0">
              <a:buNone/>
            </a:pPr>
            <a:r>
              <a:rPr lang="en-US" sz="1200" dirty="0">
                <a:solidFill>
                  <a:srgbClr val="BE123C"/>
                </a:solidFill>
                <a:latin typeface="Courier New" pitchFamily="34" charset="0"/>
                <a:ea typeface="Courier New" pitchFamily="34" charset="-122"/>
                <a:cs typeface="Courier New" pitchFamily="34" charset="-120"/>
              </a:rPr>
              <a:t>.describe()</a:t>
            </a:r>
            <a:pPr indent="0" marL="0">
              <a:buNone/>
            </a:pPr>
            <a:r>
              <a:rPr lang="en-US" sz="1200" dirty="0">
                <a:solidFill>
                  <a:srgbClr val="1F2937"/>
                </a:solidFill>
                <a:latin typeface="Calibri" pitchFamily="34" charset="0"/>
                <a:ea typeface="Calibri" pitchFamily="34" charset="-122"/>
                <a:cs typeface="Calibri" pitchFamily="34" charset="-120"/>
              </a:rPr>
              <a:t> does not; put what the model must know here.</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Key order is argument order: </a:t>
            </a:r>
            <a:pPr indent="0" marL="0">
              <a:buNone/>
            </a:pPr>
            <a:r>
              <a:rPr lang="en-US" sz="1200" dirty="0">
                <a:solidFill>
                  <a:srgbClr val="BE123C"/>
                </a:solidFill>
                <a:latin typeface="Courier New" pitchFamily="34" charset="0"/>
                <a:ea typeface="Courier New" pitchFamily="34" charset="-122"/>
                <a:cs typeface="Courier New" pitchFamily="34" charset="-120"/>
              </a:rPr>
              <a:t>Metric(label, value, delta?)</a:t>
            </a:r>
            <a:pPr indent="0" marL="0">
              <a:buNone/>
            </a:pPr>
            <a:r>
              <a:rPr lang="en-US" sz="1200" dirty="0">
                <a:solidFill>
                  <a:srgbClr val="1F2937"/>
                </a:solidFill>
                <a:latin typeface="Calibri" pitchFamily="34" charset="0"/>
                <a:ea typeface="Calibri" pitchFamily="34" charset="-122"/>
                <a:cs typeface="Calibri" pitchFamily="34" charset="-120"/>
              </a:rPr>
              <a:t>. The prompt, the parser and the renderer cannot disagree.</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React function receives </a:t>
            </a:r>
            <a:pPr indent="0" marL="0">
              <a:buNone/>
            </a:pPr>
            <a:r>
              <a:rPr lang="en-US" sz="1200" dirty="0">
                <a:solidFill>
                  <a:srgbClr val="BE123C"/>
                </a:solidFill>
                <a:latin typeface="Courier New" pitchFamily="34" charset="0"/>
                <a:ea typeface="Courier New" pitchFamily="34" charset="-122"/>
                <a:cs typeface="Courier New" pitchFamily="34" charset="-120"/>
              </a:rPr>
              <a:t>{ props }</a:t>
            </a:r>
            <a:pPr indent="0" marL="0">
              <a:buNone/>
            </a:pPr>
            <a:r>
              <a:rPr lang="en-US" sz="1200" dirty="0">
                <a:solidFill>
                  <a:srgbClr val="1F2937"/>
                </a:solidFill>
                <a:latin typeface="Calibri" pitchFamily="34" charset="0"/>
                <a:ea typeface="Calibri" pitchFamily="34" charset="-122"/>
                <a:cs typeface="Calibri" pitchFamily="34" charset="-120"/>
              </a:rPr>
              <a:t> with names already mapped. It is React without JSX, so </a:t>
            </a:r>
            <a:pPr indent="0" marL="0">
              <a:buNone/>
            </a:pPr>
            <a:r>
              <a:rPr lang="en-US" sz="1200" dirty="0">
                <a:solidFill>
                  <a:srgbClr val="BE123C"/>
                </a:solidFill>
                <a:latin typeface="Courier New" pitchFamily="34" charset="0"/>
                <a:ea typeface="Courier New" pitchFamily="34" charset="-122"/>
                <a:cs typeface="Courier New" pitchFamily="34" charset="-120"/>
              </a:rPr>
              <a:t>h</a:t>
            </a:r>
            <a:pPr indent="0" marL="0">
              <a:buNone/>
            </a:pPr>
            <a:r>
              <a:rPr lang="en-US" sz="1200" dirty="0">
                <a:solidFill>
                  <a:srgbClr val="1F2937"/>
                </a:solidFill>
                <a:latin typeface="Calibri" pitchFamily="34" charset="0"/>
                <a:ea typeface="Calibri" pitchFamily="34" charset="-122"/>
                <a:cs typeface="Calibri" pitchFamily="34" charset="-120"/>
              </a:rPr>
              <a:t> is </a:t>
            </a:r>
            <a:pPr indent="0" marL="0">
              <a:buNone/>
            </a:pPr>
            <a:r>
              <a:rPr lang="en-US" sz="1200" dirty="0">
                <a:solidFill>
                  <a:srgbClr val="BE123C"/>
                </a:solidFill>
                <a:latin typeface="Courier New" pitchFamily="34" charset="0"/>
                <a:ea typeface="Courier New" pitchFamily="34" charset="-122"/>
                <a:cs typeface="Courier New" pitchFamily="34" charset="-120"/>
              </a:rPr>
              <a:t>createElement</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same object produces </a:t>
            </a:r>
            <a:pPr indent="0" marL="0">
              <a:buNone/>
            </a:pPr>
            <a:r>
              <a:rPr lang="en-US" sz="1250" dirty="0">
                <a:solidFill>
                  <a:srgbClr val="BE123C"/>
                </a:solidFill>
                <a:latin typeface="Courier New" pitchFamily="34" charset="0"/>
                <a:ea typeface="Courier New" pitchFamily="34" charset="-122"/>
                <a:cs typeface="Courier New" pitchFamily="34" charset="-120"/>
              </a:rPr>
              <a:t>Metric(label: string, value: string | number, delta?: string) — One number with a label and an optional change</a:t>
            </a:r>
            <a:pPr indent="0" marL="0">
              <a:buNone/>
            </a:pPr>
            <a:r>
              <a:rPr lang="en-US" sz="1250" dirty="0">
                <a:solidFill>
                  <a:srgbClr val="4B5563"/>
                </a:solidFill>
                <a:latin typeface="Calibri" pitchFamily="34" charset="0"/>
                <a:ea typeface="Calibri" pitchFamily="34" charset="-122"/>
                <a:cs typeface="Calibri" pitchFamily="34" charset="-120"/>
              </a:rPr>
              <a:t> in the prompt.</a:t>
            </a:r>
            <a:endParaRPr lang="en-US" sz="12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system prompt is generated, not written: eight signature lines in Zod key order</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66</a:t>
            </a:r>
            <a:endParaRPr lang="en-US" sz="1000" dirty="0"/>
          </a:p>
        </p:txBody>
      </p:sp>
      <p:sp>
        <p:nvSpPr>
          <p:cNvPr id="5" name="Shape 3"/>
          <p:cNvSpPr/>
          <p:nvPr/>
        </p:nvSpPr>
        <p:spPr>
          <a:xfrm>
            <a:off x="548640" y="1417320"/>
            <a:ext cx="7406640" cy="3665220"/>
          </a:xfrm>
          <a:prstGeom prst="roundRect">
            <a:avLst>
              <a:gd name="adj" fmla="val 2495"/>
            </a:avLst>
          </a:prstGeom>
          <a:solidFill>
            <a:srgbClr val="0F172A"/>
          </a:solidFill>
          <a:ln w="12700">
            <a:solidFill>
              <a:srgbClr val="0F172A"/>
            </a:solidFill>
            <a:prstDash val="solid"/>
          </a:ln>
        </p:spPr>
      </p:sp>
      <p:sp>
        <p:nvSpPr>
          <p:cNvPr id="6" name="Text 4"/>
          <p:cNvSpPr/>
          <p:nvPr/>
        </p:nvSpPr>
        <p:spPr>
          <a:xfrm>
            <a:off x="731520" y="1554480"/>
            <a:ext cx="7040880" cy="3390900"/>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Component Signatures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Arguments marked with ? are optional. Sub-components can be inline or referenced; prefer refere…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Stack(children: any[], direction?: "column" | "row", gap?: "s" | "m" | "l") — Lays children out…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Text(text: string, size?: "small" | "body" | "heading") — A run of text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Metric(label: string, value: string | number, delta?: string) — One number with a label and an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Table(columns: string[], rows: (string | number)[][]) — A table with column headers and rows of…</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BarChart(title: string, labels: string[], values: number[]) — A bar chart with one series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Card(title: string, children: any[]) — A bordered box with a title and children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Button(label: string, action: string, variant?: "primary" | "secondary") — A button that fires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Input(name: string, placeholder?: string, type?: "text" | "email" | "number") — A single-line t…</a:t>
            </a:r>
            <a:endParaRPr lang="en-US" sz="1050" dirty="0"/>
          </a:p>
        </p:txBody>
      </p:sp>
      <p:sp>
        <p:nvSpPr>
          <p:cNvPr id="7" name="Text 5"/>
          <p:cNvSpPr/>
          <p:nvPr/>
        </p:nvSpPr>
        <p:spPr>
          <a:xfrm>
            <a:off x="548640" y="5128260"/>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04_openui_lang/step_02_openui_react_lang/prompt.txt</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library's own streaming advice: prefer references over inline calls, so the layout paints before its contents.</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t>
            </a:r>
            <a:pPr indent="0" marL="0">
              <a:buNone/>
            </a:pPr>
            <a:r>
              <a:rPr lang="en-US" sz="1200" dirty="0">
                <a:solidFill>
                  <a:srgbClr val="BE123C"/>
                </a:solidFill>
                <a:latin typeface="Courier New" pitchFamily="34" charset="0"/>
                <a:ea typeface="Courier New" pitchFamily="34" charset="-122"/>
                <a:cs typeface="Courier New" pitchFamily="34" charset="-120"/>
              </a:rPr>
              <a:t>Metric</a:t>
            </a:r>
            <a:pPr indent="0" marL="0">
              <a:buNone/>
            </a:pPr>
            <a:r>
              <a:rPr lang="en-US" sz="1200" dirty="0">
                <a:solidFill>
                  <a:srgbClr val="1F2937"/>
                </a:solidFill>
                <a:latin typeface="Calibri" pitchFamily="34" charset="0"/>
                <a:ea typeface="Calibri" pitchFamily="34" charset="-122"/>
                <a:cs typeface="Calibri" pitchFamily="34" charset="-120"/>
              </a:rPr>
              <a:t> line from the previous slide. A </a:t>
            </a:r>
            <a:pPr indent="0" marL="0">
              <a:buNone/>
            </a:pPr>
            <a:r>
              <a:rPr lang="en-US" sz="1200" dirty="0">
                <a:solidFill>
                  <a:srgbClr val="BE123C"/>
                </a:solidFill>
                <a:latin typeface="Courier New" pitchFamily="34" charset="0"/>
                <a:ea typeface="Courier New" pitchFamily="34" charset="-122"/>
                <a:cs typeface="Courier New" pitchFamily="34" charset="-120"/>
              </a:rPr>
              <a:t>?</a:t>
            </a:r>
            <a:pPr indent="0" marL="0">
              <a:buNone/>
            </a:pPr>
            <a:r>
              <a:rPr lang="en-US" sz="1200" dirty="0">
                <a:solidFill>
                  <a:srgbClr val="1F2937"/>
                </a:solidFill>
                <a:latin typeface="Calibri" pitchFamily="34" charset="0"/>
                <a:ea typeface="Calibri" pitchFamily="34" charset="-122"/>
                <a:cs typeface="Calibri" pitchFamily="34" charset="-120"/>
              </a:rPr>
              <a:t> marks an optional argument; optional arguments can be omitted from the end.</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whole prompt is 48 lines and 3163 characters; </a:t>
            </a:r>
            <a:pPr indent="0" marL="0">
              <a:buNone/>
            </a:pPr>
            <a:r>
              <a:rPr lang="en-US" sz="1200" dirty="0">
                <a:solidFill>
                  <a:srgbClr val="BE123C"/>
                </a:solidFill>
                <a:latin typeface="Courier New" pitchFamily="34" charset="0"/>
                <a:ea typeface="Courier New" pitchFamily="34" charset="-122"/>
                <a:cs typeface="Courier New" pitchFamily="34" charset="-120"/>
              </a:rPr>
              <a:t>server.py</a:t>
            </a:r>
            <a:pPr indent="0" marL="0">
              <a:buNone/>
            </a:pPr>
            <a:r>
              <a:rPr lang="en-US" sz="1200" dirty="0">
                <a:solidFill>
                  <a:srgbClr val="1F2937"/>
                </a:solidFill>
                <a:latin typeface="Calibri" pitchFamily="34" charset="0"/>
                <a:ea typeface="Calibri" pitchFamily="34" charset="-122"/>
                <a:cs typeface="Calibri" pitchFamily="34" charset="-120"/>
              </a:rPr>
              <a:t> caches it in </a:t>
            </a:r>
            <a:pPr indent="0" marL="0">
              <a:buNone/>
            </a:pPr>
            <a:r>
              <a:rPr lang="en-US" sz="1200" dirty="0">
                <a:solidFill>
                  <a:srgbClr val="BE123C"/>
                </a:solidFill>
                <a:latin typeface="Courier New" pitchFamily="34" charset="0"/>
                <a:ea typeface="Courier New" pitchFamily="34" charset="-122"/>
                <a:cs typeface="Courier New" pitchFamily="34" charset="-120"/>
              </a:rPr>
              <a:t>prompt.txt</a:t>
            </a:r>
            <a:pPr indent="0" marL="0">
              <a:buNone/>
            </a:pPr>
            <a:r>
              <a:rPr lang="en-US" sz="1200" dirty="0">
                <a:solidFill>
                  <a:srgbClr val="1F2937"/>
                </a:solidFill>
                <a:latin typeface="Calibri" pitchFamily="34" charset="0"/>
                <a:ea typeface="Calibri" pitchFamily="34" charset="-122"/>
                <a:cs typeface="Calibri" pitchFamily="34" charset="-120"/>
              </a:rPr>
              <a:t> and sends it as the system message.</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npm run prompt</a:t>
            </a:r>
            <a:pPr indent="0" marL="0">
              <a:buNone/>
            </a:pPr>
            <a:r>
              <a:rPr lang="en-US" sz="1250" dirty="0">
                <a:solidFill>
                  <a:srgbClr val="4B5563"/>
                </a:solidFill>
                <a:latin typeface="Calibri" pitchFamily="34" charset="0"/>
                <a:ea typeface="Calibri" pitchFamily="34" charset="-122"/>
                <a:cs typeface="Calibri" pitchFamily="34" charset="-120"/>
              </a:rPr>
              <a:t> regenerates the file. Add a ninth </a:t>
            </a:r>
            <a:pPr indent="0" marL="0">
              <a:buNone/>
            </a:pPr>
            <a:r>
              <a:rPr lang="en-US" sz="1250" dirty="0">
                <a:solidFill>
                  <a:srgbClr val="BE123C"/>
                </a:solidFill>
                <a:latin typeface="Courier New" pitchFamily="34" charset="0"/>
                <a:ea typeface="Courier New" pitchFamily="34" charset="-122"/>
                <a:cs typeface="Courier New" pitchFamily="34" charset="-120"/>
              </a:rPr>
              <a:t>defineComponent()</a:t>
            </a:r>
            <a:pPr indent="0" marL="0">
              <a:buNone/>
            </a:pPr>
            <a:r>
              <a:rPr lang="en-US" sz="1250" dirty="0">
                <a:solidFill>
                  <a:srgbClr val="4B5563"/>
                </a:solidFill>
                <a:latin typeface="Calibri" pitchFamily="34" charset="0"/>
                <a:ea typeface="Calibri" pitchFamily="34" charset="-122"/>
                <a:cs typeface="Calibri" pitchFamily="34" charset="-120"/>
              </a:rPr>
              <a:t> and a ninth signature line appears, with no other file touched.</a:t>
            </a:r>
            <a:endParaRPr lang="en-US" sz="12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04.2 · QUICK DEMO</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model wrote 9 statements with 0 unresolved, and the catalog's React components drew them</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67</a:t>
            </a:r>
            <a:endParaRPr lang="en-US" sz="1000" dirty="0"/>
          </a:p>
        </p:txBody>
      </p:sp>
      <p:pic>
        <p:nvPicPr>
          <p:cNvPr id="5" name="Image 0" descr="C:\Users\evija\simple-coding-harness\genui\04_openui_lang\step_02_openui_react_lang\demo.png">    </p:cNvPr>
          <p:cNvPicPr>
            <a:picLocks noChangeAspect="1"/>
          </p:cNvPicPr>
          <p:nvPr/>
        </p:nvPicPr>
        <p:blipFill>
          <a:blip r:embed="rId1"/>
          <a:srcRect l="0" r="0" t="0" b="0"/>
          <a:stretch/>
        </p:blipFill>
        <p:spPr>
          <a:xfrm>
            <a:off x="548640" y="1737360"/>
            <a:ext cx="5486400" cy="4480560"/>
          </a:xfrm>
          <a:prstGeom prst="rect">
            <a:avLst/>
          </a:prstGeom>
        </p:spPr>
      </p:pic>
      <p:sp>
        <p:nvSpPr>
          <p:cNvPr id="6" name="Shape 3"/>
          <p:cNvSpPr/>
          <p:nvPr/>
        </p:nvSpPr>
        <p:spPr>
          <a:xfrm>
            <a:off x="548640" y="1737360"/>
            <a:ext cx="5486400" cy="4480560"/>
          </a:xfrm>
          <a:prstGeom prst="rect">
            <a:avLst/>
          </a:prstGeom>
          <a:ln w="12700">
            <a:solidFill>
              <a:srgbClr val="D7DAE5"/>
            </a:solidFill>
            <a:prstDash val="solid"/>
          </a:ln>
        </p:spPr>
      </p:sp>
      <p:sp>
        <p:nvSpPr>
          <p:cNvPr id="7" name="Shape 4"/>
          <p:cNvSpPr/>
          <p:nvPr/>
        </p:nvSpPr>
        <p:spPr>
          <a:xfrm>
            <a:off x="6400800" y="1737360"/>
            <a:ext cx="52395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37960" y="179222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48</a:t>
            </a:r>
            <a:endParaRPr lang="en-US" sz="2800" dirty="0"/>
          </a:p>
        </p:txBody>
      </p:sp>
      <p:sp>
        <p:nvSpPr>
          <p:cNvPr id="9" name="Text 6"/>
          <p:cNvSpPr/>
          <p:nvPr/>
        </p:nvSpPr>
        <p:spPr>
          <a:xfrm>
            <a:off x="6537960" y="235915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lines, 3163 characters, in the generated system prompt</a:t>
            </a:r>
            <a:endParaRPr lang="en-US" sz="1050" dirty="0"/>
          </a:p>
        </p:txBody>
      </p:sp>
      <p:sp>
        <p:nvSpPr>
          <p:cNvPr id="10" name="Shape 7"/>
          <p:cNvSpPr/>
          <p:nvPr/>
        </p:nvSpPr>
        <p:spPr>
          <a:xfrm>
            <a:off x="6400800" y="3017520"/>
            <a:ext cx="52395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37960" y="3072384"/>
            <a:ext cx="4965192"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9</a:t>
            </a:r>
            <a:endParaRPr lang="en-US" sz="2800" dirty="0"/>
          </a:p>
        </p:txBody>
      </p:sp>
      <p:sp>
        <p:nvSpPr>
          <p:cNvPr id="12" name="Text 9"/>
          <p:cNvSpPr/>
          <p:nvPr/>
        </p:nvSpPr>
        <p:spPr>
          <a:xfrm>
            <a:off x="6537960" y="363931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statements from gpt-4.1-mini for the lemonade-stand prompt, 0 unresolved</a:t>
            </a:r>
            <a:endParaRPr lang="en-US" sz="1050" dirty="0"/>
          </a:p>
        </p:txBody>
      </p:sp>
      <p:sp>
        <p:nvSpPr>
          <p:cNvPr id="13" name="Text 10"/>
          <p:cNvSpPr/>
          <p:nvPr/>
        </p:nvSpPr>
        <p:spPr>
          <a:xfrm>
            <a:off x="6400800" y="4343400"/>
            <a:ext cx="5239512" cy="1554480"/>
          </a:xfrm>
          <a:prstGeom prst="rect">
            <a:avLst/>
          </a:prstGeom>
          <a:noFill/>
          <a:ln/>
        </p:spPr>
        <p:txBody>
          <a:bodyPr wrap="square" lIns="0" tIns="0" rIns="0" bIns="0" rtlCol="0" anchor="t"/>
          <a:lstStyle/>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A heading, three metrics in a row, a seven-day bar chart, an inventory table inside a card, and an order form.</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The model wrote an inline Table(...) inside a Card and left blank lines between groups; the parser accepts both.</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parse.meta.errors carries codes such as unknown-component and missing-required; a production app would send them back as a repair turn.</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Every delta is one SSE message; the page accumulates them in one string and hands it to &lt;Renderer&gt;.</a:t>
            </a:r>
            <a:endParaRPr lang="en-US" sz="100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Recorded with gpt-4.1-mini. The whole system prompt is in prompt.txt.</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04.3 · LEVEL 13 OF 23 · MEASUREMENT</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report's token table, recomputed cell by cell: every one of the 28 numbers reproduces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68</a:t>
            </a:r>
            <a:endParaRPr lang="en-US" sz="1000" dirty="0"/>
          </a:p>
        </p:txBody>
      </p:sp>
      <p:sp>
        <p:nvSpPr>
          <p:cNvPr id="5" name="Text 3"/>
          <p:cNvSpPr/>
          <p:nvPr/>
        </p:nvSpPr>
        <p:spPr>
          <a:xfrm>
            <a:off x="548640" y="173736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Steps 04.1 and 04.2 asserted that the line-oriented syntax is cheaper than JSON. This step </a:t>
            </a:r>
            <a:pPr indent="0" marL="0">
              <a:buNone/>
            </a:pPr>
            <a:r>
              <a:rPr lang="en-US" sz="1600" b="1" dirty="0">
                <a:solidFill>
                  <a:srgbClr val="141B3D"/>
                </a:solidFill>
                <a:latin typeface="Calibri" pitchFamily="34" charset="0"/>
                <a:ea typeface="Calibri" pitchFamily="34" charset="-122"/>
                <a:cs typeface="Calibri" pitchFamily="34" charset="-120"/>
              </a:rPr>
              <a:t>measures the claim</a:t>
            </a:r>
            <a:pPr indent="0" marL="0">
              <a:buNone/>
            </a:pPr>
            <a:r>
              <a:rPr lang="en-US" sz="1600" dirty="0">
                <a:solidFill>
                  <a:srgbClr val="141B3D"/>
                </a:solidFill>
                <a:latin typeface="Calibri" pitchFamily="34" charset="0"/>
                <a:ea typeface="Calibri" pitchFamily="34" charset="-122"/>
                <a:cs typeface="Calibri" pitchFamily="34" charset="-120"/>
              </a:rPr>
              <a:t> on the report's own seven scenarios.</a:t>
            </a:r>
            <a:endParaRPr lang="en-US" sz="1600" dirty="0"/>
          </a:p>
        </p:txBody>
      </p:sp>
      <p:sp>
        <p:nvSpPr>
          <p:cNvPr id="6" name="Text 4"/>
          <p:cNvSpPr/>
          <p:nvPr/>
        </p:nvSpPr>
        <p:spPr>
          <a:xfrm>
            <a:off x="548640" y="2606040"/>
            <a:ext cx="5120640" cy="315468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samples/ holds the seven .oui programs the report's benchmark recorded and the 53-component schema.json.</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convert.py projects each parsed tree into Thesys C1 JSON, json-render's element map and patch stream, and YAML.</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All four texts are projections of one parsed tree, so syntax is the only variable.</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Every text is counted with tiktoken's o200k_base; seconds are the token count at 60 tokens per second.</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projections are byte-identical to the OpenUI repository's committed artifacts; test_step.py checks that.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Not reproduced: the model run. The .oui samples are the ones the report generated; this step does not regenerate them.</a:t>
            </a:r>
            <a:endParaRPr lang="en-US" sz="1150" dirty="0"/>
          </a:p>
        </p:txBody>
      </p:sp>
      <p:sp>
        <p:nvSpPr>
          <p:cNvPr id="7" name="Shape 5"/>
          <p:cNvSpPr/>
          <p:nvPr/>
        </p:nvSpPr>
        <p:spPr>
          <a:xfrm>
            <a:off x="6035040" y="1920240"/>
            <a:ext cx="1706880" cy="1188720"/>
          </a:xfrm>
          <a:prstGeom prst="roundRect">
            <a:avLst>
              <a:gd name="adj" fmla="val 7692"/>
            </a:avLst>
          </a:prstGeom>
          <a:solidFill>
            <a:srgbClr val="F6F7FB"/>
          </a:solidFill>
          <a:ln w="12700">
            <a:solidFill>
              <a:srgbClr val="F6F7FB"/>
            </a:solidFill>
            <a:prstDash val="solid"/>
          </a:ln>
        </p:spPr>
      </p:sp>
      <p:sp>
        <p:nvSpPr>
          <p:cNvPr id="8" name="Text 6"/>
          <p:cNvSpPr/>
          <p:nvPr/>
        </p:nvSpPr>
        <p:spPr>
          <a:xfrm>
            <a:off x="6172200" y="1975104"/>
            <a:ext cx="143256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4800</a:t>
            </a:r>
            <a:endParaRPr lang="en-US" sz="2800" dirty="0"/>
          </a:p>
        </p:txBody>
      </p:sp>
      <p:sp>
        <p:nvSpPr>
          <p:cNvPr id="9" name="Text 7"/>
          <p:cNvSpPr/>
          <p:nvPr/>
        </p:nvSpPr>
        <p:spPr>
          <a:xfrm>
            <a:off x="6172200" y="254203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tokens, OpenUI Lang, seven scenarios</a:t>
            </a:r>
            <a:endParaRPr lang="en-US" sz="1050" dirty="0"/>
          </a:p>
        </p:txBody>
      </p:sp>
      <p:sp>
        <p:nvSpPr>
          <p:cNvPr id="10" name="Shape 8"/>
          <p:cNvSpPr/>
          <p:nvPr/>
        </p:nvSpPr>
        <p:spPr>
          <a:xfrm>
            <a:off x="7970520" y="1920240"/>
            <a:ext cx="1706880" cy="1188720"/>
          </a:xfrm>
          <a:prstGeom prst="roundRect">
            <a:avLst>
              <a:gd name="adj" fmla="val 7692"/>
            </a:avLst>
          </a:prstGeom>
          <a:solidFill>
            <a:srgbClr val="F6F7FB"/>
          </a:solidFill>
          <a:ln w="12700">
            <a:solidFill>
              <a:srgbClr val="F6F7FB"/>
            </a:solidFill>
            <a:prstDash val="solid"/>
          </a:ln>
        </p:spPr>
      </p:sp>
      <p:sp>
        <p:nvSpPr>
          <p:cNvPr id="11" name="Text 9"/>
          <p:cNvSpPr/>
          <p:nvPr/>
        </p:nvSpPr>
        <p:spPr>
          <a:xfrm>
            <a:off x="8107680" y="1975104"/>
            <a:ext cx="1432560"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9122</a:t>
            </a:r>
            <a:endParaRPr lang="en-US" sz="2800" dirty="0"/>
          </a:p>
        </p:txBody>
      </p:sp>
      <p:sp>
        <p:nvSpPr>
          <p:cNvPr id="12" name="Text 10"/>
          <p:cNvSpPr/>
          <p:nvPr/>
        </p:nvSpPr>
        <p:spPr>
          <a:xfrm>
            <a:off x="8107680" y="254203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tokens, YAML, the cheapest JSON-shaped format</a:t>
            </a:r>
            <a:endParaRPr lang="en-US" sz="1050" dirty="0"/>
          </a:p>
        </p:txBody>
      </p:sp>
      <p:sp>
        <p:nvSpPr>
          <p:cNvPr id="13" name="Shape 11"/>
          <p:cNvSpPr/>
          <p:nvPr/>
        </p:nvSpPr>
        <p:spPr>
          <a:xfrm>
            <a:off x="9906000" y="1920240"/>
            <a:ext cx="1706880" cy="1188720"/>
          </a:xfrm>
          <a:prstGeom prst="roundRect">
            <a:avLst>
              <a:gd name="adj" fmla="val 7692"/>
            </a:avLst>
          </a:prstGeom>
          <a:solidFill>
            <a:srgbClr val="F6F7FB"/>
          </a:solidFill>
          <a:ln w="12700">
            <a:solidFill>
              <a:srgbClr val="F6F7FB"/>
            </a:solidFill>
            <a:prstDash val="solid"/>
          </a:ln>
        </p:spPr>
      </p:sp>
      <p:sp>
        <p:nvSpPr>
          <p:cNvPr id="14" name="Text 12"/>
          <p:cNvSpPr/>
          <p:nvPr/>
        </p:nvSpPr>
        <p:spPr>
          <a:xfrm>
            <a:off x="10043160" y="1975104"/>
            <a:ext cx="1432560"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10180</a:t>
            </a:r>
            <a:endParaRPr lang="en-US" sz="2800" dirty="0"/>
          </a:p>
        </p:txBody>
      </p:sp>
      <p:sp>
        <p:nvSpPr>
          <p:cNvPr id="15" name="Text 13"/>
          <p:cNvSpPr/>
          <p:nvPr/>
        </p:nvSpPr>
        <p:spPr>
          <a:xfrm>
            <a:off x="10043160" y="254203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tokens, json-render patches, the most expensive</a:t>
            </a:r>
            <a:endParaRPr lang="en-US" sz="1050" dirty="0"/>
          </a:p>
        </p:txBody>
      </p:sp>
      <p:sp>
        <p:nvSpPr>
          <p:cNvPr id="16" name="Shape 14"/>
          <p:cNvSpPr/>
          <p:nvPr/>
        </p:nvSpPr>
        <p:spPr>
          <a:xfrm>
            <a:off x="6035040" y="3246120"/>
            <a:ext cx="1706880" cy="1188720"/>
          </a:xfrm>
          <a:prstGeom prst="roundRect">
            <a:avLst>
              <a:gd name="adj" fmla="val 7692"/>
            </a:avLst>
          </a:prstGeom>
          <a:solidFill>
            <a:srgbClr val="F6F7FB"/>
          </a:solidFill>
          <a:ln w="12700">
            <a:solidFill>
              <a:srgbClr val="F6F7FB"/>
            </a:solidFill>
            <a:prstDash val="solid"/>
          </a:ln>
        </p:spPr>
      </p:sp>
      <p:sp>
        <p:nvSpPr>
          <p:cNvPr id="17" name="Text 15"/>
          <p:cNvSpPr/>
          <p:nvPr/>
        </p:nvSpPr>
        <p:spPr>
          <a:xfrm>
            <a:off x="6172200" y="3300984"/>
            <a:ext cx="1432560"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28 of 28</a:t>
            </a:r>
            <a:endParaRPr lang="en-US" sz="2800" dirty="0"/>
          </a:p>
        </p:txBody>
      </p:sp>
      <p:sp>
        <p:nvSpPr>
          <p:cNvPr id="18" name="Text 16"/>
          <p:cNvSpPr/>
          <p:nvPr/>
        </p:nvSpPr>
        <p:spPr>
          <a:xfrm>
            <a:off x="6172200" y="386791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per-scenario cells that match the report's table</a:t>
            </a:r>
            <a:endParaRPr lang="en-US" sz="1050" dirty="0"/>
          </a:p>
        </p:txBody>
      </p:sp>
      <p:sp>
        <p:nvSpPr>
          <p:cNvPr id="19" name="Shape 17"/>
          <p:cNvSpPr/>
          <p:nvPr/>
        </p:nvSpPr>
        <p:spPr>
          <a:xfrm>
            <a:off x="7970520" y="3246120"/>
            <a:ext cx="1706880" cy="1188720"/>
          </a:xfrm>
          <a:prstGeom prst="roundRect">
            <a:avLst>
              <a:gd name="adj" fmla="val 7692"/>
            </a:avLst>
          </a:prstGeom>
          <a:solidFill>
            <a:srgbClr val="F6F7FB"/>
          </a:solidFill>
          <a:ln w="12700">
            <a:solidFill>
              <a:srgbClr val="F6F7FB"/>
            </a:solidFill>
            <a:prstDash val="solid"/>
          </a:ln>
        </p:spPr>
      </p:sp>
      <p:sp>
        <p:nvSpPr>
          <p:cNvPr id="20" name="Text 18"/>
          <p:cNvSpPr/>
          <p:nvPr/>
        </p:nvSpPr>
        <p:spPr>
          <a:xfrm>
            <a:off x="8107680" y="3300984"/>
            <a:ext cx="143256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3.04x</a:t>
            </a:r>
            <a:endParaRPr lang="en-US" sz="2800" dirty="0"/>
          </a:p>
        </p:txBody>
      </p:sp>
      <p:sp>
        <p:nvSpPr>
          <p:cNvPr id="21" name="Text 19"/>
          <p:cNvSpPr/>
          <p:nvPr/>
        </p:nvSpPr>
        <p:spPr>
          <a:xfrm>
            <a:off x="8107680" y="386791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contact form, complete render, patches over OpenUI Lang</a:t>
            </a:r>
            <a:endParaRPr lang="en-US" sz="1050" dirty="0"/>
          </a:p>
        </p:txBody>
      </p:sp>
      <p:sp>
        <p:nvSpPr>
          <p:cNvPr id="22" name="Shape 20"/>
          <p:cNvSpPr/>
          <p:nvPr/>
        </p:nvSpPr>
        <p:spPr>
          <a:xfrm>
            <a:off x="9906000" y="3246120"/>
            <a:ext cx="1706880" cy="1188720"/>
          </a:xfrm>
          <a:prstGeom prst="roundRect">
            <a:avLst>
              <a:gd name="adj" fmla="val 7692"/>
            </a:avLst>
          </a:prstGeom>
          <a:solidFill>
            <a:srgbClr val="F6F7FB"/>
          </a:solidFill>
          <a:ln w="12700">
            <a:solidFill>
              <a:srgbClr val="F6F7FB"/>
            </a:solidFill>
            <a:prstDash val="solid"/>
          </a:ln>
        </p:spPr>
      </p:sp>
      <p:sp>
        <p:nvSpPr>
          <p:cNvPr id="23" name="Text 21"/>
          <p:cNvSpPr/>
          <p:nvPr/>
        </p:nvSpPr>
        <p:spPr>
          <a:xfrm>
            <a:off x="10043160" y="3300984"/>
            <a:ext cx="143256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23%</a:t>
            </a:r>
            <a:endParaRPr lang="en-US" sz="2800" dirty="0"/>
          </a:p>
        </p:txBody>
      </p:sp>
      <p:sp>
        <p:nvSpPr>
          <p:cNvPr id="24" name="Text 22"/>
          <p:cNvSpPr/>
          <p:nvPr/>
        </p:nvSpPr>
        <p:spPr>
          <a:xfrm>
            <a:off x="10043160" y="3867912"/>
            <a:ext cx="143256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cheaper: the element map without its patch envelope</a:t>
            </a:r>
            <a:endParaRPr lang="en-US" sz="1050" dirty="0"/>
          </a:p>
        </p:txBody>
      </p:sp>
      <p:sp>
        <p:nvSpPr>
          <p:cNvPr id="25" name="Shape 23"/>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6" name="Text 24"/>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The ratio is stable near 2x because JSON pays per field; first paint is a different quantity and favours OpenUI Lang only when the program is written root-first.</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04.3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One parsed tree, four texts: the projection is the whole experimental design</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69</a:t>
            </a:r>
            <a:endParaRPr lang="en-US" sz="1000" dirty="0"/>
          </a:p>
        </p:txBody>
      </p:sp>
      <p:sp>
        <p:nvSpPr>
          <p:cNvPr id="5" name="Shape 3"/>
          <p:cNvSpPr/>
          <p:nvPr/>
        </p:nvSpPr>
        <p:spPr>
          <a:xfrm>
            <a:off x="548640" y="1737360"/>
            <a:ext cx="7406640" cy="2851785"/>
          </a:xfrm>
          <a:prstGeom prst="roundRect">
            <a:avLst>
              <a:gd name="adj" fmla="val 3206"/>
            </a:avLst>
          </a:prstGeom>
          <a:solidFill>
            <a:srgbClr val="0F172A"/>
          </a:solidFill>
          <a:ln w="12700">
            <a:solidFill>
              <a:srgbClr val="0F172A"/>
            </a:solidFill>
            <a:prstDash val="solid"/>
          </a:ln>
        </p:spPr>
      </p:sp>
      <p:sp>
        <p:nvSpPr>
          <p:cNvPr id="6" name="Text 4"/>
          <p:cNvSpPr/>
          <p:nvPr/>
        </p:nvSpPr>
        <p:spPr>
          <a:xfrm>
            <a:off x="731520" y="1874520"/>
            <a:ext cx="7040880" cy="2577465"/>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projections(oui: str) -&gt; dict[str, str]: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"""The same UI in every format. The .oui text is the model's own output."""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result = parse(oui if oui.endswith("\n") else oui + "\n", CATALOG)</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result.root is None or result.unresolved or result.errors: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raise ValueError(f"sample did not parse cleanly: {result.unresolved} {result.errors}")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spec = to_spec(result.root)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"oui": oui,</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"yaml": to_yaml(spec),</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"c1": c1_text(result.root),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"jsonl": to_jsonl(spec),</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"map": compact(spec),</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p:txBody>
      </p:sp>
      <p:sp>
        <p:nvSpPr>
          <p:cNvPr id="7" name="Text 5"/>
          <p:cNvSpPr/>
          <p:nvPr/>
        </p:nvSpPr>
        <p:spPr>
          <a:xfrm>
            <a:off x="548640" y="4634865"/>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04_openui_lang/step_03_format_benchmark/benchmark.py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step 04.1 parser, copied unchanged, with the benchmark's 53-component schema as the catalog.</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sample that does not parse cleanly stops the run. Every scenario must be one complete tree before it is projected.</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.oui text is the model's own output; the other four are projections of its tree, which is also how the report produced them.</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map</a:t>
            </a:r>
            <a:pPr indent="0" marL="0">
              <a:buNone/>
            </a:pPr>
            <a:r>
              <a:rPr lang="en-US" sz="1250" dirty="0">
                <a:solidFill>
                  <a:srgbClr val="4B5563"/>
                </a:solidFill>
                <a:latin typeface="Calibri" pitchFamily="34" charset="0"/>
                <a:ea typeface="Calibri" pitchFamily="34" charset="-122"/>
                <a:cs typeface="Calibri" pitchFamily="34" charset="-120"/>
              </a:rPr>
              <a:t> is the element map as one compact document, a column the report does not have; it sits between OpenUI Lang and YAML.</a:t>
            </a:r>
            <a:endParaRPr lang="en-US" sz="12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First paint is a different quantity: only OpenUI Lang has a renderable prefix</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70</a:t>
            </a:r>
            <a:endParaRPr lang="en-US" sz="1000" dirty="0"/>
          </a:p>
        </p:txBody>
      </p:sp>
      <p:sp>
        <p:nvSpPr>
          <p:cNvPr id="5" name="Shape 3"/>
          <p:cNvSpPr/>
          <p:nvPr/>
        </p:nvSpPr>
        <p:spPr>
          <a:xfrm>
            <a:off x="548640" y="1417320"/>
            <a:ext cx="7406640" cy="2363724"/>
          </a:xfrm>
          <a:prstGeom prst="roundRect">
            <a:avLst>
              <a:gd name="adj" fmla="val 3868"/>
            </a:avLst>
          </a:prstGeom>
          <a:solidFill>
            <a:srgbClr val="0F172A"/>
          </a:solidFill>
          <a:ln w="12700">
            <a:solidFill>
              <a:srgbClr val="0F172A"/>
            </a:solidFill>
            <a:prstDash val="solid"/>
          </a:ln>
        </p:spPr>
      </p:sp>
      <p:sp>
        <p:nvSpPr>
          <p:cNvPr id="6" name="Text 4"/>
          <p:cNvSpPr/>
          <p:nvPr/>
        </p:nvSpPr>
        <p:spPr>
          <a:xfrm>
            <a:off x="731520" y="1554480"/>
            <a:ext cx="7040880" cy="2089404"/>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first_paint_tokens(texts: dict[str, str]) -&gt; dict[str, int]: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"""Tokens that must arrive before a renderer can draw anything.</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OpenUI Lang: the first line (`root = ...`) is a complete statement.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json-render patches: the `/root` patch names an element that arrives in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the last line (children are added before parents), so the whole stream.</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C1 and YAML are one nested document: the whole text.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first_line = texts["oui"].split("\n", 1)[0] + "\n"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{"oui": count(first_line), "yaml": count(texts["yaml"]), "c1": count(texts["c1"]),</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"jsonl": count(texts["jsonl"]), "map": count(texts["map"])}</a:t>
            </a:r>
            <a:endParaRPr lang="en-US" sz="1050" dirty="0"/>
          </a:p>
        </p:txBody>
      </p:sp>
      <p:sp>
        <p:nvSpPr>
          <p:cNvPr id="7" name="Text 5"/>
          <p:cNvSpPr/>
          <p:nvPr/>
        </p:nvSpPr>
        <p:spPr>
          <a:xfrm>
            <a:off x="548640" y="3826764"/>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04_openui_lang/step_03_format_benchmark/benchmark.py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root = Stack(...)</a:t>
            </a:r>
            <a:pPr indent="0" marL="0">
              <a:buNone/>
            </a:pPr>
            <a:r>
              <a:rPr lang="en-US" sz="1200" dirty="0">
                <a:solidFill>
                  <a:srgbClr val="1F2937"/>
                </a:solidFill>
                <a:latin typeface="Calibri" pitchFamily="34" charset="0"/>
                <a:ea typeface="Calibri" pitchFamily="34" charset="-122"/>
                <a:cs typeface="Calibri" pitchFamily="34" charset="-120"/>
              </a:rPr>
              <a:t> is a complete statement on line 1. A renderer can draw the shell after those tokens.</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report's patch projection inserts children before parents, so the </a:t>
            </a:r>
            <a:pPr indent="0" marL="0">
              <a:buNone/>
            </a:pPr>
            <a:r>
              <a:rPr lang="en-US" sz="1200" dirty="0">
                <a:solidFill>
                  <a:srgbClr val="BE123C"/>
                </a:solidFill>
                <a:latin typeface="Courier New" pitchFamily="34" charset="0"/>
                <a:ea typeface="Courier New" pitchFamily="34" charset="-122"/>
                <a:cs typeface="Courier New" pitchFamily="34" charset="-120"/>
              </a:rPr>
              <a:t>/root</a:t>
            </a:r>
            <a:pPr indent="0" marL="0">
              <a:buNone/>
            </a:pPr>
            <a:r>
              <a:rPr lang="en-US" sz="1200" dirty="0">
                <a:solidFill>
                  <a:srgbClr val="1F2937"/>
                </a:solidFill>
                <a:latin typeface="Calibri" pitchFamily="34" charset="0"/>
                <a:ea typeface="Calibri" pitchFamily="34" charset="-122"/>
                <a:cs typeface="Calibri" pitchFamily="34" charset="-120"/>
              </a:rPr>
              <a:t> patch arrives last and first paint is the whole stream.</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For C1 and YAML the count is the whole text: a nested document renders nothing before its last bracket.</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report's 3.04x is a ratio of complete-render times at a constant token rate. First paint favours OpenUI Lang far more, but only root-first.</a:t>
            </a:r>
            <a:endParaRPr lang="en-US" sz="12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04.3 · THE REPORT'S TABLE</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OpenUI Lang totals 4800 tokens across seven scenarios; every JSON-shaped format is near 2x</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71</a:t>
            </a:r>
            <a:endParaRPr lang="en-US" sz="1000" dirty="0"/>
          </a:p>
        </p:txBody>
      </p:sp>
      <p:graphicFrame>
        <p:nvGraphicFramePr>
          <p:cNvPr id="5" name="Chart 0" descr=""/>
          <p:cNvGraphicFramePr/>
          <p:nvPr/>
        </p:nvGraphicFramePr>
        <p:xfrm>
          <a:off x="54864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72400" y="1828800"/>
            <a:ext cx="3840480" cy="3931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Every cell of the report's table reproduces: the four totals and all 28 per-scenario numbers.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savings column is nearly flat, 42.4% to 61.4% against YAML, because JSON pays per field, not per string.</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YAML is the cheapest JSON-shaped format: it drops quotes and most brackets but still pays for every key name.</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patch stream is the most expensive: about 11 tokens of envelope per element, over 212 elements.</a:t>
            </a:r>
            <a:endParaRPr lang="en-US" sz="1250" dirty="0"/>
          </a:p>
        </p:txBody>
      </p:sp>
      <p:sp>
        <p:nvSpPr>
          <p:cNvPr id="7" name="Text 4"/>
          <p:cNvSpPr/>
          <p:nvPr/>
        </p:nvSpPr>
        <p:spPr>
          <a:xfrm>
            <a:off x="548640" y="594360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committed .c1.json files were reformatted by prettier after the count and come out 10 to 94 tokens lighter than the table; the .oui and patch files count exactly as tabled.</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04.3 · FIRST PAINT</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At 60 tokens per second the contact form paints at 0.2 s in OpenUI Lang and after the whole document elsewhere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72</a:t>
            </a:r>
            <a:endParaRPr lang="en-US" sz="1000" dirty="0"/>
          </a:p>
        </p:txBody>
      </p:sp>
      <p:graphicFrame>
        <p:nvGraphicFramePr>
          <p:cNvPr id="5" name="Chart 0" descr=""/>
          <p:cNvGraphicFramePr/>
          <p:nvPr/>
        </p:nvGraphicFramePr>
        <p:xfrm>
          <a:off x="54864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72400" y="1828800"/>
            <a:ext cx="3840480" cy="3931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Only OpenUI Lang has a renderable prefix: root = Stack(...) is a complete statement on line 1.</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C1 JSON and YAML are one nested document; nothing renders before the last bracket.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report's patch projection inserts children before parents, so its /root patch is the last line.</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Complete render: 4.9 s against 14.9 s for patches, the report's 3.04x.</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First paint favours OpenUI Lang only when the program is written root-first; the generated prompt insists on it.</a:t>
            </a:r>
            <a:endParaRPr lang="en-US" sz="1250" dirty="0"/>
          </a:p>
        </p:txBody>
      </p:sp>
      <p:sp>
        <p:nvSpPr>
          <p:cNvPr id="7" name="Text 4"/>
          <p:cNvSpPr/>
          <p:nvPr/>
        </p:nvSpPr>
        <p:spPr>
          <a:xfrm>
            <a:off x="548640" y="594360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Seconds are token counts at a constant 60 tokens per second, the report's own convention; no model was timed.</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04.3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table as printed: four totals, 28 cells, and the report's own numbers underneath</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73</a:t>
            </a:r>
            <a:endParaRPr lang="en-US" sz="1000" dirty="0"/>
          </a:p>
        </p:txBody>
      </p:sp>
      <p:sp>
        <p:nvSpPr>
          <p:cNvPr id="5" name="Shape 3"/>
          <p:cNvSpPr/>
          <p:nvPr/>
        </p:nvSpPr>
        <p:spPr>
          <a:xfrm>
            <a:off x="548640" y="1417320"/>
            <a:ext cx="6583680" cy="4480560"/>
          </a:xfrm>
          <a:prstGeom prst="roundRect">
            <a:avLst>
              <a:gd name="adj" fmla="val 2041"/>
            </a:avLst>
          </a:prstGeom>
          <a:solidFill>
            <a:srgbClr val="0F172A"/>
          </a:solidFill>
          <a:ln w="12700">
            <a:solidFill>
              <a:srgbClr val="0F172A"/>
            </a:solidFill>
            <a:prstDash val="solid"/>
          </a:ln>
        </p:spPr>
      </p:sp>
      <p:sp>
        <p:nvSpPr>
          <p:cNvPr id="6" name="Text 4"/>
          <p:cNvSpPr/>
          <p:nvPr/>
        </p:nvSpPr>
        <p:spPr>
          <a:xfrm>
            <a:off x="731520" y="1554480"/>
            <a:ext cx="6217920" cy="4206240"/>
          </a:xfrm>
          <a:prstGeom prst="rect">
            <a:avLst/>
          </a:prstGeom>
          <a:noFill/>
          <a:ln/>
        </p:spPr>
        <p:txBody>
          <a:bodyPr wrap="square" lIns="0" tIns="0" rIns="0" bIns="0" rtlCol="0" anchor="t"/>
          <a:lstStyle/>
          <a:p>
            <a:pPr indent="0" marL="0">
              <a:buNone/>
            </a:pPr>
            <a:r>
              <a:rPr lang="en-US" sz="1000" dirty="0">
                <a:solidFill>
                  <a:srgbClr val="E2E8F0"/>
                </a:solidFill>
                <a:latin typeface="Courier New" pitchFamily="34" charset="0"/>
                <a:ea typeface="Courier New" pitchFamily="34" charset="-122"/>
                <a:cs typeface="Courier New" pitchFamily="34" charset="-120"/>
              </a:rPr>
              <a:t>tokens (o200k_base)</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scenario            OpenUI   YAML  C1 JSON  patches  vs YAML</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simple-table           148    316      357      340   -53.2%</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chart-with-data        231    464      516      520   -50.2%</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contact-form           294    762      849      893   -61.4%</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dashboard             1226   2128     2261     2247   -42.4%</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pricing-page          1195   2230     2379     2487   -46.4%</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settings-panel         540   1077     1205     1244   -49.9%</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e-commerce-product    1166   2145     2381     2449   -45.6%</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TOTAL                 4800   9122     9948    10180   -47.4%</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report TOTAL          4800   9122     9948    10180</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seconds at 60 tokens/s: complete (first paint)</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contact-form        4.9 (0.2)  12.7 (12.7)  14.2 (14.2)  14.9 (14.9)</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e-commerce-product 19.4 (0.2)  35.8 (35.8)  39.7 (39.7)  40.8 (40.8)</a:t>
            </a:r>
            <a:endParaRPr lang="en-US" sz="1000" dirty="0"/>
          </a:p>
        </p:txBody>
      </p:sp>
      <p:sp>
        <p:nvSpPr>
          <p:cNvPr id="7" name="Shape 5"/>
          <p:cNvSpPr/>
          <p:nvPr/>
        </p:nvSpPr>
        <p:spPr>
          <a:xfrm>
            <a:off x="7498080" y="1417320"/>
            <a:ext cx="4114800" cy="1188720"/>
          </a:xfrm>
          <a:prstGeom prst="roundRect">
            <a:avLst>
              <a:gd name="adj" fmla="val 7692"/>
            </a:avLst>
          </a:prstGeom>
          <a:solidFill>
            <a:srgbClr val="F6F7FB"/>
          </a:solidFill>
          <a:ln w="12700">
            <a:solidFill>
              <a:srgbClr val="F6F7FB"/>
            </a:solidFill>
            <a:prstDash val="solid"/>
          </a:ln>
        </p:spPr>
      </p:sp>
      <p:sp>
        <p:nvSpPr>
          <p:cNvPr id="8" name="Text 6"/>
          <p:cNvSpPr/>
          <p:nvPr/>
        </p:nvSpPr>
        <p:spPr>
          <a:xfrm>
            <a:off x="7635240" y="1472184"/>
            <a:ext cx="3840480"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28 of 28</a:t>
            </a:r>
            <a:endParaRPr lang="en-US" sz="2800" dirty="0"/>
          </a:p>
        </p:txBody>
      </p:sp>
      <p:sp>
        <p:nvSpPr>
          <p:cNvPr id="9" name="Text 7"/>
          <p:cNvSpPr/>
          <p:nvPr/>
        </p:nvSpPr>
        <p:spPr>
          <a:xfrm>
            <a:off x="7635240" y="2039112"/>
            <a:ext cx="384048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per-scenario cells equal to the report's table</a:t>
            </a:r>
            <a:endParaRPr lang="en-US" sz="1050" dirty="0"/>
          </a:p>
        </p:txBody>
      </p:sp>
      <p:sp>
        <p:nvSpPr>
          <p:cNvPr id="10" name="Shape 8"/>
          <p:cNvSpPr/>
          <p:nvPr/>
        </p:nvSpPr>
        <p:spPr>
          <a:xfrm>
            <a:off x="7498080" y="2697480"/>
            <a:ext cx="4114800" cy="1188720"/>
          </a:xfrm>
          <a:prstGeom prst="roundRect">
            <a:avLst>
              <a:gd name="adj" fmla="val 7692"/>
            </a:avLst>
          </a:prstGeom>
          <a:solidFill>
            <a:srgbClr val="F6F7FB"/>
          </a:solidFill>
          <a:ln w="12700">
            <a:solidFill>
              <a:srgbClr val="F6F7FB"/>
            </a:solidFill>
            <a:prstDash val="solid"/>
          </a:ln>
        </p:spPr>
      </p:sp>
      <p:sp>
        <p:nvSpPr>
          <p:cNvPr id="11" name="Text 9"/>
          <p:cNvSpPr/>
          <p:nvPr/>
        </p:nvSpPr>
        <p:spPr>
          <a:xfrm>
            <a:off x="7635240" y="2752344"/>
            <a:ext cx="384048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-47.4%</a:t>
            </a:r>
            <a:endParaRPr lang="en-US" sz="2800" dirty="0"/>
          </a:p>
        </p:txBody>
      </p:sp>
      <p:sp>
        <p:nvSpPr>
          <p:cNvPr id="12" name="Text 10"/>
          <p:cNvSpPr/>
          <p:nvPr/>
        </p:nvSpPr>
        <p:spPr>
          <a:xfrm>
            <a:off x="7635240" y="3319272"/>
            <a:ext cx="384048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OpenUI Lang against YAML in total; -51.7% against C1, -52.8% against patches</a:t>
            </a:r>
            <a:endParaRPr lang="en-US" sz="1050" dirty="0"/>
          </a:p>
        </p:txBody>
      </p:sp>
      <p:sp>
        <p:nvSpPr>
          <p:cNvPr id="13" name="Shape 11"/>
          <p:cNvSpPr/>
          <p:nvPr/>
        </p:nvSpPr>
        <p:spPr>
          <a:xfrm>
            <a:off x="7498080" y="3977640"/>
            <a:ext cx="4114800" cy="1188720"/>
          </a:xfrm>
          <a:prstGeom prst="roundRect">
            <a:avLst>
              <a:gd name="adj" fmla="val 7692"/>
            </a:avLst>
          </a:prstGeom>
          <a:solidFill>
            <a:srgbClr val="F6F7FB"/>
          </a:solidFill>
          <a:ln w="12700">
            <a:solidFill>
              <a:srgbClr val="F6F7FB"/>
            </a:solidFill>
            <a:prstDash val="solid"/>
          </a:ln>
        </p:spPr>
      </p:sp>
      <p:sp>
        <p:nvSpPr>
          <p:cNvPr id="14" name="Text 12"/>
          <p:cNvSpPr/>
          <p:nvPr/>
        </p:nvSpPr>
        <p:spPr>
          <a:xfrm>
            <a:off x="7635240" y="4032504"/>
            <a:ext cx="3840480"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7873</a:t>
            </a:r>
            <a:endParaRPr lang="en-US" sz="2800" dirty="0"/>
          </a:p>
        </p:txBody>
      </p:sp>
      <p:sp>
        <p:nvSpPr>
          <p:cNvPr id="15" name="Text 13"/>
          <p:cNvSpPr/>
          <p:nvPr/>
        </p:nvSpPr>
        <p:spPr>
          <a:xfrm>
            <a:off x="7635240" y="4599432"/>
            <a:ext cx="384048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tokens for the element map alone, 23% under the patch stream</a:t>
            </a:r>
            <a:endParaRPr lang="en-US" sz="1050" dirty="0"/>
          </a:p>
        </p:txBody>
      </p:sp>
      <p:sp>
        <p:nvSpPr>
          <p:cNvPr id="16" name="Text 14"/>
          <p:cNvSpPr/>
          <p:nvPr/>
        </p:nvSpPr>
        <p:spPr>
          <a:xfrm>
            <a:off x="7498080" y="5303520"/>
            <a:ext cx="4114800" cy="594360"/>
          </a:xfrm>
          <a:prstGeom prst="rect">
            <a:avLst/>
          </a:prstGeom>
          <a:noFill/>
          <a:ln/>
        </p:spPr>
        <p:txBody>
          <a:bodyPr wrap="square" lIns="0" tIns="0" rIns="0" bIns="0" rtlCol="0" anchor="t"/>
          <a:lstStyle/>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The savings column runs from -42.4% (dashboard) to -61.4% (contact form): flat, because the overhead is per field.</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Checkpoint: the map column is not in the report. The difference to patches is the {"op":"add","path":...} envelope, about 11 tokens per element over 212 elements.</a:t>
            </a:r>
            <a:endParaRPr lang="en-US" sz="1000" dirty="0"/>
          </a:p>
        </p:txBody>
      </p:sp>
      <p:sp>
        <p:nvSpPr>
          <p:cNvPr id="17" name="Text 15"/>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python demo.py; the third table, not shown, counts the repository's committed C1 and YAML files as checked in and marks the cells that differ.</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04.4 · LEVEL 14 OF 23 · HYBRID GENERATION · YOUR OWN PRODUCT</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hybrid is one prompt rule and one component: catalog by default, an HtmlArtifact where the catalog does not reach</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74</a:t>
            </a:r>
            <a:endParaRPr lang="en-US" sz="1000" dirty="0"/>
          </a:p>
        </p:txBody>
      </p:sp>
      <p:sp>
        <p:nvSpPr>
          <p:cNvPr id="5" name="Text 3"/>
          <p:cNvSpPr/>
          <p:nvPr/>
        </p:nvSpPr>
        <p:spPr>
          <a:xfrm>
            <a:off x="548640" y="173736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Step 04.2 gave the model a catalog and nothing else, so an interactive request had nowhere to go. This step builds the escape hatch on </a:t>
            </a:r>
            <a:pPr indent="0" marL="0">
              <a:buNone/>
            </a:pPr>
            <a:r>
              <a:rPr lang="en-US" sz="1600" b="1" dirty="0">
                <a:solidFill>
                  <a:srgbClr val="141B3D"/>
                </a:solidFill>
                <a:latin typeface="Calibri" pitchFamily="34" charset="0"/>
                <a:ea typeface="Calibri" pitchFamily="34" charset="-122"/>
                <a:cs typeface="Calibri" pitchFamily="34" charset="-120"/>
              </a:rPr>
              <a:t>OpenUI's examples/miscellaneous/html-artifact</a:t>
            </a:r>
            <a:pPr indent="0" marL="0">
              <a:buNone/>
            </a:pPr>
            <a:r>
              <a:rPr lang="en-US" sz="1600" dirty="0">
                <a:solidFill>
                  <a:srgbClr val="141B3D"/>
                </a:solidFill>
                <a:latin typeface="Calibri" pitchFamily="34" charset="0"/>
                <a:ea typeface="Calibri" pitchFamily="34" charset="-122"/>
                <a:cs typeface="Calibri" pitchFamily="34" charset="-120"/>
              </a:rPr>
              <a:t> reference implementation.</a:t>
            </a:r>
            <a:endParaRPr lang="en-US" sz="1600" dirty="0"/>
          </a:p>
        </p:txBody>
      </p:sp>
      <p:sp>
        <p:nvSpPr>
          <p:cNvPr id="6" name="Text 4"/>
          <p:cNvSpPr/>
          <p:nvPr/>
        </p:nvSpPr>
        <p:spPr>
          <a:xfrm>
            <a:off x="548640" y="2606040"/>
            <a:ext cx="5120640" cy="31546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The catalog keeps the eight step 04.2 components and adds Markdown and HtmlArtifact(title, document).</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Two prompt rules from the example: never put a dashboard into an HtmlArtifact; only use one when the user asks for something interactive.</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The document is the second string argument of one statement; it streams like any other string, with no second endpoint and no tool call.</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useIsStreaming() shows the raw source while the document grows, then Raw and Rendered tabs.</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sandbox.mjs injects a Content Security Policy first in &lt;head&gt;, lists external resources, and accepts one message shape from the iframe.</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The example defers the CSP, the document check and the message check to "before production"; this step does them.</a:t>
            </a:r>
            <a:endParaRPr lang="en-US" sz="1100" dirty="0"/>
          </a:p>
        </p:txBody>
      </p:sp>
      <p:sp>
        <p:nvSpPr>
          <p:cNvPr id="7" name="Shape 5"/>
          <p:cNvSpPr/>
          <p:nvPr/>
        </p:nvSpPr>
        <p:spPr>
          <a:xfrm>
            <a:off x="6035040" y="1920240"/>
            <a:ext cx="5577840" cy="3383280"/>
          </a:xfrm>
          <a:prstGeom prst="roundRect">
            <a:avLst>
              <a:gd name="adj" fmla="val 3243"/>
            </a:avLst>
          </a:prstGeom>
          <a:solidFill>
            <a:srgbClr val="FFFFFF"/>
          </a:solidFill>
          <a:ln w="15875">
            <a:solidFill>
              <a:srgbClr val="D7DAE5"/>
            </a:solidFill>
            <a:prstDash val="solid"/>
          </a:ln>
        </p:spPr>
      </p:sp>
      <p:sp>
        <p:nvSpPr>
          <p:cNvPr id="8" name="Shape 6"/>
          <p:cNvSpPr/>
          <p:nvPr/>
        </p:nvSpPr>
        <p:spPr>
          <a:xfrm>
            <a:off x="6217920" y="2057400"/>
            <a:ext cx="109728" cy="109728"/>
          </a:xfrm>
          <a:prstGeom prst="ellipse">
            <a:avLst/>
          </a:prstGeom>
          <a:solidFill>
            <a:srgbClr val="2F3CFF"/>
          </a:solidFill>
          <a:ln w="12700">
            <a:solidFill>
              <a:srgbClr val="2F3CFF"/>
            </a:solidFill>
            <a:prstDash val="solid"/>
          </a:ln>
        </p:spPr>
      </p:sp>
      <p:sp>
        <p:nvSpPr>
          <p:cNvPr id="9" name="Shape 7"/>
          <p:cNvSpPr/>
          <p:nvPr/>
        </p:nvSpPr>
        <p:spPr>
          <a:xfrm>
            <a:off x="6419088" y="2057400"/>
            <a:ext cx="109728" cy="109728"/>
          </a:xfrm>
          <a:prstGeom prst="ellipse">
            <a:avLst/>
          </a:prstGeom>
          <a:solidFill>
            <a:srgbClr val="2F3CFF"/>
          </a:solidFill>
          <a:ln w="12700">
            <a:solidFill>
              <a:srgbClr val="2F3CFF"/>
            </a:solidFill>
            <a:prstDash val="solid"/>
          </a:ln>
        </p:spPr>
      </p:sp>
      <p:sp>
        <p:nvSpPr>
          <p:cNvPr id="10" name="Shape 8"/>
          <p:cNvSpPr/>
          <p:nvPr/>
        </p:nvSpPr>
        <p:spPr>
          <a:xfrm>
            <a:off x="6620256" y="2057400"/>
            <a:ext cx="109728" cy="109728"/>
          </a:xfrm>
          <a:prstGeom prst="ellipse">
            <a:avLst/>
          </a:prstGeom>
          <a:solidFill>
            <a:srgbClr val="2F3CFF"/>
          </a:solidFill>
          <a:ln w="12700">
            <a:solidFill>
              <a:srgbClr val="2F3CFF"/>
            </a:solidFill>
            <a:prstDash val="solid"/>
          </a:ln>
        </p:spPr>
      </p:sp>
      <p:sp>
        <p:nvSpPr>
          <p:cNvPr id="11" name="Shape 9"/>
          <p:cNvSpPr/>
          <p:nvPr/>
        </p:nvSpPr>
        <p:spPr>
          <a:xfrm>
            <a:off x="6217920" y="2331720"/>
            <a:ext cx="2414016" cy="438912"/>
          </a:xfrm>
          <a:prstGeom prst="roundRect">
            <a:avLst>
              <a:gd name="adj" fmla="val 20833"/>
            </a:avLst>
          </a:prstGeom>
          <a:solidFill>
            <a:srgbClr val="EEF0FF"/>
          </a:solidFill>
          <a:ln w="15875">
            <a:solidFill>
              <a:srgbClr val="2F3CFF"/>
            </a:solidFill>
            <a:prstDash val="solid"/>
          </a:ln>
        </p:spPr>
      </p:sp>
      <p:sp>
        <p:nvSpPr>
          <p:cNvPr id="12" name="Text 10"/>
          <p:cNvSpPr/>
          <p:nvPr/>
        </p:nvSpPr>
        <p:spPr>
          <a:xfrm>
            <a:off x="6291072" y="2368296"/>
            <a:ext cx="2267712" cy="22311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Text</a:t>
            </a:r>
            <a:endParaRPr lang="en-US" sz="1200" dirty="0"/>
          </a:p>
        </p:txBody>
      </p:sp>
      <p:sp>
        <p:nvSpPr>
          <p:cNvPr id="13" name="Text 11"/>
          <p:cNvSpPr/>
          <p:nvPr/>
        </p:nvSpPr>
        <p:spPr>
          <a:xfrm>
            <a:off x="6291072" y="2591410"/>
            <a:ext cx="2267712" cy="1426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4" name="Shape 12"/>
          <p:cNvSpPr/>
          <p:nvPr/>
        </p:nvSpPr>
        <p:spPr>
          <a:xfrm>
            <a:off x="6217920" y="2880360"/>
            <a:ext cx="2414016" cy="438912"/>
          </a:xfrm>
          <a:prstGeom prst="roundRect">
            <a:avLst>
              <a:gd name="adj" fmla="val 20833"/>
            </a:avLst>
          </a:prstGeom>
          <a:solidFill>
            <a:srgbClr val="EEF0FF"/>
          </a:solidFill>
          <a:ln w="15875">
            <a:solidFill>
              <a:srgbClr val="2F3CFF"/>
            </a:solidFill>
            <a:prstDash val="solid"/>
          </a:ln>
        </p:spPr>
      </p:sp>
      <p:sp>
        <p:nvSpPr>
          <p:cNvPr id="15" name="Text 13"/>
          <p:cNvSpPr/>
          <p:nvPr/>
        </p:nvSpPr>
        <p:spPr>
          <a:xfrm>
            <a:off x="6291072" y="2916936"/>
            <a:ext cx="2267712" cy="22311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Metric</a:t>
            </a:r>
            <a:endParaRPr lang="en-US" sz="1200" dirty="0"/>
          </a:p>
        </p:txBody>
      </p:sp>
      <p:sp>
        <p:nvSpPr>
          <p:cNvPr id="16" name="Text 14"/>
          <p:cNvSpPr/>
          <p:nvPr/>
        </p:nvSpPr>
        <p:spPr>
          <a:xfrm>
            <a:off x="6291072" y="3140050"/>
            <a:ext cx="2267712" cy="1426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7" name="Shape 15"/>
          <p:cNvSpPr/>
          <p:nvPr/>
        </p:nvSpPr>
        <p:spPr>
          <a:xfrm>
            <a:off x="6217920" y="3429000"/>
            <a:ext cx="2414016" cy="438912"/>
          </a:xfrm>
          <a:prstGeom prst="roundRect">
            <a:avLst>
              <a:gd name="adj" fmla="val 20833"/>
            </a:avLst>
          </a:prstGeom>
          <a:solidFill>
            <a:srgbClr val="EEF0FF"/>
          </a:solidFill>
          <a:ln w="15875">
            <a:solidFill>
              <a:srgbClr val="2F3CFF"/>
            </a:solidFill>
            <a:prstDash val="solid"/>
          </a:ln>
        </p:spPr>
      </p:sp>
      <p:sp>
        <p:nvSpPr>
          <p:cNvPr id="18" name="Text 16"/>
          <p:cNvSpPr/>
          <p:nvPr/>
        </p:nvSpPr>
        <p:spPr>
          <a:xfrm>
            <a:off x="6291072" y="3465576"/>
            <a:ext cx="2267712" cy="22311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BarChart</a:t>
            </a:r>
            <a:endParaRPr lang="en-US" sz="1200" dirty="0"/>
          </a:p>
        </p:txBody>
      </p:sp>
      <p:sp>
        <p:nvSpPr>
          <p:cNvPr id="19" name="Text 17"/>
          <p:cNvSpPr/>
          <p:nvPr/>
        </p:nvSpPr>
        <p:spPr>
          <a:xfrm>
            <a:off x="6291072" y="3688690"/>
            <a:ext cx="2267712" cy="1426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0" name="Shape 18"/>
          <p:cNvSpPr/>
          <p:nvPr/>
        </p:nvSpPr>
        <p:spPr>
          <a:xfrm>
            <a:off x="6217920" y="3977640"/>
            <a:ext cx="2414016" cy="438912"/>
          </a:xfrm>
          <a:prstGeom prst="roundRect">
            <a:avLst>
              <a:gd name="adj" fmla="val 20833"/>
            </a:avLst>
          </a:prstGeom>
          <a:solidFill>
            <a:srgbClr val="EEF0FF"/>
          </a:solidFill>
          <a:ln w="15875">
            <a:solidFill>
              <a:srgbClr val="2F3CFF"/>
            </a:solidFill>
            <a:prstDash val="solid"/>
          </a:ln>
        </p:spPr>
      </p:sp>
      <p:sp>
        <p:nvSpPr>
          <p:cNvPr id="21" name="Text 19"/>
          <p:cNvSpPr/>
          <p:nvPr/>
        </p:nvSpPr>
        <p:spPr>
          <a:xfrm>
            <a:off x="6291072" y="4014216"/>
            <a:ext cx="2267712" cy="22311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Table</a:t>
            </a:r>
            <a:endParaRPr lang="en-US" sz="1200" dirty="0"/>
          </a:p>
        </p:txBody>
      </p:sp>
      <p:sp>
        <p:nvSpPr>
          <p:cNvPr id="22" name="Text 20"/>
          <p:cNvSpPr/>
          <p:nvPr/>
        </p:nvSpPr>
        <p:spPr>
          <a:xfrm>
            <a:off x="6291072" y="4237330"/>
            <a:ext cx="2267712" cy="1426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3" name="Shape 21"/>
          <p:cNvSpPr/>
          <p:nvPr/>
        </p:nvSpPr>
        <p:spPr>
          <a:xfrm>
            <a:off x="6217920" y="4526280"/>
            <a:ext cx="2414016" cy="438912"/>
          </a:xfrm>
          <a:prstGeom prst="roundRect">
            <a:avLst>
              <a:gd name="adj" fmla="val 20833"/>
            </a:avLst>
          </a:prstGeom>
          <a:solidFill>
            <a:srgbClr val="EEF0FF"/>
          </a:solidFill>
          <a:ln w="15875">
            <a:solidFill>
              <a:srgbClr val="2F3CFF"/>
            </a:solidFill>
            <a:prstDash val="solid"/>
          </a:ln>
        </p:spPr>
      </p:sp>
      <p:sp>
        <p:nvSpPr>
          <p:cNvPr id="24" name="Text 22"/>
          <p:cNvSpPr/>
          <p:nvPr/>
        </p:nvSpPr>
        <p:spPr>
          <a:xfrm>
            <a:off x="6291072" y="4562856"/>
            <a:ext cx="2267712" cy="22311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Button</a:t>
            </a:r>
            <a:endParaRPr lang="en-US" sz="1200" dirty="0"/>
          </a:p>
        </p:txBody>
      </p:sp>
      <p:sp>
        <p:nvSpPr>
          <p:cNvPr id="25" name="Text 23"/>
          <p:cNvSpPr/>
          <p:nvPr/>
        </p:nvSpPr>
        <p:spPr>
          <a:xfrm>
            <a:off x="6291072" y="4785970"/>
            <a:ext cx="2267712" cy="1426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6" name="Shape 24"/>
          <p:cNvSpPr/>
          <p:nvPr/>
        </p:nvSpPr>
        <p:spPr>
          <a:xfrm>
            <a:off x="8814816" y="2331720"/>
            <a:ext cx="2615184" cy="2788920"/>
          </a:xfrm>
          <a:prstGeom prst="roundRect">
            <a:avLst>
              <a:gd name="adj" fmla="val 3497"/>
            </a:avLst>
          </a:prstGeom>
          <a:solidFill>
            <a:srgbClr val="FFF4E5"/>
          </a:solidFill>
          <a:ln w="15875">
            <a:solidFill>
              <a:srgbClr val="D97706"/>
            </a:solidFill>
            <a:prstDash val="dash"/>
          </a:ln>
        </p:spPr>
      </p:sp>
      <p:sp>
        <p:nvSpPr>
          <p:cNvPr id="27" name="Text 25"/>
          <p:cNvSpPr/>
          <p:nvPr/>
        </p:nvSpPr>
        <p:spPr>
          <a:xfrm>
            <a:off x="8887968" y="2368296"/>
            <a:ext cx="2468880" cy="137617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HtmlArtifact</a:t>
            </a:r>
            <a:endParaRPr lang="en-US" sz="1300" dirty="0"/>
          </a:p>
        </p:txBody>
      </p:sp>
      <p:sp>
        <p:nvSpPr>
          <p:cNvPr id="28" name="Text 26"/>
          <p:cNvSpPr/>
          <p:nvPr/>
        </p:nvSpPr>
        <p:spPr>
          <a:xfrm>
            <a:off x="8887968" y="3744468"/>
            <a:ext cx="2468880" cy="133959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sandboxed iframe with an injected CSP, only when the user asks for something interactive</a:t>
            </a:r>
            <a:endParaRPr lang="en-US" sz="1050" dirty="0"/>
          </a:p>
        </p:txBody>
      </p:sp>
      <p:sp>
        <p:nvSpPr>
          <p:cNvPr id="29" name="Text 27"/>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report's diagram on OpenUI's reference implementation: catalog primitives by default</a:t>
            </a:r>
            <a:endParaRPr lang="en-US" sz="1050" dirty="0"/>
          </a:p>
        </p:txBody>
      </p:sp>
      <p:sp>
        <p:nvSpPr>
          <p:cNvPr id="30" name="Shape 28"/>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31" name="Text 29"/>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Open-ended generation took 86% of one reply, so the catalog is the default and the sandbox the exception.</a:t>
            </a:r>
            <a:endParaRPr lang="en-US" sz="12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04.4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useIsStreaming() decides between the raw source and the iframe; sandboxed() adds the CSP before srcDoc</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75</a:t>
            </a:r>
            <a:endParaRPr lang="en-US" sz="1000" dirty="0"/>
          </a:p>
        </p:txBody>
      </p:sp>
      <p:sp>
        <p:nvSpPr>
          <p:cNvPr id="5" name="Shape 3"/>
          <p:cNvSpPr/>
          <p:nvPr/>
        </p:nvSpPr>
        <p:spPr>
          <a:xfrm>
            <a:off x="548640" y="1737360"/>
            <a:ext cx="7406640" cy="2851785"/>
          </a:xfrm>
          <a:prstGeom prst="roundRect">
            <a:avLst>
              <a:gd name="adj" fmla="val 3206"/>
            </a:avLst>
          </a:prstGeom>
          <a:solidFill>
            <a:srgbClr val="0F172A"/>
          </a:solidFill>
          <a:ln w="12700">
            <a:solidFill>
              <a:srgbClr val="0F172A"/>
            </a:solidFill>
            <a:prstDash val="solid"/>
          </a:ln>
        </p:spPr>
      </p:sp>
      <p:sp>
        <p:nvSpPr>
          <p:cNvPr id="6" name="Text 4"/>
          <p:cNvSpPr/>
          <p:nvPr/>
        </p:nvSpPr>
        <p:spPr>
          <a:xfrm>
            <a:off x="731520" y="1874520"/>
            <a:ext cx="7040880" cy="2577465"/>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function HtmlArtifactRenderer({ props })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isStreaming = useIsStreaming();</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[view, setView] = useState(isStreaming ? "raw" : "rendered");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useEffect(() =&gt;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(!isStreaming) setView("rendered");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[isStreaming]);</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isStreaming || view === "raw"</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h("pre", { className: "artifact-raw" }, props.document)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h("iframe",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title: props.title,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className: "artifact-frame",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sandbox: "allow-scripts",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referrerPolicy: "no-referrer",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srcDoc: sandboxed(props.document),</a:t>
            </a:r>
            <a:endParaRPr lang="en-US" sz="1050" dirty="0"/>
          </a:p>
        </p:txBody>
      </p:sp>
      <p:sp>
        <p:nvSpPr>
          <p:cNvPr id="7" name="Text 5"/>
          <p:cNvSpPr/>
          <p:nvPr/>
        </p:nvSpPr>
        <p:spPr>
          <a:xfrm>
            <a:off x="548640" y="4634865"/>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04_openui_lang/step_04_openui_html_artifact/html-artifact.mjs</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library's own streaming flag, read through a hook. The renderer needs no prop from the page to know the document is still arriving.</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While streaming, or on the Raw tab, a </a:t>
            </a:r>
            <a:pPr indent="0" marL="0">
              <a:buNone/>
            </a:pPr>
            <a:r>
              <a:rPr lang="en-US" sz="1200" dirty="0">
                <a:solidFill>
                  <a:srgbClr val="BE123C"/>
                </a:solidFill>
                <a:latin typeface="Courier New" pitchFamily="34" charset="0"/>
                <a:ea typeface="Courier New" pitchFamily="34" charset="-122"/>
                <a:cs typeface="Courier New" pitchFamily="34" charset="-120"/>
              </a:rPr>
              <a:t>pre</a:t>
            </a:r>
            <a:pPr indent="0" marL="0">
              <a:buNone/>
            </a:pPr>
            <a:r>
              <a:rPr lang="en-US" sz="1200" dirty="0">
                <a:solidFill>
                  <a:srgbClr val="1F2937"/>
                </a:solidFill>
                <a:latin typeface="Calibri" pitchFamily="34" charset="0"/>
                <a:ea typeface="Calibri" pitchFamily="34" charset="-122"/>
                <a:cs typeface="Calibri" pitchFamily="34" charset="-120"/>
              </a:rPr>
              <a:t> shows the document as it stands: the partial value grows on every chunk, not a spinner.</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sandbox="allow-scripts"</a:t>
            </a:r>
            <a:pPr indent="0" marL="0">
              <a:buNone/>
            </a:pPr>
            <a:r>
              <a:rPr lang="en-US" sz="1200" dirty="0">
                <a:solidFill>
                  <a:srgbClr val="1F2937"/>
                </a:solidFill>
                <a:latin typeface="Calibri" pitchFamily="34" charset="0"/>
                <a:ea typeface="Calibri" pitchFamily="34" charset="-122"/>
                <a:cs typeface="Calibri" pitchFamily="34" charset="-120"/>
              </a:rPr>
              <a:t> gives the document a unique origin and no access to the host; </a:t>
            </a:r>
            <a:pPr indent="0" marL="0">
              <a:buNone/>
            </a:pPr>
            <a:r>
              <a:rPr lang="en-US" sz="1200" dirty="0">
                <a:solidFill>
                  <a:srgbClr val="BE123C"/>
                </a:solidFill>
                <a:latin typeface="Courier New" pitchFamily="34" charset="0"/>
                <a:ea typeface="Courier New" pitchFamily="34" charset="-122"/>
                <a:cs typeface="Courier New" pitchFamily="34" charset="-120"/>
              </a:rPr>
              <a:t>sandboxed()</a:t>
            </a:r>
            <a:pPr indent="0" marL="0">
              <a:buNone/>
            </a:pPr>
            <a:r>
              <a:rPr lang="en-US" sz="1200" dirty="0">
                <a:solidFill>
                  <a:srgbClr val="1F2937"/>
                </a:solidFill>
                <a:latin typeface="Calibri" pitchFamily="34" charset="0"/>
                <a:ea typeface="Calibri" pitchFamily="34" charset="-122"/>
                <a:cs typeface="Calibri" pitchFamily="34" charset="-120"/>
              </a:rPr>
              <a:t> takes the network away too.</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full component is 31 lines; the head, the tabs and the problems list are elided here. The Zod schema underneath is two strings: </a:t>
            </a:r>
            <a:pPr indent="0" marL="0">
              <a:buNone/>
            </a:pPr>
            <a:r>
              <a:rPr lang="en-US" sz="1250" dirty="0">
                <a:solidFill>
                  <a:srgbClr val="BE123C"/>
                </a:solidFill>
                <a:latin typeface="Courier New" pitchFamily="34" charset="0"/>
                <a:ea typeface="Courier New" pitchFamily="34" charset="-122"/>
                <a:cs typeface="Courier New" pitchFamily="34" charset="-120"/>
              </a:rPr>
              <a:t>title</a:t>
            </a:r>
            <a:pPr indent="0" marL="0">
              <a:buNone/>
            </a:pPr>
            <a:r>
              <a:rPr lang="en-US" sz="1250" dirty="0">
                <a:solidFill>
                  <a:srgbClr val="4B5563"/>
                </a:solidFill>
                <a:latin typeface="Calibri" pitchFamily="34" charset="0"/>
                <a:ea typeface="Calibri" pitchFamily="34" charset="-122"/>
                <a:cs typeface="Calibri" pitchFamily="34" charset="-120"/>
              </a:rPr>
              <a:t> and </a:t>
            </a:r>
            <a:pPr indent="0" marL="0">
              <a:buNone/>
            </a:pPr>
            <a:r>
              <a:rPr lang="en-US" sz="1250" dirty="0">
                <a:solidFill>
                  <a:srgbClr val="BE123C"/>
                </a:solidFill>
                <a:latin typeface="Courier New" pitchFamily="34" charset="0"/>
                <a:ea typeface="Courier New" pitchFamily="34" charset="-122"/>
                <a:cs typeface="Courier New" pitchFamily="34" charset="-120"/>
              </a:rPr>
              <a:t>document</a:t>
            </a:r>
            <a:pPr indent="0" marL="0">
              <a:buNone/>
            </a:pPr>
            <a:r>
              <a:rPr lang="en-US" sz="1250" dirty="0">
                <a:solidFill>
                  <a:srgbClr val="4B5563"/>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04.4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CSP goes first in &lt;head&gt;, and a policy the model wrote itself is removed before it can loosen ours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76</a:t>
            </a:r>
            <a:endParaRPr lang="en-US" sz="1000" dirty="0"/>
          </a:p>
        </p:txBody>
      </p:sp>
      <p:sp>
        <p:nvSpPr>
          <p:cNvPr id="5" name="Shape 3"/>
          <p:cNvSpPr/>
          <p:nvPr/>
        </p:nvSpPr>
        <p:spPr>
          <a:xfrm>
            <a:off x="548640" y="1737360"/>
            <a:ext cx="7406640" cy="3014472"/>
          </a:xfrm>
          <a:prstGeom prst="roundRect">
            <a:avLst>
              <a:gd name="adj" fmla="val 3033"/>
            </a:avLst>
          </a:prstGeom>
          <a:solidFill>
            <a:srgbClr val="0F172A"/>
          </a:solidFill>
          <a:ln w="12700">
            <a:solidFill>
              <a:srgbClr val="0F172A"/>
            </a:solidFill>
            <a:prstDash val="solid"/>
          </a:ln>
        </p:spPr>
      </p:sp>
      <p:sp>
        <p:nvSpPr>
          <p:cNvPr id="6" name="Text 4"/>
          <p:cNvSpPr/>
          <p:nvPr/>
        </p:nvSpPr>
        <p:spPr>
          <a:xfrm>
            <a:off x="731520" y="1874520"/>
            <a:ext cx="7040880" cy="2740152"/>
          </a:xfrm>
          <a:prstGeom prst="rect">
            <a:avLst/>
          </a:prstGeom>
          <a:noFill/>
          <a:ln/>
        </p:spPr>
        <p:txBody>
          <a:bodyPr wrap="square" lIns="0" tIns="0" rIns="0" bIns="0" rtlCol="0" anchor="t"/>
          <a:lstStyle/>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export const CSP = "default-src 'none'; style-src 'unsafe-inline'; script-src 'unsafe-inline'; img-src data:";</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const META = `&lt;meta http-equiv="Content-Security-Policy" content="${CSP}"&gt;`;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const CSP_META_RE = /&lt;meta[^&gt;]+http-equiv\s*=\s*["']?content-security-policy["']?[^&gt;]*&gt;/gi;</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function sandboxed(html)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cleaned = html.replace(CSP_META_RE,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head = /&lt;head[^&gt;]*&gt;/i.exec(cleaned);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(head) return cleaned.slice(0, head.index + head[0].length) + META + cleaned.slice(head.index + head[0].length);</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META + cleaned;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548640" y="4797552"/>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04_openui_lang/step_04_openui_html_artifact/sandbox.mjs</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default-src 'none'</a:t>
            </a:r>
            <a:pPr indent="0" marL="0">
              <a:buNone/>
            </a:pPr>
            <a:r>
              <a:rPr lang="en-US" sz="1200" dirty="0">
                <a:solidFill>
                  <a:srgbClr val="1F2937"/>
                </a:solidFill>
                <a:latin typeface="Calibri" pitchFamily="34" charset="0"/>
                <a:ea typeface="Calibri" pitchFamily="34" charset="-122"/>
                <a:cs typeface="Calibri" pitchFamily="34" charset="-120"/>
              </a:rPr>
              <a:t>: no fetch, no WebSocket, no external script or stylesheet. Inline style and script stay allowed because the prompt asks for them.</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Any Content-Security-Policy meta the model wrote is stripped first, so the document cannot loosen the policy it is about to receive.</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CSP meta tag applies only to what comes after it: insert right after the opening </a:t>
            </a:r>
            <a:pPr indent="0" marL="0">
              <a:buNone/>
            </a:pPr>
            <a:r>
              <a:rPr lang="en-US" sz="1200" dirty="0">
                <a:solidFill>
                  <a:srgbClr val="BE123C"/>
                </a:solidFill>
                <a:latin typeface="Courier New" pitchFamily="34" charset="0"/>
                <a:ea typeface="Courier New" pitchFamily="34" charset="-122"/>
                <a:cs typeface="Courier New" pitchFamily="34" charset="-120"/>
              </a:rPr>
              <a:t>&lt;head&gt;</a:t>
            </a:r>
            <a:pPr indent="0" marL="0">
              <a:buNone/>
            </a:pPr>
            <a:r>
              <a:rPr lang="en-US" sz="1200" dirty="0">
                <a:solidFill>
                  <a:srgbClr val="1F2937"/>
                </a:solidFill>
                <a:latin typeface="Calibri" pitchFamily="34" charset="0"/>
                <a:ea typeface="Calibri" pitchFamily="34" charset="-122"/>
                <a:cs typeface="Calibri" pitchFamily="34" charset="-120"/>
              </a:rPr>
              <a:t>, or prepend when there is none.</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checkDocument()</a:t>
            </a:r>
            <a:pPr indent="0" marL="0">
              <a:buNone/>
            </a:pPr>
            <a:r>
              <a:rPr lang="en-US" sz="1250" dirty="0">
                <a:solidFill>
                  <a:srgbClr val="4B5563"/>
                </a:solidFill>
                <a:latin typeface="Calibri" pitchFamily="34" charset="0"/>
                <a:ea typeface="Calibri" pitchFamily="34" charset="-122"/>
                <a:cs typeface="Calibri" pitchFamily="34" charset="-120"/>
              </a:rPr>
              <a:t> lists external resources, network calls and meta refresh next to the artifact; </a:t>
            </a:r>
            <a:pPr indent="0" marL="0">
              <a:buNone/>
            </a:pPr>
            <a:r>
              <a:rPr lang="en-US" sz="1250" dirty="0">
                <a:solidFill>
                  <a:srgbClr val="BE123C"/>
                </a:solidFill>
                <a:latin typeface="Courier New" pitchFamily="34" charset="0"/>
                <a:ea typeface="Courier New" pitchFamily="34" charset="-122"/>
                <a:cs typeface="Courier New" pitchFamily="34" charset="-120"/>
              </a:rPr>
              <a:t>isEvent()</a:t>
            </a:r>
            <a:pPr indent="0" marL="0">
              <a:buNone/>
            </a:pPr>
            <a:r>
              <a:rPr lang="en-US" sz="1250" dirty="0">
                <a:solidFill>
                  <a:srgbClr val="4B5563"/>
                </a:solidFill>
                <a:latin typeface="Calibri" pitchFamily="34" charset="0"/>
                <a:ea typeface="Calibri" pitchFamily="34" charset="-122"/>
                <a:cs typeface="Calibri" pitchFamily="34" charset="-120"/>
              </a:rPr>
              <a:t> keeps one message shape from the iframe and drops the rest.</a:t>
            </a:r>
            <a:endParaRPr lang="en-US" sz="12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04.4 · QUICK DEMO</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dashboard prompt stays in the catalog: 11 statements, 262 completion tokens, no artifact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77</a:t>
            </a:r>
            <a:endParaRPr lang="en-US" sz="1000" dirty="0"/>
          </a:p>
        </p:txBody>
      </p:sp>
      <p:pic>
        <p:nvPicPr>
          <p:cNvPr id="5" name="Image 0" descr="C:\Users\evija\simple-coding-harness\genui\04_openui_lang\step_04_openui_html_artifact\demo_catalog.png">    </p:cNvPr>
          <p:cNvPicPr>
            <a:picLocks noChangeAspect="1"/>
          </p:cNvPicPr>
          <p:nvPr/>
        </p:nvPicPr>
        <p:blipFill>
          <a:blip r:embed="rId1"/>
          <a:srcRect l="0" r="0" t="0" b="0"/>
          <a:stretch/>
        </p:blipFill>
        <p:spPr>
          <a:xfrm>
            <a:off x="548640" y="1737360"/>
            <a:ext cx="5486400" cy="4480560"/>
          </a:xfrm>
          <a:prstGeom prst="rect">
            <a:avLst/>
          </a:prstGeom>
        </p:spPr>
      </p:pic>
      <p:sp>
        <p:nvSpPr>
          <p:cNvPr id="6" name="Shape 3"/>
          <p:cNvSpPr/>
          <p:nvPr/>
        </p:nvSpPr>
        <p:spPr>
          <a:xfrm>
            <a:off x="548640" y="1737360"/>
            <a:ext cx="5486400" cy="4480560"/>
          </a:xfrm>
          <a:prstGeom prst="rect">
            <a:avLst/>
          </a:prstGeom>
          <a:ln w="12700">
            <a:solidFill>
              <a:srgbClr val="D7DAE5"/>
            </a:solidFill>
            <a:prstDash val="solid"/>
          </a:ln>
        </p:spPr>
      </p:sp>
      <p:sp>
        <p:nvSpPr>
          <p:cNvPr id="7" name="Shape 4"/>
          <p:cNvSpPr/>
          <p:nvPr/>
        </p:nvSpPr>
        <p:spPr>
          <a:xfrm>
            <a:off x="6400800" y="1737360"/>
            <a:ext cx="52395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37960" y="179222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11</a:t>
            </a:r>
            <a:endParaRPr lang="en-US" sz="2800" dirty="0"/>
          </a:p>
        </p:txBody>
      </p:sp>
      <p:sp>
        <p:nvSpPr>
          <p:cNvPr id="9" name="Text 6"/>
          <p:cNvSpPr/>
          <p:nvPr/>
        </p:nvSpPr>
        <p:spPr>
          <a:xfrm>
            <a:off x="6537960" y="235915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catalog statements for "show me a dashboard for a lemonade stand"</a:t>
            </a:r>
            <a:endParaRPr lang="en-US" sz="1050" dirty="0"/>
          </a:p>
        </p:txBody>
      </p:sp>
      <p:sp>
        <p:nvSpPr>
          <p:cNvPr id="10" name="Shape 7"/>
          <p:cNvSpPr/>
          <p:nvPr/>
        </p:nvSpPr>
        <p:spPr>
          <a:xfrm>
            <a:off x="6400800" y="3017520"/>
            <a:ext cx="52395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37960" y="307238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262</a:t>
            </a:r>
            <a:endParaRPr lang="en-US" sz="2800" dirty="0"/>
          </a:p>
        </p:txBody>
      </p:sp>
      <p:sp>
        <p:nvSpPr>
          <p:cNvPr id="12" name="Text 9"/>
          <p:cNvSpPr/>
          <p:nvPr/>
        </p:nvSpPr>
        <p:spPr>
          <a:xfrm>
            <a:off x="6537960" y="363931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completion tokens, 1235 prompt tokens</a:t>
            </a:r>
            <a:endParaRPr lang="en-US" sz="1050" dirty="0"/>
          </a:p>
        </p:txBody>
      </p:sp>
      <p:sp>
        <p:nvSpPr>
          <p:cNvPr id="13" name="Text 10"/>
          <p:cNvSpPr/>
          <p:nvPr/>
        </p:nvSpPr>
        <p:spPr>
          <a:xfrm>
            <a:off x="6400800" y="4343400"/>
            <a:ext cx="5239512" cy="1554480"/>
          </a:xfrm>
          <a:prstGeom prst="rect">
            <a:avLst/>
          </a:prstGeom>
          <a:noFill/>
          <a:ln/>
        </p:spPr>
        <p:txBody>
          <a:bodyPr wrap="square" lIns="0" tIns="0" rIns="0" bIns="0" rtlCol="0" anchor="t"/>
          <a:lstStyle/>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Metric, BarChart, a Table inside a Card, and two Buttons in a row: the same components as step 04.2.</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The rule that kept it here: "Never put a dashboard into an HtmlArtifact."</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The completion token count from the API equals the o200k_base count of the program, so the token shares are exact.</a:t>
            </a:r>
            <a:endParaRPr lang="en-US" sz="1000" dirty="0"/>
          </a:p>
          <a:p>
            <a:pPr marL="177800" indent="-177800">
              <a:spcAft>
                <a:spcPts val="600"/>
              </a:spcAft>
              <a:buSzPct val="100000"/>
              <a:buChar char="•"/>
            </a:pPr>
            <a:r>
              <a:rPr lang="en-US" sz="1000" dirty="0">
                <a:solidFill>
                  <a:srgbClr val="1F2937"/>
                </a:solidFill>
                <a:latin typeface="Calibri" pitchFamily="34" charset="0"/>
                <a:ea typeface="Calibri" pitchFamily="34" charset="-122"/>
                <a:cs typeface="Calibri" pitchFamily="34" charset="-120"/>
              </a:rPr>
              <a:t>Checkpoint: remove that rule from PROMPT_OPTIONS, ask again, and compare the completion tokens with 262.</a:t>
            </a:r>
            <a:endParaRPr lang="en-US" sz="100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Recorded with gpt-4.1-mini. The decision is the model's, steered by two prompt rules.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04.4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calculator reply mid-stream: the Markdown intro rendered, the raw document growing</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78</a:t>
            </a:r>
            <a:endParaRPr lang="en-US" sz="1000" dirty="0"/>
          </a:p>
        </p:txBody>
      </p:sp>
      <p:pic>
        <p:nvPicPr>
          <p:cNvPr id="5" name="Image 0" descr="C:\Users\evija\simple-coding-harness\genui\04_openui_lang\step_04_openui_html_artifact\demo_streaming.png">    </p:cNvPr>
          <p:cNvPicPr>
            <a:picLocks noChangeAspect="1"/>
          </p:cNvPicPr>
          <p:nvPr/>
        </p:nvPicPr>
        <p:blipFill>
          <a:blip r:embed="rId1"/>
          <a:srcRect l="0" r="0" t="0" b="0"/>
          <a:stretch/>
        </p:blipFill>
        <p:spPr>
          <a:xfrm>
            <a:off x="548640" y="1417320"/>
            <a:ext cx="5486400" cy="4480560"/>
          </a:xfrm>
          <a:prstGeom prst="rect">
            <a:avLst/>
          </a:prstGeom>
        </p:spPr>
      </p:pic>
      <p:sp>
        <p:nvSpPr>
          <p:cNvPr id="6" name="Shape 3"/>
          <p:cNvSpPr/>
          <p:nvPr/>
        </p:nvSpPr>
        <p:spPr>
          <a:xfrm>
            <a:off x="548640" y="1417320"/>
            <a:ext cx="5486400" cy="4480560"/>
          </a:xfrm>
          <a:prstGeom prst="rect">
            <a:avLst/>
          </a:prstGeom>
          <a:ln w="12700">
            <a:solidFill>
              <a:srgbClr val="D7DAE5"/>
            </a:solidFill>
            <a:prstDash val="solid"/>
          </a:ln>
        </p:spPr>
      </p:sp>
      <p:sp>
        <p:nvSpPr>
          <p:cNvPr id="7" name="Shape 4"/>
          <p:cNvSpPr/>
          <p:nvPr/>
        </p:nvSpPr>
        <p:spPr>
          <a:xfrm>
            <a:off x="6400800" y="1417320"/>
            <a:ext cx="52395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37960" y="1472184"/>
            <a:ext cx="496519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460</a:t>
            </a:r>
            <a:endParaRPr lang="en-US" sz="2800" dirty="0"/>
          </a:p>
        </p:txBody>
      </p:sp>
      <p:sp>
        <p:nvSpPr>
          <p:cNvPr id="9" name="Text 6"/>
          <p:cNvSpPr/>
          <p:nvPr/>
        </p:nvSpPr>
        <p:spPr>
          <a:xfrm>
            <a:off x="6537960" y="203911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characters of the document at the moment of the screenshot</a:t>
            </a:r>
            <a:endParaRPr lang="en-US" sz="1050" dirty="0"/>
          </a:p>
        </p:txBody>
      </p:sp>
      <p:sp>
        <p:nvSpPr>
          <p:cNvPr id="10" name="Shape 7"/>
          <p:cNvSpPr/>
          <p:nvPr/>
        </p:nvSpPr>
        <p:spPr>
          <a:xfrm>
            <a:off x="6400800" y="2697480"/>
            <a:ext cx="52395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37960" y="275234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a:t>
            </a:r>
            <a:endParaRPr lang="en-US" sz="2800" dirty="0"/>
          </a:p>
        </p:txBody>
      </p:sp>
      <p:sp>
        <p:nvSpPr>
          <p:cNvPr id="12" name="Text 9"/>
          <p:cNvSpPr/>
          <p:nvPr/>
        </p:nvSpPr>
        <p:spPr>
          <a:xfrm>
            <a:off x="6537960" y="331927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children of root: a Markdown, then one HtmlArtifact</a:t>
            </a:r>
            <a:endParaRPr lang="en-US" sz="1050" dirty="0"/>
          </a:p>
        </p:txBody>
      </p:sp>
      <p:sp>
        <p:nvSpPr>
          <p:cNvPr id="13" name="Text 10"/>
          <p:cNvSpPr/>
          <p:nvPr/>
        </p:nvSpPr>
        <p:spPr>
          <a:xfrm>
            <a:off x="6400800" y="4023360"/>
            <a:ext cx="5239512" cy="187452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The status line reads "Generating artifact ... 460 characters so far"; the pre below it is the partial value the streaming parser exposes.</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parse.meta.incomplete is true for most of the stream, because the document is one string that has not closed.</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The Markdown child arrived first, as the prompt rule asks, and is already rendered above the artifact.</a:t>
            </a:r>
            <a:endParaRPr lang="en-US" sz="1100" dirty="0"/>
          </a:p>
          <a:p>
            <a:pPr marL="177800" indent="-1778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No iframe exists yet: useIsStreaming() is true, so the renderer shows source, not a sandbox.</a:t>
            </a:r>
            <a:endParaRPr lang="en-US" sz="110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prompt: "build me an interactive lemonade price calculator I can play with".</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04.4 · QUICK DEMO</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calculator runs in its sandboxed iframe: typing 9 into the price field changed the total to $90.00</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79</a:t>
            </a:r>
            <a:endParaRPr lang="en-US" sz="1000" dirty="0"/>
          </a:p>
        </p:txBody>
      </p:sp>
      <p:pic>
        <p:nvPicPr>
          <p:cNvPr id="5" name="Image 0" descr="C:\Users\evija\simple-coding-harness\genui\04_openui_lang\step_04_openui_html_artifact\demo.png">    </p:cNvPr>
          <p:cNvPicPr>
            <a:picLocks noChangeAspect="1"/>
          </p:cNvPicPr>
          <p:nvPr/>
        </p:nvPicPr>
        <p:blipFill>
          <a:blip r:embed="rId1"/>
          <a:srcRect l="0" r="0" t="0" b="0"/>
          <a:stretch/>
        </p:blipFill>
        <p:spPr>
          <a:xfrm>
            <a:off x="548640" y="1737360"/>
            <a:ext cx="5486400" cy="4480560"/>
          </a:xfrm>
          <a:prstGeom prst="rect">
            <a:avLst/>
          </a:prstGeom>
        </p:spPr>
      </p:pic>
      <p:sp>
        <p:nvSpPr>
          <p:cNvPr id="6" name="Shape 3"/>
          <p:cNvSpPr/>
          <p:nvPr/>
        </p:nvSpPr>
        <p:spPr>
          <a:xfrm>
            <a:off x="548640" y="1737360"/>
            <a:ext cx="5486400" cy="4480560"/>
          </a:xfrm>
          <a:prstGeom prst="rect">
            <a:avLst/>
          </a:prstGeom>
          <a:ln w="12700">
            <a:solidFill>
              <a:srgbClr val="D7DAE5"/>
            </a:solidFill>
            <a:prstDash val="solid"/>
          </a:ln>
        </p:spPr>
      </p:sp>
      <p:sp>
        <p:nvSpPr>
          <p:cNvPr id="7" name="Shape 4"/>
          <p:cNvSpPr/>
          <p:nvPr/>
        </p:nvSpPr>
        <p:spPr>
          <a:xfrm>
            <a:off x="6400800" y="1737360"/>
            <a:ext cx="52395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537960" y="1792224"/>
            <a:ext cx="49651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341</a:t>
            </a:r>
            <a:endParaRPr lang="en-US" sz="2800" dirty="0"/>
          </a:p>
        </p:txBody>
      </p:sp>
      <p:sp>
        <p:nvSpPr>
          <p:cNvPr id="9" name="Text 6"/>
          <p:cNvSpPr/>
          <p:nvPr/>
        </p:nvSpPr>
        <p:spPr>
          <a:xfrm>
            <a:off x="6537960" y="235915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completion tokens for the calculator reply, 1238 prompt tokens</a:t>
            </a:r>
            <a:endParaRPr lang="en-US" sz="1050" dirty="0"/>
          </a:p>
        </p:txBody>
      </p:sp>
      <p:sp>
        <p:nvSpPr>
          <p:cNvPr id="10" name="Shape 7"/>
          <p:cNvSpPr/>
          <p:nvPr/>
        </p:nvSpPr>
        <p:spPr>
          <a:xfrm>
            <a:off x="6400800" y="3017520"/>
            <a:ext cx="52395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537960" y="3072384"/>
            <a:ext cx="496519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292</a:t>
            </a:r>
            <a:endParaRPr lang="en-US" sz="2800" dirty="0"/>
          </a:p>
        </p:txBody>
      </p:sp>
      <p:sp>
        <p:nvSpPr>
          <p:cNvPr id="12" name="Text 9"/>
          <p:cNvSpPr/>
          <p:nvPr/>
        </p:nvSpPr>
        <p:spPr>
          <a:xfrm>
            <a:off x="6537960" y="3639312"/>
            <a:ext cx="49651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of those 341 tokens are the document: 86% of the reply</a:t>
            </a:r>
            <a:endParaRPr lang="en-US" sz="1050" dirty="0"/>
          </a:p>
        </p:txBody>
      </p:sp>
      <p:sp>
        <p:nvSpPr>
          <p:cNvPr id="13" name="Text 10"/>
          <p:cNvSpPr/>
          <p:nvPr/>
        </p:nvSpPr>
        <p:spPr>
          <a:xfrm>
            <a:off x="6400800" y="4343400"/>
            <a:ext cx="5239512" cy="15544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sandbox='allow-scripts', and the CSP meta is first in &lt;head&gt;: the document's script ran under the policy.</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Events accepted from the iframe: none. The document posted nothing, and isEvent() would have dropped anything else.</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dashboard reply cost 262 tokens; open-ended generation is paid only for the one component that needs it.</a:t>
            </a:r>
            <a:endParaRPr lang="en-US" sz="120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report's cost of open-ended generation, paid once: the catalog is the default and the sandbox the exception.</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82296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Sub-theme 05</a:t>
            </a:r>
            <a:endParaRPr lang="en-US" sz="1300" dirty="0"/>
          </a:p>
        </p:txBody>
      </p:sp>
      <p:sp>
        <p:nvSpPr>
          <p:cNvPr id="3" name="Text 1"/>
          <p:cNvSpPr/>
          <p:nvPr/>
        </p:nvSpPr>
        <p:spPr>
          <a:xfrm>
            <a:off x="731520" y="1280160"/>
            <a:ext cx="1051560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json-render, Vercel's declarative renderer</a:t>
            </a:r>
            <a:endParaRPr lang="en-US" sz="4000" dirty="0"/>
          </a:p>
        </p:txBody>
      </p:sp>
      <p:sp>
        <p:nvSpPr>
          <p:cNvPr id="4" name="Text 2"/>
          <p:cNvSpPr/>
          <p:nvPr/>
        </p:nvSpPr>
        <p:spPr>
          <a:xfrm>
            <a:off x="731520" y="2560320"/>
            <a:ext cx="6583680" cy="201168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json-render is one of the open formats in the declarative middle of the report: the model emits a JSON document that names components from a catalog you wrote, and a renderer draws it. Sub-theme 01 built that loop by hand. This sub-theme hands the prompt, the parser and the renderer to the library: one defineCatalog object produces the system prompt, the typed component map, the validation and the JSON Schema. The spec is a flat element map that streams as RFC 6902 patches, and the same spec renders in a browser and in a terminal.</a:t>
            </a:r>
            <a:endParaRPr lang="en-US" sz="1600" dirty="0"/>
          </a:p>
        </p:txBody>
      </p:sp>
      <p:sp>
        <p:nvSpPr>
          <p:cNvPr id="5" name="Shape 3"/>
          <p:cNvSpPr/>
          <p:nvPr/>
        </p:nvSpPr>
        <p:spPr>
          <a:xfrm>
            <a:off x="7680960" y="2606040"/>
            <a:ext cx="3931920" cy="603504"/>
          </a:xfrm>
          <a:prstGeom prst="roundRect">
            <a:avLst>
              <a:gd name="adj" fmla="val 12121"/>
            </a:avLst>
          </a:prstGeom>
          <a:solidFill>
            <a:srgbClr val="1E2761"/>
          </a:solidFill>
          <a:ln w="12700">
            <a:solidFill>
              <a:srgbClr val="3B4A8A"/>
            </a:solidFill>
            <a:prstDash val="solid"/>
          </a:ln>
        </p:spPr>
      </p:sp>
      <p:sp>
        <p:nvSpPr>
          <p:cNvPr id="6" name="Text 4"/>
          <p:cNvSpPr/>
          <p:nvPr/>
        </p:nvSpPr>
        <p:spPr>
          <a:xfrm>
            <a:off x="7818120" y="2606040"/>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05.1  </a:t>
            </a:r>
            <a:pPr indent="0" marL="0">
              <a:buNone/>
            </a:pPr>
            <a:r>
              <a:rPr lang="en-US" sz="1250" dirty="0">
                <a:solidFill>
                  <a:srgbClr val="FFFFFF"/>
                </a:solidFill>
                <a:latin typeface="Calibri" pitchFamily="34" charset="0"/>
                <a:ea typeface="Calibri" pitchFamily="34" charset="-122"/>
                <a:cs typeface="Calibri" pitchFamily="34" charset="-120"/>
              </a:rPr>
              <a:t>A catalog and the React Renderer</a:t>
            </a:r>
            <a:endParaRPr lang="en-US" sz="1250" dirty="0"/>
          </a:p>
        </p:txBody>
      </p:sp>
      <p:sp>
        <p:nvSpPr>
          <p:cNvPr id="7" name="Shape 5"/>
          <p:cNvSpPr/>
          <p:nvPr/>
        </p:nvSpPr>
        <p:spPr>
          <a:xfrm>
            <a:off x="7680960" y="3319272"/>
            <a:ext cx="3931920" cy="603504"/>
          </a:xfrm>
          <a:prstGeom prst="roundRect">
            <a:avLst>
              <a:gd name="adj" fmla="val 12121"/>
            </a:avLst>
          </a:prstGeom>
          <a:solidFill>
            <a:srgbClr val="1E2761"/>
          </a:solidFill>
          <a:ln w="12700">
            <a:solidFill>
              <a:srgbClr val="3B4A8A"/>
            </a:solidFill>
            <a:prstDash val="solid"/>
          </a:ln>
        </p:spPr>
      </p:sp>
      <p:sp>
        <p:nvSpPr>
          <p:cNvPr id="8" name="Text 6"/>
          <p:cNvSpPr/>
          <p:nvPr/>
        </p:nvSpPr>
        <p:spPr>
          <a:xfrm>
            <a:off x="7818120" y="3319272"/>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05.2  </a:t>
            </a:r>
            <a:pPr indent="0" marL="0">
              <a:buNone/>
            </a:pPr>
            <a:r>
              <a:rPr lang="en-US" sz="1250" dirty="0">
                <a:solidFill>
                  <a:srgbClr val="FFFFFF"/>
                </a:solidFill>
                <a:latin typeface="Calibri" pitchFamily="34" charset="0"/>
                <a:ea typeface="Calibri" pitchFamily="34" charset="-122"/>
                <a:cs typeface="Calibri" pitchFamily="34" charset="-120"/>
              </a:rPr>
              <a:t>Streaming JSON Patch into the element map</a:t>
            </a:r>
            <a:endParaRPr lang="en-US" sz="1250" dirty="0"/>
          </a:p>
        </p:txBody>
      </p:sp>
      <p:sp>
        <p:nvSpPr>
          <p:cNvPr id="9" name="Shape 7"/>
          <p:cNvSpPr/>
          <p:nvPr/>
        </p:nvSpPr>
        <p:spPr>
          <a:xfrm>
            <a:off x="7680960" y="4032504"/>
            <a:ext cx="3931920" cy="603504"/>
          </a:xfrm>
          <a:prstGeom prst="roundRect">
            <a:avLst>
              <a:gd name="adj" fmla="val 12121"/>
            </a:avLst>
          </a:prstGeom>
          <a:solidFill>
            <a:srgbClr val="1E2761"/>
          </a:solidFill>
          <a:ln w="12700">
            <a:solidFill>
              <a:srgbClr val="3B4A8A"/>
            </a:solidFill>
            <a:prstDash val="solid"/>
          </a:ln>
        </p:spPr>
      </p:sp>
      <p:sp>
        <p:nvSpPr>
          <p:cNvPr id="10" name="Text 8"/>
          <p:cNvSpPr/>
          <p:nvPr/>
        </p:nvSpPr>
        <p:spPr>
          <a:xfrm>
            <a:off x="7818120" y="4032504"/>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05.3  </a:t>
            </a:r>
            <a:pPr indent="0" marL="0">
              <a:buNone/>
            </a:pPr>
            <a:r>
              <a:rPr lang="en-US" sz="1250" dirty="0">
                <a:solidFill>
                  <a:srgbClr val="FFFFFF"/>
                </a:solidFill>
                <a:latin typeface="Calibri" pitchFamily="34" charset="0"/>
                <a:ea typeface="Calibri" pitchFamily="34" charset="-122"/>
                <a:cs typeface="Calibri" pitchFamily="34" charset="-120"/>
              </a:rPr>
              <a:t>Actions, and a second target</a:t>
            </a:r>
            <a:endParaRPr lang="en-US" sz="1250" dirty="0"/>
          </a:p>
        </p:txBody>
      </p:sp>
      <p:sp>
        <p:nvSpPr>
          <p:cNvPr id="11" name="Text 9"/>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AB8"/>
                </a:solidFill>
                <a:latin typeface="Calibri" pitchFamily="34" charset="0"/>
                <a:ea typeface="Calibri" pitchFamily="34" charset="-122"/>
                <a:cs typeface="Calibri" pitchFamily="34" charset="-120"/>
              </a:rPr>
              <a:t>80</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05.1 · LEVEL 15 OF 23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The catalog is the contract: one object, four outputs</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81</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BE123C"/>
                </a:solidFill>
                <a:latin typeface="Courier New" pitchFamily="34" charset="0"/>
                <a:ea typeface="Courier New" pitchFamily="34" charset="-122"/>
                <a:cs typeface="Courier New" pitchFamily="34" charset="-120"/>
              </a:rPr>
              <a:t>defineCatalog</a:t>
            </a:r>
            <a:pPr indent="0" marL="0">
              <a:buNone/>
            </a:pPr>
            <a:r>
              <a:rPr lang="en-US" sz="1600" dirty="0">
                <a:solidFill>
                  <a:srgbClr val="141B3D"/>
                </a:solidFill>
                <a:latin typeface="Calibri" pitchFamily="34" charset="0"/>
                <a:ea typeface="Calibri" pitchFamily="34" charset="-122"/>
                <a:cs typeface="Calibri" pitchFamily="34" charset="-120"/>
              </a:rPr>
              <a:t> with Zod props produces the </a:t>
            </a:r>
            <a:pPr indent="0" marL="0">
              <a:buNone/>
            </a:pPr>
            <a:r>
              <a:rPr lang="en-US" sz="1600" b="1" dirty="0">
                <a:solidFill>
                  <a:srgbClr val="141B3D"/>
                </a:solidFill>
                <a:latin typeface="Calibri" pitchFamily="34" charset="0"/>
                <a:ea typeface="Calibri" pitchFamily="34" charset="-122"/>
                <a:cs typeface="Calibri" pitchFamily="34" charset="-120"/>
              </a:rPr>
              <a:t>prompt, the JSON Schema, the typed registry and the validator</a:t>
            </a:r>
            <a:pPr indent="0" marL="0">
              <a:buNone/>
            </a:pPr>
            <a:r>
              <a:rPr lang="en-US" sz="1600" dirty="0">
                <a:solidFill>
                  <a:srgbClr val="141B3D"/>
                </a:solidFill>
                <a:latin typeface="Calibri" pitchFamily="34" charset="0"/>
                <a:ea typeface="Calibri" pitchFamily="34" charset="-122"/>
                <a:cs typeface="Calibri" pitchFamily="34" charset="-120"/>
              </a:rPr>
              <a:t>, and the page paints once when the whole spec arrives.</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Six components with Zod props; </a:t>
            </a:r>
            <a:pPr indent="0" marL="0">
              <a:buNone/>
            </a:pPr>
            <a:r>
              <a:rPr lang="en-US" sz="1100" dirty="0">
                <a:solidFill>
                  <a:srgbClr val="BE123C"/>
                </a:solidFill>
                <a:latin typeface="Courier New" pitchFamily="34" charset="0"/>
                <a:ea typeface="Courier New" pitchFamily="34" charset="-122"/>
                <a:cs typeface="Courier New" pitchFamily="34" charset="-120"/>
              </a:rPr>
              <a:t>.nullable()</a:t>
            </a:r>
            <a:pPr indent="0" marL="0">
              <a:buNone/>
            </a:pPr>
            <a:r>
              <a:rPr lang="en-US" sz="1200" dirty="0">
                <a:solidFill>
                  <a:srgbClr val="1F2937"/>
                </a:solidFill>
                <a:latin typeface="Calibri" pitchFamily="34" charset="0"/>
                <a:ea typeface="Calibri" pitchFamily="34" charset="-122"/>
                <a:cs typeface="Calibri" pitchFamily="34" charset="-120"/>
              </a:rPr>
              <a:t> marks a prop the model may skip and the prompt shows it as </a:t>
            </a:r>
            <a:pPr indent="0" marL="0">
              <a:buNone/>
            </a:pPr>
            <a:r>
              <a:rPr lang="en-US" sz="1100" dirty="0">
                <a:solidFill>
                  <a:srgbClr val="BE123C"/>
                </a:solidFill>
                <a:latin typeface="Courier New" pitchFamily="34" charset="0"/>
                <a:ea typeface="Courier New" pitchFamily="34" charset="-122"/>
                <a:cs typeface="Courier New" pitchFamily="34" charset="-120"/>
              </a:rPr>
              <a:t>subtitle?</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t>
            </a:r>
            <a:pPr indent="0" marL="0">
              <a:buNone/>
            </a:pPr>
            <a:r>
              <a:rPr lang="en-US" sz="1100" dirty="0">
                <a:solidFill>
                  <a:srgbClr val="BE123C"/>
                </a:solidFill>
                <a:latin typeface="Courier New" pitchFamily="34" charset="0"/>
                <a:ea typeface="Courier New" pitchFamily="34" charset="-122"/>
                <a:cs typeface="Courier New" pitchFamily="34" charset="-120"/>
              </a:rPr>
              <a:t>catalog.prompt()</a:t>
            </a:r>
            <a:pPr indent="0" marL="0">
              <a:buNone/>
            </a:pPr>
            <a:r>
              <a:rPr lang="en-US" sz="1200" dirty="0">
                <a:solidFill>
                  <a:srgbClr val="1F2937"/>
                </a:solidFill>
                <a:latin typeface="Calibri" pitchFamily="34" charset="0"/>
                <a:ea typeface="Calibri" pitchFamily="34" charset="-122"/>
                <a:cs typeface="Calibri" pitchFamily="34" charset="-120"/>
              </a:rPr>
              <a:t> writes the system prompt; four extra rules ask for one JSON object instead of the library's native JSONL.</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Python never imports the catalog: </a:t>
            </a:r>
            <a:pPr indent="0" marL="0">
              <a:buNone/>
            </a:pPr>
            <a:r>
              <a:rPr lang="en-US" sz="1100" dirty="0">
                <a:solidFill>
                  <a:srgbClr val="BE123C"/>
                </a:solidFill>
                <a:latin typeface="Courier New" pitchFamily="34" charset="0"/>
                <a:ea typeface="Courier New" pitchFamily="34" charset="-122"/>
                <a:cs typeface="Courier New" pitchFamily="34" charset="-120"/>
              </a:rPr>
              <a:t>prompt.mjs</a:t>
            </a:r>
            <a:pPr indent="0" marL="0">
              <a:buNone/>
            </a:pPr>
            <a:r>
              <a:rPr lang="en-US" sz="1200" dirty="0">
                <a:solidFill>
                  <a:srgbClr val="1F2937"/>
                </a:solidFill>
                <a:latin typeface="Calibri" pitchFamily="34" charset="0"/>
                <a:ea typeface="Calibri" pitchFamily="34" charset="-122"/>
                <a:cs typeface="Calibri" pitchFamily="34" charset="-120"/>
              </a:rPr>
              <a:t> and </a:t>
            </a:r>
            <a:pPr indent="0" marL="0">
              <a:buNone/>
            </a:pPr>
            <a:r>
              <a:rPr lang="en-US" sz="1100" dirty="0">
                <a:solidFill>
                  <a:srgbClr val="BE123C"/>
                </a:solidFill>
                <a:latin typeface="Courier New" pitchFamily="34" charset="0"/>
                <a:ea typeface="Courier New" pitchFamily="34" charset="-122"/>
                <a:cs typeface="Courier New" pitchFamily="34" charset="-120"/>
              </a:rPr>
              <a:t>catalog_json.mjs</a:t>
            </a:r>
            <a:pPr indent="0" marL="0">
              <a:buNone/>
            </a:pPr>
            <a:r>
              <a:rPr lang="en-US" sz="1200" dirty="0">
                <a:solidFill>
                  <a:srgbClr val="1F2937"/>
                </a:solidFill>
                <a:latin typeface="Calibri" pitchFamily="34" charset="0"/>
                <a:ea typeface="Calibri" pitchFamily="34" charset="-122"/>
                <a:cs typeface="Calibri" pitchFamily="34" charset="-120"/>
              </a:rPr>
              <a:t> run once and the text is cached in </a:t>
            </a:r>
            <a:pPr indent="0" marL="0">
              <a:buNone/>
            </a:pPr>
            <a:r>
              <a:rPr lang="en-US" sz="1100" dirty="0">
                <a:solidFill>
                  <a:srgbClr val="BE123C"/>
                </a:solidFill>
                <a:latin typeface="Courier New" pitchFamily="34" charset="0"/>
                <a:ea typeface="Courier New" pitchFamily="34" charset="-122"/>
                <a:cs typeface="Courier New" pitchFamily="34" charset="-120"/>
              </a:rPr>
              <a:t>prompt.txt</a:t>
            </a:r>
            <a:pPr indent="0" marL="0">
              <a:buNone/>
            </a:pPr>
            <a:r>
              <a:rPr lang="en-US" sz="1200" dirty="0">
                <a:solidFill>
                  <a:srgbClr val="1F2937"/>
                </a:solidFill>
                <a:latin typeface="Calibri" pitchFamily="34" charset="0"/>
                <a:ea typeface="Calibri" pitchFamily="34" charset="-122"/>
                <a:cs typeface="Calibri" pitchFamily="34" charset="-120"/>
              </a:rPr>
              <a:t> and </a:t>
            </a:r>
            <a:pPr indent="0" marL="0">
              <a:buNone/>
            </a:pPr>
            <a:r>
              <a:rPr lang="en-US" sz="1100" dirty="0">
                <a:solidFill>
                  <a:srgbClr val="BE123C"/>
                </a:solidFill>
                <a:latin typeface="Courier New" pitchFamily="34" charset="0"/>
                <a:ea typeface="Courier New" pitchFamily="34" charset="-122"/>
                <a:cs typeface="Courier New" pitchFamily="34" charset="-120"/>
              </a:rPr>
              <a:t>catalog.json</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t>
            </a:r>
            <a:pPr indent="0" marL="0">
              <a:buNone/>
            </a:pPr>
            <a:r>
              <a:rPr lang="en-US" sz="1100" dirty="0">
                <a:solidFill>
                  <a:srgbClr val="BE123C"/>
                </a:solidFill>
                <a:latin typeface="Courier New" pitchFamily="34" charset="0"/>
                <a:ea typeface="Courier New" pitchFamily="34" charset="-122"/>
                <a:cs typeface="Courier New" pitchFamily="34" charset="-120"/>
              </a:rPr>
              <a:t>spec.py</a:t>
            </a:r>
            <a:pPr indent="0" marL="0">
              <a:buNone/>
            </a:pPr>
            <a:r>
              <a:rPr lang="en-US" sz="1200" dirty="0">
                <a:solidFill>
                  <a:srgbClr val="1F2937"/>
                </a:solidFill>
                <a:latin typeface="Calibri" pitchFamily="34" charset="0"/>
                <a:ea typeface="Calibri" pitchFamily="34" charset="-122"/>
                <a:cs typeface="Calibri" pitchFamily="34" charset="-120"/>
              </a:rPr>
              <a:t> checks the reply against that JSON Schema: unknown types, dangling child ids, wrong prop types.</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t>
            </a:r>
            <a:pPr indent="0" marL="0">
              <a:buNone/>
            </a:pPr>
            <a:r>
              <a:rPr lang="en-US" sz="1100" dirty="0">
                <a:solidFill>
                  <a:srgbClr val="BE123C"/>
                </a:solidFill>
                <a:latin typeface="Courier New" pitchFamily="34" charset="0"/>
                <a:ea typeface="Courier New" pitchFamily="34" charset="-122"/>
                <a:cs typeface="Courier New" pitchFamily="34" charset="-120"/>
              </a:rPr>
              <a:t>defineRegistry</a:t>
            </a:r>
            <a:pPr indent="0" marL="0">
              <a:buNone/>
            </a:pPr>
            <a:r>
              <a:rPr lang="en-US" sz="1200" dirty="0">
                <a:solidFill>
                  <a:srgbClr val="1F2937"/>
                </a:solidFill>
                <a:latin typeface="Calibri" pitchFamily="34" charset="0"/>
                <a:ea typeface="Calibri" pitchFamily="34" charset="-122"/>
                <a:cs typeface="Calibri" pitchFamily="34" charset="-120"/>
              </a:rPr>
              <a:t> maps each entry to a React function written with </a:t>
            </a:r>
            <a:pPr indent="0" marL="0">
              <a:buNone/>
            </a:pPr>
            <a:r>
              <a:rPr lang="en-US" sz="1100" dirty="0">
                <a:solidFill>
                  <a:srgbClr val="BE123C"/>
                </a:solidFill>
                <a:latin typeface="Courier New" pitchFamily="34" charset="0"/>
                <a:ea typeface="Courier New" pitchFamily="34" charset="-122"/>
                <a:cs typeface="Courier New" pitchFamily="34" charset="-120"/>
              </a:rPr>
              <a:t>htm</a:t>
            </a:r>
            <a:pPr indent="0" marL="0">
              <a:buNone/>
            </a:pPr>
            <a:r>
              <a:rPr lang="en-US" sz="1200" dirty="0">
                <a:solidFill>
                  <a:srgbClr val="1F2937"/>
                </a:solidFill>
                <a:latin typeface="Calibri" pitchFamily="34" charset="0"/>
                <a:ea typeface="Calibri" pitchFamily="34" charset="-122"/>
                <a:cs typeface="Calibri" pitchFamily="34" charset="-120"/>
              </a:rPr>
              <a:t>; no JSX, no bundler, an import map of pinned esm.sh builds.</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spec is a flat element map </a:t>
            </a:r>
            <a:pPr indent="0" marL="0">
              <a:buNone/>
            </a:pPr>
            <a:r>
              <a:rPr lang="en-US" sz="1100" dirty="0">
                <a:solidFill>
                  <a:srgbClr val="BE123C"/>
                </a:solidFill>
                <a:latin typeface="Courier New" pitchFamily="34" charset="0"/>
                <a:ea typeface="Courier New" pitchFamily="34" charset="-122"/>
                <a:cs typeface="Courier New" pitchFamily="34" charset="-120"/>
              </a:rPr>
              <a:t>{root, elements, state}</a:t>
            </a:r>
            <a:pPr indent="0" marL="0">
              <a:buNone/>
            </a:pPr>
            <a:r>
              <a:rPr lang="en-US" sz="1200" dirty="0">
                <a:solidFill>
                  <a:srgbClr val="1F2937"/>
                </a:solidFill>
                <a:latin typeface="Calibri" pitchFamily="34" charset="0"/>
                <a:ea typeface="Calibri" pitchFamily="34" charset="-122"/>
                <a:cs typeface="Calibri" pitchFamily="34" charset="-120"/>
              </a:rPr>
              <a:t>, not a nested tree; elements name each other by id.</a:t>
            </a:r>
            <a:endParaRPr lang="en-US" sz="1200" dirty="0"/>
          </a:p>
        </p:txBody>
      </p:sp>
      <p:sp>
        <p:nvSpPr>
          <p:cNvPr id="7" name="Shape 5"/>
          <p:cNvSpPr/>
          <p:nvPr/>
        </p:nvSpPr>
        <p:spPr>
          <a:xfrm>
            <a:off x="6903720" y="1600200"/>
            <a:ext cx="3840480" cy="685800"/>
          </a:xfrm>
          <a:prstGeom prst="roundRect">
            <a:avLst>
              <a:gd name="adj" fmla="val 13333"/>
            </a:avLst>
          </a:prstGeom>
          <a:solidFill>
            <a:srgbClr val="EEF0FF"/>
          </a:solidFill>
          <a:ln w="15875">
            <a:solidFill>
              <a:srgbClr val="2F3CFF"/>
            </a:solidFill>
            <a:prstDash val="solid"/>
          </a:ln>
        </p:spPr>
      </p:sp>
      <p:sp>
        <p:nvSpPr>
          <p:cNvPr id="8" name="Text 6"/>
          <p:cNvSpPr/>
          <p:nvPr/>
        </p:nvSpPr>
        <p:spPr>
          <a:xfrm>
            <a:off x="6976872" y="1636776"/>
            <a:ext cx="3694176" cy="35890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catalog.mjs</a:t>
            </a:r>
            <a:endParaRPr lang="en-US" sz="1200" dirty="0"/>
          </a:p>
        </p:txBody>
      </p:sp>
      <p:sp>
        <p:nvSpPr>
          <p:cNvPr id="9" name="Text 7"/>
          <p:cNvSpPr/>
          <p:nvPr/>
        </p:nvSpPr>
        <p:spPr>
          <a:xfrm>
            <a:off x="6976872" y="199567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defineCatalog: six components, Zod props</a:t>
            </a:r>
            <a:endParaRPr lang="en-US" sz="950" dirty="0"/>
          </a:p>
        </p:txBody>
      </p:sp>
      <p:sp>
        <p:nvSpPr>
          <p:cNvPr id="10" name="Shape 8"/>
          <p:cNvSpPr/>
          <p:nvPr/>
        </p:nvSpPr>
        <p:spPr>
          <a:xfrm>
            <a:off x="8823960" y="2313432"/>
            <a:ext cx="9144" cy="265176"/>
          </a:xfrm>
          <a:prstGeom prst="line">
            <a:avLst/>
          </a:prstGeom>
          <a:noFill/>
          <a:ln w="19050">
            <a:solidFill>
              <a:srgbClr val="4B5563"/>
            </a:solidFill>
            <a:prstDash val="solid"/>
            <a:tailEnd type="triangle"/>
          </a:ln>
        </p:spPr>
      </p:sp>
      <p:sp>
        <p:nvSpPr>
          <p:cNvPr id="11" name="Shape 9"/>
          <p:cNvSpPr/>
          <p:nvPr/>
        </p:nvSpPr>
        <p:spPr>
          <a:xfrm>
            <a:off x="6903720" y="2606040"/>
            <a:ext cx="3840480" cy="685800"/>
          </a:xfrm>
          <a:prstGeom prst="roundRect">
            <a:avLst>
              <a:gd name="adj" fmla="val 13333"/>
            </a:avLst>
          </a:prstGeom>
          <a:solidFill>
            <a:srgbClr val="EEF0FF"/>
          </a:solidFill>
          <a:ln w="15875">
            <a:solidFill>
              <a:srgbClr val="2F3CFF"/>
            </a:solidFill>
            <a:prstDash val="solid"/>
          </a:ln>
        </p:spPr>
      </p:sp>
      <p:sp>
        <p:nvSpPr>
          <p:cNvPr id="12" name="Text 10"/>
          <p:cNvSpPr/>
          <p:nvPr/>
        </p:nvSpPr>
        <p:spPr>
          <a:xfrm>
            <a:off x="6976872" y="2642616"/>
            <a:ext cx="3694176" cy="35890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prompt.txt</a:t>
            </a:r>
            <a:endParaRPr lang="en-US" sz="1200" dirty="0"/>
          </a:p>
        </p:txBody>
      </p:sp>
      <p:sp>
        <p:nvSpPr>
          <p:cNvPr id="13" name="Text 11"/>
          <p:cNvSpPr/>
          <p:nvPr/>
        </p:nvSpPr>
        <p:spPr>
          <a:xfrm>
            <a:off x="6976872" y="300151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catalog.prompt(), about 4,100 tokens</a:t>
            </a:r>
            <a:endParaRPr lang="en-US" sz="950" dirty="0"/>
          </a:p>
        </p:txBody>
      </p:sp>
      <p:sp>
        <p:nvSpPr>
          <p:cNvPr id="14" name="Shape 12"/>
          <p:cNvSpPr/>
          <p:nvPr/>
        </p:nvSpPr>
        <p:spPr>
          <a:xfrm>
            <a:off x="8823960" y="3319272"/>
            <a:ext cx="9144" cy="265176"/>
          </a:xfrm>
          <a:prstGeom prst="line">
            <a:avLst/>
          </a:prstGeom>
          <a:noFill/>
          <a:ln w="19050">
            <a:solidFill>
              <a:srgbClr val="4B5563"/>
            </a:solidFill>
            <a:prstDash val="solid"/>
            <a:tailEnd type="triangle"/>
          </a:ln>
        </p:spPr>
      </p:sp>
      <p:sp>
        <p:nvSpPr>
          <p:cNvPr id="15" name="Shape 13"/>
          <p:cNvSpPr/>
          <p:nvPr/>
        </p:nvSpPr>
        <p:spPr>
          <a:xfrm>
            <a:off x="6903720" y="3611880"/>
            <a:ext cx="3840480" cy="685800"/>
          </a:xfrm>
          <a:prstGeom prst="roundRect">
            <a:avLst>
              <a:gd name="adj" fmla="val 13333"/>
            </a:avLst>
          </a:prstGeom>
          <a:solidFill>
            <a:srgbClr val="F6F7FB"/>
          </a:solidFill>
          <a:ln w="15875">
            <a:solidFill>
              <a:srgbClr val="141B3D"/>
            </a:solidFill>
            <a:prstDash val="solid"/>
          </a:ln>
        </p:spPr>
      </p:sp>
      <p:sp>
        <p:nvSpPr>
          <p:cNvPr id="16" name="Text 14"/>
          <p:cNvSpPr/>
          <p:nvPr/>
        </p:nvSpPr>
        <p:spPr>
          <a:xfrm>
            <a:off x="6976872" y="3648456"/>
            <a:ext cx="3694176" cy="35890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catalog.json and spec.py</a:t>
            </a:r>
            <a:endParaRPr lang="en-US" sz="1200" dirty="0"/>
          </a:p>
        </p:txBody>
      </p:sp>
      <p:sp>
        <p:nvSpPr>
          <p:cNvPr id="17" name="Text 15"/>
          <p:cNvSpPr/>
          <p:nvPr/>
        </p:nvSpPr>
        <p:spPr>
          <a:xfrm>
            <a:off x="6976872" y="400735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JSON Schema; the Python check</a:t>
            </a:r>
            <a:endParaRPr lang="en-US" sz="950" dirty="0"/>
          </a:p>
        </p:txBody>
      </p:sp>
      <p:sp>
        <p:nvSpPr>
          <p:cNvPr id="18" name="Shape 16"/>
          <p:cNvSpPr/>
          <p:nvPr/>
        </p:nvSpPr>
        <p:spPr>
          <a:xfrm>
            <a:off x="8823960" y="4325112"/>
            <a:ext cx="9144" cy="265176"/>
          </a:xfrm>
          <a:prstGeom prst="line">
            <a:avLst/>
          </a:prstGeom>
          <a:noFill/>
          <a:ln w="19050">
            <a:solidFill>
              <a:srgbClr val="4B5563"/>
            </a:solidFill>
            <a:prstDash val="solid"/>
            <a:tailEnd type="triangle"/>
          </a:ln>
        </p:spPr>
      </p:sp>
      <p:sp>
        <p:nvSpPr>
          <p:cNvPr id="19" name="Shape 17"/>
          <p:cNvSpPr/>
          <p:nvPr/>
        </p:nvSpPr>
        <p:spPr>
          <a:xfrm>
            <a:off x="6903720" y="4617720"/>
            <a:ext cx="3840480" cy="685800"/>
          </a:xfrm>
          <a:prstGeom prst="roundRect">
            <a:avLst>
              <a:gd name="adj" fmla="val 13333"/>
            </a:avLst>
          </a:prstGeom>
          <a:solidFill>
            <a:srgbClr val="ECFDF5"/>
          </a:solidFill>
          <a:ln w="15875">
            <a:solidFill>
              <a:srgbClr val="15803D"/>
            </a:solidFill>
            <a:prstDash val="solid"/>
          </a:ln>
        </p:spPr>
      </p:sp>
      <p:sp>
        <p:nvSpPr>
          <p:cNvPr id="20" name="Text 18"/>
          <p:cNvSpPr/>
          <p:nvPr/>
        </p:nvSpPr>
        <p:spPr>
          <a:xfrm>
            <a:off x="6976872" y="4654296"/>
            <a:ext cx="3694176" cy="358902"/>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registry.mjs</a:t>
            </a:r>
            <a:endParaRPr lang="en-US" sz="1200" dirty="0"/>
          </a:p>
        </p:txBody>
      </p:sp>
      <p:sp>
        <p:nvSpPr>
          <p:cNvPr id="21" name="Text 19"/>
          <p:cNvSpPr/>
          <p:nvPr/>
        </p:nvSpPr>
        <p:spPr>
          <a:xfrm>
            <a:off x="6976872" y="501319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defineRegistry: one React function per entry</a:t>
            </a:r>
            <a:endParaRPr lang="en-US" sz="950" dirty="0"/>
          </a:p>
        </p:txBody>
      </p:sp>
      <p:sp>
        <p:nvSpPr>
          <p:cNvPr id="22" name="Text 20"/>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Change a prop in the catalog and three of the four outputs regenerate; only the registry needs a hand edit.</a:t>
            </a:r>
            <a:endParaRPr lang="en-US" sz="1050" dirty="0"/>
          </a:p>
        </p:txBody>
      </p:sp>
      <p:sp>
        <p:nvSpPr>
          <p:cNvPr id="23" name="Shape 21"/>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4" name="Text 22"/>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One annotation in the catalog reaches three layers: the prompt, the JSON Schema and the Python check.</a:t>
            </a:r>
            <a:endParaRPr lang="en-US" sz="12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Six components, Zod props, one description each</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82</a:t>
            </a:r>
            <a:endParaRPr lang="en-US" sz="1000" dirty="0"/>
          </a:p>
        </p:txBody>
      </p:sp>
      <p:sp>
        <p:nvSpPr>
          <p:cNvPr id="5" name="Shape 3"/>
          <p:cNvSpPr/>
          <p:nvPr/>
        </p:nvSpPr>
        <p:spPr>
          <a:xfrm>
            <a:off x="548640" y="1417320"/>
            <a:ext cx="7406640" cy="2689098"/>
          </a:xfrm>
          <a:prstGeom prst="roundRect">
            <a:avLst>
              <a:gd name="adj" fmla="val 3400"/>
            </a:avLst>
          </a:prstGeom>
          <a:solidFill>
            <a:srgbClr val="0F172A"/>
          </a:solidFill>
          <a:ln w="12700">
            <a:solidFill>
              <a:srgbClr val="0F172A"/>
            </a:solidFill>
            <a:prstDash val="solid"/>
          </a:ln>
        </p:spPr>
      </p:sp>
      <p:sp>
        <p:nvSpPr>
          <p:cNvPr id="6" name="Text 4"/>
          <p:cNvSpPr/>
          <p:nvPr/>
        </p:nvSpPr>
        <p:spPr>
          <a:xfrm>
            <a:off x="731520" y="1554480"/>
            <a:ext cx="7040880" cy="2414778"/>
          </a:xfrm>
          <a:prstGeom prst="rect">
            <a:avLst/>
          </a:prstGeom>
          <a:noFill/>
          <a:ln/>
        </p:spPr>
        <p:txBody>
          <a:bodyPr wrap="square" lIns="0" tIns="0" rIns="0" bIns="0" rtlCol="0" anchor="t"/>
          <a:lstStyle/>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export const catalog = defineCatalog(schema,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components: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Card: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props: z.object({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title: z.string(),</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subtitle: z.string().nullable(),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description: "A titled container. Put related elements inside it.",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Row: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props: z.object({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gap: z.enum(["small", "large"]).nullable(),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description: "Lays its children out side by side.",</a:t>
            </a:r>
            <a:endParaRPr lang="en-US" sz="1050" dirty="0"/>
          </a:p>
        </p:txBody>
      </p:sp>
      <p:sp>
        <p:nvSpPr>
          <p:cNvPr id="7" name="Text 5"/>
          <p:cNvSpPr/>
          <p:nvPr/>
        </p:nvSpPr>
        <p:spPr>
          <a:xfrm>
            <a:off x="548640" y="4152138"/>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05_json_render/step_01_json_render_catalog/catalog.mjs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schema</a:t>
            </a:r>
            <a:pPr indent="0" marL="0">
              <a:buNone/>
            </a:pPr>
            <a:r>
              <a:rPr lang="en-US" sz="1200" dirty="0">
                <a:solidFill>
                  <a:srgbClr val="1F2937"/>
                </a:solidFill>
                <a:latin typeface="Calibri" pitchFamily="34" charset="0"/>
                <a:ea typeface="Calibri" pitchFamily="34" charset="-122"/>
                <a:cs typeface="Calibri" pitchFamily="34" charset="-120"/>
              </a:rPr>
              <a:t> from </a:t>
            </a:r>
            <a:pPr indent="0" marL="0">
              <a:buNone/>
            </a:pPr>
            <a:r>
              <a:rPr lang="en-US" sz="1200" dirty="0">
                <a:solidFill>
                  <a:srgbClr val="BE123C"/>
                </a:solidFill>
                <a:latin typeface="Courier New" pitchFamily="34" charset="0"/>
                <a:ea typeface="Courier New" pitchFamily="34" charset="-122"/>
                <a:cs typeface="Courier New" pitchFamily="34" charset="-120"/>
              </a:rPr>
              <a:t>@json-render/react/schema</a:t>
            </a:r>
            <a:pPr indent="0" marL="0">
              <a:buNone/>
            </a:pPr>
            <a:r>
              <a:rPr lang="en-US" sz="1200" dirty="0">
                <a:solidFill>
                  <a:srgbClr val="1F2937"/>
                </a:solidFill>
                <a:latin typeface="Calibri" pitchFamily="34" charset="0"/>
                <a:ea typeface="Calibri" pitchFamily="34" charset="-122"/>
                <a:cs typeface="Calibri" pitchFamily="34" charset="-120"/>
              </a:rPr>
              <a:t> fixes the spec shape: </a:t>
            </a:r>
            <a:pPr indent="0" marL="0">
              <a:buNone/>
            </a:pPr>
            <a:r>
              <a:rPr lang="en-US" sz="1200" dirty="0">
                <a:solidFill>
                  <a:srgbClr val="BE123C"/>
                </a:solidFill>
                <a:latin typeface="Courier New" pitchFamily="34" charset="0"/>
                <a:ea typeface="Courier New" pitchFamily="34" charset="-122"/>
                <a:cs typeface="Courier New" pitchFamily="34" charset="-120"/>
              </a:rPr>
              <a:t>{root, elements: {id: {type, props, children}}}</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.nullable()</a:t>
            </a:r>
            <a:pPr indent="0" marL="0">
              <a:buNone/>
            </a:pPr>
            <a:r>
              <a:rPr lang="en-US" sz="1200" dirty="0">
                <a:solidFill>
                  <a:srgbClr val="1F2937"/>
                </a:solidFill>
                <a:latin typeface="Calibri" pitchFamily="34" charset="0"/>
                <a:ea typeface="Calibri" pitchFamily="34" charset="-122"/>
                <a:cs typeface="Calibri" pitchFamily="34" charset="-120"/>
              </a:rPr>
              <a:t> is the one annotation: the prompt shows </a:t>
            </a:r>
            <a:pPr indent="0" marL="0">
              <a:buNone/>
            </a:pPr>
            <a:r>
              <a:rPr lang="en-US" sz="1200" dirty="0">
                <a:solidFill>
                  <a:srgbClr val="BE123C"/>
                </a:solidFill>
                <a:latin typeface="Courier New" pitchFamily="34" charset="0"/>
                <a:ea typeface="Courier New" pitchFamily="34" charset="-122"/>
                <a:cs typeface="Courier New" pitchFamily="34" charset="-120"/>
              </a:rPr>
              <a:t>subtitle?</a:t>
            </a:r>
            <a:pPr indent="0" marL="0">
              <a:buNone/>
            </a:pPr>
            <a:r>
              <a:rPr lang="en-US" sz="1200" dirty="0">
                <a:solidFill>
                  <a:srgbClr val="1F2937"/>
                </a:solidFill>
                <a:latin typeface="Calibri" pitchFamily="34" charset="0"/>
                <a:ea typeface="Calibri" pitchFamily="34" charset="-122"/>
                <a:cs typeface="Calibri" pitchFamily="34" charset="-120"/>
              </a:rPr>
              <a:t>, the JSON Schema allows null, </a:t>
            </a:r>
            <a:pPr indent="0" marL="0">
              <a:buNone/>
            </a:pPr>
            <a:r>
              <a:rPr lang="en-US" sz="1200" dirty="0">
                <a:solidFill>
                  <a:srgbClr val="BE123C"/>
                </a:solidFill>
                <a:latin typeface="Courier New" pitchFamily="34" charset="0"/>
                <a:ea typeface="Courier New" pitchFamily="34" charset="-122"/>
                <a:cs typeface="Courier New" pitchFamily="34" charset="-120"/>
              </a:rPr>
              <a:t>spec.py</a:t>
            </a:r>
            <a:pPr indent="0" marL="0">
              <a:buNone/>
            </a:pPr>
            <a:r>
              <a:rPr lang="en-US" sz="1200" dirty="0">
                <a:solidFill>
                  <a:srgbClr val="1F2937"/>
                </a:solidFill>
                <a:latin typeface="Calibri" pitchFamily="34" charset="0"/>
                <a:ea typeface="Calibri" pitchFamily="34" charset="-122"/>
                <a:cs typeface="Calibri" pitchFamily="34" charset="-120"/>
              </a:rPr>
              <a:t> accepts it.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description goes into the generated prompt word for word; it is the model's only guide to when to use the component.</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same file serves the prompt export, the JSON Schema export, the page and the Node tests.</a:t>
            </a:r>
            <a:endParaRPr lang="en-US" sz="12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The server checks the spec for the three faults a renderer fails on quietly</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83</a:t>
            </a:r>
            <a:endParaRPr lang="en-US" sz="1000" dirty="0"/>
          </a:p>
        </p:txBody>
      </p:sp>
      <p:sp>
        <p:nvSpPr>
          <p:cNvPr id="5" name="Shape 3"/>
          <p:cNvSpPr/>
          <p:nvPr/>
        </p:nvSpPr>
        <p:spPr>
          <a:xfrm>
            <a:off x="548640" y="1417320"/>
            <a:ext cx="7406640" cy="3177159"/>
          </a:xfrm>
          <a:prstGeom prst="roundRect">
            <a:avLst>
              <a:gd name="adj" fmla="val 2878"/>
            </a:avLst>
          </a:prstGeom>
          <a:solidFill>
            <a:srgbClr val="0F172A"/>
          </a:solidFill>
          <a:ln w="12700">
            <a:solidFill>
              <a:srgbClr val="0F172A"/>
            </a:solidFill>
            <a:prstDash val="solid"/>
          </a:ln>
        </p:spPr>
      </p:sp>
      <p:sp>
        <p:nvSpPr>
          <p:cNvPr id="6" name="Text 4"/>
          <p:cNvSpPr/>
          <p:nvPr/>
        </p:nvSpPr>
        <p:spPr>
          <a:xfrm>
            <a:off x="731520" y="1554480"/>
            <a:ext cx="7040880" cy="2902839"/>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for element_id, element in elements.items():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kind = element.get("type")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kind not in components: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problems.append(f"{element_id}: unknown type {kind!r}")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continue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child in element.get("children",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child not in elements: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problems.append(f"{element_id}: child {child!r} is not in elements")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props = {k: v for k, v in element.get("props", {}).items() if not is_expression(v)}</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expressions = set(element.get("props", {})) - set(props)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validator = jsonschema.Draft202012Validator(props_schema(components[kind], expressions))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error in validator.iter_errors(props):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where = "/".join(str(p) for p in error.path) or "props"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problems.append(f"{element_id}: {kind}.{where}: {error.message}")</a:t>
            </a:r>
            <a:endParaRPr lang="en-US" sz="1050" dirty="0"/>
          </a:p>
        </p:txBody>
      </p:sp>
      <p:sp>
        <p:nvSpPr>
          <p:cNvPr id="7" name="Text 5"/>
          <p:cNvSpPr/>
          <p:nvPr/>
        </p:nvSpPr>
        <p:spPr>
          <a:xfrm>
            <a:off x="548640" y="4640199"/>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05_json_render/step_01_json_render_catalog/spec.py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 unknown type: the catalog has no such component, so the renderer would draw nothing for that element.</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dangling child id: a parent names an element that is not in the map.</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Expression props such as </a:t>
            </a:r>
            <a:pPr indent="0" marL="0">
              <a:buNone/>
            </a:pPr>
            <a:r>
              <a:rPr lang="en-US" sz="1200" dirty="0">
                <a:solidFill>
                  <a:srgbClr val="BE123C"/>
                </a:solidFill>
                <a:latin typeface="Courier New" pitchFamily="34" charset="0"/>
                <a:ea typeface="Courier New" pitchFamily="34" charset="-122"/>
                <a:cs typeface="Courier New" pitchFamily="34" charset="-120"/>
              </a:rPr>
              <a:t>{"$state": ...}</a:t>
            </a:r>
            <a:pPr indent="0" marL="0">
              <a:buNone/>
            </a:pPr>
            <a:r>
              <a:rPr lang="en-US" sz="1200" dirty="0">
                <a:solidFill>
                  <a:srgbClr val="1F2937"/>
                </a:solidFill>
                <a:latin typeface="Calibri" pitchFamily="34" charset="0"/>
                <a:ea typeface="Calibri" pitchFamily="34" charset="-122"/>
                <a:cs typeface="Calibri" pitchFamily="34" charset="-120"/>
              </a:rPr>
              <a:t> are set aside; the renderer resolves them before the component sees them.</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Python cannot run the Zod schema, so it validates against the JSON Schema </a:t>
            </a:r>
            <a:pPr indent="0" marL="0">
              <a:buNone/>
            </a:pPr>
            <a:r>
              <a:rPr lang="en-US" sz="1250" dirty="0">
                <a:solidFill>
                  <a:srgbClr val="BE123C"/>
                </a:solidFill>
                <a:latin typeface="Courier New" pitchFamily="34" charset="0"/>
                <a:ea typeface="Courier New" pitchFamily="34" charset="-122"/>
                <a:cs typeface="Courier New" pitchFamily="34" charset="-120"/>
              </a:rPr>
              <a:t>catalog_json.mjs</a:t>
            </a:r>
            <a:pPr indent="0" marL="0">
              <a:buNone/>
            </a:pPr>
            <a:r>
              <a:rPr lang="en-US" sz="1250" dirty="0">
                <a:solidFill>
                  <a:srgbClr val="4B5563"/>
                </a:solidFill>
                <a:latin typeface="Calibri" pitchFamily="34" charset="0"/>
                <a:ea typeface="Calibri" pitchFamily="34" charset="-122"/>
                <a:cs typeface="Calibri" pitchFamily="34" charset="-120"/>
              </a:rPr>
              <a:t> exported: two runtimes, one catalog.</a:t>
            </a:r>
            <a:endParaRPr lang="en-US" sz="12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05.1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The whole dashboard arrived at 5.8 s and painted once</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84</a:t>
            </a:r>
            <a:endParaRPr lang="en-US" sz="1000" dirty="0"/>
          </a:p>
        </p:txBody>
      </p:sp>
      <p:pic>
        <p:nvPicPr>
          <p:cNvPr id="5" name="Image 0" descr="C:\Users\evija\simple-coding-harness\genui\05_json_render\step_01_json_render_catalog\demo.png">    </p:cNvPr>
          <p:cNvPicPr>
            <a:picLocks noChangeAspect="1"/>
          </p:cNvPicPr>
          <p:nvPr/>
        </p:nvPicPr>
        <p:blipFill>
          <a:blip r:embed="rId1"/>
          <a:srcRect l="0" r="0" t="0" b="0"/>
          <a:stretch/>
        </p:blipFill>
        <p:spPr>
          <a:xfrm>
            <a:off x="548640" y="1417320"/>
            <a:ext cx="5943600" cy="4480560"/>
          </a:xfrm>
          <a:prstGeom prst="rect">
            <a:avLst/>
          </a:prstGeom>
        </p:spPr>
      </p:pic>
      <p:sp>
        <p:nvSpPr>
          <p:cNvPr id="6" name="Shape 3"/>
          <p:cNvSpPr/>
          <p:nvPr/>
        </p:nvSpPr>
        <p:spPr>
          <a:xfrm>
            <a:off x="548640" y="1417320"/>
            <a:ext cx="5943600" cy="4480560"/>
          </a:xfrm>
          <a:prstGeom prst="rect">
            <a:avLst/>
          </a:prstGeom>
          <a:ln w="12700">
            <a:solidFill>
              <a:srgbClr val="D7DAE5"/>
            </a:solidFill>
            <a:prstDash val="solid"/>
          </a:ln>
        </p:spPr>
      </p:sp>
      <p:sp>
        <p:nvSpPr>
          <p:cNvPr id="7" name="Shape 4"/>
          <p:cNvSpPr/>
          <p:nvPr/>
        </p:nvSpPr>
        <p:spPr>
          <a:xfrm>
            <a:off x="6858000" y="1417320"/>
            <a:ext cx="47823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995160" y="1472184"/>
            <a:ext cx="450799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5.8 s</a:t>
            </a:r>
            <a:endParaRPr lang="en-US" sz="2800" dirty="0"/>
          </a:p>
        </p:txBody>
      </p:sp>
      <p:sp>
        <p:nvSpPr>
          <p:cNvPr id="9" name="Text 6"/>
          <p:cNvSpPr/>
          <p:nvPr/>
        </p:nvSpPr>
        <p:spPr>
          <a:xfrm>
            <a:off x="6995160" y="2039112"/>
            <a:ext cx="45079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first paint, after the complete spec</a:t>
            </a:r>
            <a:endParaRPr lang="en-US" sz="1050" dirty="0"/>
          </a:p>
        </p:txBody>
      </p:sp>
      <p:sp>
        <p:nvSpPr>
          <p:cNvPr id="10" name="Shape 7"/>
          <p:cNvSpPr/>
          <p:nvPr/>
        </p:nvSpPr>
        <p:spPr>
          <a:xfrm>
            <a:off x="6858000" y="2697480"/>
            <a:ext cx="47823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995160" y="2752344"/>
            <a:ext cx="45079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9</a:t>
            </a:r>
            <a:endParaRPr lang="en-US" sz="2800" dirty="0"/>
          </a:p>
        </p:txBody>
      </p:sp>
      <p:sp>
        <p:nvSpPr>
          <p:cNvPr id="12" name="Text 9"/>
          <p:cNvSpPr/>
          <p:nvPr/>
        </p:nvSpPr>
        <p:spPr>
          <a:xfrm>
            <a:off x="6995160" y="3319272"/>
            <a:ext cx="45079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elements in the spec</a:t>
            </a:r>
            <a:endParaRPr lang="en-US" sz="1050" dirty="0"/>
          </a:p>
        </p:txBody>
      </p:sp>
      <p:sp>
        <p:nvSpPr>
          <p:cNvPr id="13" name="Text 10"/>
          <p:cNvSpPr/>
          <p:nvPr/>
        </p:nvSpPr>
        <p:spPr>
          <a:xfrm>
            <a:off x="6858000" y="4023360"/>
            <a:ext cx="478231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Three metrics in a row, then two cards with tables: the model's own layout from six components.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three numbers live in </a:t>
            </a:r>
            <a:pPr indent="0" marL="0">
              <a:buNone/>
            </a:pPr>
            <a:r>
              <a:rPr lang="en-US" sz="1150" dirty="0">
                <a:solidFill>
                  <a:srgbClr val="BE123C"/>
                </a:solidFill>
                <a:latin typeface="Courier New" pitchFamily="34" charset="0"/>
                <a:ea typeface="Courier New" pitchFamily="34" charset="-122"/>
                <a:cs typeface="Courier New" pitchFamily="34" charset="-120"/>
              </a:rPr>
              <a:t>state</a:t>
            </a:r>
            <a:pPr indent="0" marL="0">
              <a:buNone/>
            </a:pPr>
            <a:r>
              <a:rPr lang="en-US" sz="1250" dirty="0">
                <a:solidFill>
                  <a:srgbClr val="1F2937"/>
                </a:solidFill>
                <a:latin typeface="Calibri" pitchFamily="34" charset="0"/>
                <a:ea typeface="Calibri" pitchFamily="34" charset="-122"/>
                <a:cs typeface="Calibri" pitchFamily="34" charset="-120"/>
              </a:rPr>
              <a:t>; the metrics read them with </a:t>
            </a:r>
            <a:pPr indent="0" marL="0">
              <a:buNone/>
            </a:pPr>
            <a:r>
              <a:rPr lang="en-US" sz="1150" dirty="0">
                <a:solidFill>
                  <a:srgbClr val="BE123C"/>
                </a:solidFill>
                <a:latin typeface="Courier New" pitchFamily="34" charset="0"/>
                <a:ea typeface="Courier New" pitchFamily="34" charset="-122"/>
                <a:cs typeface="Courier New" pitchFamily="34" charset="-120"/>
              </a:rPr>
              <a:t>$state</a:t>
            </a:r>
            <a:pPr indent="0" marL="0">
              <a:buNone/>
            </a:pPr>
            <a:r>
              <a:rPr lang="en-US" sz="1250" dirty="0">
                <a:solidFill>
                  <a:srgbClr val="1F2937"/>
                </a:solidFill>
                <a:latin typeface="Calibri" pitchFamily="34" charset="0"/>
                <a:ea typeface="Calibri" pitchFamily="34" charset="-122"/>
                <a:cs typeface="Calibri" pitchFamily="34" charset="-120"/>
              </a:rPr>
              <a:t> and </a:t>
            </a:r>
            <a:pPr indent="0" marL="0">
              <a:buNone/>
            </a:pPr>
            <a:r>
              <a:rPr lang="en-US" sz="1150" dirty="0">
                <a:solidFill>
                  <a:srgbClr val="BE123C"/>
                </a:solidFill>
                <a:latin typeface="Courier New" pitchFamily="34" charset="0"/>
                <a:ea typeface="Courier New" pitchFamily="34" charset="-122"/>
                <a:cs typeface="Courier New" pitchFamily="34" charset="-120"/>
              </a:rPr>
              <a:t>$template</a:t>
            </a:r>
            <a:pPr indent="0" marL="0">
              <a:buNone/>
            </a:pPr>
            <a:r>
              <a:rPr lang="en-US" sz="1250" dirty="0">
                <a:solidFill>
                  <a:srgbClr val="1F2937"/>
                </a:solidFill>
                <a:latin typeface="Calibri" pitchFamily="34" charset="0"/>
                <a:ea typeface="Calibri" pitchFamily="34" charset="-122"/>
                <a:cs typeface="Calibri" pitchFamily="34" charset="-120"/>
              </a:rPr>
              <a:t> props.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Nothing rendered before 5.8 s; the reply was 351 tokens, the prompt 4,109.</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Most of the 4,100-token prompt is the library's text about state, repeats, events and visibility: the price of a general renderer.</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05.2 · LEVEL 16 OF 23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A flat element map paints on its second line</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85</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The library's native format is </a:t>
            </a:r>
            <a:pPr indent="0" marL="0">
              <a:buNone/>
            </a:pPr>
            <a:r>
              <a:rPr lang="en-US" sz="1600" b="1" dirty="0">
                <a:solidFill>
                  <a:srgbClr val="141B3D"/>
                </a:solidFill>
                <a:latin typeface="Calibri" pitchFamily="34" charset="0"/>
                <a:ea typeface="Calibri" pitchFamily="34" charset="-122"/>
                <a:cs typeface="Calibri" pitchFamily="34" charset="-120"/>
              </a:rPr>
              <a:t>one RFC 6902 patch per line</a:t>
            </a:r>
            <a:pPr indent="0" marL="0">
              <a:buNone/>
            </a:pPr>
            <a:r>
              <a:rPr lang="en-US" sz="1600" dirty="0">
                <a:solidFill>
                  <a:srgbClr val="141B3D"/>
                </a:solidFill>
                <a:latin typeface="Calibri" pitchFamily="34" charset="0"/>
                <a:ea typeface="Calibri" pitchFamily="34" charset="-122"/>
                <a:cs typeface="Calibri" pitchFamily="34" charset="-120"/>
              </a:rPr>
              <a:t>; each element is a line complete on its own, so the page renders after every patch.</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four "one object" rules are gone; </a:t>
            </a:r>
            <a:pPr indent="0" marL="0">
              <a:buNone/>
            </a:pPr>
            <a:r>
              <a:rPr lang="en-US" sz="1100" dirty="0">
                <a:solidFill>
                  <a:srgbClr val="BE123C"/>
                </a:solidFill>
                <a:latin typeface="Courier New" pitchFamily="34" charset="0"/>
                <a:ea typeface="Courier New" pitchFamily="34" charset="-122"/>
                <a:cs typeface="Courier New" pitchFamily="34" charset="-120"/>
              </a:rPr>
              <a:t>llm.py</a:t>
            </a:r>
            <a:pPr indent="0" marL="0">
              <a:buNone/>
            </a:pPr>
            <a:r>
              <a:rPr lang="en-US" sz="1200" dirty="0">
                <a:solidFill>
                  <a:srgbClr val="1F2937"/>
                </a:solidFill>
                <a:latin typeface="Calibri" pitchFamily="34" charset="0"/>
                <a:ea typeface="Calibri" pitchFamily="34" charset="-122"/>
                <a:cs typeface="Calibri" pitchFamily="34" charset="-120"/>
              </a:rPr>
              <a:t> streams with no JSON mode, because JSONL is many objects.</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first line sets </a:t>
            </a:r>
            <a:pPr indent="0" marL="0">
              <a:buNone/>
            </a:pPr>
            <a:r>
              <a:rPr lang="en-US" sz="1100" dirty="0">
                <a:solidFill>
                  <a:srgbClr val="BE123C"/>
                </a:solidFill>
                <a:latin typeface="Courier New" pitchFamily="34" charset="0"/>
                <a:ea typeface="Courier New" pitchFamily="34" charset="-122"/>
                <a:cs typeface="Courier New" pitchFamily="34" charset="-120"/>
              </a:rPr>
              <a:t>/root</a:t>
            </a:r>
            <a:pPr indent="0" marL="0">
              <a:buNone/>
            </a:pPr>
            <a:r>
              <a:rPr lang="en-US" sz="1200" dirty="0">
                <a:solidFill>
                  <a:srgbClr val="1F2937"/>
                </a:solidFill>
                <a:latin typeface="Calibri" pitchFamily="34" charset="0"/>
                <a:ea typeface="Calibri" pitchFamily="34" charset="-122"/>
                <a:cs typeface="Calibri" pitchFamily="34" charset="-120"/>
              </a:rPr>
              <a:t>; the second adds the root element, and the page can paint.</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 parent lists children that have not arrived; the renderer skips them until their line comes.</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t>
            </a:r>
            <a:pPr indent="0" marL="0">
              <a:buNone/>
            </a:pPr>
            <a:r>
              <a:rPr lang="en-US" sz="1100" dirty="0">
                <a:solidFill>
                  <a:srgbClr val="BE123C"/>
                </a:solidFill>
                <a:latin typeface="Courier New" pitchFamily="34" charset="0"/>
                <a:ea typeface="Courier New" pitchFamily="34" charset="-122"/>
                <a:cs typeface="Courier New" pitchFamily="34" charset="-120"/>
              </a:rPr>
              <a:t>json_patch.py</a:t>
            </a:r>
            <a:pPr indent="0" marL="0">
              <a:buNone/>
            </a:pPr>
            <a:r>
              <a:rPr lang="en-US" sz="1200" dirty="0">
                <a:solidFill>
                  <a:srgbClr val="1F2937"/>
                </a:solidFill>
                <a:latin typeface="Calibri" pitchFamily="34" charset="0"/>
                <a:ea typeface="Calibri" pitchFamily="34" charset="-122"/>
                <a:cs typeface="Calibri" pitchFamily="34" charset="-120"/>
              </a:rPr>
              <a:t> mirrors the library's compiler with its two tolerances: </a:t>
            </a:r>
            <a:pPr indent="0" marL="0">
              <a:buNone/>
            </a:pPr>
            <a:r>
              <a:rPr lang="en-US" sz="1100" dirty="0">
                <a:solidFill>
                  <a:srgbClr val="BE123C"/>
                </a:solidFill>
                <a:latin typeface="Courier New" pitchFamily="34" charset="0"/>
                <a:ea typeface="Courier New" pitchFamily="34" charset="-122"/>
                <a:cs typeface="Courier New" pitchFamily="34" charset="-120"/>
              </a:rPr>
              <a:t>add</a:t>
            </a:r>
            <a:pPr indent="0" marL="0">
              <a:buNone/>
            </a:pPr>
            <a:r>
              <a:rPr lang="en-US" sz="1200" dirty="0">
                <a:solidFill>
                  <a:srgbClr val="1F2937"/>
                </a:solidFill>
                <a:latin typeface="Calibri" pitchFamily="34" charset="0"/>
                <a:ea typeface="Calibri" pitchFamily="34" charset="-122"/>
                <a:cs typeface="Calibri" pitchFamily="34" charset="-120"/>
              </a:rPr>
              <a:t> creates a missing parent, </a:t>
            </a:r>
            <a:pPr indent="0" marL="0">
              <a:buNone/>
            </a:pPr>
            <a:r>
              <a:rPr lang="en-US" sz="1100" dirty="0">
                <a:solidFill>
                  <a:srgbClr val="BE123C"/>
                </a:solidFill>
                <a:latin typeface="Courier New" pitchFamily="34" charset="0"/>
                <a:ea typeface="Courier New" pitchFamily="34" charset="-122"/>
                <a:cs typeface="Courier New" pitchFamily="34" charset="-120"/>
              </a:rPr>
              <a:t>replace</a:t>
            </a:r>
            <a:pPr indent="0" marL="0">
              <a:buNone/>
            </a:pPr>
            <a:r>
              <a:rPr lang="en-US" sz="1200" dirty="0">
                <a:solidFill>
                  <a:srgbClr val="1F2937"/>
                </a:solidFill>
                <a:latin typeface="Calibri" pitchFamily="34" charset="0"/>
                <a:ea typeface="Calibri" pitchFamily="34" charset="-122"/>
                <a:cs typeface="Calibri" pitchFamily="34" charset="-120"/>
              </a:rPr>
              <a:t> a missing target.</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t>
            </a:r>
            <a:pPr indent="0" marL="0">
              <a:buNone/>
            </a:pPr>
            <a:r>
              <a:rPr lang="en-US" sz="1100" dirty="0">
                <a:solidFill>
                  <a:srgbClr val="BE123C"/>
                </a:solidFill>
                <a:latin typeface="Courier New" pitchFamily="34" charset="0"/>
                <a:ea typeface="Courier New" pitchFamily="34" charset="-122"/>
                <a:cs typeface="Courier New" pitchFamily="34" charset="-120"/>
              </a:rPr>
              <a:t>server.py</a:t>
            </a:r>
            <a:pPr indent="0" marL="0">
              <a:buNone/>
            </a:pPr>
            <a:r>
              <a:rPr lang="en-US" sz="1200" dirty="0">
                <a:solidFill>
                  <a:srgbClr val="1F2937"/>
                </a:solidFill>
                <a:latin typeface="Calibri" pitchFamily="34" charset="0"/>
                <a:ea typeface="Calibri" pitchFamily="34" charset="-122"/>
                <a:cs typeface="Calibri" pitchFamily="34" charset="-120"/>
              </a:rPr>
              <a:t> relays every chunk unchanged and compiles a copy, so it ends with the spec, the patches and the timings.</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t>
            </a:r>
            <a:pPr indent="0" marL="0">
              <a:buNone/>
            </a:pPr>
            <a:r>
              <a:rPr lang="en-US" sz="1100" dirty="0">
                <a:solidFill>
                  <a:srgbClr val="BE123C"/>
                </a:solidFill>
                <a:latin typeface="Courier New" pitchFamily="34" charset="0"/>
                <a:ea typeface="Courier New" pitchFamily="34" charset="-122"/>
                <a:cs typeface="Courier New" pitchFamily="34" charset="-120"/>
              </a:rPr>
              <a:t>app.mjs</a:t>
            </a:r>
            <a:pPr indent="0" marL="0">
              <a:buNone/>
            </a:pPr>
            <a:r>
              <a:rPr lang="en-US" sz="1200" dirty="0">
                <a:solidFill>
                  <a:srgbClr val="1F2937"/>
                </a:solidFill>
                <a:latin typeface="Calibri" pitchFamily="34" charset="0"/>
                <a:ea typeface="Calibri" pitchFamily="34" charset="-122"/>
                <a:cs typeface="Calibri" pitchFamily="34" charset="-120"/>
              </a:rPr>
              <a:t> pushes each chunk into </a:t>
            </a:r>
            <a:pPr indent="0" marL="0">
              <a:buNone/>
            </a:pPr>
            <a:r>
              <a:rPr lang="en-US" sz="1100" dirty="0">
                <a:solidFill>
                  <a:srgbClr val="BE123C"/>
                </a:solidFill>
                <a:latin typeface="Courier New" pitchFamily="34" charset="0"/>
                <a:ea typeface="Courier New" pitchFamily="34" charset="-122"/>
                <a:cs typeface="Courier New" pitchFamily="34" charset="-120"/>
              </a:rPr>
              <a:t>createSpecStreamCompiler</a:t>
            </a:r>
            <a:pPr indent="0" marL="0">
              <a:buNone/>
            </a:pPr>
            <a:r>
              <a:rPr lang="en-US" sz="1200" dirty="0">
                <a:solidFill>
                  <a:srgbClr val="1F2937"/>
                </a:solidFill>
                <a:latin typeface="Calibri" pitchFamily="34" charset="0"/>
                <a:ea typeface="Calibri" pitchFamily="34" charset="-122"/>
                <a:cs typeface="Calibri" pitchFamily="34" charset="-120"/>
              </a:rPr>
              <a:t>; </a:t>
            </a:r>
            <a:pPr indent="0" marL="0">
              <a:buNone/>
            </a:pPr>
            <a:r>
              <a:rPr lang="en-US" sz="1100" dirty="0">
                <a:solidFill>
                  <a:srgbClr val="BE123C"/>
                </a:solidFill>
                <a:latin typeface="Courier New" pitchFamily="34" charset="0"/>
                <a:ea typeface="Courier New" pitchFamily="34" charset="-122"/>
                <a:cs typeface="Courier New" pitchFamily="34" charset="-120"/>
              </a:rPr>
              <a:t>Renderer</a:t>
            </a:r>
            <a:pPr indent="0" marL="0">
              <a:buNone/>
            </a:pPr>
            <a:r>
              <a:rPr lang="en-US" sz="1200" dirty="0">
                <a:solidFill>
                  <a:srgbClr val="1F2937"/>
                </a:solidFill>
                <a:latin typeface="Calibri" pitchFamily="34" charset="0"/>
                <a:ea typeface="Calibri" pitchFamily="34" charset="-122"/>
                <a:cs typeface="Calibri" pitchFamily="34" charset="-120"/>
              </a:rPr>
              <a:t> gets an empty element map until </a:t>
            </a:r>
            <a:pPr indent="0" marL="0">
              <a:buNone/>
            </a:pPr>
            <a:r>
              <a:rPr lang="en-US" sz="1100" dirty="0">
                <a:solidFill>
                  <a:srgbClr val="BE123C"/>
                </a:solidFill>
                <a:latin typeface="Courier New" pitchFamily="34" charset="0"/>
                <a:ea typeface="Courier New" pitchFamily="34" charset="-122"/>
                <a:cs typeface="Courier New" pitchFamily="34" charset="-120"/>
              </a:rPr>
              <a:t>/elements</a:t>
            </a:r>
            <a:pPr indent="0" marL="0">
              <a:buNone/>
            </a:pPr>
            <a:r>
              <a:rPr lang="en-US" sz="1200" dirty="0">
                <a:solidFill>
                  <a:srgbClr val="1F2937"/>
                </a:solidFill>
                <a:latin typeface="Calibri" pitchFamily="34" charset="0"/>
                <a:ea typeface="Calibri" pitchFamily="34" charset="-122"/>
                <a:cs typeface="Calibri" pitchFamily="34" charset="-120"/>
              </a:rPr>
              <a:t> exists.</a:t>
            </a:r>
            <a:endParaRPr lang="en-US" sz="1200" dirty="0"/>
          </a:p>
        </p:txBody>
      </p:sp>
      <p:sp>
        <p:nvSpPr>
          <p:cNvPr id="7" name="Shape 5"/>
          <p:cNvSpPr/>
          <p:nvPr/>
        </p:nvSpPr>
        <p:spPr>
          <a:xfrm>
            <a:off x="6035040" y="1600200"/>
            <a:ext cx="2377440" cy="475488"/>
          </a:xfrm>
          <a:prstGeom prst="roundRect">
            <a:avLst>
              <a:gd name="adj" fmla="val 15385"/>
            </a:avLst>
          </a:prstGeom>
          <a:solidFill>
            <a:srgbClr val="F6F7FB"/>
          </a:solidFill>
          <a:ln w="12700">
            <a:solidFill>
              <a:srgbClr val="141B3D"/>
            </a:solidFill>
            <a:prstDash val="solid"/>
          </a:ln>
        </p:spPr>
      </p:sp>
      <p:sp>
        <p:nvSpPr>
          <p:cNvPr id="8" name="Text 6"/>
          <p:cNvSpPr/>
          <p:nvPr/>
        </p:nvSpPr>
        <p:spPr>
          <a:xfrm>
            <a:off x="6126480" y="1600200"/>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add /root</a:t>
            </a:r>
            <a:endParaRPr lang="en-US" sz="1050" dirty="0"/>
          </a:p>
        </p:txBody>
      </p:sp>
      <p:sp>
        <p:nvSpPr>
          <p:cNvPr id="9" name="Text 7"/>
          <p:cNvSpPr/>
          <p:nvPr/>
        </p:nvSpPr>
        <p:spPr>
          <a:xfrm>
            <a:off x="8549640" y="1600200"/>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root id, "dashboard"; nothing to draw yet</a:t>
            </a:r>
            <a:endParaRPr lang="en-US" sz="1150" dirty="0"/>
          </a:p>
        </p:txBody>
      </p:sp>
      <p:sp>
        <p:nvSpPr>
          <p:cNvPr id="10" name="Shape 8"/>
          <p:cNvSpPr/>
          <p:nvPr/>
        </p:nvSpPr>
        <p:spPr>
          <a:xfrm>
            <a:off x="6035040" y="2167128"/>
            <a:ext cx="2377440" cy="475488"/>
          </a:xfrm>
          <a:prstGeom prst="roundRect">
            <a:avLst>
              <a:gd name="adj" fmla="val 15385"/>
            </a:avLst>
          </a:prstGeom>
          <a:solidFill>
            <a:srgbClr val="ECFDF5"/>
          </a:solidFill>
          <a:ln w="12700">
            <a:solidFill>
              <a:srgbClr val="15803D"/>
            </a:solidFill>
            <a:prstDash val="solid"/>
          </a:ln>
        </p:spPr>
      </p:sp>
      <p:sp>
        <p:nvSpPr>
          <p:cNvPr id="11" name="Text 9"/>
          <p:cNvSpPr/>
          <p:nvPr/>
        </p:nvSpPr>
        <p:spPr>
          <a:xfrm>
            <a:off x="6126480" y="2167128"/>
            <a:ext cx="2194560" cy="475488"/>
          </a:xfrm>
          <a:prstGeom prst="rect">
            <a:avLst/>
          </a:prstGeom>
          <a:noFill/>
          <a:ln/>
        </p:spPr>
        <p:txBody>
          <a:bodyPr wrap="square" lIns="0" tIns="0" rIns="0" bIns="0" rtlCol="0" anchor="ctr"/>
          <a:lstStyle/>
          <a:p>
            <a:pPr indent="0" marL="0">
              <a:buNone/>
            </a:pPr>
            <a:r>
              <a:rPr lang="en-US" sz="1050" b="1" dirty="0">
                <a:solidFill>
                  <a:srgbClr val="15803D"/>
                </a:solidFill>
                <a:latin typeface="Courier New" pitchFamily="34" charset="0"/>
                <a:ea typeface="Courier New" pitchFamily="34" charset="-122"/>
                <a:cs typeface="Courier New" pitchFamily="34" charset="-120"/>
              </a:rPr>
              <a:t>add /elements/dashboard</a:t>
            </a:r>
            <a:endParaRPr lang="en-US" sz="1050" dirty="0"/>
          </a:p>
        </p:txBody>
      </p:sp>
      <p:sp>
        <p:nvSpPr>
          <p:cNvPr id="12" name="Text 10"/>
          <p:cNvSpPr/>
          <p:nvPr/>
        </p:nvSpPr>
        <p:spPr>
          <a:xfrm>
            <a:off x="8549640" y="2167128"/>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Card with a title: the page paints, first paint</a:t>
            </a:r>
            <a:endParaRPr lang="en-US" sz="1150" dirty="0"/>
          </a:p>
        </p:txBody>
      </p:sp>
      <p:sp>
        <p:nvSpPr>
          <p:cNvPr id="13" name="Shape 11"/>
          <p:cNvSpPr/>
          <p:nvPr/>
        </p:nvSpPr>
        <p:spPr>
          <a:xfrm>
            <a:off x="6035040" y="2734056"/>
            <a:ext cx="2377440" cy="475488"/>
          </a:xfrm>
          <a:prstGeom prst="roundRect">
            <a:avLst>
              <a:gd name="adj" fmla="val 15385"/>
            </a:avLst>
          </a:prstGeom>
          <a:solidFill>
            <a:srgbClr val="F6F7FB"/>
          </a:solidFill>
          <a:ln w="12700">
            <a:solidFill>
              <a:srgbClr val="141B3D"/>
            </a:solidFill>
            <a:prstDash val="solid"/>
          </a:ln>
        </p:spPr>
      </p:sp>
      <p:sp>
        <p:nvSpPr>
          <p:cNvPr id="14" name="Text 12"/>
          <p:cNvSpPr/>
          <p:nvPr/>
        </p:nvSpPr>
        <p:spPr>
          <a:xfrm>
            <a:off x="6126480" y="2734056"/>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add /elements/row-metrics</a:t>
            </a:r>
            <a:endParaRPr lang="en-US" sz="1050" dirty="0"/>
          </a:p>
        </p:txBody>
      </p:sp>
      <p:sp>
        <p:nvSpPr>
          <p:cNvPr id="15" name="Text 13"/>
          <p:cNvSpPr/>
          <p:nvPr/>
        </p:nvSpPr>
        <p:spPr>
          <a:xfrm>
            <a:off x="8549640" y="2734056"/>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Row the card already named as a child</a:t>
            </a:r>
            <a:endParaRPr lang="en-US" sz="1150" dirty="0"/>
          </a:p>
        </p:txBody>
      </p:sp>
      <p:sp>
        <p:nvSpPr>
          <p:cNvPr id="16" name="Shape 14"/>
          <p:cNvSpPr/>
          <p:nvPr/>
        </p:nvSpPr>
        <p:spPr>
          <a:xfrm>
            <a:off x="6035040" y="3300984"/>
            <a:ext cx="2377440" cy="475488"/>
          </a:xfrm>
          <a:prstGeom prst="roundRect">
            <a:avLst>
              <a:gd name="adj" fmla="val 15385"/>
            </a:avLst>
          </a:prstGeom>
          <a:solidFill>
            <a:srgbClr val="F6F7FB"/>
          </a:solidFill>
          <a:ln w="12700">
            <a:solidFill>
              <a:srgbClr val="141B3D"/>
            </a:solidFill>
            <a:prstDash val="solid"/>
          </a:ln>
        </p:spPr>
      </p:sp>
      <p:sp>
        <p:nvSpPr>
          <p:cNvPr id="17" name="Text 15"/>
          <p:cNvSpPr/>
          <p:nvPr/>
        </p:nvSpPr>
        <p:spPr>
          <a:xfrm>
            <a:off x="6126480" y="3300984"/>
            <a:ext cx="2194560" cy="475488"/>
          </a:xfrm>
          <a:prstGeom prst="rect">
            <a:avLst/>
          </a:prstGeom>
          <a:noFill/>
          <a:ln/>
        </p:spPr>
        <p:txBody>
          <a:bodyPr wrap="square" lIns="0" tIns="0" rIns="0" bIns="0" rtlCol="0" anchor="ctr"/>
          <a:lstStyle/>
          <a:p>
            <a:pPr indent="0" marL="0">
              <a:buNone/>
            </a:pPr>
            <a:r>
              <a:rPr lang="en-US" sz="1050" b="1" dirty="0">
                <a:solidFill>
                  <a:srgbClr val="141B3D"/>
                </a:solidFill>
                <a:latin typeface="Courier New" pitchFamily="34" charset="0"/>
                <a:ea typeface="Courier New" pitchFamily="34" charset="-122"/>
                <a:cs typeface="Courier New" pitchFamily="34" charset="-120"/>
              </a:rPr>
              <a:t>add /elements/metric-sales</a:t>
            </a:r>
            <a:endParaRPr lang="en-US" sz="1050" dirty="0"/>
          </a:p>
        </p:txBody>
      </p:sp>
      <p:sp>
        <p:nvSpPr>
          <p:cNvPr id="18" name="Text 16"/>
          <p:cNvSpPr/>
          <p:nvPr/>
        </p:nvSpPr>
        <p:spPr>
          <a:xfrm>
            <a:off x="8549640" y="3300984"/>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Metric whose value is a $state reference</a:t>
            </a:r>
            <a:endParaRPr lang="en-US" sz="1150" dirty="0"/>
          </a:p>
        </p:txBody>
      </p:sp>
      <p:sp>
        <p:nvSpPr>
          <p:cNvPr id="19" name="Shape 17"/>
          <p:cNvSpPr/>
          <p:nvPr/>
        </p:nvSpPr>
        <p:spPr>
          <a:xfrm>
            <a:off x="6035040" y="3867912"/>
            <a:ext cx="2377440" cy="475488"/>
          </a:xfrm>
          <a:prstGeom prst="roundRect">
            <a:avLst>
              <a:gd name="adj" fmla="val 15385"/>
            </a:avLst>
          </a:prstGeom>
          <a:solidFill>
            <a:srgbClr val="FFF1F2"/>
          </a:solidFill>
          <a:ln w="12700">
            <a:solidFill>
              <a:srgbClr val="BE123C"/>
            </a:solidFill>
            <a:prstDash val="solid"/>
          </a:ln>
        </p:spPr>
      </p:sp>
      <p:sp>
        <p:nvSpPr>
          <p:cNvPr id="20" name="Text 18"/>
          <p:cNvSpPr/>
          <p:nvPr/>
        </p:nvSpPr>
        <p:spPr>
          <a:xfrm>
            <a:off x="6126480" y="3867912"/>
            <a:ext cx="2194560" cy="475488"/>
          </a:xfrm>
          <a:prstGeom prst="rect">
            <a:avLst/>
          </a:prstGeom>
          <a:noFill/>
          <a:ln/>
        </p:spPr>
        <p:txBody>
          <a:bodyPr wrap="square" lIns="0" tIns="0" rIns="0" bIns="0" rtlCol="0" anchor="ctr"/>
          <a:lstStyle/>
          <a:p>
            <a:pPr indent="0" marL="0">
              <a:buNone/>
            </a:pPr>
            <a:r>
              <a:rPr lang="en-US" sz="1050" b="1" dirty="0">
                <a:solidFill>
                  <a:srgbClr val="BE123C"/>
                </a:solidFill>
                <a:latin typeface="Courier New" pitchFamily="34" charset="0"/>
                <a:ea typeface="Courier New" pitchFamily="34" charset="-122"/>
                <a:cs typeface="Courier New" pitchFamily="34" charset="-120"/>
              </a:rPr>
              <a:t>add /state/sales/total</a:t>
            </a:r>
            <a:endParaRPr lang="en-US" sz="1050" dirty="0"/>
          </a:p>
        </p:txBody>
      </p:sp>
      <p:sp>
        <p:nvSpPr>
          <p:cNvPr id="21" name="Text 19"/>
          <p:cNvSpPr/>
          <p:nvPr/>
        </p:nvSpPr>
        <p:spPr>
          <a:xfrm>
            <a:off x="8549640" y="3867912"/>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the number the metric reads; it fills in on arrival</a:t>
            </a:r>
            <a:endParaRPr lang="en-US" sz="1150" dirty="0"/>
          </a:p>
        </p:txBody>
      </p:sp>
      <p:sp>
        <p:nvSpPr>
          <p:cNvPr id="22" name="Shape 20"/>
          <p:cNvSpPr/>
          <p:nvPr/>
        </p:nvSpPr>
        <p:spPr>
          <a:xfrm>
            <a:off x="6035040" y="4434840"/>
            <a:ext cx="2377440" cy="475488"/>
          </a:xfrm>
          <a:prstGeom prst="roundRect">
            <a:avLst>
              <a:gd name="adj" fmla="val 15385"/>
            </a:avLst>
          </a:prstGeom>
          <a:solidFill>
            <a:srgbClr val="F6F7FB"/>
          </a:solidFill>
          <a:ln w="12700">
            <a:solidFill>
              <a:srgbClr val="4B5563"/>
            </a:solidFill>
            <a:prstDash val="solid"/>
          </a:ln>
        </p:spPr>
      </p:sp>
      <p:sp>
        <p:nvSpPr>
          <p:cNvPr id="23" name="Text 21"/>
          <p:cNvSpPr/>
          <p:nvPr/>
        </p:nvSpPr>
        <p:spPr>
          <a:xfrm>
            <a:off x="6126480" y="4434840"/>
            <a:ext cx="2194560" cy="475488"/>
          </a:xfrm>
          <a:prstGeom prst="rect">
            <a:avLst/>
          </a:prstGeom>
          <a:noFill/>
          <a:ln/>
        </p:spPr>
        <p:txBody>
          <a:bodyPr wrap="square" lIns="0" tIns="0" rIns="0" bIns="0" rtlCol="0" anchor="ctr"/>
          <a:lstStyle/>
          <a:p>
            <a:pPr indent="0" marL="0">
              <a:buNone/>
            </a:pPr>
            <a:r>
              <a:rPr lang="en-US" sz="1050" b="1" dirty="0">
                <a:solidFill>
                  <a:srgbClr val="4B5563"/>
                </a:solidFill>
                <a:latin typeface="Courier New" pitchFamily="34" charset="0"/>
                <a:ea typeface="Courier New" pitchFamily="34" charset="-122"/>
                <a:cs typeface="Courier New" pitchFamily="34" charset="-120"/>
              </a:rPr>
              <a:t>… 13 patches in all</a:t>
            </a:r>
            <a:endParaRPr lang="en-US" sz="1050" dirty="0"/>
          </a:p>
        </p:txBody>
      </p:sp>
      <p:sp>
        <p:nvSpPr>
          <p:cNvPr id="24" name="Text 22"/>
          <p:cNvSpPr/>
          <p:nvPr/>
        </p:nvSpPr>
        <p:spPr>
          <a:xfrm>
            <a:off x="8549640" y="4434840"/>
            <a:ext cx="3063240" cy="47548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9 elements; the last line may arrive without a newline</a:t>
            </a:r>
            <a:endParaRPr lang="en-US" sz="1150" dirty="0"/>
          </a:p>
        </p:txBody>
      </p:sp>
      <p:sp>
        <p:nvSpPr>
          <p:cNvPr id="25" name="Text 23"/>
          <p:cNvSpPr/>
          <p:nvPr/>
        </p:nvSpPr>
        <p:spPr>
          <a:xfrm>
            <a:off x="6035040" y="5349240"/>
            <a:ext cx="5577840" cy="320040"/>
          </a:xfrm>
          <a:prstGeom prst="rect">
            <a:avLst/>
          </a:prstGeom>
          <a:noFill/>
          <a:ln/>
        </p:spPr>
        <p:txBody>
          <a:bodyPr wrap="square" lIns="0" tIns="0" rIns="0" bIns="0" rtlCol="0" anchor="ctr"/>
          <a:lstStyle/>
          <a:p>
            <a:pPr indent="0" marL="0">
              <a:buNone/>
            </a:pPr>
            <a:r>
              <a:rPr lang="en-US" sz="1050" i="1" dirty="0">
                <a:solidFill>
                  <a:srgbClr val="8B93A7"/>
                </a:solidFill>
                <a:latin typeface="Calibri" pitchFamily="34" charset="0"/>
                <a:ea typeface="Calibri" pitchFamily="34" charset="-122"/>
                <a:cs typeface="Calibri" pitchFamily="34" charset="-120"/>
              </a:rPr>
              <a:t>The element map fills one line at a time; every line is a complete JSON object with an op, a path and a value.</a:t>
            </a:r>
            <a:endParaRPr lang="en-US" sz="1050" dirty="0"/>
          </a:p>
        </p:txBody>
      </p:sp>
      <p:sp>
        <p:nvSpPr>
          <p:cNvPr id="26" name="Shape 24"/>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7" name="Text 25"/>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Streaming changes when the user sees something, not the prompt cost: 4,043 prompt tokens, 487 completion tokens.</a:t>
            </a:r>
            <a:endParaRPr lang="en-US" sz="12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Push each chunk into the compiler; render only when a patch applied</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86</a:t>
            </a:r>
            <a:endParaRPr lang="en-US" sz="1000" dirty="0"/>
          </a:p>
        </p:txBody>
      </p:sp>
      <p:sp>
        <p:nvSpPr>
          <p:cNvPr id="5" name="Shape 3"/>
          <p:cNvSpPr/>
          <p:nvPr/>
        </p:nvSpPr>
        <p:spPr>
          <a:xfrm>
            <a:off x="548640" y="1417320"/>
            <a:ext cx="7406640" cy="2363724"/>
          </a:xfrm>
          <a:prstGeom prst="roundRect">
            <a:avLst>
              <a:gd name="adj" fmla="val 3868"/>
            </a:avLst>
          </a:prstGeom>
          <a:solidFill>
            <a:srgbClr val="0F172A"/>
          </a:solidFill>
          <a:ln w="12700">
            <a:solidFill>
              <a:srgbClr val="0F172A"/>
            </a:solidFill>
            <a:prstDash val="solid"/>
          </a:ln>
        </p:spPr>
      </p:sp>
      <p:sp>
        <p:nvSpPr>
          <p:cNvPr id="6" name="Text 4"/>
          <p:cNvSpPr/>
          <p:nvPr/>
        </p:nvSpPr>
        <p:spPr>
          <a:xfrm>
            <a:off x="731520" y="1554480"/>
            <a:ext cx="7040880" cy="2089404"/>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for await (const chunk of chunks(response))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 result, newPatches } = compiler.push(chunk);</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(newPatches.length === 0) continue;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The first patch sets /root alone; Renderer reads spec.elements[spec.root]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with no guard, so give it an empty map until /elements arrives.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setSpec(result.elements ? result : { ...result, elements: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(firstPaint === null &amp;&amp; result.root &amp;&amp; result.elements?.[result.root])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firstPaint = seconds();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setStatus(`first paint at ${firstPaint} 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setSpec(compiler.getResult()); // applies a last line that had no newline</a:t>
            </a:r>
            <a:endParaRPr lang="en-US" sz="1050" dirty="0"/>
          </a:p>
        </p:txBody>
      </p:sp>
      <p:sp>
        <p:nvSpPr>
          <p:cNvPr id="7" name="Text 5"/>
          <p:cNvSpPr/>
          <p:nvPr/>
        </p:nvSpPr>
        <p:spPr>
          <a:xfrm>
            <a:off x="548640" y="3826764"/>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05_json_render/step_02_json_render_streaming_patches/app.mjs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push</a:t>
            </a:r>
            <a:pPr indent="0" marL="0">
              <a:buNone/>
            </a:pPr>
            <a:r>
              <a:rPr lang="en-US" sz="1200" dirty="0">
                <a:solidFill>
                  <a:srgbClr val="1F2937"/>
                </a:solidFill>
                <a:latin typeface="Calibri" pitchFamily="34" charset="0"/>
                <a:ea typeface="Calibri" pitchFamily="34" charset="-122"/>
                <a:cs typeface="Calibri" pitchFamily="34" charset="-120"/>
              </a:rPr>
              <a:t> returns the spec so far and the patches this chunk completed; </a:t>
            </a:r>
            <a:pPr indent="0" marL="0">
              <a:buNone/>
            </a:pPr>
            <a:r>
              <a:rPr lang="en-US" sz="1200" dirty="0">
                <a:solidFill>
                  <a:srgbClr val="BE123C"/>
                </a:solidFill>
                <a:latin typeface="Courier New" pitchFamily="34" charset="0"/>
                <a:ea typeface="Courier New" pitchFamily="34" charset="-122"/>
                <a:cs typeface="Courier New" pitchFamily="34" charset="-120"/>
              </a:rPr>
              <a:t>newPatches</a:t>
            </a:r>
            <a:pPr indent="0" marL="0">
              <a:buNone/>
            </a:pPr>
            <a:r>
              <a:rPr lang="en-US" sz="1200" dirty="0">
                <a:solidFill>
                  <a:srgbClr val="1F2937"/>
                </a:solidFill>
                <a:latin typeface="Calibri" pitchFamily="34" charset="0"/>
                <a:ea typeface="Calibri" pitchFamily="34" charset="-122"/>
                <a:cs typeface="Calibri" pitchFamily="34" charset="-120"/>
              </a:rPr>
              <a:t> is empty while a line is still partial.</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first patch sets </a:t>
            </a:r>
            <a:pPr indent="0" marL="0">
              <a:buNone/>
            </a:pPr>
            <a:r>
              <a:rPr lang="en-US" sz="1200" dirty="0">
                <a:solidFill>
                  <a:srgbClr val="BE123C"/>
                </a:solidFill>
                <a:latin typeface="Courier New" pitchFamily="34" charset="0"/>
                <a:ea typeface="Courier New" pitchFamily="34" charset="-122"/>
                <a:cs typeface="Courier New" pitchFamily="34" charset="-120"/>
              </a:rPr>
              <a:t>/root</a:t>
            </a:r>
            <a:pPr indent="0" marL="0">
              <a:buNone/>
            </a:pPr>
            <a:r>
              <a:rPr lang="en-US" sz="1200" dirty="0">
                <a:solidFill>
                  <a:srgbClr val="1F2937"/>
                </a:solidFill>
                <a:latin typeface="Calibri" pitchFamily="34" charset="0"/>
                <a:ea typeface="Calibri" pitchFamily="34" charset="-122"/>
                <a:cs typeface="Calibri" pitchFamily="34" charset="-120"/>
              </a:rPr>
              <a:t> alone and </a:t>
            </a:r>
            <a:pPr indent="0" marL="0">
              <a:buNone/>
            </a:pPr>
            <a:r>
              <a:rPr lang="en-US" sz="1200" dirty="0">
                <a:solidFill>
                  <a:srgbClr val="BE123C"/>
                </a:solidFill>
                <a:latin typeface="Courier New" pitchFamily="34" charset="0"/>
                <a:ea typeface="Courier New" pitchFamily="34" charset="-122"/>
                <a:cs typeface="Courier New" pitchFamily="34" charset="-120"/>
              </a:rPr>
              <a:t>Renderer</a:t>
            </a:r>
            <a:pPr indent="0" marL="0">
              <a:buNone/>
            </a:pPr>
            <a:r>
              <a:rPr lang="en-US" sz="1200" dirty="0">
                <a:solidFill>
                  <a:srgbClr val="1F2937"/>
                </a:solidFill>
                <a:latin typeface="Calibri" pitchFamily="34" charset="0"/>
                <a:ea typeface="Calibri" pitchFamily="34" charset="-122"/>
                <a:cs typeface="Calibri" pitchFamily="34" charset="-120"/>
              </a:rPr>
              <a:t> has no guard for that, so the page hands it an empty element map.</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stream may end without a newline; </a:t>
            </a:r>
            <a:pPr indent="0" marL="0">
              <a:buNone/>
            </a:pPr>
            <a:r>
              <a:rPr lang="en-US" sz="1200" dirty="0">
                <a:solidFill>
                  <a:srgbClr val="BE123C"/>
                </a:solidFill>
                <a:latin typeface="Courier New" pitchFamily="34" charset="0"/>
                <a:ea typeface="Courier New" pitchFamily="34" charset="-122"/>
                <a:cs typeface="Courier New" pitchFamily="34" charset="-120"/>
              </a:rPr>
              <a:t>getResult()</a:t>
            </a:r>
            <a:pPr indent="0" marL="0">
              <a:buNone/>
            </a:pPr>
            <a:r>
              <a:rPr lang="en-US" sz="1200" dirty="0">
                <a:solidFill>
                  <a:srgbClr val="1F2937"/>
                </a:solidFill>
                <a:latin typeface="Calibri" pitchFamily="34" charset="0"/>
                <a:ea typeface="Calibri" pitchFamily="34" charset="-122"/>
                <a:cs typeface="Calibri" pitchFamily="34" charset="-120"/>
              </a:rPr>
              <a:t> applies that last line.</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result</a:t>
            </a:r>
            <a:pPr indent="0" marL="0">
              <a:buNone/>
            </a:pPr>
            <a:r>
              <a:rPr lang="en-US" sz="1250" dirty="0">
                <a:solidFill>
                  <a:srgbClr val="4B5563"/>
                </a:solidFill>
                <a:latin typeface="Calibri" pitchFamily="34" charset="0"/>
                <a:ea typeface="Calibri" pitchFamily="34" charset="-122"/>
                <a:cs typeface="Calibri" pitchFamily="34" charset="-120"/>
              </a:rPr>
              <a:t> is a new object whenever a patch applied, so </a:t>
            </a:r>
            <a:pPr indent="0" marL="0">
              <a:buNone/>
            </a:pPr>
            <a:r>
              <a:rPr lang="en-US" sz="1250" dirty="0">
                <a:solidFill>
                  <a:srgbClr val="BE123C"/>
                </a:solidFill>
                <a:latin typeface="Courier New" pitchFamily="34" charset="0"/>
                <a:ea typeface="Courier New" pitchFamily="34" charset="-122"/>
                <a:cs typeface="Courier New" pitchFamily="34" charset="-120"/>
              </a:rPr>
              <a:t>setSpec</a:t>
            </a:r>
            <a:pPr indent="0" marL="0">
              <a:buNone/>
            </a:pPr>
            <a:r>
              <a:rPr lang="en-US" sz="1250" dirty="0">
                <a:solidFill>
                  <a:srgbClr val="4B5563"/>
                </a:solidFill>
                <a:latin typeface="Calibri" pitchFamily="34" charset="0"/>
                <a:ea typeface="Calibri" pitchFamily="34" charset="-122"/>
                <a:cs typeface="Calibri" pitchFamily="34" charset="-120"/>
              </a:rPr>
              <a:t> re-renders only on a real change.</a:t>
            </a:r>
            <a:endParaRPr lang="en-US" sz="12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The server forwards every chunk and compiles a copy on the way</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87</a:t>
            </a:r>
            <a:endParaRPr lang="en-US" sz="1000" dirty="0"/>
          </a:p>
        </p:txBody>
      </p:sp>
      <p:sp>
        <p:nvSpPr>
          <p:cNvPr id="5" name="Shape 3"/>
          <p:cNvSpPr/>
          <p:nvPr/>
        </p:nvSpPr>
        <p:spPr>
          <a:xfrm>
            <a:off x="548640" y="1417320"/>
            <a:ext cx="7406640" cy="2851785"/>
          </a:xfrm>
          <a:prstGeom prst="roundRect">
            <a:avLst>
              <a:gd name="adj" fmla="val 3206"/>
            </a:avLst>
          </a:prstGeom>
          <a:solidFill>
            <a:srgbClr val="0F172A"/>
          </a:solidFill>
          <a:ln w="12700">
            <a:solidFill>
              <a:srgbClr val="0F172A"/>
            </a:solidFill>
            <a:prstDash val="solid"/>
          </a:ln>
        </p:spPr>
      </p:sp>
      <p:sp>
        <p:nvSpPr>
          <p:cNvPr id="6" name="Text 4"/>
          <p:cNvSpPr/>
          <p:nvPr/>
        </p:nvSpPr>
        <p:spPr>
          <a:xfrm>
            <a:off x="731520" y="1554480"/>
            <a:ext cx="7040880" cy="2577465"/>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relay(prompt):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"""Forward each chunk as it arrives, and compile a copy on the way."""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started = time.perf_counter()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stream = llm.stream_text(system_prompt(), prompt)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compiler = SpecStream()</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timings = {"first_chunk": None, "first_paint": None, "complete": None}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chunk in stream:</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timings["first_chunk"] is None: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timings["first_chunk"] = time.perf_counter() - started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compiler.push(chunk)</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timings["first_paint"] is None and compiler.has_root():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timings["first_paint"] = time.perf_counter() - started</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yield chunk</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compiler.finish()</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timings["complete"] = time.perf_counter() - started</a:t>
            </a:r>
            <a:endParaRPr lang="en-US" sz="1050" dirty="0"/>
          </a:p>
        </p:txBody>
      </p:sp>
      <p:sp>
        <p:nvSpPr>
          <p:cNvPr id="7" name="Text 5"/>
          <p:cNvSpPr/>
          <p:nvPr/>
        </p:nvSpPr>
        <p:spPr>
          <a:xfrm>
            <a:off x="548640" y="4314825"/>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05_json_render/step_02_json_render_streaming_patches/server.py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SpecStream</a:t>
            </a:r>
            <a:pPr indent="0" marL="0">
              <a:buNone/>
            </a:pPr>
            <a:r>
              <a:rPr lang="en-US" sz="1200" dirty="0">
                <a:solidFill>
                  <a:srgbClr val="1F2937"/>
                </a:solidFill>
                <a:latin typeface="Calibri" pitchFamily="34" charset="0"/>
                <a:ea typeface="Calibri" pitchFamily="34" charset="-122"/>
                <a:cs typeface="Calibri" pitchFamily="34" charset="-120"/>
              </a:rPr>
              <a:t> is the Python mirror of </a:t>
            </a:r>
            <a:pPr indent="0" marL="0">
              <a:buNone/>
            </a:pPr>
            <a:r>
              <a:rPr lang="en-US" sz="1200" dirty="0">
                <a:solidFill>
                  <a:srgbClr val="BE123C"/>
                </a:solidFill>
                <a:latin typeface="Courier New" pitchFamily="34" charset="0"/>
                <a:ea typeface="Courier New" pitchFamily="34" charset="-122"/>
                <a:cs typeface="Courier New" pitchFamily="34" charset="-120"/>
              </a:rPr>
              <a:t>createSpecStreamCompiler</a:t>
            </a:r>
            <a:pPr indent="0" marL="0">
              <a:buNone/>
            </a:pPr>
            <a:r>
              <a:rPr lang="en-US" sz="1200" dirty="0">
                <a:solidFill>
                  <a:srgbClr val="1F2937"/>
                </a:solidFill>
                <a:latin typeface="Calibri" pitchFamily="34" charset="0"/>
                <a:ea typeface="Calibri" pitchFamily="34" charset="-122"/>
                <a:cs typeface="Calibri" pitchFamily="34" charset="-120"/>
              </a:rPr>
              <a:t>: the same lines, the same two tolerances.</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has_root()</a:t>
            </a:r>
            <a:pPr indent="0" marL="0">
              <a:buNone/>
            </a:pPr>
            <a:r>
              <a:rPr lang="en-US" sz="1200" dirty="0">
                <a:solidFill>
                  <a:srgbClr val="1F2937"/>
                </a:solidFill>
                <a:latin typeface="Calibri" pitchFamily="34" charset="0"/>
                <a:ea typeface="Calibri" pitchFamily="34" charset="-122"/>
                <a:cs typeface="Calibri" pitchFamily="34" charset="-120"/>
              </a:rPr>
              <a:t> is the moment a first paint became possible; the demo compares it with the page's own timestamp.</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chunk goes to the page unchanged; the server never re-encodes the model's text.</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server ends with the compiled spec, the patch list, the usage and three timings, all at </a:t>
            </a:r>
            <a:pPr indent="0" marL="0">
              <a:buNone/>
            </a:pPr>
            <a:r>
              <a:rPr lang="en-US" sz="1250" dirty="0">
                <a:solidFill>
                  <a:srgbClr val="BE123C"/>
                </a:solidFill>
                <a:latin typeface="Courier New" pitchFamily="34" charset="0"/>
                <a:ea typeface="Courier New" pitchFamily="34" charset="-122"/>
                <a:cs typeface="Courier New" pitchFamily="34" charset="-120"/>
              </a:rPr>
              <a:t>GET /last</a:t>
            </a:r>
            <a:pPr indent="0" marL="0">
              <a:buNone/>
            </a:pPr>
            <a:r>
              <a:rPr lang="en-US" sz="1250" dirty="0">
                <a:solidFill>
                  <a:srgbClr val="4B5563"/>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05.2 · QUICK DEMO, FIRST PAINT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At 3.48 s the page shows one card with a title and no children yet</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88</a:t>
            </a:r>
            <a:endParaRPr lang="en-US" sz="1000" dirty="0"/>
          </a:p>
        </p:txBody>
      </p:sp>
      <p:pic>
        <p:nvPicPr>
          <p:cNvPr id="5" name="Image 0" descr="C:\Users\evija\simple-coding-harness\genui\05_json_render\step_02_json_render_streaming_patches\demo_first_paint.png">    </p:cNvPr>
          <p:cNvPicPr>
            <a:picLocks noChangeAspect="1"/>
          </p:cNvPicPr>
          <p:nvPr/>
        </p:nvPicPr>
        <p:blipFill>
          <a:blip r:embed="rId1"/>
          <a:srcRect l="0" r="0" t="0" b="0"/>
          <a:stretch/>
        </p:blipFill>
        <p:spPr>
          <a:xfrm>
            <a:off x="548640" y="1417320"/>
            <a:ext cx="5943600" cy="4480560"/>
          </a:xfrm>
          <a:prstGeom prst="rect">
            <a:avLst/>
          </a:prstGeom>
        </p:spPr>
      </p:pic>
      <p:sp>
        <p:nvSpPr>
          <p:cNvPr id="6" name="Shape 3"/>
          <p:cNvSpPr/>
          <p:nvPr/>
        </p:nvSpPr>
        <p:spPr>
          <a:xfrm>
            <a:off x="548640" y="1417320"/>
            <a:ext cx="5943600" cy="4480560"/>
          </a:xfrm>
          <a:prstGeom prst="rect">
            <a:avLst/>
          </a:prstGeom>
          <a:ln w="12700">
            <a:solidFill>
              <a:srgbClr val="D7DAE5"/>
            </a:solidFill>
            <a:prstDash val="solid"/>
          </a:ln>
        </p:spPr>
      </p:sp>
      <p:sp>
        <p:nvSpPr>
          <p:cNvPr id="7" name="Shape 4"/>
          <p:cNvSpPr/>
          <p:nvPr/>
        </p:nvSpPr>
        <p:spPr>
          <a:xfrm>
            <a:off x="6858000" y="1417320"/>
            <a:ext cx="47823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995160" y="1472184"/>
            <a:ext cx="4507992"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3.48 s</a:t>
            </a:r>
            <a:endParaRPr lang="en-US" sz="2800" dirty="0"/>
          </a:p>
        </p:txBody>
      </p:sp>
      <p:sp>
        <p:nvSpPr>
          <p:cNvPr id="9" name="Text 6"/>
          <p:cNvSpPr/>
          <p:nvPr/>
        </p:nvSpPr>
        <p:spPr>
          <a:xfrm>
            <a:off x="6995160" y="2039112"/>
            <a:ext cx="45079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first paint on the page</a:t>
            </a:r>
            <a:endParaRPr lang="en-US" sz="1050" dirty="0"/>
          </a:p>
        </p:txBody>
      </p:sp>
      <p:sp>
        <p:nvSpPr>
          <p:cNvPr id="10" name="Shape 7"/>
          <p:cNvSpPr/>
          <p:nvPr/>
        </p:nvSpPr>
        <p:spPr>
          <a:xfrm>
            <a:off x="6858000" y="2697480"/>
            <a:ext cx="47823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995160" y="2752344"/>
            <a:ext cx="45079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2.53 s</a:t>
            </a:r>
            <a:endParaRPr lang="en-US" sz="2800" dirty="0"/>
          </a:p>
        </p:txBody>
      </p:sp>
      <p:sp>
        <p:nvSpPr>
          <p:cNvPr id="12" name="Text 9"/>
          <p:cNvSpPr/>
          <p:nvPr/>
        </p:nvSpPr>
        <p:spPr>
          <a:xfrm>
            <a:off x="6995160" y="3319272"/>
            <a:ext cx="45079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first chunk at the server</a:t>
            </a:r>
            <a:endParaRPr lang="en-US" sz="1050" dirty="0"/>
          </a:p>
        </p:txBody>
      </p:sp>
      <p:sp>
        <p:nvSpPr>
          <p:cNvPr id="13" name="Text 10"/>
          <p:cNvSpPr/>
          <p:nvPr/>
        </p:nvSpPr>
        <p:spPr>
          <a:xfrm>
            <a:off x="6858000" y="4023360"/>
            <a:ext cx="478231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status line reads "first paint at 3.48 s": the root Card has painted with its title alone.</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Card already names </a:t>
            </a:r>
            <a:pPr indent="0" marL="0">
              <a:buNone/>
            </a:pPr>
            <a:r>
              <a:rPr lang="en-US" sz="1150" dirty="0">
                <a:solidFill>
                  <a:srgbClr val="BE123C"/>
                </a:solidFill>
                <a:latin typeface="Courier New" pitchFamily="34" charset="0"/>
                <a:ea typeface="Courier New" pitchFamily="34" charset="-122"/>
                <a:cs typeface="Courier New" pitchFamily="34" charset="-120"/>
              </a:rPr>
              <a:t>row-metrics</a:t>
            </a:r>
            <a:pPr indent="0" marL="0">
              <a:buNone/>
            </a:pPr>
            <a:r>
              <a:rPr lang="en-US" sz="1250" dirty="0">
                <a:solidFill>
                  <a:srgbClr val="1F2937"/>
                </a:solidFill>
                <a:latin typeface="Calibri" pitchFamily="34" charset="0"/>
                <a:ea typeface="Calibri" pitchFamily="34" charset="-122"/>
                <a:cs typeface="Calibri" pitchFamily="34" charset="-120"/>
              </a:rPr>
              <a:t> as a child; the renderer skips it until its line arrives.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2.5 s before the first chunk is the model reading a 4,000-token prompt; no format removes that.</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Step 05.1 showed nothing until 5.8 s; this page shows something 2.3 s earlier.</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05.2 · QUICK DEMO, COMPLETE</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The same page when the stream ends at 10.14 s, after 13 patches</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89</a:t>
            </a:r>
            <a:endParaRPr lang="en-US" sz="1000" dirty="0"/>
          </a:p>
        </p:txBody>
      </p:sp>
      <p:pic>
        <p:nvPicPr>
          <p:cNvPr id="5" name="Image 0" descr="C:\Users\evija\simple-coding-harness\genui\05_json_render\step_02_json_render_streaming_patches\demo.png">    </p:cNvPr>
          <p:cNvPicPr>
            <a:picLocks noChangeAspect="1"/>
          </p:cNvPicPr>
          <p:nvPr/>
        </p:nvPicPr>
        <p:blipFill>
          <a:blip r:embed="rId1"/>
          <a:srcRect l="0" r="0" t="0" b="0"/>
          <a:stretch/>
        </p:blipFill>
        <p:spPr>
          <a:xfrm>
            <a:off x="548640" y="1417320"/>
            <a:ext cx="5943600" cy="4480560"/>
          </a:xfrm>
          <a:prstGeom prst="rect">
            <a:avLst/>
          </a:prstGeom>
        </p:spPr>
      </p:pic>
      <p:sp>
        <p:nvSpPr>
          <p:cNvPr id="6" name="Shape 3"/>
          <p:cNvSpPr/>
          <p:nvPr/>
        </p:nvSpPr>
        <p:spPr>
          <a:xfrm>
            <a:off x="548640" y="1417320"/>
            <a:ext cx="5943600" cy="4480560"/>
          </a:xfrm>
          <a:prstGeom prst="rect">
            <a:avLst/>
          </a:prstGeom>
          <a:ln w="12700">
            <a:solidFill>
              <a:srgbClr val="D7DAE5"/>
            </a:solidFill>
            <a:prstDash val="solid"/>
          </a:ln>
        </p:spPr>
      </p:sp>
      <p:sp>
        <p:nvSpPr>
          <p:cNvPr id="7" name="Shape 4"/>
          <p:cNvSpPr/>
          <p:nvPr/>
        </p:nvSpPr>
        <p:spPr>
          <a:xfrm>
            <a:off x="6858000" y="1417320"/>
            <a:ext cx="47823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995160" y="1472184"/>
            <a:ext cx="45079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10.14 s</a:t>
            </a:r>
            <a:endParaRPr lang="en-US" sz="2800" dirty="0"/>
          </a:p>
        </p:txBody>
      </p:sp>
      <p:sp>
        <p:nvSpPr>
          <p:cNvPr id="9" name="Text 6"/>
          <p:cNvSpPr/>
          <p:nvPr/>
        </p:nvSpPr>
        <p:spPr>
          <a:xfrm>
            <a:off x="6995160" y="2039112"/>
            <a:ext cx="45079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complete on the page</a:t>
            </a:r>
            <a:endParaRPr lang="en-US" sz="1050" dirty="0"/>
          </a:p>
        </p:txBody>
      </p:sp>
      <p:sp>
        <p:nvSpPr>
          <p:cNvPr id="10" name="Shape 7"/>
          <p:cNvSpPr/>
          <p:nvPr/>
        </p:nvSpPr>
        <p:spPr>
          <a:xfrm>
            <a:off x="6858000" y="2697480"/>
            <a:ext cx="47823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995160" y="2752344"/>
            <a:ext cx="45079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13</a:t>
            </a:r>
            <a:endParaRPr lang="en-US" sz="2800" dirty="0"/>
          </a:p>
        </p:txBody>
      </p:sp>
      <p:sp>
        <p:nvSpPr>
          <p:cNvPr id="12" name="Text 9"/>
          <p:cNvSpPr/>
          <p:nvPr/>
        </p:nvSpPr>
        <p:spPr>
          <a:xfrm>
            <a:off x="6995160" y="3319272"/>
            <a:ext cx="45079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patches, 9 elements</a:t>
            </a:r>
            <a:endParaRPr lang="en-US" sz="1050" dirty="0"/>
          </a:p>
        </p:txBody>
      </p:sp>
      <p:sp>
        <p:nvSpPr>
          <p:cNvPr id="13" name="Text 10"/>
          <p:cNvSpPr/>
          <p:nvPr/>
        </p:nvSpPr>
        <p:spPr>
          <a:xfrm>
            <a:off x="6858000" y="4023360"/>
            <a:ext cx="478231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status line now reads first paint 3.48 s, complete 10.14 s, 13 patches.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Three metrics filled in from </a:t>
            </a:r>
            <a:pPr indent="0" marL="0">
              <a:buNone/>
            </a:pPr>
            <a:r>
              <a:rPr lang="en-US" sz="1150" dirty="0">
                <a:solidFill>
                  <a:srgbClr val="BE123C"/>
                </a:solidFill>
                <a:latin typeface="Courier New" pitchFamily="34" charset="0"/>
                <a:ea typeface="Courier New" pitchFamily="34" charset="-122"/>
                <a:cs typeface="Courier New" pitchFamily="34" charset="-120"/>
              </a:rPr>
              <a:t>/state/...</a:t>
            </a:r>
            <a:pPr indent="0" marL="0">
              <a:buNone/>
            </a:pPr>
            <a:r>
              <a:rPr lang="en-US" sz="1250" dirty="0">
                <a:solidFill>
                  <a:srgbClr val="1F2937"/>
                </a:solidFill>
                <a:latin typeface="Calibri" pitchFamily="34" charset="0"/>
                <a:ea typeface="Calibri" pitchFamily="34" charset="-122"/>
                <a:cs typeface="Calibri" pitchFamily="34" charset="-120"/>
              </a:rPr>
              <a:t> patches; a fresh copy of </a:t>
            </a:r>
            <a:pPr indent="0" marL="0">
              <a:buNone/>
            </a:pPr>
            <a:r>
              <a:rPr lang="en-US" sz="1150" dirty="0">
                <a:solidFill>
                  <a:srgbClr val="BE123C"/>
                </a:solidFill>
                <a:latin typeface="Courier New" pitchFamily="34" charset="0"/>
                <a:ea typeface="Courier New" pitchFamily="34" charset="-122"/>
                <a:cs typeface="Courier New" pitchFamily="34" charset="-120"/>
              </a:rPr>
              <a:t>spec.state</a:t>
            </a:r>
            <a:pPr indent="0" marL="0">
              <a:buNone/>
            </a:pPr>
            <a:r>
              <a:rPr lang="en-US" sz="1250" dirty="0">
                <a:solidFill>
                  <a:srgbClr val="1F2937"/>
                </a:solidFill>
                <a:latin typeface="Calibri" pitchFamily="34" charset="0"/>
                <a:ea typeface="Calibri" pitchFamily="34" charset="-122"/>
                <a:cs typeface="Calibri" pitchFamily="34" charset="-120"/>
              </a:rPr>
              <a:t> per version is what lets them reach the store.</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catalog check passed on the compiled spec, the same check as step 05.1.</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whole reply took longer than step 05.1's 5.8 s; what changed is when the first element appeared.</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05.1 VERSUS 05.2 · FIRST PAINT AND COMPLETE</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One paint at 5.8 s, or a first element at 3.48 s and the last at 10.14 s</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90</a:t>
            </a:r>
            <a:endParaRPr lang="en-US" sz="1000" dirty="0"/>
          </a:p>
        </p:txBody>
      </p:sp>
      <p:graphicFrame>
        <p:nvGraphicFramePr>
          <p:cNvPr id="5" name="Chart 0" descr=""/>
          <p:cNvGraphicFramePr/>
          <p:nvPr/>
        </p:nvGraphicFramePr>
        <p:xfrm>
          <a:off x="548640" y="1417320"/>
          <a:ext cx="694944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72400" y="1508760"/>
            <a:ext cx="3840480" cy="42519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In step 05.1 first paint and complete are the same moment: nothing renders before the last bracket closes.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Streaming moved the first paint 2.3 s earlier and the last element 4.3 s later in this pair of runs.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Both runs paid about 4,000 prompt tokens; the reply was 351 and 487 tokens.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2.5 s to the first chunk is prompt reading and belongs to neither format.</a:t>
            </a:r>
            <a:endParaRPr lang="en-US" sz="1250" dirty="0"/>
          </a:p>
        </p:txBody>
      </p:sp>
      <p:sp>
        <p:nvSpPr>
          <p:cNvPr id="7" name="Text 4"/>
          <p:cNvSpPr/>
          <p:nvPr/>
        </p:nvSpPr>
        <p:spPr>
          <a:xfrm>
            <a:off x="548640" y="594360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Numbers from the recorded demos of steps 05.1 and 05.2; runs vary with the model's speed.</a:t>
            </a:r>
            <a:endParaRPr lang="en-US" sz="1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05.3 · LEVEL 17 OF 23 · YOUR OWN PRODUCT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A press is data the model answers with more data</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91</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A </a:t>
            </a:r>
            <a:pPr indent="0" marL="0">
              <a:buNone/>
            </a:pPr>
            <a:r>
              <a:rPr lang="en-US" sz="1600" dirty="0">
                <a:solidFill>
                  <a:srgbClr val="BE123C"/>
                </a:solidFill>
                <a:latin typeface="Courier New" pitchFamily="34" charset="0"/>
                <a:ea typeface="Courier New" pitchFamily="34" charset="-122"/>
                <a:cs typeface="Courier New" pitchFamily="34" charset="-120"/>
              </a:rPr>
              <a:t>Button</a:t>
            </a:r>
            <a:pPr indent="0" marL="0">
              <a:buNone/>
            </a:pPr>
            <a:r>
              <a:rPr lang="en-US" sz="1600" dirty="0">
                <a:solidFill>
                  <a:srgbClr val="141B3D"/>
                </a:solidFill>
                <a:latin typeface="Calibri" pitchFamily="34" charset="0"/>
                <a:ea typeface="Calibri" pitchFamily="34" charset="-122"/>
                <a:cs typeface="Calibri" pitchFamily="34" charset="-120"/>
              </a:rPr>
              <a:t> binds its press with an </a:t>
            </a:r>
            <a:pPr indent="0" marL="0">
              <a:buNone/>
            </a:pPr>
            <a:r>
              <a:rPr lang="en-US" sz="1600" b="1" dirty="0">
                <a:solidFill>
                  <a:srgbClr val="141B3D"/>
                </a:solidFill>
                <a:latin typeface="Calibri" pitchFamily="34" charset="0"/>
                <a:ea typeface="Calibri" pitchFamily="34" charset="-122"/>
                <a:cs typeface="Calibri" pitchFamily="34" charset="-120"/>
              </a:rPr>
              <a:t>`on` field on the element</a:t>
            </a:r>
            <a:pPr indent="0" marL="0">
              <a:buNone/>
            </a:pPr>
            <a:r>
              <a:rPr lang="en-US" sz="1600" dirty="0">
                <a:solidFill>
                  <a:srgbClr val="141B3D"/>
                </a:solidFill>
                <a:latin typeface="Calibri" pitchFamily="34" charset="0"/>
                <a:ea typeface="Calibri" pitchFamily="34" charset="-122"/>
                <a:cs typeface="Calibri" pitchFamily="34" charset="-120"/>
              </a:rPr>
              <a:t>; catalog actions go to the server for the next turn, </a:t>
            </a:r>
            <a:pPr indent="0" marL="0">
              <a:buNone/>
            </a:pPr>
            <a:r>
              <a:rPr lang="en-US" sz="1600" dirty="0">
                <a:solidFill>
                  <a:srgbClr val="BE123C"/>
                </a:solidFill>
                <a:latin typeface="Courier New" pitchFamily="34" charset="0"/>
                <a:ea typeface="Courier New" pitchFamily="34" charset="-122"/>
                <a:cs typeface="Courier New" pitchFamily="34" charset="-120"/>
              </a:rPr>
              <a:t>setState</a:t>
            </a:r>
            <a:pPr indent="0" marL="0">
              <a:buNone/>
            </a:pPr>
            <a:r>
              <a:rPr lang="en-US" sz="1600" dirty="0">
                <a:solidFill>
                  <a:srgbClr val="141B3D"/>
                </a:solidFill>
                <a:latin typeface="Calibri" pitchFamily="34" charset="0"/>
                <a:ea typeface="Calibri" pitchFamily="34" charset="-122"/>
                <a:cs typeface="Calibri" pitchFamily="34" charset="-120"/>
              </a:rPr>
              <a:t> stays in the page.</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Two catalog actions, </a:t>
            </a:r>
            <a:pPr indent="0" marL="0">
              <a:buNone/>
            </a:pPr>
            <a:r>
              <a:rPr lang="en-US" sz="1100" dirty="0">
                <a:solidFill>
                  <a:srgbClr val="BE123C"/>
                </a:solidFill>
                <a:latin typeface="Courier New" pitchFamily="34" charset="0"/>
                <a:ea typeface="Courier New" pitchFamily="34" charset="-122"/>
                <a:cs typeface="Courier New" pitchFamily="34" charset="-120"/>
              </a:rPr>
              <a:t>refresh_numbers</a:t>
            </a:r>
            <a:pPr indent="0" marL="0">
              <a:buNone/>
            </a:pPr>
            <a:r>
              <a:rPr lang="en-US" sz="1200" dirty="0">
                <a:solidFill>
                  <a:srgbClr val="1F2937"/>
                </a:solidFill>
                <a:latin typeface="Calibri" pitchFamily="34" charset="0"/>
                <a:ea typeface="Calibri" pitchFamily="34" charset="-122"/>
                <a:cs typeface="Calibri" pitchFamily="34" charset="-120"/>
              </a:rPr>
              <a:t> and </a:t>
            </a:r>
            <a:pPr indent="0" marL="0">
              <a:buNone/>
            </a:pPr>
            <a:r>
              <a:rPr lang="en-US" sz="1100" dirty="0">
                <a:solidFill>
                  <a:srgbClr val="BE123C"/>
                </a:solidFill>
                <a:latin typeface="Courier New" pitchFamily="34" charset="0"/>
                <a:ea typeface="Courier New" pitchFamily="34" charset="-122"/>
                <a:cs typeface="Courier New" pitchFamily="34" charset="-120"/>
              </a:rPr>
              <a:t>show_details</a:t>
            </a:r>
            <a:pPr indent="0" marL="0">
              <a:buNone/>
            </a:pPr>
            <a:r>
              <a:rPr lang="en-US" sz="1200" dirty="0">
                <a:solidFill>
                  <a:srgbClr val="1F2937"/>
                </a:solidFill>
                <a:latin typeface="Calibri" pitchFamily="34" charset="0"/>
                <a:ea typeface="Calibri" pitchFamily="34" charset="-122"/>
                <a:cs typeface="Calibri" pitchFamily="34" charset="-120"/>
              </a:rPr>
              <a:t>, declared with Zod </a:t>
            </a:r>
            <a:pPr indent="0" marL="0">
              <a:buNone/>
            </a:pPr>
            <a:r>
              <a:rPr lang="en-US" sz="1100" dirty="0">
                <a:solidFill>
                  <a:srgbClr val="BE123C"/>
                </a:solidFill>
                <a:latin typeface="Courier New" pitchFamily="34" charset="0"/>
                <a:ea typeface="Courier New" pitchFamily="34" charset="-122"/>
                <a:cs typeface="Courier New" pitchFamily="34" charset="-120"/>
              </a:rPr>
              <a:t>params</a:t>
            </a:r>
            <a:pPr indent="0" marL="0">
              <a:buNone/>
            </a:pPr>
            <a:r>
              <a:rPr lang="en-US" sz="1200" dirty="0">
                <a:solidFill>
                  <a:srgbClr val="1F2937"/>
                </a:solidFill>
                <a:latin typeface="Calibri" pitchFamily="34" charset="0"/>
                <a:ea typeface="Calibri" pitchFamily="34" charset="-122"/>
                <a:cs typeface="Calibri" pitchFamily="34" charset="-120"/>
              </a:rPr>
              <a:t>; the model's press carries a typed </a:t>
            </a:r>
            <a:pPr indent="0" marL="0">
              <a:buNone/>
            </a:pPr>
            <a:r>
              <a:rPr lang="en-US" sz="1100" dirty="0">
                <a:solidFill>
                  <a:srgbClr val="BE123C"/>
                </a:solidFill>
                <a:latin typeface="Courier New" pitchFamily="34" charset="0"/>
                <a:ea typeface="Courier New" pitchFamily="34" charset="-122"/>
                <a:cs typeface="Courier New" pitchFamily="34" charset="-120"/>
              </a:rPr>
              <a:t>metric</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page maps each action to one handler: </a:t>
            </a:r>
            <a:pPr indent="0" marL="0">
              <a:buNone/>
            </a:pPr>
            <a:r>
              <a:rPr lang="en-US" sz="1100" dirty="0">
                <a:solidFill>
                  <a:srgbClr val="BE123C"/>
                </a:solidFill>
                <a:latin typeface="Courier New" pitchFamily="34" charset="0"/>
                <a:ea typeface="Courier New" pitchFamily="34" charset="-122"/>
                <a:cs typeface="Courier New" pitchFamily="34" charset="-120"/>
              </a:rPr>
              <a:t>POST /action</a:t>
            </a:r>
            <a:pPr indent="0" marL="0">
              <a:buNone/>
            </a:pPr>
            <a:r>
              <a:rPr lang="en-US" sz="1200" dirty="0">
                <a:solidFill>
                  <a:srgbClr val="1F2937"/>
                </a:solidFill>
                <a:latin typeface="Calibri" pitchFamily="34" charset="0"/>
                <a:ea typeface="Calibri" pitchFamily="34" charset="-122"/>
                <a:cs typeface="Calibri" pitchFamily="34" charset="-120"/>
              </a:rPr>
              <a:t>, then push the reply into the same compiler, kept in a ref.</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t>
            </a:r>
            <a:pPr indent="0" marL="0">
              <a:buNone/>
            </a:pPr>
            <a:r>
              <a:rPr lang="en-US" sz="1100" dirty="0">
                <a:solidFill>
                  <a:srgbClr val="BE123C"/>
                </a:solidFill>
                <a:latin typeface="Courier New" pitchFamily="34" charset="0"/>
                <a:ea typeface="Courier New" pitchFamily="34" charset="-122"/>
                <a:cs typeface="Courier New" pitchFamily="34" charset="-120"/>
              </a:rPr>
              <a:t>server.py</a:t>
            </a:r>
            <a:pPr indent="0" marL="0">
              <a:buNone/>
            </a:pPr>
            <a:r>
              <a:rPr lang="en-US" sz="1200" dirty="0">
                <a:solidFill>
                  <a:srgbClr val="1F2937"/>
                </a:solidFill>
                <a:latin typeface="Calibri" pitchFamily="34" charset="0"/>
                <a:ea typeface="Calibri" pitchFamily="34" charset="-122"/>
                <a:cs typeface="Calibri" pitchFamily="34" charset="-120"/>
              </a:rPr>
              <a:t> keeps one transcript per session; a press becomes a user message that asks for patches against the spec already produced.</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Built-in actions (</a:t>
            </a:r>
            <a:pPr indent="0" marL="0">
              <a:buNone/>
            </a:pPr>
            <a:r>
              <a:rPr lang="en-US" sz="1100" dirty="0">
                <a:solidFill>
                  <a:srgbClr val="BE123C"/>
                </a:solidFill>
                <a:latin typeface="Courier New" pitchFamily="34" charset="0"/>
                <a:ea typeface="Courier New" pitchFamily="34" charset="-122"/>
                <a:cs typeface="Courier New" pitchFamily="34" charset="-120"/>
              </a:rPr>
              <a:t>setState</a:t>
            </a:r>
            <a:pPr indent="0" marL="0">
              <a:buNone/>
            </a:pPr>
            <a:r>
              <a:rPr lang="en-US" sz="1200" dirty="0">
                <a:solidFill>
                  <a:srgbClr val="1F2937"/>
                </a:solidFill>
                <a:latin typeface="Calibri" pitchFamily="34" charset="0"/>
                <a:ea typeface="Calibri" pitchFamily="34" charset="-122"/>
                <a:cs typeface="Calibri" pitchFamily="34" charset="-120"/>
              </a:rPr>
              <a:t>, </a:t>
            </a:r>
            <a:pPr indent="0" marL="0">
              <a:buNone/>
            </a:pPr>
            <a:r>
              <a:rPr lang="en-US" sz="1100" dirty="0">
                <a:solidFill>
                  <a:srgbClr val="BE123C"/>
                </a:solidFill>
                <a:latin typeface="Courier New" pitchFamily="34" charset="0"/>
                <a:ea typeface="Courier New" pitchFamily="34" charset="-122"/>
                <a:cs typeface="Courier New" pitchFamily="34" charset="-120"/>
              </a:rPr>
              <a:t>pushState</a:t>
            </a:r>
            <a:pPr indent="0" marL="0">
              <a:buNone/>
            </a:pPr>
            <a:r>
              <a:rPr lang="en-US" sz="1200" dirty="0">
                <a:solidFill>
                  <a:srgbClr val="1F2937"/>
                </a:solidFill>
                <a:latin typeface="Calibri" pitchFamily="34" charset="0"/>
                <a:ea typeface="Calibri" pitchFamily="34" charset="-122"/>
                <a:cs typeface="Calibri" pitchFamily="34" charset="-120"/>
              </a:rPr>
              <a:t>, </a:t>
            </a:r>
            <a:pPr indent="0" marL="0">
              <a:buNone/>
            </a:pPr>
            <a:r>
              <a:rPr lang="en-US" sz="1100" dirty="0">
                <a:solidFill>
                  <a:srgbClr val="BE123C"/>
                </a:solidFill>
                <a:latin typeface="Courier New" pitchFamily="34" charset="0"/>
                <a:ea typeface="Courier New" pitchFamily="34" charset="-122"/>
                <a:cs typeface="Courier New" pitchFamily="34" charset="-120"/>
              </a:rPr>
              <a:t>removeState</a:t>
            </a:r>
            <a:pPr indent="0" marL="0">
              <a:buNone/>
            </a:pPr>
            <a:r>
              <a:rPr lang="en-US" sz="1200" dirty="0">
                <a:solidFill>
                  <a:srgbClr val="1F2937"/>
                </a:solidFill>
                <a:latin typeface="Calibri" pitchFamily="34" charset="0"/>
                <a:ea typeface="Calibri" pitchFamily="34" charset="-122"/>
                <a:cs typeface="Calibri" pitchFamily="34" charset="-120"/>
              </a:rPr>
              <a:t>) change the state model and never leave the page.</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t>
            </a:r>
            <a:pPr indent="0" marL="0">
              <a:buNone/>
            </a:pPr>
            <a:r>
              <a:rPr lang="en-US" sz="1100" dirty="0">
                <a:solidFill>
                  <a:srgbClr val="BE123C"/>
                </a:solidFill>
                <a:latin typeface="Courier New" pitchFamily="34" charset="0"/>
                <a:ea typeface="Courier New" pitchFamily="34" charset="-122"/>
                <a:cs typeface="Courier New" pitchFamily="34" charset="-120"/>
              </a:rPr>
              <a:t>spec.py</a:t>
            </a:r>
            <a:pPr indent="0" marL="0">
              <a:buNone/>
            </a:pPr>
            <a:r>
              <a:rPr lang="en-US" sz="1200" dirty="0">
                <a:solidFill>
                  <a:srgbClr val="1F2937"/>
                </a:solidFill>
                <a:latin typeface="Calibri" pitchFamily="34" charset="0"/>
                <a:ea typeface="Calibri" pitchFamily="34" charset="-122"/>
                <a:cs typeface="Calibri" pitchFamily="34" charset="-120"/>
              </a:rPr>
              <a:t> now checks every </a:t>
            </a:r>
            <a:pPr indent="0" marL="0">
              <a:buNone/>
            </a:pPr>
            <a:r>
              <a:rPr lang="en-US" sz="1100" dirty="0">
                <a:solidFill>
                  <a:srgbClr val="BE123C"/>
                </a:solidFill>
                <a:latin typeface="Courier New" pitchFamily="34" charset="0"/>
                <a:ea typeface="Courier New" pitchFamily="34" charset="-122"/>
                <a:cs typeface="Courier New" pitchFamily="34" charset="-120"/>
              </a:rPr>
              <a:t>on</a:t>
            </a:r>
            <a:pPr indent="0" marL="0">
              <a:buNone/>
            </a:pPr>
            <a:r>
              <a:rPr lang="en-US" sz="1200" dirty="0">
                <a:solidFill>
                  <a:srgbClr val="1F2937"/>
                </a:solidFill>
                <a:latin typeface="Calibri" pitchFamily="34" charset="0"/>
                <a:ea typeface="Calibri" pitchFamily="34" charset="-122"/>
                <a:cs typeface="Calibri" pitchFamily="34" charset="-120"/>
              </a:rPr>
              <a:t> binding against the declared actions, before the page drops one with a console warning.</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loop the report describes: the model edits a document, and the document is the UI.</a:t>
            </a:r>
            <a:endParaRPr lang="en-US" sz="1200" dirty="0"/>
          </a:p>
        </p:txBody>
      </p:sp>
      <p:sp>
        <p:nvSpPr>
          <p:cNvPr id="7" name="Shape 5"/>
          <p:cNvSpPr/>
          <p:nvPr/>
        </p:nvSpPr>
        <p:spPr>
          <a:xfrm>
            <a:off x="6903720" y="1600200"/>
            <a:ext cx="3840480" cy="484632"/>
          </a:xfrm>
          <a:prstGeom prst="roundRect">
            <a:avLst>
              <a:gd name="adj" fmla="val 18868"/>
            </a:avLst>
          </a:prstGeom>
          <a:solidFill>
            <a:srgbClr val="F6F7FB"/>
          </a:solidFill>
          <a:ln w="15875">
            <a:solidFill>
              <a:srgbClr val="4B5563"/>
            </a:solidFill>
            <a:prstDash val="solid"/>
          </a:ln>
        </p:spPr>
      </p:sp>
      <p:sp>
        <p:nvSpPr>
          <p:cNvPr id="8" name="Text 6"/>
          <p:cNvSpPr/>
          <p:nvPr/>
        </p:nvSpPr>
        <p:spPr>
          <a:xfrm>
            <a:off x="6976872" y="1636776"/>
            <a:ext cx="3694176" cy="248260"/>
          </a:xfrm>
          <a:prstGeom prst="rect">
            <a:avLst/>
          </a:prstGeom>
          <a:noFill/>
          <a:ln/>
        </p:spPr>
        <p:txBody>
          <a:bodyPr wrap="square" lIns="0" tIns="0" rIns="0" bIns="0" rtlCol="0" anchor="b"/>
          <a:lstStyle/>
          <a:p>
            <a:pPr algn="ctr" indent="0" marL="0">
              <a:buNone/>
            </a:pPr>
            <a:r>
              <a:rPr lang="en-US" sz="1200" b="1" dirty="0">
                <a:solidFill>
                  <a:srgbClr val="4B5563"/>
                </a:solidFill>
                <a:latin typeface="Calibri" pitchFamily="34" charset="0"/>
                <a:ea typeface="Calibri" pitchFamily="34" charset="-122"/>
                <a:cs typeface="Calibri" pitchFamily="34" charset="-120"/>
              </a:rPr>
              <a:t>press</a:t>
            </a:r>
            <a:endParaRPr lang="en-US" sz="1200" dirty="0"/>
          </a:p>
        </p:txBody>
      </p:sp>
      <p:sp>
        <p:nvSpPr>
          <p:cNvPr id="9" name="Text 7"/>
          <p:cNvSpPr/>
          <p:nvPr/>
        </p:nvSpPr>
        <p:spPr>
          <a:xfrm>
            <a:off x="6976872" y="1885036"/>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on.press: { action: "refresh_numbers" }</a:t>
            </a:r>
            <a:endParaRPr lang="en-US" sz="950" dirty="0"/>
          </a:p>
        </p:txBody>
      </p:sp>
      <p:sp>
        <p:nvSpPr>
          <p:cNvPr id="10" name="Shape 8"/>
          <p:cNvSpPr/>
          <p:nvPr/>
        </p:nvSpPr>
        <p:spPr>
          <a:xfrm>
            <a:off x="8823960" y="2112264"/>
            <a:ext cx="9144" cy="265176"/>
          </a:xfrm>
          <a:prstGeom prst="line">
            <a:avLst/>
          </a:prstGeom>
          <a:noFill/>
          <a:ln w="19050">
            <a:solidFill>
              <a:srgbClr val="4B5563"/>
            </a:solidFill>
            <a:prstDash val="solid"/>
            <a:tailEnd type="triangle"/>
          </a:ln>
        </p:spPr>
      </p:sp>
      <p:sp>
        <p:nvSpPr>
          <p:cNvPr id="11" name="Shape 9"/>
          <p:cNvSpPr/>
          <p:nvPr/>
        </p:nvSpPr>
        <p:spPr>
          <a:xfrm>
            <a:off x="6903720" y="2404872"/>
            <a:ext cx="3840480" cy="484632"/>
          </a:xfrm>
          <a:prstGeom prst="roundRect">
            <a:avLst>
              <a:gd name="adj" fmla="val 18868"/>
            </a:avLst>
          </a:prstGeom>
          <a:solidFill>
            <a:srgbClr val="ECFDF5"/>
          </a:solidFill>
          <a:ln w="15875">
            <a:solidFill>
              <a:srgbClr val="15803D"/>
            </a:solidFill>
            <a:prstDash val="solid"/>
          </a:ln>
        </p:spPr>
      </p:sp>
      <p:sp>
        <p:nvSpPr>
          <p:cNvPr id="12" name="Text 10"/>
          <p:cNvSpPr/>
          <p:nvPr/>
        </p:nvSpPr>
        <p:spPr>
          <a:xfrm>
            <a:off x="6976872" y="2441448"/>
            <a:ext cx="3694176" cy="248260"/>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POST /action</a:t>
            </a:r>
            <a:endParaRPr lang="en-US" sz="1200" dirty="0"/>
          </a:p>
        </p:txBody>
      </p:sp>
      <p:sp>
        <p:nvSpPr>
          <p:cNvPr id="13" name="Text 11"/>
          <p:cNvSpPr/>
          <p:nvPr/>
        </p:nvSpPr>
        <p:spPr>
          <a:xfrm>
            <a:off x="6976872" y="2689708"/>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the handler sends the name and params</a:t>
            </a:r>
            <a:endParaRPr lang="en-US" sz="950" dirty="0"/>
          </a:p>
        </p:txBody>
      </p:sp>
      <p:sp>
        <p:nvSpPr>
          <p:cNvPr id="14" name="Shape 12"/>
          <p:cNvSpPr/>
          <p:nvPr/>
        </p:nvSpPr>
        <p:spPr>
          <a:xfrm>
            <a:off x="8823960" y="2916936"/>
            <a:ext cx="9144" cy="265176"/>
          </a:xfrm>
          <a:prstGeom prst="line">
            <a:avLst/>
          </a:prstGeom>
          <a:noFill/>
          <a:ln w="19050">
            <a:solidFill>
              <a:srgbClr val="4B5563"/>
            </a:solidFill>
            <a:prstDash val="solid"/>
            <a:tailEnd type="triangle"/>
          </a:ln>
        </p:spPr>
      </p:sp>
      <p:sp>
        <p:nvSpPr>
          <p:cNvPr id="15" name="Shape 13"/>
          <p:cNvSpPr/>
          <p:nvPr/>
        </p:nvSpPr>
        <p:spPr>
          <a:xfrm>
            <a:off x="6903720" y="3209544"/>
            <a:ext cx="3840480" cy="484632"/>
          </a:xfrm>
          <a:prstGeom prst="roundRect">
            <a:avLst>
              <a:gd name="adj" fmla="val 18868"/>
            </a:avLst>
          </a:prstGeom>
          <a:solidFill>
            <a:srgbClr val="EEF0FF"/>
          </a:solidFill>
          <a:ln w="15875">
            <a:solidFill>
              <a:srgbClr val="2F3CFF"/>
            </a:solidFill>
            <a:prstDash val="solid"/>
          </a:ln>
        </p:spPr>
      </p:sp>
      <p:sp>
        <p:nvSpPr>
          <p:cNvPr id="16" name="Text 14"/>
          <p:cNvSpPr/>
          <p:nvPr/>
        </p:nvSpPr>
        <p:spPr>
          <a:xfrm>
            <a:off x="6976872" y="3246120"/>
            <a:ext cx="3694176" cy="248260"/>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one more model turn</a:t>
            </a:r>
            <a:endParaRPr lang="en-US" sz="1200" dirty="0"/>
          </a:p>
        </p:txBody>
      </p:sp>
      <p:sp>
        <p:nvSpPr>
          <p:cNvPr id="17" name="Text 15"/>
          <p:cNvSpPr/>
          <p:nvPr/>
        </p:nvSpPr>
        <p:spPr>
          <a:xfrm>
            <a:off x="6976872" y="3494380"/>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appended to the session transcript</a:t>
            </a:r>
            <a:endParaRPr lang="en-US" sz="950" dirty="0"/>
          </a:p>
        </p:txBody>
      </p:sp>
      <p:sp>
        <p:nvSpPr>
          <p:cNvPr id="18" name="Shape 16"/>
          <p:cNvSpPr/>
          <p:nvPr/>
        </p:nvSpPr>
        <p:spPr>
          <a:xfrm>
            <a:off x="8823960" y="3721608"/>
            <a:ext cx="9144" cy="265176"/>
          </a:xfrm>
          <a:prstGeom prst="line">
            <a:avLst/>
          </a:prstGeom>
          <a:noFill/>
          <a:ln w="19050">
            <a:solidFill>
              <a:srgbClr val="4B5563"/>
            </a:solidFill>
            <a:prstDash val="solid"/>
            <a:tailEnd type="triangle"/>
          </a:ln>
        </p:spPr>
      </p:sp>
      <p:sp>
        <p:nvSpPr>
          <p:cNvPr id="19" name="Shape 17"/>
          <p:cNvSpPr/>
          <p:nvPr/>
        </p:nvSpPr>
        <p:spPr>
          <a:xfrm>
            <a:off x="6903720" y="4014216"/>
            <a:ext cx="3840480" cy="484632"/>
          </a:xfrm>
          <a:prstGeom prst="roundRect">
            <a:avLst>
              <a:gd name="adj" fmla="val 18868"/>
            </a:avLst>
          </a:prstGeom>
          <a:solidFill>
            <a:srgbClr val="F6F7FB"/>
          </a:solidFill>
          <a:ln w="15875">
            <a:solidFill>
              <a:srgbClr val="141B3D"/>
            </a:solidFill>
            <a:prstDash val="solid"/>
          </a:ln>
        </p:spPr>
      </p:sp>
      <p:sp>
        <p:nvSpPr>
          <p:cNvPr id="20" name="Text 18"/>
          <p:cNvSpPr/>
          <p:nvPr/>
        </p:nvSpPr>
        <p:spPr>
          <a:xfrm>
            <a:off x="6976872" y="4050792"/>
            <a:ext cx="3694176" cy="248260"/>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JSONL patches</a:t>
            </a:r>
            <a:endParaRPr lang="en-US" sz="1200" dirty="0"/>
          </a:p>
        </p:txBody>
      </p:sp>
      <p:sp>
        <p:nvSpPr>
          <p:cNvPr id="21" name="Text 19"/>
          <p:cNvSpPr/>
          <p:nvPr/>
        </p:nvSpPr>
        <p:spPr>
          <a:xfrm>
            <a:off x="6976872" y="4299052"/>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replace on state paths, add for new elements</a:t>
            </a:r>
            <a:endParaRPr lang="en-US" sz="950" dirty="0"/>
          </a:p>
        </p:txBody>
      </p:sp>
      <p:sp>
        <p:nvSpPr>
          <p:cNvPr id="22" name="Shape 20"/>
          <p:cNvSpPr/>
          <p:nvPr/>
        </p:nvSpPr>
        <p:spPr>
          <a:xfrm>
            <a:off x="8823960" y="4526280"/>
            <a:ext cx="9144" cy="265176"/>
          </a:xfrm>
          <a:prstGeom prst="line">
            <a:avLst/>
          </a:prstGeom>
          <a:noFill/>
          <a:ln w="19050">
            <a:solidFill>
              <a:srgbClr val="4B5563"/>
            </a:solidFill>
            <a:prstDash val="solid"/>
            <a:tailEnd type="triangle"/>
          </a:ln>
        </p:spPr>
      </p:sp>
      <p:sp>
        <p:nvSpPr>
          <p:cNvPr id="23" name="Shape 21"/>
          <p:cNvSpPr/>
          <p:nvPr/>
        </p:nvSpPr>
        <p:spPr>
          <a:xfrm>
            <a:off x="6903720" y="4818888"/>
            <a:ext cx="3840480" cy="484632"/>
          </a:xfrm>
          <a:prstGeom prst="roundRect">
            <a:avLst>
              <a:gd name="adj" fmla="val 18868"/>
            </a:avLst>
          </a:prstGeom>
          <a:solidFill>
            <a:srgbClr val="EEF0FF"/>
          </a:solidFill>
          <a:ln w="15875">
            <a:solidFill>
              <a:srgbClr val="2F3CFF"/>
            </a:solidFill>
            <a:prstDash val="solid"/>
          </a:ln>
        </p:spPr>
      </p:sp>
      <p:sp>
        <p:nvSpPr>
          <p:cNvPr id="24" name="Text 22"/>
          <p:cNvSpPr/>
          <p:nvPr/>
        </p:nvSpPr>
        <p:spPr>
          <a:xfrm>
            <a:off x="6976872" y="4855464"/>
            <a:ext cx="3694176" cy="248260"/>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the spec on screen</a:t>
            </a:r>
            <a:endParaRPr lang="en-US" sz="1200" dirty="0"/>
          </a:p>
        </p:txBody>
      </p:sp>
      <p:sp>
        <p:nvSpPr>
          <p:cNvPr id="25" name="Text 23"/>
          <p:cNvSpPr/>
          <p:nvPr/>
        </p:nvSpPr>
        <p:spPr>
          <a:xfrm>
            <a:off x="6976872" y="5103724"/>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the same compiler, the same ids</a:t>
            </a:r>
            <a:endParaRPr lang="en-US" sz="950" dirty="0"/>
          </a:p>
        </p:txBody>
      </p:sp>
      <p:sp>
        <p:nvSpPr>
          <p:cNvPr id="26" name="Text 24"/>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setState takes the short path: the page changes its state model and the server never hears about it.</a:t>
            </a:r>
            <a:endParaRPr lang="en-US" sz="1050" dirty="0"/>
          </a:p>
        </p:txBody>
      </p:sp>
      <p:sp>
        <p:nvSpPr>
          <p:cNvPr id="27" name="Shape 25"/>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8" name="Text 26"/>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The compiler lives in a ref so the second turn's patches land on the spec the first turn built.</a:t>
            </a:r>
            <a:endParaRPr lang="en-US" sz="12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Every catalog action is the same handler: post it, then compile the reply</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92</a:t>
            </a:r>
            <a:endParaRPr lang="en-US" sz="1000" dirty="0"/>
          </a:p>
        </p:txBody>
      </p:sp>
      <p:sp>
        <p:nvSpPr>
          <p:cNvPr id="5" name="Shape 3"/>
          <p:cNvSpPr/>
          <p:nvPr/>
        </p:nvSpPr>
        <p:spPr>
          <a:xfrm>
            <a:off x="548640" y="1417320"/>
            <a:ext cx="7406640" cy="3014472"/>
          </a:xfrm>
          <a:prstGeom prst="roundRect">
            <a:avLst>
              <a:gd name="adj" fmla="val 3033"/>
            </a:avLst>
          </a:prstGeom>
          <a:solidFill>
            <a:srgbClr val="0F172A"/>
          </a:solidFill>
          <a:ln w="12700">
            <a:solidFill>
              <a:srgbClr val="0F172A"/>
            </a:solidFill>
            <a:prstDash val="solid"/>
          </a:ln>
        </p:spPr>
      </p:sp>
      <p:sp>
        <p:nvSpPr>
          <p:cNvPr id="6" name="Text 4"/>
          <p:cNvSpPr/>
          <p:nvPr/>
        </p:nvSpPr>
        <p:spPr>
          <a:xfrm>
            <a:off x="731520" y="1554480"/>
            <a:ext cx="7040880" cy="2740152"/>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async function serverAction(action, params)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started = performance.now();</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note(`${action} ${JSON.stringify(params)} -&gt; server`);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response = await fetch("/action",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method: "POST",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headers: { "content-type": "application/json"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body: JSON.stringify({ action, params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patches = await consume(response);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note(`${action}: ${patches} patches applied in ${((performance.now() - started) / 1000).toFix…</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const handlers =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refresh_numbers: (params) =&gt; serverAction("refresh_numbers", params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show_details: (params) =&gt; serverAction("show_details", params ?? {}),</a:t>
            </a:r>
            <a:endParaRPr lang="en-US" sz="1050" dirty="0"/>
          </a:p>
        </p:txBody>
      </p:sp>
      <p:sp>
        <p:nvSpPr>
          <p:cNvPr id="7" name="Text 5"/>
          <p:cNvSpPr/>
          <p:nvPr/>
        </p:nvSpPr>
        <p:spPr>
          <a:xfrm>
            <a:off x="548640" y="4477512"/>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05_json_render/step_03_json_render_actions_and_targets/app.mjs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consume</a:t>
            </a:r>
            <a:pPr indent="0" marL="0">
              <a:buNone/>
            </a:pPr>
            <a:r>
              <a:rPr lang="en-US" sz="1200" dirty="0">
                <a:solidFill>
                  <a:srgbClr val="1F2937"/>
                </a:solidFill>
                <a:latin typeface="Calibri" pitchFamily="34" charset="0"/>
                <a:ea typeface="Calibri" pitchFamily="34" charset="-122"/>
                <a:cs typeface="Calibri" pitchFamily="34" charset="-120"/>
              </a:rPr>
              <a:t> is shared with the first turn: it pushes the reply into the compiler in the ref and returns the patch count.</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action log under the dashboard in the demo is these </a:t>
            </a:r>
            <a:pPr indent="0" marL="0">
              <a:buNone/>
            </a:pPr>
            <a:r>
              <a:rPr lang="en-US" sz="1200" dirty="0">
                <a:solidFill>
                  <a:srgbClr val="BE123C"/>
                </a:solidFill>
                <a:latin typeface="Courier New" pitchFamily="34" charset="0"/>
                <a:ea typeface="Courier New" pitchFamily="34" charset="-122"/>
                <a:cs typeface="Courier New" pitchFamily="34" charset="-120"/>
              </a:rPr>
              <a:t>note</a:t>
            </a:r>
            <a:pPr indent="0" marL="0">
              <a:buNone/>
            </a:pPr>
            <a:r>
              <a:rPr lang="en-US" sz="1200" dirty="0">
                <a:solidFill>
                  <a:srgbClr val="1F2937"/>
                </a:solidFill>
                <a:latin typeface="Calibri" pitchFamily="34" charset="0"/>
                <a:ea typeface="Calibri" pitchFamily="34" charset="-122"/>
                <a:cs typeface="Calibri" pitchFamily="34" charset="-120"/>
              </a:rPr>
              <a:t> calls: name, params, patches, seconds.</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Two catalog actions, two handlers, one function; </a:t>
            </a:r>
            <a:pPr indent="0" marL="0">
              <a:buNone/>
            </a:pPr>
            <a:r>
              <a:rPr lang="en-US" sz="1200" dirty="0">
                <a:solidFill>
                  <a:srgbClr val="BE123C"/>
                </a:solidFill>
                <a:latin typeface="Courier New" pitchFamily="34" charset="0"/>
                <a:ea typeface="Courier New" pitchFamily="34" charset="-122"/>
                <a:cs typeface="Courier New" pitchFamily="34" charset="-120"/>
              </a:rPr>
              <a:t>params</a:t>
            </a:r>
            <a:pPr indent="0" marL="0">
              <a:buNone/>
            </a:pPr>
            <a:r>
              <a:rPr lang="en-US" sz="1200" dirty="0">
                <a:solidFill>
                  <a:srgbClr val="1F2937"/>
                </a:solidFill>
                <a:latin typeface="Calibri" pitchFamily="34" charset="0"/>
                <a:ea typeface="Calibri" pitchFamily="34" charset="-122"/>
                <a:cs typeface="Calibri" pitchFamily="34" charset="-120"/>
              </a:rPr>
              <a:t> comes from the spec's </a:t>
            </a:r>
            <a:pPr indent="0" marL="0">
              <a:buNone/>
            </a:pPr>
            <a:r>
              <a:rPr lang="en-US" sz="1200" dirty="0">
                <a:solidFill>
                  <a:srgbClr val="BE123C"/>
                </a:solidFill>
                <a:latin typeface="Courier New" pitchFamily="34" charset="0"/>
                <a:ea typeface="Courier New" pitchFamily="34" charset="-122"/>
                <a:cs typeface="Courier New" pitchFamily="34" charset="-120"/>
              </a:rPr>
              <a:t>on</a:t>
            </a:r>
            <a:pPr indent="0" marL="0">
              <a:buNone/>
            </a:pPr>
            <a:r>
              <a:rPr lang="en-US" sz="1200" dirty="0">
                <a:solidFill>
                  <a:srgbClr val="1F2937"/>
                </a:solidFill>
                <a:latin typeface="Calibri" pitchFamily="34" charset="0"/>
                <a:ea typeface="Calibri" pitchFamily="34" charset="-122"/>
                <a:cs typeface="Calibri" pitchFamily="34" charset="-120"/>
              </a:rPr>
              <a:t> binding.</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setState</a:t>
            </a:r>
            <a:pPr indent="0" marL="0">
              <a:buNone/>
            </a:pPr>
            <a:r>
              <a:rPr lang="en-US" sz="1250" dirty="0">
                <a:solidFill>
                  <a:srgbClr val="4B5563"/>
                </a:solidFill>
                <a:latin typeface="Calibri" pitchFamily="34" charset="0"/>
                <a:ea typeface="Calibri" pitchFamily="34" charset="-122"/>
                <a:cs typeface="Calibri" pitchFamily="34" charset="-120"/>
              </a:rPr>
              <a:t> never reaches a handler; the page's </a:t>
            </a:r>
            <a:pPr indent="0" marL="0">
              <a:buNone/>
            </a:pPr>
            <a:r>
              <a:rPr lang="en-US" sz="1250" dirty="0">
                <a:solidFill>
                  <a:srgbClr val="BE123C"/>
                </a:solidFill>
                <a:latin typeface="Courier New" pitchFamily="34" charset="0"/>
                <a:ea typeface="Courier New" pitchFamily="34" charset="-122"/>
                <a:cs typeface="Courier New" pitchFamily="34" charset="-120"/>
              </a:rPr>
              <a:t>onStateChange</a:t>
            </a:r>
            <a:pPr indent="0" marL="0">
              <a:buNone/>
            </a:pPr>
            <a:r>
              <a:rPr lang="en-US" sz="1250" dirty="0">
                <a:solidFill>
                  <a:srgbClr val="4B5563"/>
                </a:solidFill>
                <a:latin typeface="Calibri" pitchFamily="34" charset="0"/>
                <a:ea typeface="Calibri" pitchFamily="34" charset="-122"/>
                <a:cs typeface="Calibri" pitchFamily="34" charset="-120"/>
              </a:rPr>
              <a:t> is the only trace it keeps of a built-in action.</a:t>
            </a:r>
            <a:endParaRPr lang="en-US" sz="12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The second target: the same catalog, a component map of ink Box and Text</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93</a:t>
            </a:r>
            <a:endParaRPr lang="en-US" sz="1000" dirty="0"/>
          </a:p>
        </p:txBody>
      </p:sp>
      <p:sp>
        <p:nvSpPr>
          <p:cNvPr id="5" name="Shape 3"/>
          <p:cNvSpPr/>
          <p:nvPr/>
        </p:nvSpPr>
        <p:spPr>
          <a:xfrm>
            <a:off x="548640" y="1417320"/>
            <a:ext cx="7406640" cy="3665220"/>
          </a:xfrm>
          <a:prstGeom prst="roundRect">
            <a:avLst>
              <a:gd name="adj" fmla="val 2495"/>
            </a:avLst>
          </a:prstGeom>
          <a:solidFill>
            <a:srgbClr val="0F172A"/>
          </a:solidFill>
          <a:ln w="12700">
            <a:solidFill>
              <a:srgbClr val="0F172A"/>
            </a:solidFill>
            <a:prstDash val="solid"/>
          </a:ln>
        </p:spPr>
      </p:sp>
      <p:sp>
        <p:nvSpPr>
          <p:cNvPr id="6" name="Text 4"/>
          <p:cNvSpPr/>
          <p:nvPr/>
        </p:nvSpPr>
        <p:spPr>
          <a:xfrm>
            <a:off x="731520" y="1554480"/>
            <a:ext cx="7040880" cy="3390900"/>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export const components =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Card: ({ element, children }) =&gt;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h(Box, { flexDirection: "column", borderStyle: "round", paddingX: 1, marginBottom: 0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h(Text, { bold: true }, element.props.title),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element.props.subtitle ? h(Text, { dimColor: true }, element.props.subtitle) : null,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children),</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Row: ({ children }) =&gt; h(Box, { flexDirection: "row", gap: 2 }, children),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Metric: ({ element }) =&gt;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h(Box, { flexDirection: "column", marginRight: 2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h(Text, { dimColor: true }, element.props.label.toUpperCase()),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h(Text, { bold: true }, String(element.props.value)),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element.props.delta ? h(Text, { color: "green" }, element.props.delta) : null),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Button: ({ element }) =&gt; h(Text, { color: "cyan" }, `[ ${element.props.label}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export const InkRenderer = createRenderer(catalog, components);</a:t>
            </a:r>
            <a:endParaRPr lang="en-US" sz="1050" dirty="0"/>
          </a:p>
        </p:txBody>
      </p:sp>
      <p:sp>
        <p:nvSpPr>
          <p:cNvPr id="7" name="Text 5"/>
          <p:cNvSpPr/>
          <p:nvPr/>
        </p:nvSpPr>
        <p:spPr>
          <a:xfrm>
            <a:off x="548640" y="5128260"/>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05_json_render/step_03_json_render_actions_and_targets/ink_render.mjs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ink package hands components the whole </a:t>
            </a:r>
            <a:pPr indent="0" marL="0">
              <a:buNone/>
            </a:pPr>
            <a:r>
              <a:rPr lang="en-US" sz="1200" dirty="0">
                <a:solidFill>
                  <a:srgbClr val="BE123C"/>
                </a:solidFill>
                <a:latin typeface="Courier New" pitchFamily="34" charset="0"/>
                <a:ea typeface="Courier New" pitchFamily="34" charset="-122"/>
                <a:cs typeface="Courier New" pitchFamily="34" charset="-120"/>
              </a:rPr>
              <a:t>element</a:t>
            </a:r>
            <a:pPr indent="0" marL="0">
              <a:buNone/>
            </a:pPr>
            <a:r>
              <a:rPr lang="en-US" sz="1200" dirty="0">
                <a:solidFill>
                  <a:srgbClr val="1F2937"/>
                </a:solidFill>
                <a:latin typeface="Calibri" pitchFamily="34" charset="0"/>
                <a:ea typeface="Calibri" pitchFamily="34" charset="-122"/>
                <a:cs typeface="Calibri" pitchFamily="34" charset="-120"/>
              </a:rPr>
              <a:t>; the React one hands them </a:t>
            </a:r>
            <a:pPr indent="0" marL="0">
              <a:buNone/>
            </a:pPr>
            <a:r>
              <a:rPr lang="en-US" sz="1200" dirty="0">
                <a:solidFill>
                  <a:srgbClr val="BE123C"/>
                </a:solidFill>
                <a:latin typeface="Courier New" pitchFamily="34" charset="0"/>
                <a:ea typeface="Courier New" pitchFamily="34" charset="-122"/>
                <a:cs typeface="Courier New" pitchFamily="34" charset="-120"/>
              </a:rPr>
              <a:t>props</a:t>
            </a:r>
            <a:pPr indent="0" marL="0">
              <a:buNone/>
            </a:pPr>
            <a:r>
              <a:rPr lang="en-US" sz="1200" dirty="0">
                <a:solidFill>
                  <a:srgbClr val="1F2937"/>
                </a:solidFill>
                <a:latin typeface="Calibri" pitchFamily="34" charset="0"/>
                <a:ea typeface="Calibri" pitchFamily="34" charset="-122"/>
                <a:cs typeface="Calibri" pitchFamily="34" charset="-120"/>
              </a:rPr>
              <a:t>. The catalog and the spec are shared.</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Row is a horizontal Box; a Card is a bordered column. Layout words change, the spec does not.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createRenderer(catalog, components)</a:t>
            </a:r>
            <a:pPr indent="0" marL="0">
              <a:buNone/>
            </a:pPr>
            <a:r>
              <a:rPr lang="en-US" sz="1200" dirty="0">
                <a:solidFill>
                  <a:srgbClr val="1F2937"/>
                </a:solidFill>
                <a:latin typeface="Calibri" pitchFamily="34" charset="0"/>
                <a:ea typeface="Calibri" pitchFamily="34" charset="-122"/>
                <a:cs typeface="Calibri" pitchFamily="34" charset="-120"/>
              </a:rPr>
              <a:t> wraps the providers; a </a:t>
            </a:r>
            <a:pPr indent="0" marL="0">
              <a:buNone/>
            </a:pPr>
            <a:r>
              <a:rPr lang="en-US" sz="1200" dirty="0">
                <a:solidFill>
                  <a:srgbClr val="BE123C"/>
                </a:solidFill>
                <a:latin typeface="Courier New" pitchFamily="34" charset="0"/>
                <a:ea typeface="Courier New" pitchFamily="34" charset="-122"/>
                <a:cs typeface="Courier New" pitchFamily="34" charset="-120"/>
              </a:rPr>
              <a:t>state</a:t>
            </a:r>
            <a:pPr indent="0" marL="0">
              <a:buNone/>
            </a:pPr>
            <a:r>
              <a:rPr lang="en-US" sz="1200" dirty="0">
                <a:solidFill>
                  <a:srgbClr val="1F2937"/>
                </a:solidFill>
                <a:latin typeface="Calibri" pitchFamily="34" charset="0"/>
                <a:ea typeface="Calibri" pitchFamily="34" charset="-122"/>
                <a:cs typeface="Calibri" pitchFamily="34" charset="-120"/>
              </a:rPr>
              <a:t> prop seeds the </a:t>
            </a:r>
            <a:pPr indent="0" marL="0">
              <a:buNone/>
            </a:pPr>
            <a:r>
              <a:rPr lang="en-US" sz="1200" dirty="0">
                <a:solidFill>
                  <a:srgbClr val="BE123C"/>
                </a:solidFill>
                <a:latin typeface="Courier New" pitchFamily="34" charset="0"/>
                <a:ea typeface="Courier New" pitchFamily="34" charset="-122"/>
                <a:cs typeface="Courier New" pitchFamily="34" charset="-120"/>
              </a:rPr>
              <a:t>$state</a:t>
            </a:r>
            <a:pPr indent="0" marL="0">
              <a:buNone/>
            </a:pPr>
            <a:r>
              <a:rPr lang="en-US" sz="1200" dirty="0">
                <a:solidFill>
                  <a:srgbClr val="1F2937"/>
                </a:solidFill>
                <a:latin typeface="Calibri" pitchFamily="34" charset="0"/>
                <a:ea typeface="Calibri" pitchFamily="34" charset="-122"/>
                <a:cs typeface="Calibri" pitchFamily="34" charset="-120"/>
              </a:rPr>
              <a:t> expressions.</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tests/targets.test.mjs</a:t>
            </a:r>
            <a:pPr indent="0" marL="0">
              <a:buNone/>
            </a:pPr>
            <a:r>
              <a:rPr lang="en-US" sz="1250" dirty="0">
                <a:solidFill>
                  <a:srgbClr val="4B5563"/>
                </a:solidFill>
                <a:latin typeface="Calibri" pitchFamily="34" charset="0"/>
                <a:ea typeface="Calibri" pitchFamily="34" charset="-122"/>
                <a:cs typeface="Calibri" pitchFamily="34" charset="-120"/>
              </a:rPr>
              <a:t> renders one spec through both targets and checks that every text the page shows, the terminal shows.</a:t>
            </a:r>
            <a:endParaRPr lang="en-US" sz="12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05.3 · ONE SPEC, TWO RENDERERS</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One catalog, one spec, two component maps</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94</a:t>
            </a:r>
            <a:endParaRPr lang="en-US" sz="1000" dirty="0"/>
          </a:p>
        </p:txBody>
      </p:sp>
      <p:sp>
        <p:nvSpPr>
          <p:cNvPr id="5" name="Text 3"/>
          <p:cNvSpPr/>
          <p:nvPr/>
        </p:nvSpPr>
        <p:spPr>
          <a:xfrm>
            <a:off x="548640" y="1417320"/>
            <a:ext cx="11064240" cy="548640"/>
          </a:xfrm>
          <a:prstGeom prst="rect">
            <a:avLst/>
          </a:prstGeom>
          <a:noFill/>
          <a:ln/>
        </p:spPr>
        <p:txBody>
          <a:bodyPr wrap="square" lIns="0" tIns="0" rIns="0" bIns="0" rtlCol="0" anchor="ctr"/>
          <a:lstStyle/>
          <a:p>
            <a:pPr indent="0" marL="0">
              <a:buNone/>
            </a:pPr>
            <a:r>
              <a:rPr lang="en-US" sz="1500" dirty="0">
                <a:solidFill>
                  <a:srgbClr val="141B3D"/>
                </a:solidFill>
                <a:latin typeface="Calibri" pitchFamily="34" charset="0"/>
                <a:ea typeface="Calibri" pitchFamily="34" charset="-122"/>
                <a:cs typeface="Calibri" pitchFamily="34" charset="-120"/>
              </a:rPr>
              <a:t>The element map is data about </a:t>
            </a:r>
            <a:pPr indent="0" marL="0">
              <a:buNone/>
            </a:pPr>
            <a:r>
              <a:rPr lang="en-US" sz="1500" b="1" dirty="0">
                <a:solidFill>
                  <a:srgbClr val="141B3D"/>
                </a:solidFill>
                <a:latin typeface="Calibri" pitchFamily="34" charset="0"/>
                <a:ea typeface="Calibri" pitchFamily="34" charset="-122"/>
                <a:cs typeface="Calibri" pitchFamily="34" charset="-120"/>
              </a:rPr>
              <a:t>components and state</a:t>
            </a:r>
            <a:pPr indent="0" marL="0">
              <a:buNone/>
            </a:pPr>
            <a:r>
              <a:rPr lang="en-US" sz="1500" dirty="0">
                <a:solidFill>
                  <a:srgbClr val="141B3D"/>
                </a:solidFill>
                <a:latin typeface="Calibri" pitchFamily="34" charset="0"/>
                <a:ea typeface="Calibri" pitchFamily="34" charset="-122"/>
                <a:cs typeface="Calibri" pitchFamily="34" charset="-120"/>
              </a:rPr>
              <a:t>, not about a medium; each target supplies its own component map and nothing else changes.</a:t>
            </a:r>
            <a:endParaRPr lang="en-US" sz="1500" dirty="0"/>
          </a:p>
        </p:txBody>
      </p:sp>
      <p:sp>
        <p:nvSpPr>
          <p:cNvPr id="6" name="Shape 4"/>
          <p:cNvSpPr/>
          <p:nvPr/>
        </p:nvSpPr>
        <p:spPr>
          <a:xfrm>
            <a:off x="548640" y="2057400"/>
            <a:ext cx="11064240" cy="777240"/>
          </a:xfrm>
          <a:prstGeom prst="roundRect">
            <a:avLst>
              <a:gd name="adj" fmla="val 11765"/>
            </a:avLst>
          </a:prstGeom>
          <a:solidFill>
            <a:srgbClr val="EEF0FF"/>
          </a:solidFill>
          <a:ln w="15875">
            <a:solidFill>
              <a:srgbClr val="2F3CFF"/>
            </a:solidFill>
            <a:prstDash val="solid"/>
          </a:ln>
        </p:spPr>
      </p:sp>
      <p:sp>
        <p:nvSpPr>
          <p:cNvPr id="7" name="Text 5"/>
          <p:cNvSpPr/>
          <p:nvPr/>
        </p:nvSpPr>
        <p:spPr>
          <a:xfrm>
            <a:off x="621792" y="2093976"/>
            <a:ext cx="10917936" cy="370332"/>
          </a:xfrm>
          <a:prstGeom prst="rect">
            <a:avLst/>
          </a:prstGeom>
          <a:noFill/>
          <a:ln/>
        </p:spPr>
        <p:txBody>
          <a:bodyPr wrap="square" lIns="0" tIns="0" rIns="0" bIns="0" rtlCol="0" anchor="b"/>
          <a:lstStyle/>
          <a:p>
            <a:pPr algn="ctr" indent="0" marL="0">
              <a:buNone/>
            </a:pPr>
            <a:r>
              <a:rPr lang="en-US" sz="1300" b="1" dirty="0">
                <a:solidFill>
                  <a:srgbClr val="2F3CFF"/>
                </a:solidFill>
                <a:latin typeface="Calibri" pitchFamily="34" charset="0"/>
                <a:ea typeface="Calibri" pitchFamily="34" charset="-122"/>
                <a:cs typeface="Calibri" pitchFamily="34" charset="-120"/>
              </a:rPr>
              <a:t>catalog.mjs</a:t>
            </a:r>
            <a:endParaRPr lang="en-US" sz="1300" dirty="0"/>
          </a:p>
        </p:txBody>
      </p:sp>
      <p:sp>
        <p:nvSpPr>
          <p:cNvPr id="8" name="Text 6"/>
          <p:cNvSpPr/>
          <p:nvPr/>
        </p:nvSpPr>
        <p:spPr>
          <a:xfrm>
            <a:off x="621792" y="2464308"/>
            <a:ext cx="1091793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seven components and two actions with Zod props; the prompt, the schema and the validator come from it</a:t>
            </a:r>
            <a:endParaRPr lang="en-US" sz="1050" dirty="0"/>
          </a:p>
        </p:txBody>
      </p:sp>
      <p:sp>
        <p:nvSpPr>
          <p:cNvPr id="9" name="Shape 7"/>
          <p:cNvSpPr/>
          <p:nvPr/>
        </p:nvSpPr>
        <p:spPr>
          <a:xfrm>
            <a:off x="868680" y="2944368"/>
            <a:ext cx="10424160" cy="777240"/>
          </a:xfrm>
          <a:prstGeom prst="roundRect">
            <a:avLst>
              <a:gd name="adj" fmla="val 11765"/>
            </a:avLst>
          </a:prstGeom>
          <a:solidFill>
            <a:srgbClr val="F6F7FB"/>
          </a:solidFill>
          <a:ln w="15875">
            <a:solidFill>
              <a:srgbClr val="141B3D"/>
            </a:solidFill>
            <a:prstDash val="solid"/>
          </a:ln>
        </p:spPr>
      </p:sp>
      <p:sp>
        <p:nvSpPr>
          <p:cNvPr id="10" name="Text 8"/>
          <p:cNvSpPr/>
          <p:nvPr/>
        </p:nvSpPr>
        <p:spPr>
          <a:xfrm>
            <a:off x="941832" y="2980944"/>
            <a:ext cx="10277856" cy="370332"/>
          </a:xfrm>
          <a:prstGeom prst="rect">
            <a:avLst/>
          </a:prstGeom>
          <a:noFill/>
          <a:ln/>
        </p:spPr>
        <p:txBody>
          <a:bodyPr wrap="square" lIns="0" tIns="0" rIns="0" bIns="0" rtlCol="0" anchor="b"/>
          <a:lstStyle/>
          <a:p>
            <a:pPr algn="ctr" indent="0" marL="0">
              <a:buNone/>
            </a:pPr>
            <a:r>
              <a:rPr lang="en-US" sz="1300" b="1" dirty="0">
                <a:solidFill>
                  <a:srgbClr val="141B3D"/>
                </a:solidFill>
                <a:latin typeface="Calibri" pitchFamily="34" charset="0"/>
                <a:ea typeface="Calibri" pitchFamily="34" charset="-122"/>
                <a:cs typeface="Calibri" pitchFamily="34" charset="-120"/>
              </a:rPr>
              <a:t>demo_spec.json</a:t>
            </a:r>
            <a:endParaRPr lang="en-US" sz="1300" dirty="0"/>
          </a:p>
        </p:txBody>
      </p:sp>
      <p:sp>
        <p:nvSpPr>
          <p:cNvPr id="11" name="Text 9"/>
          <p:cNvSpPr/>
          <p:nvPr/>
        </p:nvSpPr>
        <p:spPr>
          <a:xfrm>
            <a:off x="941832" y="3351276"/>
            <a:ext cx="1027785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the spec after generate, refresh_numbers and show_details: root, elements, state, on bindings</a:t>
            </a:r>
            <a:endParaRPr lang="en-US" sz="1050" dirty="0"/>
          </a:p>
        </p:txBody>
      </p:sp>
      <p:sp>
        <p:nvSpPr>
          <p:cNvPr id="12" name="Shape 10"/>
          <p:cNvSpPr/>
          <p:nvPr/>
        </p:nvSpPr>
        <p:spPr>
          <a:xfrm>
            <a:off x="1188720" y="3831336"/>
            <a:ext cx="9784080" cy="777240"/>
          </a:xfrm>
          <a:prstGeom prst="roundRect">
            <a:avLst>
              <a:gd name="adj" fmla="val 11765"/>
            </a:avLst>
          </a:prstGeom>
          <a:solidFill>
            <a:srgbClr val="ECFDF5"/>
          </a:solidFill>
          <a:ln w="15875">
            <a:solidFill>
              <a:srgbClr val="15803D"/>
            </a:solidFill>
            <a:prstDash val="solid"/>
          </a:ln>
        </p:spPr>
      </p:sp>
      <p:sp>
        <p:nvSpPr>
          <p:cNvPr id="13" name="Text 11"/>
          <p:cNvSpPr/>
          <p:nvPr/>
        </p:nvSpPr>
        <p:spPr>
          <a:xfrm>
            <a:off x="1261872" y="3867912"/>
            <a:ext cx="9637776" cy="370332"/>
          </a:xfrm>
          <a:prstGeom prst="rect">
            <a:avLst/>
          </a:prstGeom>
          <a:noFill/>
          <a:ln/>
        </p:spPr>
        <p:txBody>
          <a:bodyPr wrap="square" lIns="0" tIns="0" rIns="0" bIns="0" rtlCol="0" anchor="b"/>
          <a:lstStyle/>
          <a:p>
            <a:pPr algn="ctr" indent="0" marL="0">
              <a:buNone/>
            </a:pPr>
            <a:r>
              <a:rPr lang="en-US" sz="1300" b="1" dirty="0">
                <a:solidFill>
                  <a:srgbClr val="15803D"/>
                </a:solidFill>
                <a:latin typeface="Calibri" pitchFamily="34" charset="0"/>
                <a:ea typeface="Calibri" pitchFamily="34" charset="-122"/>
                <a:cs typeface="Calibri" pitchFamily="34" charset="-120"/>
              </a:rPr>
              <a:t>registry.mjs in the browser  ·  ink_render.mjs in the terminal</a:t>
            </a:r>
            <a:endParaRPr lang="en-US" sz="1300" dirty="0"/>
          </a:p>
        </p:txBody>
      </p:sp>
      <p:sp>
        <p:nvSpPr>
          <p:cNvPr id="14" name="Text 12"/>
          <p:cNvSpPr/>
          <p:nvPr/>
        </p:nvSpPr>
        <p:spPr>
          <a:xfrm>
            <a:off x="1261872" y="4238244"/>
            <a:ext cx="963777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React functions with htm, or ink Box and Text; the json-render family also has React Native, Vue, Svelte, PDF and email</a:t>
            </a:r>
            <a:endParaRPr lang="en-US" sz="1050" dirty="0"/>
          </a:p>
        </p:txBody>
      </p:sp>
      <p:sp>
        <p:nvSpPr>
          <p:cNvPr id="15" name="Text 13"/>
          <p:cNvSpPr/>
          <p:nvPr/>
        </p:nvSpPr>
        <p:spPr>
          <a:xfrm>
            <a:off x="548640" y="5394960"/>
            <a:ext cx="110642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same demo_spec.json produced the page screenshot and the terminal render on the next slides.</a:t>
            </a:r>
            <a:endParaRPr lang="en-US" sz="1050" dirty="0"/>
          </a:p>
        </p:txBody>
      </p:sp>
      <p:sp>
        <p:nvSpPr>
          <p:cNvPr id="16" name="Shape 14"/>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17" name="Text 15"/>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Write the catalog once; add a target by writing one component map for it.</a:t>
            </a:r>
            <a:endParaRPr lang="en-US" sz="12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05.3 · QUICK DEMO, THE PAGE</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Three presses: two went to the model as turns, one stayed in the page</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95</a:t>
            </a:r>
            <a:endParaRPr lang="en-US" sz="1000" dirty="0"/>
          </a:p>
        </p:txBody>
      </p:sp>
      <p:pic>
        <p:nvPicPr>
          <p:cNvPr id="5" name="Image 0" descr="C:\Users\evija\simple-coding-harness\genui\05_json_render\step_03_json_render_actions_and_targets\demo.png">    </p:cNvPr>
          <p:cNvPicPr>
            <a:picLocks noChangeAspect="1"/>
          </p:cNvPicPr>
          <p:nvPr/>
        </p:nvPicPr>
        <p:blipFill>
          <a:blip r:embed="rId1"/>
          <a:srcRect l="0" r="0" t="0" b="0"/>
          <a:stretch/>
        </p:blipFill>
        <p:spPr>
          <a:xfrm>
            <a:off x="548640" y="1417320"/>
            <a:ext cx="4114800" cy="4480560"/>
          </a:xfrm>
          <a:prstGeom prst="rect">
            <a:avLst/>
          </a:prstGeom>
        </p:spPr>
      </p:pic>
      <p:sp>
        <p:nvSpPr>
          <p:cNvPr id="6" name="Shape 3"/>
          <p:cNvSpPr/>
          <p:nvPr/>
        </p:nvSpPr>
        <p:spPr>
          <a:xfrm>
            <a:off x="548640" y="1417320"/>
            <a:ext cx="4114800" cy="4480560"/>
          </a:xfrm>
          <a:prstGeom prst="rect">
            <a:avLst/>
          </a:prstGeom>
          <a:ln w="12700">
            <a:solidFill>
              <a:srgbClr val="D7DAE5"/>
            </a:solidFill>
            <a:prstDash val="solid"/>
          </a:ln>
        </p:spPr>
      </p:sp>
      <p:sp>
        <p:nvSpPr>
          <p:cNvPr id="7" name="Shape 4"/>
          <p:cNvSpPr/>
          <p:nvPr/>
        </p:nvSpPr>
        <p:spPr>
          <a:xfrm>
            <a:off x="5029200" y="1417320"/>
            <a:ext cx="66111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5166360" y="1472184"/>
            <a:ext cx="63367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34</a:t>
            </a:r>
            <a:endParaRPr lang="en-US" sz="2800" dirty="0"/>
          </a:p>
        </p:txBody>
      </p:sp>
      <p:sp>
        <p:nvSpPr>
          <p:cNvPr id="9" name="Text 6"/>
          <p:cNvSpPr/>
          <p:nvPr/>
        </p:nvSpPr>
        <p:spPr>
          <a:xfrm>
            <a:off x="5166360" y="2039112"/>
            <a:ext cx="63367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patches in the first turn, 17.59 s, 1,228 completion tokens</a:t>
            </a:r>
            <a:endParaRPr lang="en-US" sz="1050" dirty="0"/>
          </a:p>
        </p:txBody>
      </p:sp>
      <p:sp>
        <p:nvSpPr>
          <p:cNvPr id="10" name="Shape 7"/>
          <p:cNvSpPr/>
          <p:nvPr/>
        </p:nvSpPr>
        <p:spPr>
          <a:xfrm>
            <a:off x="5029200" y="2697480"/>
            <a:ext cx="66111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5166360" y="2752344"/>
            <a:ext cx="6336792"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12</a:t>
            </a:r>
            <a:endParaRPr lang="en-US" sz="2800" dirty="0"/>
          </a:p>
        </p:txBody>
      </p:sp>
      <p:sp>
        <p:nvSpPr>
          <p:cNvPr id="12" name="Text 9"/>
          <p:cNvSpPr/>
          <p:nvPr/>
        </p:nvSpPr>
        <p:spPr>
          <a:xfrm>
            <a:off x="5166360" y="3319272"/>
            <a:ext cx="63367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patches for refresh_numbers, 4.48 s, 282 tokens</a:t>
            </a:r>
            <a:endParaRPr lang="en-US" sz="1050" dirty="0"/>
          </a:p>
        </p:txBody>
      </p:sp>
      <p:sp>
        <p:nvSpPr>
          <p:cNvPr id="13" name="Text 10"/>
          <p:cNvSpPr/>
          <p:nvPr/>
        </p:nvSpPr>
        <p:spPr>
          <a:xfrm>
            <a:off x="5029200" y="4023360"/>
            <a:ext cx="661111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action log at the bottom: </a:t>
            </a:r>
            <a:pPr indent="0" marL="0">
              <a:buNone/>
            </a:pPr>
            <a:r>
              <a:rPr lang="en-US" sz="1150" dirty="0">
                <a:solidFill>
                  <a:srgbClr val="BE123C"/>
                </a:solidFill>
                <a:latin typeface="Courier New" pitchFamily="34" charset="0"/>
                <a:ea typeface="Courier New" pitchFamily="34" charset="-122"/>
                <a:cs typeface="Courier New" pitchFamily="34" charset="-120"/>
              </a:rPr>
              <a:t>refresh_numbers {} -&gt; server</a:t>
            </a:r>
            <a:pPr indent="0" marL="0">
              <a:buNone/>
            </a:pPr>
            <a:r>
              <a:rPr lang="en-US" sz="1250" dirty="0">
                <a:solidFill>
                  <a:srgbClr val="1F2937"/>
                </a:solidFill>
                <a:latin typeface="Calibri" pitchFamily="34" charset="0"/>
                <a:ea typeface="Calibri" pitchFamily="34" charset="-122"/>
                <a:cs typeface="Calibri" pitchFamily="34" charset="-120"/>
              </a:rPr>
              <a:t>, then </a:t>
            </a:r>
            <a:pPr indent="0" marL="0">
              <a:buNone/>
            </a:pPr>
            <a:r>
              <a:rPr lang="en-US" sz="1150" dirty="0">
                <a:solidFill>
                  <a:srgbClr val="BE123C"/>
                </a:solidFill>
                <a:latin typeface="Courier New" pitchFamily="34" charset="0"/>
                <a:ea typeface="Courier New" pitchFamily="34" charset="-122"/>
                <a:cs typeface="Courier New" pitchFamily="34" charset="-120"/>
              </a:rPr>
              <a:t>show_details {"metric": "This Week's Sales"}</a:t>
            </a:r>
            <a:pPr indent="0" marL="0">
              <a:buNone/>
            </a:pPr>
            <a:r>
              <a:rPr lang="en-US" sz="1250" dirty="0">
                <a:solidFill>
                  <a:srgbClr val="1F2937"/>
                </a:solidFill>
                <a:latin typeface="Calibri" pitchFamily="34" charset="0"/>
                <a:ea typeface="Calibri" pitchFamily="34" charset="-122"/>
                <a:cs typeface="Calibri" pitchFamily="34" charset="-120"/>
              </a:rPr>
              <a:t>, then </a:t>
            </a:r>
            <a:pPr indent="0" marL="0">
              <a:buNone/>
            </a:pPr>
            <a:r>
              <a:rPr lang="en-US" sz="1150" dirty="0">
                <a:solidFill>
                  <a:srgbClr val="BE123C"/>
                </a:solidFill>
                <a:latin typeface="Courier New" pitchFamily="34" charset="0"/>
                <a:ea typeface="Courier New" pitchFamily="34" charset="-122"/>
                <a:cs typeface="Courier New" pitchFamily="34" charset="-120"/>
              </a:rPr>
              <a:t>setState /showNotes = false (handled in the page)</a:t>
            </a:r>
            <a:pP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refresh turn was all </a:t>
            </a:r>
            <a:pPr indent="0" marL="0">
              <a:buNone/>
            </a:pPr>
            <a:r>
              <a:rPr lang="en-US" sz="1150" dirty="0">
                <a:solidFill>
                  <a:srgbClr val="BE123C"/>
                </a:solidFill>
                <a:latin typeface="Courier New" pitchFamily="34" charset="0"/>
                <a:ea typeface="Courier New" pitchFamily="34" charset="-122"/>
                <a:cs typeface="Courier New" pitchFamily="34" charset="-120"/>
              </a:rPr>
              <a:t>replace</a:t>
            </a:r>
            <a:pPr indent="0" marL="0">
              <a:buNone/>
            </a:pPr>
            <a:r>
              <a:rPr lang="en-US" sz="1250" dirty="0">
                <a:solidFill>
                  <a:srgbClr val="1F2937"/>
                </a:solidFill>
                <a:latin typeface="Calibri" pitchFamily="34" charset="0"/>
                <a:ea typeface="Calibri" pitchFamily="34" charset="-122"/>
                <a:cs typeface="Calibri" pitchFamily="34" charset="-120"/>
              </a:rPr>
              <a:t> on state paths, one of them a single array cell, </a:t>
            </a:r>
            <a:pPr indent="0" marL="0">
              <a:buNone/>
            </a:pPr>
            <a:r>
              <a:rPr lang="en-US" sz="1150" dirty="0">
                <a:solidFill>
                  <a:srgbClr val="BE123C"/>
                </a:solidFill>
                <a:latin typeface="Courier New" pitchFamily="34" charset="0"/>
                <a:ea typeface="Courier New" pitchFamily="34" charset="-122"/>
                <a:cs typeface="Courier New" pitchFamily="34" charset="-120"/>
              </a:rPr>
              <a:t>/state/sales/dailySales/0</a:t>
            </a:r>
            <a:pPr indent="0" marL="0">
              <a:buNone/>
            </a:pPr>
            <a:r>
              <a:rPr lang="en-US" sz="1250" dirty="0">
                <a:solidFill>
                  <a:srgbClr val="1F2937"/>
                </a:solidFill>
                <a:latin typeface="Calibri" pitchFamily="34" charset="0"/>
                <a:ea typeface="Calibri" pitchFamily="34" charset="-122"/>
                <a:cs typeface="Calibri" pitchFamily="34" charset="-120"/>
              </a:rPr>
              <a:t>; the metrics and the chart changed without a new spec.</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toggle reads "Show Notes" because the last press hid the card locally; the server's spec still has </a:t>
            </a:r>
            <a:pPr indent="0" marL="0">
              <a:buNone/>
            </a:pPr>
            <a:r>
              <a:rPr lang="en-US" sz="1150" dirty="0">
                <a:solidFill>
                  <a:srgbClr val="BE123C"/>
                </a:solidFill>
                <a:latin typeface="Courier New" pitchFamily="34" charset="0"/>
                <a:ea typeface="Courier New" pitchFamily="34" charset="-122"/>
                <a:cs typeface="Courier New" pitchFamily="34" charset="-120"/>
              </a:rPr>
              <a:t>/showNotes</a:t>
            </a:r>
            <a:pPr indent="0" marL="0">
              <a:buNone/>
            </a:pPr>
            <a:r>
              <a:rPr lang="en-US" sz="1250" dirty="0">
                <a:solidFill>
                  <a:srgbClr val="1F2937"/>
                </a:solidFill>
                <a:latin typeface="Calibri" pitchFamily="34" charset="0"/>
                <a:ea typeface="Calibri" pitchFamily="34" charset="-122"/>
                <a:cs typeface="Calibri" pitchFamily="34" charset="-120"/>
              </a:rPr>
              <a:t> at true.</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Twelve patches refreshed a whole dashboard for 282 output tokens, because the first turn put the numbers in state.</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05.3 · QUICK DEMO, THE TERMINAL</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The same spec in the terminal, and it shows the notes card the page hid</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96</a:t>
            </a:r>
            <a:endParaRPr lang="en-US" sz="1000" dirty="0"/>
          </a:p>
        </p:txBody>
      </p:sp>
      <p:sp>
        <p:nvSpPr>
          <p:cNvPr id="5" name="Shape 3"/>
          <p:cNvSpPr/>
          <p:nvPr/>
        </p:nvSpPr>
        <p:spPr>
          <a:xfrm>
            <a:off x="548640" y="1417320"/>
            <a:ext cx="6583680" cy="4480560"/>
          </a:xfrm>
          <a:prstGeom prst="roundRect">
            <a:avLst>
              <a:gd name="adj" fmla="val 2041"/>
            </a:avLst>
          </a:prstGeom>
          <a:solidFill>
            <a:srgbClr val="0F172A"/>
          </a:solidFill>
          <a:ln w="12700">
            <a:solidFill>
              <a:srgbClr val="0F172A"/>
            </a:solidFill>
            <a:prstDash val="solid"/>
          </a:ln>
        </p:spPr>
      </p:sp>
      <p:sp>
        <p:nvSpPr>
          <p:cNvPr id="6" name="Text 4"/>
          <p:cNvSpPr/>
          <p:nvPr/>
        </p:nvSpPr>
        <p:spPr>
          <a:xfrm>
            <a:off x="731520" y="1554480"/>
            <a:ext cx="6217920" cy="4206240"/>
          </a:xfrm>
          <a:prstGeom prst="rect">
            <a:avLst/>
          </a:prstGeom>
          <a:noFill/>
          <a:ln/>
        </p:spPr>
        <p:txBody>
          <a:bodyPr wrap="square" lIns="0" tIns="0" rIns="0" bIns="0" rtlCol="0" anchor="t"/>
          <a:lstStyle/>
          <a:p>
            <a:pPr indent="0" marL="0">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Lemonade Stand Dashboard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THIS WEEK'S SALES    BEST DAY    PRODUCTS SOLD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$270                 Saturday    165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+5%                  +20%        +10%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Refresh Numbers ]  [ Show Details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Sales Over the Week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Monday    ████████                 22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Saturday  ████████████████████████ 64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Hide Notes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Notes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Detailed sales analysis: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 │</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7498080" y="1417320"/>
            <a:ext cx="4114800" cy="1188720"/>
          </a:xfrm>
          <a:prstGeom prst="roundRect">
            <a:avLst>
              <a:gd name="adj" fmla="val 7692"/>
            </a:avLst>
          </a:prstGeom>
          <a:solidFill>
            <a:srgbClr val="F6F7FB"/>
          </a:solidFill>
          <a:ln w="12700">
            <a:solidFill>
              <a:srgbClr val="F6F7FB"/>
            </a:solidFill>
            <a:prstDash val="solid"/>
          </a:ln>
        </p:spPr>
      </p:sp>
      <p:sp>
        <p:nvSpPr>
          <p:cNvPr id="8" name="Text 6"/>
          <p:cNvSpPr/>
          <p:nvPr/>
        </p:nvSpPr>
        <p:spPr>
          <a:xfrm>
            <a:off x="7635240" y="1472184"/>
            <a:ext cx="384048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a:t>
            </a:r>
            <a:endParaRPr lang="en-US" sz="2800" dirty="0"/>
          </a:p>
        </p:txBody>
      </p:sp>
      <p:sp>
        <p:nvSpPr>
          <p:cNvPr id="9" name="Text 7"/>
          <p:cNvSpPr/>
          <p:nvPr/>
        </p:nvSpPr>
        <p:spPr>
          <a:xfrm>
            <a:off x="7635240" y="2039112"/>
            <a:ext cx="384048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spec file, demo_spec.json, through both targets</a:t>
            </a:r>
            <a:endParaRPr lang="en-US" sz="1050" dirty="0"/>
          </a:p>
        </p:txBody>
      </p:sp>
      <p:sp>
        <p:nvSpPr>
          <p:cNvPr id="10" name="Shape 8"/>
          <p:cNvSpPr/>
          <p:nvPr/>
        </p:nvSpPr>
        <p:spPr>
          <a:xfrm>
            <a:off x="7498080" y="2697480"/>
            <a:ext cx="4114800" cy="1188720"/>
          </a:xfrm>
          <a:prstGeom prst="roundRect">
            <a:avLst>
              <a:gd name="adj" fmla="val 7692"/>
            </a:avLst>
          </a:prstGeom>
          <a:solidFill>
            <a:srgbClr val="F6F7FB"/>
          </a:solidFill>
          <a:ln w="12700">
            <a:solidFill>
              <a:srgbClr val="F6F7FB"/>
            </a:solidFill>
            <a:prstDash val="solid"/>
          </a:ln>
        </p:spPr>
      </p:sp>
      <p:sp>
        <p:nvSpPr>
          <p:cNvPr id="11" name="Text 9"/>
          <p:cNvSpPr/>
          <p:nvPr/>
        </p:nvSpPr>
        <p:spPr>
          <a:xfrm>
            <a:off x="7635240" y="2752344"/>
            <a:ext cx="3840480"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0</a:t>
            </a:r>
            <a:endParaRPr lang="en-US" sz="2800" dirty="0"/>
          </a:p>
        </p:txBody>
      </p:sp>
      <p:sp>
        <p:nvSpPr>
          <p:cNvPr id="12" name="Text 10"/>
          <p:cNvSpPr/>
          <p:nvPr/>
        </p:nvSpPr>
        <p:spPr>
          <a:xfrm>
            <a:off x="7635240" y="3319272"/>
            <a:ext cx="384048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lines skipped by the catalog check</a:t>
            </a:r>
            <a:endParaRPr lang="en-US" sz="1050" dirty="0"/>
          </a:p>
        </p:txBody>
      </p:sp>
      <p:sp>
        <p:nvSpPr>
          <p:cNvPr id="13" name="Text 11"/>
          <p:cNvSpPr/>
          <p:nvPr/>
        </p:nvSpPr>
        <p:spPr>
          <a:xfrm>
            <a:off x="7498080" y="4023360"/>
            <a:ext cx="4114800" cy="18745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t>
            </a:r>
            <a:pPr indent="0" marL="0">
              <a:buNone/>
            </a:pPr>
            <a:r>
              <a:rPr lang="en-US" sz="1050" dirty="0">
                <a:solidFill>
                  <a:srgbClr val="BE123C"/>
                </a:solidFill>
                <a:latin typeface="Courier New" pitchFamily="34" charset="0"/>
                <a:ea typeface="Courier New" pitchFamily="34" charset="-122"/>
                <a:cs typeface="Courier New" pitchFamily="34" charset="-120"/>
              </a:rPr>
              <a:t>node ink_render.mjs demo_spec.json</a:t>
            </a:r>
            <a:pPr indent="0" marL="0">
              <a:buNone/>
            </a:pPr>
            <a:r>
              <a:rPr lang="en-US" sz="1150" dirty="0">
                <a:solidFill>
                  <a:srgbClr val="1F2937"/>
                </a:solidFill>
                <a:latin typeface="Calibri" pitchFamily="34" charset="0"/>
                <a:ea typeface="Calibri" pitchFamily="34" charset="-122"/>
                <a:cs typeface="Calibri" pitchFamily="34" charset="-120"/>
              </a:rPr>
              <a:t>: the same values, $270, Saturday, 165, drawn with Box and Text.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button reads "[ Hide Notes ]" and the Notes card is present: the server's spec has the model's </a:t>
            </a:r>
            <a:pPr indent="0" marL="0">
              <a:buNone/>
            </a:pPr>
            <a:r>
              <a:rPr lang="en-US" sz="1050" dirty="0">
                <a:solidFill>
                  <a:srgbClr val="BE123C"/>
                </a:solidFill>
                <a:latin typeface="Courier New" pitchFamily="34" charset="0"/>
                <a:ea typeface="Courier New" pitchFamily="34" charset="-122"/>
                <a:cs typeface="Courier New" pitchFamily="34" charset="-120"/>
              </a:rPr>
              <a:t>/showNotes</a:t>
            </a:r>
            <a:pPr indent="0" marL="0">
              <a:buNone/>
            </a:pPr>
            <a:r>
              <a:rPr lang="en-US" sz="1150" dirty="0">
                <a:solidFill>
                  <a:srgbClr val="1F2937"/>
                </a:solidFill>
                <a:latin typeface="Calibri" pitchFamily="34" charset="0"/>
                <a:ea typeface="Calibri" pitchFamily="34" charset="-122"/>
                <a:cs typeface="Calibri" pitchFamily="34" charset="-120"/>
              </a:rPr>
              <a:t> = true patch.</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page hid that card with </a:t>
            </a:r>
            <a:pPr indent="0" marL="0">
              <a:buNone/>
            </a:pPr>
            <a:r>
              <a:rPr lang="en-US" sz="1050" dirty="0">
                <a:solidFill>
                  <a:srgbClr val="BE123C"/>
                </a:solidFill>
                <a:latin typeface="Courier New" pitchFamily="34" charset="0"/>
                <a:ea typeface="Courier New" pitchFamily="34" charset="-122"/>
                <a:cs typeface="Courier New" pitchFamily="34" charset="-120"/>
              </a:rPr>
              <a:t>setState</a:t>
            </a:r>
            <a:pPr indent="0" marL="0">
              <a:buNone/>
            </a:pPr>
            <a:r>
              <a:rPr lang="en-US" sz="1150" dirty="0">
                <a:solidFill>
                  <a:srgbClr val="1F2937"/>
                </a:solidFill>
                <a:latin typeface="Calibri" pitchFamily="34" charset="0"/>
                <a:ea typeface="Calibri" pitchFamily="34" charset="-122"/>
                <a:cs typeface="Calibri" pitchFamily="34" charset="-120"/>
              </a:rPr>
              <a:t>, which never reached the server. Built-in actions are local state; if the agent must know, send them.</a:t>
            </a:r>
            <a:endParaRPr lang="en-US" sz="1150" dirty="0"/>
          </a:p>
        </p:txBody>
      </p:sp>
      <p:sp>
        <p:nvSpPr>
          <p:cNvPr id="14" name="Text 12"/>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Cut to its top; the full render in the step README has the whole chart, both tables and the notes text.</a:t>
            </a:r>
            <a:endParaRPr lang="en-US" sz="12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82296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Sub-theme 06 · Levels 18-19 of 23</a:t>
            </a:r>
            <a:endParaRPr lang="en-US" sz="1300" dirty="0"/>
          </a:p>
        </p:txBody>
      </p:sp>
      <p:sp>
        <p:nvSpPr>
          <p:cNvPr id="3" name="Text 1"/>
          <p:cNvSpPr/>
          <p:nvPr/>
        </p:nvSpPr>
        <p:spPr>
          <a:xfrm>
            <a:off x="731520" y="1280160"/>
            <a:ext cx="1051560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MCP Apps, UI in a host you do not control</a:t>
            </a:r>
            <a:endParaRPr lang="en-US" sz="4000" dirty="0"/>
          </a:p>
        </p:txBody>
      </p:sp>
      <p:sp>
        <p:nvSpPr>
          <p:cNvPr id="4" name="Text 2"/>
          <p:cNvSpPr/>
          <p:nvPr/>
        </p:nvSpPr>
        <p:spPr>
          <a:xfrm>
            <a:off x="731520" y="2560320"/>
            <a:ext cx="6583680" cy="201168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The report's second transport. Sub-theme 02 put the agent inside a product you own. Here the agent lives in someone else's chat client, and you ship the interface to it as an MCP resource: a ui:// URI, an HTML document, a tool that points at it, and a JSON-RPC bridge over postMessage between a sandboxed iframe and the host. The spec is SEP-1865. Both steps use FastMCP on the server and no SDK anywhere else. At the end, one server renders in a browser host, in a terminal host, and in Claude Desktop, unchanged.</a:t>
            </a:r>
            <a:endParaRPr lang="en-US" sz="1600" dirty="0"/>
          </a:p>
        </p:txBody>
      </p:sp>
      <p:sp>
        <p:nvSpPr>
          <p:cNvPr id="5" name="Shape 3"/>
          <p:cNvSpPr/>
          <p:nvPr/>
        </p:nvSpPr>
        <p:spPr>
          <a:xfrm>
            <a:off x="7680960" y="2606040"/>
            <a:ext cx="3931920" cy="603504"/>
          </a:xfrm>
          <a:prstGeom prst="roundRect">
            <a:avLst>
              <a:gd name="adj" fmla="val 12121"/>
            </a:avLst>
          </a:prstGeom>
          <a:solidFill>
            <a:srgbClr val="1E2761"/>
          </a:solidFill>
          <a:ln w="12700">
            <a:solidFill>
              <a:srgbClr val="3B4A8A"/>
            </a:solidFill>
            <a:prstDash val="solid"/>
          </a:ln>
        </p:spPr>
      </p:sp>
      <p:sp>
        <p:nvSpPr>
          <p:cNvPr id="6" name="Text 4"/>
          <p:cNvSpPr/>
          <p:nvPr/>
        </p:nvSpPr>
        <p:spPr>
          <a:xfrm>
            <a:off x="7818120" y="2606040"/>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06.1  </a:t>
            </a:r>
            <a:pPr indent="0" marL="0">
              <a:buNone/>
            </a:pPr>
            <a:r>
              <a:rPr lang="en-US" sz="1250" dirty="0">
                <a:solidFill>
                  <a:srgbClr val="FFFFFF"/>
                </a:solidFill>
                <a:latin typeface="Calibri" pitchFamily="34" charset="0"/>
                <a:ea typeface="Calibri" pitchFamily="34" charset="-122"/>
                <a:cs typeface="Calibri" pitchFamily="34" charset="-120"/>
              </a:rPr>
              <a:t>A tool result that carries its interface</a:t>
            </a:r>
            <a:endParaRPr lang="en-US" sz="1250" dirty="0"/>
          </a:p>
        </p:txBody>
      </p:sp>
      <p:sp>
        <p:nvSpPr>
          <p:cNvPr id="7" name="Shape 5"/>
          <p:cNvSpPr/>
          <p:nvPr/>
        </p:nvSpPr>
        <p:spPr>
          <a:xfrm>
            <a:off x="7680960" y="3319272"/>
            <a:ext cx="3931920" cy="603504"/>
          </a:xfrm>
          <a:prstGeom prst="roundRect">
            <a:avLst>
              <a:gd name="adj" fmla="val 12121"/>
            </a:avLst>
          </a:prstGeom>
          <a:solidFill>
            <a:srgbClr val="1E2761"/>
          </a:solidFill>
          <a:ln w="12700">
            <a:solidFill>
              <a:srgbClr val="3B4A8A"/>
            </a:solidFill>
            <a:prstDash val="solid"/>
          </a:ln>
        </p:spPr>
      </p:sp>
      <p:sp>
        <p:nvSpPr>
          <p:cNvPr id="8" name="Text 6"/>
          <p:cNvSpPr/>
          <p:nvPr/>
        </p:nvSpPr>
        <p:spPr>
          <a:xfrm>
            <a:off x="7818120" y="3319272"/>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06.2  </a:t>
            </a:r>
            <a:pPr indent="0" marL="0">
              <a:buNone/>
            </a:pPr>
            <a:r>
              <a:rPr lang="en-US" sz="1250" dirty="0">
                <a:solidFill>
                  <a:srgbClr val="FFFFFF"/>
                </a:solidFill>
                <a:latin typeface="Calibri" pitchFamily="34" charset="0"/>
                <a:ea typeface="Calibri" pitchFamily="34" charset="-122"/>
                <a:cs typeface="Calibri" pitchFamily="34" charset="-120"/>
              </a:rPr>
              <a:t>The same server in a real host</a:t>
            </a:r>
            <a:endParaRPr lang="en-US" sz="1250" dirty="0"/>
          </a:p>
        </p:txBody>
      </p:sp>
      <p:sp>
        <p:nvSpPr>
          <p:cNvPr id="9" name="Shape 7"/>
          <p:cNvSpPr/>
          <p:nvPr/>
        </p:nvSpPr>
        <p:spPr>
          <a:xfrm>
            <a:off x="7680960" y="4032504"/>
            <a:ext cx="3931920" cy="603504"/>
          </a:xfrm>
          <a:prstGeom prst="roundRect">
            <a:avLst>
              <a:gd name="adj" fmla="val 12121"/>
            </a:avLst>
          </a:prstGeom>
          <a:solidFill>
            <a:srgbClr val="1E2761"/>
          </a:solidFill>
          <a:ln w="12700">
            <a:solidFill>
              <a:srgbClr val="3B4A8A"/>
            </a:solidFill>
            <a:prstDash val="solid"/>
          </a:ln>
        </p:spPr>
      </p:sp>
      <p:sp>
        <p:nvSpPr>
          <p:cNvPr id="10" name="Text 8"/>
          <p:cNvSpPr/>
          <p:nvPr/>
        </p:nvSpPr>
        <p:spPr>
          <a:xfrm>
            <a:off x="7818120" y="4032504"/>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06.3  </a:t>
            </a:r>
            <a:pPr indent="0" marL="0">
              <a:buNone/>
            </a:pPr>
            <a:r>
              <a:rPr lang="en-US" sz="1250" dirty="0">
                <a:solidFill>
                  <a:srgbClr val="FFFFFF"/>
                </a:solidFill>
                <a:latin typeface="Calibri" pitchFamily="34" charset="0"/>
                <a:ea typeface="Calibri" pitchFamily="34" charset="-122"/>
                <a:cs typeface="Calibri" pitchFamily="34" charset="-120"/>
              </a:rPr>
              <a:t>Hybrid inside an MCP App</a:t>
            </a:r>
            <a:endParaRPr lang="en-US" sz="1250" dirty="0"/>
          </a:p>
        </p:txBody>
      </p:sp>
      <p:sp>
        <p:nvSpPr>
          <p:cNvPr id="11" name="Text 9"/>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AB8"/>
                </a:solidFill>
                <a:latin typeface="Calibri" pitchFamily="34" charset="0"/>
                <a:ea typeface="Calibri" pitchFamily="34" charset="-122"/>
                <a:cs typeface="Calibri" pitchFamily="34" charset="-120"/>
              </a:rPr>
              <a:t>97</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06.1 · LEVEL 18 OF 23 · A THIRD-PARTY HOST (MCP APPS)</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interface travels as a resource; the data arrives later, as a notification</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98</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A tool result has </a:t>
            </a:r>
            <a:pPr indent="0" marL="0">
              <a:buNone/>
            </a:pPr>
            <a:r>
              <a:rPr lang="en-US" sz="1600" b="1" dirty="0">
                <a:solidFill>
                  <a:srgbClr val="141B3D"/>
                </a:solidFill>
                <a:latin typeface="Calibri" pitchFamily="34" charset="0"/>
                <a:ea typeface="Calibri" pitchFamily="34" charset="-122"/>
                <a:cs typeface="Calibri" pitchFamily="34" charset="-120"/>
              </a:rPr>
              <a:t>two audiences</a:t>
            </a:r>
            <a:pPr indent="0" marL="0">
              <a:buNone/>
            </a:pPr>
            <a:r>
              <a:rPr lang="en-US" sz="1600" dirty="0">
                <a:solidFill>
                  <a:srgbClr val="141B3D"/>
                </a:solidFill>
                <a:latin typeface="Calibri" pitchFamily="34" charset="0"/>
                <a:ea typeface="Calibri" pitchFamily="34" charset="-122"/>
                <a:cs typeface="Calibri" pitchFamily="34" charset="-120"/>
              </a:rPr>
              <a:t>: </a:t>
            </a:r>
            <a:pPr indent="0" marL="0">
              <a:buNone/>
            </a:pPr>
            <a:r>
              <a:rPr lang="en-US" sz="1600" dirty="0">
                <a:solidFill>
                  <a:srgbClr val="BE123C"/>
                </a:solidFill>
                <a:latin typeface="Courier New" pitchFamily="34" charset="0"/>
                <a:ea typeface="Courier New" pitchFamily="34" charset="-122"/>
                <a:cs typeface="Courier New" pitchFamily="34" charset="-120"/>
              </a:rPr>
              <a:t>content</a:t>
            </a:r>
            <a:pPr indent="0" marL="0">
              <a:buNone/>
            </a:pPr>
            <a:r>
              <a:rPr lang="en-US" sz="1600" dirty="0">
                <a:solidFill>
                  <a:srgbClr val="141B3D"/>
                </a:solidFill>
                <a:latin typeface="Calibri" pitchFamily="34" charset="0"/>
                <a:ea typeface="Calibri" pitchFamily="34" charset="-122"/>
                <a:cs typeface="Calibri" pitchFamily="34" charset="-120"/>
              </a:rPr>
              <a:t> for the model and for text-only hosts, </a:t>
            </a:r>
            <a:pPr indent="0" marL="0">
              <a:buNone/>
            </a:pPr>
            <a:r>
              <a:rPr lang="en-US" sz="1600" dirty="0">
                <a:solidFill>
                  <a:srgbClr val="BE123C"/>
                </a:solidFill>
                <a:latin typeface="Courier New" pitchFamily="34" charset="0"/>
                <a:ea typeface="Courier New" pitchFamily="34" charset="-122"/>
                <a:cs typeface="Courier New" pitchFamily="34" charset="-120"/>
              </a:rPr>
              <a:t>structuredContent</a:t>
            </a:r>
            <a:pPr indent="0" marL="0">
              <a:buNone/>
            </a:pPr>
            <a:r>
              <a:rPr lang="en-US" sz="1600" dirty="0">
                <a:solidFill>
                  <a:srgbClr val="141B3D"/>
                </a:solidFill>
                <a:latin typeface="Calibri" pitchFamily="34" charset="0"/>
                <a:ea typeface="Calibri" pitchFamily="34" charset="-122"/>
                <a:cs typeface="Calibri" pitchFamily="34" charset="-120"/>
              </a:rPr>
              <a:t> for the view in the iframe.</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server declares one resource at ui://lemonade/dashboard.html, MIME type text/html;profile=mcp-app.</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tool's _meta.ui.resourceUri links the tool to that resource; a host without the extension ignores it.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host reads the resource, builds a CSP from its metadata, mounts it with sandbox="allow-scripts".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view speaks JSON-RPC over postMessage in three functions; no SDK on either side.</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order is fixed: ui/initialize, initialized, then tool-input and tool-result, then a size report.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view never talks to the server. Every tools/call goes through the host, which can log or refuse it.</a:t>
            </a:r>
            <a:endParaRPr lang="en-US" sz="1300" dirty="0"/>
          </a:p>
        </p:txBody>
      </p:sp>
      <p:sp>
        <p:nvSpPr>
          <p:cNvPr id="7" name="Shape 5"/>
          <p:cNvSpPr/>
          <p:nvPr/>
        </p:nvSpPr>
        <p:spPr>
          <a:xfrm>
            <a:off x="6035040" y="1600200"/>
            <a:ext cx="5577840" cy="525780"/>
          </a:xfrm>
          <a:prstGeom prst="roundRect">
            <a:avLst>
              <a:gd name="adj" fmla="val 17391"/>
            </a:avLst>
          </a:prstGeom>
          <a:solidFill>
            <a:srgbClr val="FFF4E5"/>
          </a:solidFill>
          <a:ln w="15875">
            <a:solidFill>
              <a:srgbClr val="D97706"/>
            </a:solidFill>
            <a:prstDash val="solid"/>
          </a:ln>
        </p:spPr>
      </p:sp>
      <p:sp>
        <p:nvSpPr>
          <p:cNvPr id="8" name="Text 6"/>
          <p:cNvSpPr/>
          <p:nvPr/>
        </p:nvSpPr>
        <p:spPr>
          <a:xfrm>
            <a:off x="6108192" y="1636776"/>
            <a:ext cx="5431536" cy="270891"/>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ui/initialize</a:t>
            </a:r>
            <a:endParaRPr lang="en-US" sz="1300" dirty="0"/>
          </a:p>
        </p:txBody>
      </p:sp>
      <p:sp>
        <p:nvSpPr>
          <p:cNvPr id="9" name="Text 7"/>
          <p:cNvSpPr/>
          <p:nvPr/>
        </p:nvSpPr>
        <p:spPr>
          <a:xfrm>
            <a:off x="6108192" y="1907667"/>
            <a:ext cx="5431536" cy="181737"/>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view → host, a request: the host answers with hostContext and hostCapabilities</a:t>
            </a:r>
            <a:endParaRPr lang="en-US" sz="1050" dirty="0"/>
          </a:p>
        </p:txBody>
      </p:sp>
      <p:sp>
        <p:nvSpPr>
          <p:cNvPr id="10" name="Shape 8"/>
          <p:cNvSpPr/>
          <p:nvPr/>
        </p:nvSpPr>
        <p:spPr>
          <a:xfrm>
            <a:off x="6035040" y="2235708"/>
            <a:ext cx="5577840" cy="525780"/>
          </a:xfrm>
          <a:prstGeom prst="roundRect">
            <a:avLst>
              <a:gd name="adj" fmla="val 17391"/>
            </a:avLst>
          </a:prstGeom>
          <a:solidFill>
            <a:srgbClr val="FFF4E5"/>
          </a:solidFill>
          <a:ln w="15875">
            <a:solidFill>
              <a:srgbClr val="D97706"/>
            </a:solidFill>
            <a:prstDash val="solid"/>
          </a:ln>
        </p:spPr>
      </p:sp>
      <p:sp>
        <p:nvSpPr>
          <p:cNvPr id="11" name="Text 9"/>
          <p:cNvSpPr/>
          <p:nvPr/>
        </p:nvSpPr>
        <p:spPr>
          <a:xfrm>
            <a:off x="6108192" y="2272284"/>
            <a:ext cx="5431536" cy="270891"/>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ui/notifications/initialized</a:t>
            </a:r>
            <a:endParaRPr lang="en-US" sz="1300" dirty="0"/>
          </a:p>
        </p:txBody>
      </p:sp>
      <p:sp>
        <p:nvSpPr>
          <p:cNvPr id="12" name="Text 10"/>
          <p:cNvSpPr/>
          <p:nvPr/>
        </p:nvSpPr>
        <p:spPr>
          <a:xfrm>
            <a:off x="6108192" y="2543175"/>
            <a:ext cx="5431536" cy="181737"/>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view → host: the listener is ready</a:t>
            </a:r>
            <a:endParaRPr lang="en-US" sz="1050" dirty="0"/>
          </a:p>
        </p:txBody>
      </p:sp>
      <p:sp>
        <p:nvSpPr>
          <p:cNvPr id="13" name="Shape 11"/>
          <p:cNvSpPr/>
          <p:nvPr/>
        </p:nvSpPr>
        <p:spPr>
          <a:xfrm>
            <a:off x="6035040" y="2871216"/>
            <a:ext cx="5577840" cy="525780"/>
          </a:xfrm>
          <a:prstGeom prst="roundRect">
            <a:avLst>
              <a:gd name="adj" fmla="val 17391"/>
            </a:avLst>
          </a:prstGeom>
          <a:solidFill>
            <a:srgbClr val="ECFDF5"/>
          </a:solidFill>
          <a:ln w="15875">
            <a:solidFill>
              <a:srgbClr val="15803D"/>
            </a:solidFill>
            <a:prstDash val="solid"/>
          </a:ln>
        </p:spPr>
      </p:sp>
      <p:sp>
        <p:nvSpPr>
          <p:cNvPr id="14" name="Text 12"/>
          <p:cNvSpPr/>
          <p:nvPr/>
        </p:nvSpPr>
        <p:spPr>
          <a:xfrm>
            <a:off x="6108192" y="2907792"/>
            <a:ext cx="5431536" cy="270891"/>
          </a:xfrm>
          <a:prstGeom prst="rect">
            <a:avLst/>
          </a:prstGeom>
          <a:noFill/>
          <a:ln/>
        </p:spPr>
        <p:txBody>
          <a:bodyPr wrap="square" lIns="0" tIns="0" rIns="0" bIns="0" rtlCol="0" anchor="b"/>
          <a:lstStyle/>
          <a:p>
            <a:pPr algn="ctr" indent="0" marL="0">
              <a:buNone/>
            </a:pPr>
            <a:r>
              <a:rPr lang="en-US" sz="1300" b="1" dirty="0">
                <a:solidFill>
                  <a:srgbClr val="15803D"/>
                </a:solidFill>
                <a:latin typeface="Calibri" pitchFamily="34" charset="0"/>
                <a:ea typeface="Calibri" pitchFamily="34" charset="-122"/>
                <a:cs typeface="Calibri" pitchFamily="34" charset="-120"/>
              </a:rPr>
              <a:t>ui/notifications/tool-input</a:t>
            </a:r>
            <a:endParaRPr lang="en-US" sz="1300" dirty="0"/>
          </a:p>
        </p:txBody>
      </p:sp>
      <p:sp>
        <p:nvSpPr>
          <p:cNvPr id="15" name="Text 13"/>
          <p:cNvSpPr/>
          <p:nvPr/>
        </p:nvSpPr>
        <p:spPr>
          <a:xfrm>
            <a:off x="6108192" y="3178683"/>
            <a:ext cx="5431536" cy="181737"/>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host → view: the arguments the model chose</a:t>
            </a:r>
            <a:endParaRPr lang="en-US" sz="1050" dirty="0"/>
          </a:p>
        </p:txBody>
      </p:sp>
      <p:sp>
        <p:nvSpPr>
          <p:cNvPr id="16" name="Shape 14"/>
          <p:cNvSpPr/>
          <p:nvPr/>
        </p:nvSpPr>
        <p:spPr>
          <a:xfrm>
            <a:off x="6035040" y="3506724"/>
            <a:ext cx="5577840" cy="525780"/>
          </a:xfrm>
          <a:prstGeom prst="roundRect">
            <a:avLst>
              <a:gd name="adj" fmla="val 17391"/>
            </a:avLst>
          </a:prstGeom>
          <a:solidFill>
            <a:srgbClr val="ECFDF5"/>
          </a:solidFill>
          <a:ln w="15875">
            <a:solidFill>
              <a:srgbClr val="15803D"/>
            </a:solidFill>
            <a:prstDash val="solid"/>
          </a:ln>
        </p:spPr>
      </p:sp>
      <p:sp>
        <p:nvSpPr>
          <p:cNvPr id="17" name="Text 15"/>
          <p:cNvSpPr/>
          <p:nvPr/>
        </p:nvSpPr>
        <p:spPr>
          <a:xfrm>
            <a:off x="6108192" y="3543300"/>
            <a:ext cx="5431536" cy="270891"/>
          </a:xfrm>
          <a:prstGeom prst="rect">
            <a:avLst/>
          </a:prstGeom>
          <a:noFill/>
          <a:ln/>
        </p:spPr>
        <p:txBody>
          <a:bodyPr wrap="square" lIns="0" tIns="0" rIns="0" bIns="0" rtlCol="0" anchor="b"/>
          <a:lstStyle/>
          <a:p>
            <a:pPr algn="ctr" indent="0" marL="0">
              <a:buNone/>
            </a:pPr>
            <a:r>
              <a:rPr lang="en-US" sz="1300" b="1" dirty="0">
                <a:solidFill>
                  <a:srgbClr val="15803D"/>
                </a:solidFill>
                <a:latin typeface="Calibri" pitchFamily="34" charset="0"/>
                <a:ea typeface="Calibri" pitchFamily="34" charset="-122"/>
                <a:cs typeface="Calibri" pitchFamily="34" charset="-120"/>
              </a:rPr>
              <a:t>ui/notifications/tool-result</a:t>
            </a:r>
            <a:endParaRPr lang="en-US" sz="1300" dirty="0"/>
          </a:p>
        </p:txBody>
      </p:sp>
      <p:sp>
        <p:nvSpPr>
          <p:cNvPr id="18" name="Text 16"/>
          <p:cNvSpPr/>
          <p:nvPr/>
        </p:nvSpPr>
        <p:spPr>
          <a:xfrm>
            <a:off x="6108192" y="3814191"/>
            <a:ext cx="5431536" cy="181737"/>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host → view: structuredContent, never seen by the model</a:t>
            </a:r>
            <a:endParaRPr lang="en-US" sz="1050" dirty="0"/>
          </a:p>
        </p:txBody>
      </p:sp>
      <p:sp>
        <p:nvSpPr>
          <p:cNvPr id="19" name="Shape 17"/>
          <p:cNvSpPr/>
          <p:nvPr/>
        </p:nvSpPr>
        <p:spPr>
          <a:xfrm>
            <a:off x="6035040" y="4142232"/>
            <a:ext cx="5577840" cy="525780"/>
          </a:xfrm>
          <a:prstGeom prst="roundRect">
            <a:avLst>
              <a:gd name="adj" fmla="val 17391"/>
            </a:avLst>
          </a:prstGeom>
          <a:solidFill>
            <a:srgbClr val="FFF4E5"/>
          </a:solidFill>
          <a:ln w="15875">
            <a:solidFill>
              <a:srgbClr val="D97706"/>
            </a:solidFill>
            <a:prstDash val="dash"/>
          </a:ln>
        </p:spPr>
      </p:sp>
      <p:sp>
        <p:nvSpPr>
          <p:cNvPr id="20" name="Text 18"/>
          <p:cNvSpPr/>
          <p:nvPr/>
        </p:nvSpPr>
        <p:spPr>
          <a:xfrm>
            <a:off x="6108192" y="4178808"/>
            <a:ext cx="5431536" cy="270891"/>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tools/call</a:t>
            </a:r>
            <a:endParaRPr lang="en-US" sz="1300" dirty="0"/>
          </a:p>
        </p:txBody>
      </p:sp>
      <p:sp>
        <p:nvSpPr>
          <p:cNvPr id="21" name="Text 19"/>
          <p:cNvSpPr/>
          <p:nvPr/>
        </p:nvSpPr>
        <p:spPr>
          <a:xfrm>
            <a:off x="6108192" y="4449699"/>
            <a:ext cx="5431536" cy="181737"/>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view → host → server: the interactive phase, proxied and logged</a:t>
            </a:r>
            <a:endParaRPr lang="en-US" sz="1050" dirty="0"/>
          </a:p>
        </p:txBody>
      </p:sp>
      <p:sp>
        <p:nvSpPr>
          <p:cNvPr id="22" name="Shape 20"/>
          <p:cNvSpPr/>
          <p:nvPr/>
        </p:nvSpPr>
        <p:spPr>
          <a:xfrm>
            <a:off x="6035040" y="4777740"/>
            <a:ext cx="5577840" cy="525780"/>
          </a:xfrm>
          <a:prstGeom prst="roundRect">
            <a:avLst>
              <a:gd name="adj" fmla="val 17391"/>
            </a:avLst>
          </a:prstGeom>
          <a:solidFill>
            <a:srgbClr val="FFF4E5"/>
          </a:solidFill>
          <a:ln w="15875">
            <a:solidFill>
              <a:srgbClr val="D97706"/>
            </a:solidFill>
            <a:prstDash val="solid"/>
          </a:ln>
        </p:spPr>
      </p:sp>
      <p:sp>
        <p:nvSpPr>
          <p:cNvPr id="23" name="Text 21"/>
          <p:cNvSpPr/>
          <p:nvPr/>
        </p:nvSpPr>
        <p:spPr>
          <a:xfrm>
            <a:off x="6108192" y="4814316"/>
            <a:ext cx="5431536" cy="270891"/>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ui/notifications/size-changed</a:t>
            </a:r>
            <a:endParaRPr lang="en-US" sz="1300" dirty="0"/>
          </a:p>
        </p:txBody>
      </p:sp>
      <p:sp>
        <p:nvSpPr>
          <p:cNvPr id="24" name="Text 22"/>
          <p:cNvSpPr/>
          <p:nvPr/>
        </p:nvSpPr>
        <p:spPr>
          <a:xfrm>
            <a:off x="6108192" y="5085207"/>
            <a:ext cx="5431536" cy="181737"/>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view → host after every render: 550x458, then 550x665</a:t>
            </a:r>
            <a:endParaRPr lang="en-US" sz="1050" dirty="0"/>
          </a:p>
        </p:txBody>
      </p:sp>
      <p:sp>
        <p:nvSpPr>
          <p:cNvPr id="25" name="Text 23"/>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six messages of the demo, in the order the bridge log printed them.</a:t>
            </a:r>
            <a:endParaRPr lang="en-US" sz="1050" dirty="0"/>
          </a:p>
        </p:txBody>
      </p:sp>
      <p:sp>
        <p:nvSpPr>
          <p:cNvPr id="26" name="Shape 24"/>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7" name="Text 25"/>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The resource is static and declared up front; the data comes as a tool result; every message between them passes through a host that can refuse it.</a:t>
            </a:r>
            <a:endParaRPr lang="en-US" sz="12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06.1 · THE BRIDGE</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Three parties, two channels: the view never talks to the server</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99</a:t>
            </a:r>
            <a:endParaRPr lang="en-US" sz="1000" dirty="0"/>
          </a:p>
        </p:txBody>
      </p:sp>
      <p:sp>
        <p:nvSpPr>
          <p:cNvPr id="5" name="Text 3"/>
          <p:cNvSpPr/>
          <p:nvPr/>
        </p:nvSpPr>
        <p:spPr>
          <a:xfrm>
            <a:off x="548640" y="1417320"/>
            <a:ext cx="11064240" cy="548640"/>
          </a:xfrm>
          <a:prstGeom prst="rect">
            <a:avLst/>
          </a:prstGeom>
          <a:noFill/>
          <a:ln/>
        </p:spPr>
        <p:txBody>
          <a:bodyPr wrap="square" lIns="0" tIns="0" rIns="0" bIns="0" rtlCol="0" anchor="ctr"/>
          <a:lstStyle/>
          <a:p>
            <a:pPr indent="0" marL="0">
              <a:buNone/>
            </a:pPr>
            <a:r>
              <a:rPr lang="en-US" sz="1500" dirty="0">
                <a:solidFill>
                  <a:srgbClr val="141B3D"/>
                </a:solidFill>
                <a:latin typeface="Calibri" pitchFamily="34" charset="0"/>
                <a:ea typeface="Calibri" pitchFamily="34" charset="-122"/>
                <a:cs typeface="Calibri" pitchFamily="34" charset="-120"/>
              </a:rPr>
              <a:t>MCP over HTTP or stdio between the server and the host; </a:t>
            </a:r>
            <a:pPr indent="0" marL="0">
              <a:buNone/>
            </a:pPr>
            <a:r>
              <a:rPr lang="en-US" sz="1500" b="1" dirty="0">
                <a:solidFill>
                  <a:srgbClr val="141B3D"/>
                </a:solidFill>
                <a:latin typeface="Calibri" pitchFamily="34" charset="0"/>
                <a:ea typeface="Calibri" pitchFamily="34" charset="-122"/>
                <a:cs typeface="Calibri" pitchFamily="34" charset="-120"/>
              </a:rPr>
              <a:t>JSON-RPC over postMessage</a:t>
            </a:r>
            <a:pPr indent="0" marL="0">
              <a:buNone/>
            </a:pPr>
            <a:r>
              <a:rPr lang="en-US" sz="1500" dirty="0">
                <a:solidFill>
                  <a:srgbClr val="141B3D"/>
                </a:solidFill>
                <a:latin typeface="Calibri" pitchFamily="34" charset="0"/>
                <a:ea typeface="Calibri" pitchFamily="34" charset="-122"/>
                <a:cs typeface="Calibri" pitchFamily="34" charset="-120"/>
              </a:rPr>
              <a:t> between the host and the sandboxed iframe. Every request from the view crosses the host.</a:t>
            </a:r>
            <a:endParaRPr lang="en-US" sz="1500" dirty="0"/>
          </a:p>
        </p:txBody>
      </p:sp>
      <p:sp>
        <p:nvSpPr>
          <p:cNvPr id="6" name="Shape 4"/>
          <p:cNvSpPr/>
          <p:nvPr/>
        </p:nvSpPr>
        <p:spPr>
          <a:xfrm>
            <a:off x="548640" y="2057400"/>
            <a:ext cx="2377440" cy="3383280"/>
          </a:xfrm>
          <a:prstGeom prst="roundRect">
            <a:avLst>
              <a:gd name="adj" fmla="val 3846"/>
            </a:avLst>
          </a:prstGeom>
          <a:solidFill>
            <a:srgbClr val="ECFDF5"/>
          </a:solidFill>
          <a:ln w="15875">
            <a:solidFill>
              <a:srgbClr val="15803D"/>
            </a:solidFill>
            <a:prstDash val="solid"/>
          </a:ln>
        </p:spPr>
      </p:sp>
      <p:sp>
        <p:nvSpPr>
          <p:cNvPr id="7" name="Text 5"/>
          <p:cNvSpPr/>
          <p:nvPr/>
        </p:nvSpPr>
        <p:spPr>
          <a:xfrm>
            <a:off x="621792" y="2093976"/>
            <a:ext cx="2231136" cy="1673352"/>
          </a:xfrm>
          <a:prstGeom prst="rect">
            <a:avLst/>
          </a:prstGeom>
          <a:noFill/>
          <a:ln/>
        </p:spPr>
        <p:txBody>
          <a:bodyPr wrap="square" lIns="0" tIns="0" rIns="0" bIns="0" rtlCol="0" anchor="b"/>
          <a:lstStyle/>
          <a:p>
            <a:pPr algn="ctr" indent="0" marL="0">
              <a:buNone/>
            </a:pPr>
            <a:r>
              <a:rPr lang="en-US" sz="1300" b="1" dirty="0">
                <a:solidFill>
                  <a:srgbClr val="15803D"/>
                </a:solidFill>
                <a:latin typeface="Calibri" pitchFamily="34" charset="0"/>
                <a:ea typeface="Calibri" pitchFamily="34" charset="-122"/>
                <a:cs typeface="Calibri" pitchFamily="34" charset="-120"/>
              </a:rPr>
              <a:t>host page</a:t>
            </a:r>
            <a:endParaRPr lang="en-US" sz="1300" dirty="0"/>
          </a:p>
        </p:txBody>
      </p:sp>
      <p:sp>
        <p:nvSpPr>
          <p:cNvPr id="8" name="Text 6"/>
          <p:cNvSpPr/>
          <p:nvPr/>
        </p:nvSpPr>
        <p:spPr>
          <a:xfrm>
            <a:off x="621792" y="3767328"/>
            <a:ext cx="2231136" cy="163677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host.html + bridge.mjs: MCP client, CSP, proxy</a:t>
            </a:r>
            <a:endParaRPr lang="en-US" sz="1050" dirty="0"/>
          </a:p>
        </p:txBody>
      </p:sp>
      <p:sp>
        <p:nvSpPr>
          <p:cNvPr id="9" name="Shape 7"/>
          <p:cNvSpPr/>
          <p:nvPr/>
        </p:nvSpPr>
        <p:spPr>
          <a:xfrm>
            <a:off x="9235440" y="2057400"/>
            <a:ext cx="2377440" cy="3383280"/>
          </a:xfrm>
          <a:prstGeom prst="roundRect">
            <a:avLst>
              <a:gd name="adj" fmla="val 3846"/>
            </a:avLst>
          </a:prstGeom>
          <a:solidFill>
            <a:srgbClr val="FFF4E5"/>
          </a:solidFill>
          <a:ln w="15875">
            <a:solidFill>
              <a:srgbClr val="D97706"/>
            </a:solidFill>
            <a:prstDash val="dash"/>
          </a:ln>
        </p:spPr>
      </p:sp>
      <p:sp>
        <p:nvSpPr>
          <p:cNvPr id="10" name="Text 8"/>
          <p:cNvSpPr/>
          <p:nvPr/>
        </p:nvSpPr>
        <p:spPr>
          <a:xfrm>
            <a:off x="9308592" y="2093976"/>
            <a:ext cx="2231136" cy="167335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view (iframe)</a:t>
            </a:r>
            <a:endParaRPr lang="en-US" sz="1300" dirty="0"/>
          </a:p>
        </p:txBody>
      </p:sp>
      <p:sp>
        <p:nvSpPr>
          <p:cNvPr id="11" name="Text 9"/>
          <p:cNvSpPr/>
          <p:nvPr/>
        </p:nvSpPr>
        <p:spPr>
          <a:xfrm>
            <a:off x="9308592" y="3767328"/>
            <a:ext cx="2231136" cy="163677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view.html, sandboxed, opaque origin</a:t>
            </a:r>
            <a:endParaRPr lang="en-US" sz="1050" dirty="0"/>
          </a:p>
        </p:txBody>
      </p:sp>
      <p:sp>
        <p:nvSpPr>
          <p:cNvPr id="12" name="Shape 10"/>
          <p:cNvSpPr/>
          <p:nvPr/>
        </p:nvSpPr>
        <p:spPr>
          <a:xfrm flipH="1">
            <a:off x="3017520" y="2240280"/>
            <a:ext cx="6126480" cy="9144"/>
          </a:xfrm>
          <a:prstGeom prst="line">
            <a:avLst/>
          </a:prstGeom>
          <a:noFill/>
          <a:ln w="19050">
            <a:solidFill>
              <a:srgbClr val="2F3CFF"/>
            </a:solidFill>
            <a:prstDash val="solid"/>
            <a:tailEnd type="triangle"/>
          </a:ln>
        </p:spPr>
      </p:sp>
      <p:sp>
        <p:nvSpPr>
          <p:cNvPr id="13" name="Text 11"/>
          <p:cNvSpPr/>
          <p:nvPr/>
        </p:nvSpPr>
        <p:spPr>
          <a:xfrm>
            <a:off x="3017520" y="1965960"/>
            <a:ext cx="6126480"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ui/initialize</a:t>
            </a:r>
            <a:endParaRPr lang="en-US" sz="950" dirty="0"/>
          </a:p>
        </p:txBody>
      </p:sp>
      <p:sp>
        <p:nvSpPr>
          <p:cNvPr id="14" name="Shape 12"/>
          <p:cNvSpPr/>
          <p:nvPr/>
        </p:nvSpPr>
        <p:spPr>
          <a:xfrm flipH="1">
            <a:off x="3017520" y="2843784"/>
            <a:ext cx="6126480" cy="9144"/>
          </a:xfrm>
          <a:prstGeom prst="line">
            <a:avLst/>
          </a:prstGeom>
          <a:noFill/>
          <a:ln w="19050">
            <a:solidFill>
              <a:srgbClr val="2F3CFF"/>
            </a:solidFill>
            <a:prstDash val="solid"/>
            <a:tailEnd type="triangle"/>
          </a:ln>
        </p:spPr>
      </p:sp>
      <p:sp>
        <p:nvSpPr>
          <p:cNvPr id="15" name="Text 13"/>
          <p:cNvSpPr/>
          <p:nvPr/>
        </p:nvSpPr>
        <p:spPr>
          <a:xfrm>
            <a:off x="3017520" y="2569464"/>
            <a:ext cx="6126480"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ui/notifications/initialized</a:t>
            </a:r>
            <a:endParaRPr lang="en-US" sz="950" dirty="0"/>
          </a:p>
        </p:txBody>
      </p:sp>
      <p:sp>
        <p:nvSpPr>
          <p:cNvPr id="16" name="Shape 14"/>
          <p:cNvSpPr/>
          <p:nvPr/>
        </p:nvSpPr>
        <p:spPr>
          <a:xfrm>
            <a:off x="3017520" y="3447288"/>
            <a:ext cx="6126480" cy="9144"/>
          </a:xfrm>
          <a:prstGeom prst="line">
            <a:avLst/>
          </a:prstGeom>
          <a:noFill/>
          <a:ln w="19050">
            <a:solidFill>
              <a:srgbClr val="2F3CFF"/>
            </a:solidFill>
            <a:prstDash val="solid"/>
            <a:tailEnd type="triangle"/>
          </a:ln>
        </p:spPr>
      </p:sp>
      <p:sp>
        <p:nvSpPr>
          <p:cNvPr id="17" name="Text 15"/>
          <p:cNvSpPr/>
          <p:nvPr/>
        </p:nvSpPr>
        <p:spPr>
          <a:xfrm>
            <a:off x="3017520" y="3172968"/>
            <a:ext cx="6126480"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ui/notifications/tool-input</a:t>
            </a:r>
            <a:endParaRPr lang="en-US" sz="950" dirty="0"/>
          </a:p>
        </p:txBody>
      </p:sp>
      <p:sp>
        <p:nvSpPr>
          <p:cNvPr id="18" name="Shape 16"/>
          <p:cNvSpPr/>
          <p:nvPr/>
        </p:nvSpPr>
        <p:spPr>
          <a:xfrm>
            <a:off x="3017520" y="4050792"/>
            <a:ext cx="6126480" cy="9144"/>
          </a:xfrm>
          <a:prstGeom prst="line">
            <a:avLst/>
          </a:prstGeom>
          <a:noFill/>
          <a:ln w="19050">
            <a:solidFill>
              <a:srgbClr val="2F3CFF"/>
            </a:solidFill>
            <a:prstDash val="solid"/>
            <a:tailEnd type="triangle"/>
          </a:ln>
        </p:spPr>
      </p:sp>
      <p:sp>
        <p:nvSpPr>
          <p:cNvPr id="19" name="Text 17"/>
          <p:cNvSpPr/>
          <p:nvPr/>
        </p:nvSpPr>
        <p:spPr>
          <a:xfrm>
            <a:off x="3017520" y="3776472"/>
            <a:ext cx="6126480"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ui/notifications/tool-result</a:t>
            </a:r>
            <a:endParaRPr lang="en-US" sz="950" dirty="0"/>
          </a:p>
        </p:txBody>
      </p:sp>
      <p:sp>
        <p:nvSpPr>
          <p:cNvPr id="20" name="Shape 18"/>
          <p:cNvSpPr/>
          <p:nvPr/>
        </p:nvSpPr>
        <p:spPr>
          <a:xfrm flipH="1">
            <a:off x="3017520" y="4654296"/>
            <a:ext cx="6126480" cy="9144"/>
          </a:xfrm>
          <a:prstGeom prst="line">
            <a:avLst/>
          </a:prstGeom>
          <a:noFill/>
          <a:ln w="19050">
            <a:solidFill>
              <a:srgbClr val="D97706"/>
            </a:solidFill>
            <a:prstDash val="solid"/>
            <a:tailEnd type="triangle"/>
          </a:ln>
        </p:spPr>
      </p:sp>
      <p:sp>
        <p:nvSpPr>
          <p:cNvPr id="21" name="Text 19"/>
          <p:cNvSpPr/>
          <p:nvPr/>
        </p:nvSpPr>
        <p:spPr>
          <a:xfrm>
            <a:off x="3017520" y="4379976"/>
            <a:ext cx="6126480"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tools/call  (proxied to the server)</a:t>
            </a:r>
            <a:endParaRPr lang="en-US" sz="950" dirty="0"/>
          </a:p>
        </p:txBody>
      </p:sp>
      <p:sp>
        <p:nvSpPr>
          <p:cNvPr id="22" name="Shape 20"/>
          <p:cNvSpPr/>
          <p:nvPr/>
        </p:nvSpPr>
        <p:spPr>
          <a:xfrm flipH="1">
            <a:off x="3017520" y="5257800"/>
            <a:ext cx="6126480" cy="9144"/>
          </a:xfrm>
          <a:prstGeom prst="line">
            <a:avLst/>
          </a:prstGeom>
          <a:noFill/>
          <a:ln w="19050">
            <a:solidFill>
              <a:srgbClr val="2F3CFF"/>
            </a:solidFill>
            <a:prstDash val="solid"/>
            <a:tailEnd type="triangle"/>
          </a:ln>
        </p:spPr>
      </p:sp>
      <p:sp>
        <p:nvSpPr>
          <p:cNvPr id="23" name="Text 21"/>
          <p:cNvSpPr/>
          <p:nvPr/>
        </p:nvSpPr>
        <p:spPr>
          <a:xfrm>
            <a:off x="3017520" y="4983480"/>
            <a:ext cx="6126480" cy="256032"/>
          </a:xfrm>
          <a:prstGeom prst="rect">
            <a:avLst/>
          </a:prstGeom>
          <a:noFill/>
          <a:ln/>
        </p:spPr>
        <p:txBody>
          <a:bodyPr wrap="square" lIns="0" tIns="0" rIns="0" bIns="0" rtlCol="0" anchor="ctr"/>
          <a:lstStyle/>
          <a:p>
            <a:pPr algn="ctr" indent="0" marL="0">
              <a:buNone/>
            </a:pPr>
            <a:r>
              <a:rPr lang="en-US" sz="950" dirty="0">
                <a:solidFill>
                  <a:srgbClr val="1F2937"/>
                </a:solidFill>
                <a:latin typeface="Courier New" pitchFamily="34" charset="0"/>
                <a:ea typeface="Courier New" pitchFamily="34" charset="-122"/>
                <a:cs typeface="Courier New" pitchFamily="34" charset="-120"/>
              </a:rPr>
              <a:t>ui/notifications/size-changed</a:t>
            </a:r>
            <a:endParaRPr lang="en-US" sz="950" dirty="0"/>
          </a:p>
        </p:txBody>
      </p:sp>
      <p:sp>
        <p:nvSpPr>
          <p:cNvPr id="24" name="Text 22"/>
          <p:cNvSpPr/>
          <p:nvPr/>
        </p:nvSpPr>
        <p:spPr>
          <a:xfrm>
            <a:off x="548640" y="5486400"/>
            <a:ext cx="110642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Blue: the lifecycle and the two data notifications. Amber: a request the host proxies to the server.</a:t>
            </a:r>
            <a:endParaRPr lang="en-US" sz="1050" dirty="0"/>
          </a:p>
        </p:txBody>
      </p:sp>
      <p:sp>
        <p:nvSpPr>
          <p:cNvPr id="25" name="Shape 23"/>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6" name="Text 24"/>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The host holds tool-input and tool-result until the view says initialized; send them earlier and the listener is not there yet.</a:t>
            </a:r>
            <a:endParaRPr lang="en-US" sz="12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One tool, one resource, and the _meta link between them</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100</a:t>
            </a:r>
            <a:endParaRPr lang="en-US" sz="1000" dirty="0"/>
          </a:p>
        </p:txBody>
      </p:sp>
      <p:sp>
        <p:nvSpPr>
          <p:cNvPr id="5" name="Shape 3"/>
          <p:cNvSpPr/>
          <p:nvPr/>
        </p:nvSpPr>
        <p:spPr>
          <a:xfrm>
            <a:off x="548640" y="1417320"/>
            <a:ext cx="7406640" cy="3665220"/>
          </a:xfrm>
          <a:prstGeom prst="roundRect">
            <a:avLst>
              <a:gd name="adj" fmla="val 2495"/>
            </a:avLst>
          </a:prstGeom>
          <a:solidFill>
            <a:srgbClr val="0F172A"/>
          </a:solidFill>
          <a:ln w="12700">
            <a:solidFill>
              <a:srgbClr val="0F172A"/>
            </a:solidFill>
            <a:prstDash val="solid"/>
          </a:ln>
        </p:spPr>
      </p:sp>
      <p:sp>
        <p:nvSpPr>
          <p:cNvPr id="6" name="Text 4"/>
          <p:cNvSpPr/>
          <p:nvPr/>
        </p:nvSpPr>
        <p:spPr>
          <a:xfrm>
            <a:off x="731520" y="1554480"/>
            <a:ext cx="7040880" cy="3390900"/>
          </a:xfrm>
          <a:prstGeom prst="rect">
            <a:avLst/>
          </a:prstGeom>
          <a:noFill/>
          <a:ln/>
        </p:spPr>
        <p:txBody>
          <a:bodyPr wrap="square" lIns="0" tIns="0" rIns="0" bIns="0" rtlCol="0" anchor="t"/>
          <a:lstStyle/>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@server.tool(meta={"ui": {"resourceUri": VIEW_URI}})</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lemonade_dashboard(days: int = 7) -&gt; types.CallToolResult: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"""Sales dashboard for the lemonade stand over the last `days` days (1 to 28)."…</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days = max(1, min(int(days), 28))</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rows = data.sales(days)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types.CallToolResult(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content=[types.TextContent(type="text", text=data.as_text(days, rows))],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structuredContent={"days": days, "rows": rows, "summary": data.summary(rows…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@server.resource(VIEW_URI, name="lemonade_dashboard_view", mime_type=MIME_TYPE, met…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dashboard_view() -&gt; str: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"""The dashboard's HTML document. Static: the data arrives later, over postMess…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VIEW_FILE.read_text(encoding="utf-8")</a:t>
            </a:r>
            <a:endParaRPr lang="en-US" sz="1050" dirty="0"/>
          </a:p>
        </p:txBody>
      </p:sp>
      <p:sp>
        <p:nvSpPr>
          <p:cNvPr id="7" name="Text 5"/>
          <p:cNvSpPr/>
          <p:nvPr/>
        </p:nvSpPr>
        <p:spPr>
          <a:xfrm>
            <a:off x="548640" y="5128260"/>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06_mcp_apps/step_01_mcp_app_resource/server.py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meta</a:t>
            </a:r>
            <a:pPr indent="0" marL="0">
              <a:buNone/>
            </a:pPr>
            <a:r>
              <a:rPr lang="en-US" sz="1200" dirty="0">
                <a:solidFill>
                  <a:srgbClr val="1F2937"/>
                </a:solidFill>
                <a:latin typeface="Calibri" pitchFamily="34" charset="0"/>
                <a:ea typeface="Calibri" pitchFamily="34" charset="-122"/>
                <a:cs typeface="Calibri" pitchFamily="34" charset="-120"/>
              </a:rPr>
              <a:t> becomes </a:t>
            </a:r>
            <a:pPr indent="0" marL="0">
              <a:buNone/>
            </a:pPr>
            <a:r>
              <a:rPr lang="en-US" sz="1200" dirty="0">
                <a:solidFill>
                  <a:srgbClr val="BE123C"/>
                </a:solidFill>
                <a:latin typeface="Courier New" pitchFamily="34" charset="0"/>
                <a:ea typeface="Courier New" pitchFamily="34" charset="-122"/>
                <a:cs typeface="Courier New" pitchFamily="34" charset="-120"/>
              </a:rPr>
              <a:t>_meta</a:t>
            </a:r>
            <a:pPr indent="0" marL="0">
              <a:buNone/>
            </a:pPr>
            <a:r>
              <a:rPr lang="en-US" sz="1200" dirty="0">
                <a:solidFill>
                  <a:srgbClr val="1F2937"/>
                </a:solidFill>
                <a:latin typeface="Calibri" pitchFamily="34" charset="0"/>
                <a:ea typeface="Calibri" pitchFamily="34" charset="-122"/>
                <a:cs typeface="Calibri" pitchFamily="34" charset="-120"/>
              </a:rPr>
              <a:t> on the wire. </a:t>
            </a:r>
            <a:pPr indent="0" marL="0">
              <a:buNone/>
            </a:pPr>
            <a:r>
              <a:rPr lang="en-US" sz="1200" dirty="0">
                <a:solidFill>
                  <a:srgbClr val="BE123C"/>
                </a:solidFill>
                <a:latin typeface="Courier New" pitchFamily="34" charset="0"/>
                <a:ea typeface="Courier New" pitchFamily="34" charset="-122"/>
                <a:cs typeface="Courier New" pitchFamily="34" charset="-120"/>
              </a:rPr>
              <a:t>ui.resourceUri</a:t>
            </a:r>
            <a:pPr indent="0" marL="0">
              <a:buNone/>
            </a:pPr>
            <a:r>
              <a:rPr lang="en-US" sz="1200" dirty="0">
                <a:solidFill>
                  <a:srgbClr val="1F2937"/>
                </a:solidFill>
                <a:latin typeface="Calibri" pitchFamily="34" charset="0"/>
                <a:ea typeface="Calibri" pitchFamily="34" charset="-122"/>
                <a:cs typeface="Calibri" pitchFamily="34" charset="-120"/>
              </a:rPr>
              <a:t> is the spec's field: it tells a host which resource to mount after this tool runs.</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Two halves of one result. </a:t>
            </a:r>
            <a:pPr indent="0" marL="0">
              <a:buNone/>
            </a:pPr>
            <a:r>
              <a:rPr lang="en-US" sz="1200" dirty="0">
                <a:solidFill>
                  <a:srgbClr val="BE123C"/>
                </a:solidFill>
                <a:latin typeface="Courier New" pitchFamily="34" charset="0"/>
                <a:ea typeface="Courier New" pitchFamily="34" charset="-122"/>
                <a:cs typeface="Courier New" pitchFamily="34" charset="-120"/>
              </a:rPr>
              <a:t>content</a:t>
            </a:r>
            <a:pPr indent="0" marL="0">
              <a:buNone/>
            </a:pPr>
            <a:r>
              <a:rPr lang="en-US" sz="1200" dirty="0">
                <a:solidFill>
                  <a:srgbClr val="1F2937"/>
                </a:solidFill>
                <a:latin typeface="Calibri" pitchFamily="34" charset="0"/>
                <a:ea typeface="Calibri" pitchFamily="34" charset="-122"/>
                <a:cs typeface="Calibri" pitchFamily="34" charset="-120"/>
              </a:rPr>
              <a:t> is prose the model reads. </a:t>
            </a:r>
            <a:pPr indent="0" marL="0">
              <a:buNone/>
            </a:pPr>
            <a:r>
              <a:rPr lang="en-US" sz="1200" dirty="0">
                <a:solidFill>
                  <a:srgbClr val="BE123C"/>
                </a:solidFill>
                <a:latin typeface="Courier New" pitchFamily="34" charset="0"/>
                <a:ea typeface="Courier New" pitchFamily="34" charset="-122"/>
                <a:cs typeface="Courier New" pitchFamily="34" charset="-120"/>
              </a:rPr>
              <a:t>structuredContent</a:t>
            </a:r>
            <a:pPr indent="0" marL="0">
              <a:buNone/>
            </a:pPr>
            <a:r>
              <a:rPr lang="en-US" sz="1200" dirty="0">
                <a:solidFill>
                  <a:srgbClr val="1F2937"/>
                </a:solidFill>
                <a:latin typeface="Calibri" pitchFamily="34" charset="0"/>
                <a:ea typeface="Calibri" pitchFamily="34" charset="-122"/>
                <a:cs typeface="Calibri" pitchFamily="34" charset="-120"/>
              </a:rPr>
              <a:t> is the same numbers as data; the view renders it and the model never sees it.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resource: a </a:t>
            </a:r>
            <a:pPr indent="0" marL="0">
              <a:buNone/>
            </a:pPr>
            <a:r>
              <a:rPr lang="en-US" sz="1200" dirty="0">
                <a:solidFill>
                  <a:srgbClr val="BE123C"/>
                </a:solidFill>
                <a:latin typeface="Courier New" pitchFamily="34" charset="0"/>
                <a:ea typeface="Courier New" pitchFamily="34" charset="-122"/>
                <a:cs typeface="Courier New" pitchFamily="34" charset="-120"/>
              </a:rPr>
              <a:t>ui://</a:t>
            </a:r>
            <a:pPr indent="0" marL="0">
              <a:buNone/>
            </a:pPr>
            <a:r>
              <a:rPr lang="en-US" sz="1200" dirty="0">
                <a:solidFill>
                  <a:srgbClr val="1F2937"/>
                </a:solidFill>
                <a:latin typeface="Calibri" pitchFamily="34" charset="0"/>
                <a:ea typeface="Calibri" pitchFamily="34" charset="-122"/>
                <a:cs typeface="Calibri" pitchFamily="34" charset="-120"/>
              </a:rPr>
              <a:t> URI, the MIME type </a:t>
            </a:r>
            <a:pPr indent="0" marL="0">
              <a:buNone/>
            </a:pPr>
            <a:r>
              <a:rPr lang="en-US" sz="1200" dirty="0">
                <a:solidFill>
                  <a:srgbClr val="BE123C"/>
                </a:solidFill>
                <a:latin typeface="Courier New" pitchFamily="34" charset="0"/>
                <a:ea typeface="Courier New" pitchFamily="34" charset="-122"/>
                <a:cs typeface="Courier New" pitchFamily="34" charset="-120"/>
              </a:rPr>
              <a:t>text/html;profile=mcp-app</a:t>
            </a:r>
            <a:pPr indent="0" marL="0">
              <a:buNone/>
            </a:pPr>
            <a:r>
              <a:rPr lang="en-US" sz="1200" dirty="0">
                <a:solidFill>
                  <a:srgbClr val="1F2937"/>
                </a:solidFill>
                <a:latin typeface="Calibri" pitchFamily="34" charset="0"/>
                <a:ea typeface="Calibri" pitchFamily="34" charset="-122"/>
                <a:cs typeface="Calibri" pitchFamily="34" charset="-120"/>
              </a:rPr>
              <a:t>, and a </a:t>
            </a:r>
            <a:pPr indent="0" marL="0">
              <a:buNone/>
            </a:pPr>
            <a:r>
              <a:rPr lang="en-US" sz="1200" dirty="0">
                <a:solidFill>
                  <a:srgbClr val="BE123C"/>
                </a:solidFill>
                <a:latin typeface="Courier New" pitchFamily="34" charset="0"/>
                <a:ea typeface="Courier New" pitchFamily="34" charset="-122"/>
                <a:cs typeface="Courier New" pitchFamily="34" charset="-120"/>
              </a:rPr>
              <a:t>meta</a:t>
            </a:r>
            <a:pPr indent="0" marL="0">
              <a:buNone/>
            </a:pPr>
            <a:r>
              <a:rPr lang="en-US" sz="1200" dirty="0">
                <a:solidFill>
                  <a:srgbClr val="1F2937"/>
                </a:solidFill>
                <a:latin typeface="Calibri" pitchFamily="34" charset="0"/>
                <a:ea typeface="Calibri" pitchFamily="34" charset="-122"/>
                <a:cs typeface="Calibri" pitchFamily="34" charset="-120"/>
              </a:rPr>
              <a:t> with an empty CSP, so the host allows no external connection or script.</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A normal FastMCP server plus three things: a ui:// resource, a tool that points at it, and a result with text and data.</a:t>
            </a:r>
            <a:endParaRPr lang="en-US" sz="12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The view's lifecycle: initialize, say so, then report the size</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101</a:t>
            </a:r>
            <a:endParaRPr lang="en-US" sz="1000" dirty="0"/>
          </a:p>
        </p:txBody>
      </p:sp>
      <p:sp>
        <p:nvSpPr>
          <p:cNvPr id="5" name="Shape 3"/>
          <p:cNvSpPr/>
          <p:nvPr/>
        </p:nvSpPr>
        <p:spPr>
          <a:xfrm>
            <a:off x="548640" y="1417320"/>
            <a:ext cx="7406640" cy="2689098"/>
          </a:xfrm>
          <a:prstGeom prst="roundRect">
            <a:avLst>
              <a:gd name="adj" fmla="val 3400"/>
            </a:avLst>
          </a:prstGeom>
          <a:solidFill>
            <a:srgbClr val="0F172A"/>
          </a:solidFill>
          <a:ln w="12700">
            <a:solidFill>
              <a:srgbClr val="0F172A"/>
            </a:solidFill>
            <a:prstDash val="solid"/>
          </a:ln>
        </p:spPr>
      </p:sp>
      <p:sp>
        <p:nvSpPr>
          <p:cNvPr id="6" name="Text 4"/>
          <p:cNvSpPr/>
          <p:nvPr/>
        </p:nvSpPr>
        <p:spPr>
          <a:xfrm>
            <a:off x="731520" y="1554480"/>
            <a:ext cx="7040880" cy="2414778"/>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lifecycle: initialize, then say so, then report the size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(async () =&gt;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init = await request("ui/initialize",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appInfo: { name: "Lemonade Dashboard", version: "0.1.0"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appCapabilities: { availableDisplayModes: ["inline"]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protocolVersion: "2025-06-18",</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applyContext(init.hostContext);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notify("ui/notifications/initialized",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new ResizeObserver(() =&gt;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notify("ui/notifications/size-changed", { width: document.body.scrollWidth,…</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}).observe(document.body);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7" name="Text 5"/>
          <p:cNvSpPr/>
          <p:nvPr/>
        </p:nvSpPr>
        <p:spPr>
          <a:xfrm>
            <a:off x="548640" y="4152138"/>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06_mcp_apps/step_01_mcp_app_resource/view.html</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ui/initialize</a:t>
            </a:r>
            <a:pPr indent="0" marL="0">
              <a:buNone/>
            </a:pPr>
            <a:r>
              <a:rPr lang="en-US" sz="1200" dirty="0">
                <a:solidFill>
                  <a:srgbClr val="1F2937"/>
                </a:solidFill>
                <a:latin typeface="Calibri" pitchFamily="34" charset="0"/>
                <a:ea typeface="Calibri" pitchFamily="34" charset="-122"/>
                <a:cs typeface="Calibri" pitchFamily="34" charset="-120"/>
              </a:rPr>
              <a:t> is a request with an id; the host answers with </a:t>
            </a:r>
            <a:pPr indent="0" marL="0">
              <a:buNone/>
            </a:pPr>
            <a:r>
              <a:rPr lang="en-US" sz="1200" dirty="0">
                <a:solidFill>
                  <a:srgbClr val="BE123C"/>
                </a:solidFill>
                <a:latin typeface="Courier New" pitchFamily="34" charset="0"/>
                <a:ea typeface="Courier New" pitchFamily="34" charset="-122"/>
                <a:cs typeface="Courier New" pitchFamily="34" charset="-120"/>
              </a:rPr>
              <a:t>hostContext</a:t>
            </a:r>
            <a:pPr indent="0" marL="0">
              <a:buNone/>
            </a:pPr>
            <a:r>
              <a:rPr lang="en-US" sz="1200" dirty="0">
                <a:solidFill>
                  <a:srgbClr val="1F2937"/>
                </a:solidFill>
                <a:latin typeface="Calibri" pitchFamily="34" charset="0"/>
                <a:ea typeface="Calibri" pitchFamily="34" charset="-122"/>
                <a:cs typeface="Calibri" pitchFamily="34" charset="-120"/>
              </a:rPr>
              <a:t> (theme, CSS variables, container size) and </a:t>
            </a:r>
            <a:pPr indent="0" marL="0">
              <a:buNone/>
            </a:pPr>
            <a:r>
              <a:rPr lang="en-US" sz="1200" dirty="0">
                <a:solidFill>
                  <a:srgbClr val="BE123C"/>
                </a:solidFill>
                <a:latin typeface="Courier New" pitchFamily="34" charset="0"/>
                <a:ea typeface="Courier New" pitchFamily="34" charset="-122"/>
                <a:cs typeface="Courier New" pitchFamily="34" charset="-120"/>
              </a:rPr>
              <a:t>hostCapabilities</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ui/notifications/initialized</a:t>
            </a:r>
            <a:pPr indent="0" marL="0">
              <a:buNone/>
            </a:pPr>
            <a:r>
              <a:rPr lang="en-US" sz="1200" dirty="0">
                <a:solidFill>
                  <a:srgbClr val="1F2937"/>
                </a:solidFill>
                <a:latin typeface="Calibri" pitchFamily="34" charset="0"/>
                <a:ea typeface="Calibri" pitchFamily="34" charset="-122"/>
                <a:cs typeface="Calibri" pitchFamily="34" charset="-120"/>
              </a:rPr>
              <a:t> has no id. Only after it does the host send </a:t>
            </a:r>
            <a:pPr indent="0" marL="0">
              <a:buNone/>
            </a:pPr>
            <a:r>
              <a:rPr lang="en-US" sz="1200" dirty="0">
                <a:solidFill>
                  <a:srgbClr val="BE123C"/>
                </a:solidFill>
                <a:latin typeface="Courier New" pitchFamily="34" charset="0"/>
                <a:ea typeface="Courier New" pitchFamily="34" charset="-122"/>
                <a:cs typeface="Courier New" pitchFamily="34" charset="-120"/>
              </a:rPr>
              <a:t>tool-input</a:t>
            </a:r>
            <a:pPr indent="0" marL="0">
              <a:buNone/>
            </a:pPr>
            <a:r>
              <a:rPr lang="en-US" sz="1200" dirty="0">
                <a:solidFill>
                  <a:srgbClr val="1F2937"/>
                </a:solidFill>
                <a:latin typeface="Calibri" pitchFamily="34" charset="0"/>
                <a:ea typeface="Calibri" pitchFamily="34" charset="-122"/>
                <a:cs typeface="Calibri" pitchFamily="34" charset="-120"/>
              </a:rPr>
              <a:t> and </a:t>
            </a:r>
            <a:pPr indent="0" marL="0">
              <a:buNone/>
            </a:pPr>
            <a:r>
              <a:rPr lang="en-US" sz="1200" dirty="0">
                <a:solidFill>
                  <a:srgbClr val="BE123C"/>
                </a:solidFill>
                <a:latin typeface="Courier New" pitchFamily="34" charset="0"/>
                <a:ea typeface="Courier New" pitchFamily="34" charset="-122"/>
                <a:cs typeface="Courier New" pitchFamily="34" charset="-120"/>
              </a:rPr>
              <a:t>tool-result</a:t>
            </a:r>
            <a:pPr indent="0" marL="0">
              <a:buNone/>
            </a:pPr>
            <a:r>
              <a:rPr lang="en-US" sz="1200" dirty="0">
                <a:solidFill>
                  <a:srgbClr val="1F2937"/>
                </a:solidFill>
                <a:latin typeface="Calibri" pitchFamily="34" charset="0"/>
                <a:ea typeface="Calibri" pitchFamily="34" charset="-122"/>
                <a:cs typeface="Calibri" pitchFamily="34" charset="-120"/>
              </a:rPr>
              <a:t>; the bridge holds them until then.</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a:t>
            </a:r>
            <a:pPr indent="0" marL="0">
              <a:buNone/>
            </a:pPr>
            <a:r>
              <a:rPr lang="en-US" sz="1200" dirty="0">
                <a:solidFill>
                  <a:srgbClr val="BE123C"/>
                </a:solidFill>
                <a:latin typeface="Courier New" pitchFamily="34" charset="0"/>
                <a:ea typeface="Courier New" pitchFamily="34" charset="-122"/>
                <a:cs typeface="Courier New" pitchFamily="34" charset="-120"/>
              </a:rPr>
              <a:t>ResizeObserver</a:t>
            </a:r>
            <a:pPr indent="0" marL="0">
              <a:buNone/>
            </a:pPr>
            <a:r>
              <a:rPr lang="en-US" sz="1200" dirty="0">
                <a:solidFill>
                  <a:srgbClr val="1F2937"/>
                </a:solidFill>
                <a:latin typeface="Calibri" pitchFamily="34" charset="0"/>
                <a:ea typeface="Calibri" pitchFamily="34" charset="-122"/>
                <a:cs typeface="Calibri" pitchFamily="34" charset="-120"/>
              </a:rPr>
              <a:t> sends </a:t>
            </a:r>
            <a:pPr indent="0" marL="0">
              <a:buNone/>
            </a:pPr>
            <a:r>
              <a:rPr lang="en-US" sz="1200" dirty="0">
                <a:solidFill>
                  <a:srgbClr val="BE123C"/>
                </a:solidFill>
                <a:latin typeface="Courier New" pitchFamily="34" charset="0"/>
                <a:ea typeface="Courier New" pitchFamily="34" charset="-122"/>
                <a:cs typeface="Courier New" pitchFamily="34" charset="-120"/>
              </a:rPr>
              <a:t>size-changed</a:t>
            </a:r>
            <a:pPr indent="0" marL="0">
              <a:buNone/>
            </a:pPr>
            <a:r>
              <a:rPr lang="en-US" sz="1200" dirty="0">
                <a:solidFill>
                  <a:srgbClr val="1F2937"/>
                </a:solidFill>
                <a:latin typeface="Calibri" pitchFamily="34" charset="0"/>
                <a:ea typeface="Calibri" pitchFamily="34" charset="-122"/>
                <a:cs typeface="Calibri" pitchFamily="34" charset="-120"/>
              </a:rPr>
              <a:t> after every render. In the demo: 550x458 first, 550x665 after the view called the tool for 14 days.</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request() and notify() are two postMessage wrappers; the spec needs no SDK, and this is the proof.</a:t>
            </a:r>
            <a:endParaRPr lang="en-US" sz="12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06.1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One sentence for the model, a dashboard for the iframe, and a frame that grew</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102</a:t>
            </a:r>
            <a:endParaRPr lang="en-US" sz="1000" dirty="0"/>
          </a:p>
        </p:txBody>
      </p:sp>
      <p:pic>
        <p:nvPicPr>
          <p:cNvPr id="5" name="Image 0" descr="C:\Users\evija\simple-coding-harness\genui\06_mcp_apps\step_01_mcp_app_resource\demo.png">    </p:cNvPr>
          <p:cNvPicPr>
            <a:picLocks noChangeAspect="1"/>
          </p:cNvPicPr>
          <p:nvPr/>
        </p:nvPicPr>
        <p:blipFill>
          <a:blip r:embed="rId1"/>
          <a:srcRect l="0" r="0" t="0" b="0"/>
          <a:stretch/>
        </p:blipFill>
        <p:spPr>
          <a:xfrm>
            <a:off x="548640" y="1417320"/>
            <a:ext cx="5943600" cy="4480560"/>
          </a:xfrm>
          <a:prstGeom prst="rect">
            <a:avLst/>
          </a:prstGeom>
        </p:spPr>
      </p:pic>
      <p:sp>
        <p:nvSpPr>
          <p:cNvPr id="6" name="Shape 3"/>
          <p:cNvSpPr/>
          <p:nvPr/>
        </p:nvSpPr>
        <p:spPr>
          <a:xfrm>
            <a:off x="548640" y="1417320"/>
            <a:ext cx="5943600" cy="4480560"/>
          </a:xfrm>
          <a:prstGeom prst="rect">
            <a:avLst/>
          </a:prstGeom>
          <a:ln w="12700">
            <a:solidFill>
              <a:srgbClr val="D7DAE5"/>
            </a:solidFill>
            <a:prstDash val="solid"/>
          </a:ln>
        </p:spPr>
      </p:sp>
      <p:sp>
        <p:nvSpPr>
          <p:cNvPr id="7" name="Shape 4"/>
          <p:cNvSpPr/>
          <p:nvPr/>
        </p:nvSpPr>
        <p:spPr>
          <a:xfrm>
            <a:off x="6858000" y="1417320"/>
            <a:ext cx="47823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6995160" y="1472184"/>
            <a:ext cx="45079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132 cups · $198.00</a:t>
            </a:r>
            <a:endParaRPr lang="en-US" sz="2800" dirty="0"/>
          </a:p>
        </p:txBody>
      </p:sp>
      <p:sp>
        <p:nvSpPr>
          <p:cNvPr id="9" name="Text 6"/>
          <p:cNvSpPr/>
          <p:nvPr/>
        </p:nvSpPr>
        <p:spPr>
          <a:xfrm>
            <a:off x="6995160" y="2039112"/>
            <a:ext cx="45079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the model's answer for lemonade_dashboard({"days":5}); best day Tuesday</a:t>
            </a:r>
            <a:endParaRPr lang="en-US" sz="1050" dirty="0"/>
          </a:p>
        </p:txBody>
      </p:sp>
      <p:sp>
        <p:nvSpPr>
          <p:cNvPr id="10" name="Shape 7"/>
          <p:cNvSpPr/>
          <p:nvPr/>
        </p:nvSpPr>
        <p:spPr>
          <a:xfrm>
            <a:off x="6858000" y="2697480"/>
            <a:ext cx="47823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6995160" y="2752344"/>
            <a:ext cx="450799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550x458 → 550x665</a:t>
            </a:r>
            <a:endParaRPr lang="en-US" sz="2800" dirty="0"/>
          </a:p>
        </p:txBody>
      </p:sp>
      <p:sp>
        <p:nvSpPr>
          <p:cNvPr id="12" name="Text 9"/>
          <p:cNvSpPr/>
          <p:nvPr/>
        </p:nvSpPr>
        <p:spPr>
          <a:xfrm>
            <a:off x="6995160" y="3319272"/>
            <a:ext cx="45079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size-changed reports: after mount, then after the view called tools/call for 14 days</a:t>
            </a:r>
            <a:endParaRPr lang="en-US" sz="1050" dirty="0"/>
          </a:p>
        </p:txBody>
      </p:sp>
      <p:sp>
        <p:nvSpPr>
          <p:cNvPr id="13" name="Text 10"/>
          <p:cNvSpPr/>
          <p:nvPr/>
        </p:nvSpPr>
        <p:spPr>
          <a:xfrm>
            <a:off x="6858000" y="4023360"/>
            <a:ext cx="4782312" cy="187452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Top left, the chat: the tool call and a one-sentence answer; the model read the text content only.</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Bottom left, the app: the view in a sandboxed iframe, mounted from ui://lemonade/dashboard.html, shown after the 14-day click.</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Right, the bridge log: ui/initialize, initialized, tool-input, tool-result, size-changed, in the fixed order.</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The demo clicked "14 days" inside the view; the host proxied tools/call to the server and the frame grew.</a:t>
            </a:r>
            <a:endParaRPr lang="en-US" sz="10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Recorded by demo.py: both processes, a headless browser, the bridge log and this screenshot.</a:t>
            </a:r>
            <a:endParaRPr lang="en-US" sz="1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06.2 · LEVEL 19 OF 23 · A THIRD-PARTY HOST (MCP APPS)</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Ship both: text that stands alone, and a ui:// view for hosts that can mount it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103</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Real hosts are built by other people. The report's rule for this side of the map is to </a:t>
            </a:r>
            <a:pPr indent="0" marL="0">
              <a:buNone/>
            </a:pPr>
            <a:r>
              <a:rPr lang="en-US" sz="1600" b="1" dirty="0">
                <a:solidFill>
                  <a:srgbClr val="141B3D"/>
                </a:solidFill>
                <a:latin typeface="Calibri" pitchFamily="34" charset="0"/>
                <a:ea typeface="Calibri" pitchFamily="34" charset="-122"/>
                <a:cs typeface="Calibri" pitchFamily="34" charset="-120"/>
              </a:rPr>
              <a:t>ship both</a:t>
            </a:r>
            <a:pPr indent="0" marL="0">
              <a:buNone/>
            </a:pPr>
            <a:r>
              <a:rPr lang="en-US" sz="1600" dirty="0">
                <a:solidFill>
                  <a:srgbClr val="141B3D"/>
                </a:solidFill>
                <a:latin typeface="Calibri" pitchFamily="34" charset="0"/>
                <a:ea typeface="Calibri" pitchFamily="34" charset="-122"/>
                <a:cs typeface="Calibri" pitchFamily="34" charset="-120"/>
              </a:rPr>
              <a:t>: text for any host, a view for hosts that can mount it.</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server and the browser host are unchanged from step 06.1; only the host changes.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harness/ is the harness codelab's step 26 MCP client, extended into a text host over stdio.</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Registration remembers which tools carry a ui:// resource, from _meta.ui.resourceUri.</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resource is read once per session: title, MIME type, size, CSP; the template is static.</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result's structuredContent is queued as a card and drawn after the tool panel, not inside the call.</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Claude Desktop and Goose mount the same resource in a real iframe; the configuration is one stdio command.</a:t>
            </a:r>
            <a:endParaRPr lang="en-US" sz="1300" dirty="0"/>
          </a:p>
        </p:txBody>
      </p:sp>
      <p:sp>
        <p:nvSpPr>
          <p:cNvPr id="7" name="Shape 5"/>
          <p:cNvSpPr/>
          <p:nvPr/>
        </p:nvSpPr>
        <p:spPr>
          <a:xfrm>
            <a:off x="6903720" y="1600200"/>
            <a:ext cx="3840480" cy="484632"/>
          </a:xfrm>
          <a:prstGeom prst="roundRect">
            <a:avLst>
              <a:gd name="adj" fmla="val 18868"/>
            </a:avLst>
          </a:prstGeom>
          <a:solidFill>
            <a:srgbClr val="ECFDF5"/>
          </a:solidFill>
          <a:ln w="15875">
            <a:solidFill>
              <a:srgbClr val="15803D"/>
            </a:solidFill>
            <a:prstDash val="solid"/>
          </a:ln>
        </p:spPr>
      </p:sp>
      <p:sp>
        <p:nvSpPr>
          <p:cNvPr id="8" name="Text 6"/>
          <p:cNvSpPr/>
          <p:nvPr/>
        </p:nvSpPr>
        <p:spPr>
          <a:xfrm>
            <a:off x="6976872" y="1636776"/>
            <a:ext cx="3694176" cy="248260"/>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register</a:t>
            </a:r>
            <a:endParaRPr lang="en-US" sz="1200" dirty="0"/>
          </a:p>
        </p:txBody>
      </p:sp>
      <p:sp>
        <p:nvSpPr>
          <p:cNvPr id="9" name="Text 7"/>
          <p:cNvSpPr/>
          <p:nvPr/>
        </p:nvSpPr>
        <p:spPr>
          <a:xfrm>
            <a:off x="6976872" y="1885036"/>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tool.meta.ui.resourceUri → UI_TOOLS</a:t>
            </a:r>
            <a:endParaRPr lang="en-US" sz="950" dirty="0"/>
          </a:p>
        </p:txBody>
      </p:sp>
      <p:sp>
        <p:nvSpPr>
          <p:cNvPr id="10" name="Shape 8"/>
          <p:cNvSpPr/>
          <p:nvPr/>
        </p:nvSpPr>
        <p:spPr>
          <a:xfrm>
            <a:off x="8823960" y="2112264"/>
            <a:ext cx="9144" cy="265176"/>
          </a:xfrm>
          <a:prstGeom prst="line">
            <a:avLst/>
          </a:prstGeom>
          <a:noFill/>
          <a:ln w="19050">
            <a:solidFill>
              <a:srgbClr val="4B5563"/>
            </a:solidFill>
            <a:prstDash val="solid"/>
            <a:tailEnd type="triangle"/>
          </a:ln>
        </p:spPr>
      </p:sp>
      <p:sp>
        <p:nvSpPr>
          <p:cNvPr id="11" name="Shape 9"/>
          <p:cNvSpPr/>
          <p:nvPr/>
        </p:nvSpPr>
        <p:spPr>
          <a:xfrm>
            <a:off x="6903720" y="2404872"/>
            <a:ext cx="3840480" cy="484632"/>
          </a:xfrm>
          <a:prstGeom prst="roundRect">
            <a:avLst>
              <a:gd name="adj" fmla="val 18868"/>
            </a:avLst>
          </a:prstGeom>
          <a:solidFill>
            <a:srgbClr val="F6F7FB"/>
          </a:solidFill>
          <a:ln w="15875">
            <a:solidFill>
              <a:srgbClr val="141B3D"/>
            </a:solidFill>
            <a:prstDash val="solid"/>
          </a:ln>
        </p:spPr>
      </p:sp>
      <p:sp>
        <p:nvSpPr>
          <p:cNvPr id="12" name="Text 10"/>
          <p:cNvSpPr/>
          <p:nvPr/>
        </p:nvSpPr>
        <p:spPr>
          <a:xfrm>
            <a:off x="6976872" y="2441448"/>
            <a:ext cx="3694176" cy="248260"/>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tools/call</a:t>
            </a:r>
            <a:endParaRPr lang="en-US" sz="1200" dirty="0"/>
          </a:p>
        </p:txBody>
      </p:sp>
      <p:sp>
        <p:nvSpPr>
          <p:cNvPr id="13" name="Text 11"/>
          <p:cNvSpPr/>
          <p:nvPr/>
        </p:nvSpPr>
        <p:spPr>
          <a:xfrm>
            <a:off x="6976872" y="2689708"/>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text content → the model, unchanged</a:t>
            </a:r>
            <a:endParaRPr lang="en-US" sz="950" dirty="0"/>
          </a:p>
        </p:txBody>
      </p:sp>
      <p:sp>
        <p:nvSpPr>
          <p:cNvPr id="14" name="Shape 12"/>
          <p:cNvSpPr/>
          <p:nvPr/>
        </p:nvSpPr>
        <p:spPr>
          <a:xfrm>
            <a:off x="8823960" y="2916936"/>
            <a:ext cx="9144" cy="265176"/>
          </a:xfrm>
          <a:prstGeom prst="line">
            <a:avLst/>
          </a:prstGeom>
          <a:noFill/>
          <a:ln w="19050">
            <a:solidFill>
              <a:srgbClr val="4B5563"/>
            </a:solidFill>
            <a:prstDash val="solid"/>
            <a:tailEnd type="triangle"/>
          </a:ln>
        </p:spPr>
      </p:sp>
      <p:sp>
        <p:nvSpPr>
          <p:cNvPr id="15" name="Shape 13"/>
          <p:cNvSpPr/>
          <p:nvPr/>
        </p:nvSpPr>
        <p:spPr>
          <a:xfrm>
            <a:off x="6903720" y="3209544"/>
            <a:ext cx="3840480" cy="484632"/>
          </a:xfrm>
          <a:prstGeom prst="roundRect">
            <a:avLst>
              <a:gd name="adj" fmla="val 18868"/>
            </a:avLst>
          </a:prstGeom>
          <a:solidFill>
            <a:srgbClr val="FFF1F2"/>
          </a:solidFill>
          <a:ln w="15875">
            <a:solidFill>
              <a:srgbClr val="BE123C"/>
            </a:solidFill>
            <a:prstDash val="solid"/>
          </a:ln>
        </p:spPr>
      </p:sp>
      <p:sp>
        <p:nvSpPr>
          <p:cNvPr id="16" name="Text 14"/>
          <p:cNvSpPr/>
          <p:nvPr/>
        </p:nvSpPr>
        <p:spPr>
          <a:xfrm>
            <a:off x="6976872" y="3246120"/>
            <a:ext cx="3694176" cy="248260"/>
          </a:xfrm>
          <a:prstGeom prst="rect">
            <a:avLst/>
          </a:prstGeom>
          <a:noFill/>
          <a:ln/>
        </p:spPr>
        <p:txBody>
          <a:bodyPr wrap="square" lIns="0" tIns="0" rIns="0" bIns="0" rtlCol="0" anchor="b"/>
          <a:lstStyle/>
          <a:p>
            <a:pPr algn="ctr" indent="0" marL="0">
              <a:buNone/>
            </a:pPr>
            <a:r>
              <a:rPr lang="en-US" sz="1200" b="1" dirty="0">
                <a:solidFill>
                  <a:srgbClr val="BE123C"/>
                </a:solidFill>
                <a:latin typeface="Calibri" pitchFamily="34" charset="0"/>
                <a:ea typeface="Calibri" pitchFamily="34" charset="-122"/>
                <a:cs typeface="Calibri" pitchFamily="34" charset="-120"/>
              </a:rPr>
              <a:t>resources/read, once</a:t>
            </a:r>
            <a:endParaRPr lang="en-US" sz="1200" dirty="0"/>
          </a:p>
        </p:txBody>
      </p:sp>
      <p:sp>
        <p:nvSpPr>
          <p:cNvPr id="17" name="Text 15"/>
          <p:cNvSpPr/>
          <p:nvPr/>
        </p:nvSpPr>
        <p:spPr>
          <a:xfrm>
            <a:off x="6976872" y="3494380"/>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title, MIME type, 7,876 bytes, CSP</a:t>
            </a:r>
            <a:endParaRPr lang="en-US" sz="950" dirty="0"/>
          </a:p>
        </p:txBody>
      </p:sp>
      <p:sp>
        <p:nvSpPr>
          <p:cNvPr id="18" name="Shape 16"/>
          <p:cNvSpPr/>
          <p:nvPr/>
        </p:nvSpPr>
        <p:spPr>
          <a:xfrm>
            <a:off x="8823960" y="3721608"/>
            <a:ext cx="9144" cy="265176"/>
          </a:xfrm>
          <a:prstGeom prst="line">
            <a:avLst/>
          </a:prstGeom>
          <a:noFill/>
          <a:ln w="19050">
            <a:solidFill>
              <a:srgbClr val="4B5563"/>
            </a:solidFill>
            <a:prstDash val="solid"/>
            <a:tailEnd type="triangle"/>
          </a:ln>
        </p:spPr>
      </p:sp>
      <p:sp>
        <p:nvSpPr>
          <p:cNvPr id="19" name="Shape 17"/>
          <p:cNvSpPr/>
          <p:nvPr/>
        </p:nvSpPr>
        <p:spPr>
          <a:xfrm>
            <a:off x="6903720" y="4014216"/>
            <a:ext cx="3840480" cy="484632"/>
          </a:xfrm>
          <a:prstGeom prst="roundRect">
            <a:avLst>
              <a:gd name="adj" fmla="val 18868"/>
            </a:avLst>
          </a:prstGeom>
          <a:solidFill>
            <a:srgbClr val="ECFDF5"/>
          </a:solidFill>
          <a:ln w="15875">
            <a:solidFill>
              <a:srgbClr val="15803D"/>
            </a:solidFill>
            <a:prstDash val="solid"/>
          </a:ln>
        </p:spPr>
      </p:sp>
      <p:sp>
        <p:nvSpPr>
          <p:cNvPr id="20" name="Text 18"/>
          <p:cNvSpPr/>
          <p:nvPr/>
        </p:nvSpPr>
        <p:spPr>
          <a:xfrm>
            <a:off x="6976872" y="4050792"/>
            <a:ext cx="3694176" cy="248260"/>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structuredContent → text card</a:t>
            </a:r>
            <a:endParaRPr lang="en-US" sz="1200" dirty="0"/>
          </a:p>
        </p:txBody>
      </p:sp>
      <p:sp>
        <p:nvSpPr>
          <p:cNvPr id="21" name="Text 19"/>
          <p:cNvSpPr/>
          <p:nvPr/>
        </p:nvSpPr>
        <p:spPr>
          <a:xfrm>
            <a:off x="6976872" y="4299052"/>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ui_text: dict as key: value, list as a table</a:t>
            </a:r>
            <a:endParaRPr lang="en-US" sz="950" dirty="0"/>
          </a:p>
        </p:txBody>
      </p:sp>
      <p:sp>
        <p:nvSpPr>
          <p:cNvPr id="22" name="Shape 20"/>
          <p:cNvSpPr/>
          <p:nvPr/>
        </p:nvSpPr>
        <p:spPr>
          <a:xfrm>
            <a:off x="8823960" y="4526280"/>
            <a:ext cx="9144" cy="265176"/>
          </a:xfrm>
          <a:prstGeom prst="line">
            <a:avLst/>
          </a:prstGeom>
          <a:noFill/>
          <a:ln w="19050">
            <a:solidFill>
              <a:srgbClr val="4B5563"/>
            </a:solidFill>
            <a:prstDash val="solid"/>
            <a:tailEnd type="triangle"/>
          </a:ln>
        </p:spPr>
      </p:sp>
      <p:sp>
        <p:nvSpPr>
          <p:cNvPr id="23" name="Shape 21"/>
          <p:cNvSpPr/>
          <p:nvPr/>
        </p:nvSpPr>
        <p:spPr>
          <a:xfrm>
            <a:off x="6903720" y="4818888"/>
            <a:ext cx="3840480" cy="484632"/>
          </a:xfrm>
          <a:prstGeom prst="roundRect">
            <a:avLst>
              <a:gd name="adj" fmla="val 18868"/>
            </a:avLst>
          </a:prstGeom>
          <a:solidFill>
            <a:srgbClr val="ECFDF5"/>
          </a:solidFill>
          <a:ln w="15875">
            <a:solidFill>
              <a:srgbClr val="15803D"/>
            </a:solidFill>
            <a:prstDash val="solid"/>
          </a:ln>
        </p:spPr>
      </p:sp>
      <p:sp>
        <p:nvSpPr>
          <p:cNvPr id="24" name="Text 22"/>
          <p:cNvSpPr/>
          <p:nvPr/>
        </p:nvSpPr>
        <p:spPr>
          <a:xfrm>
            <a:off x="6976872" y="4855464"/>
            <a:ext cx="3694176" cy="248260"/>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drawn after the tool panel</a:t>
            </a:r>
            <a:endParaRPr lang="en-US" sz="1200" dirty="0"/>
          </a:p>
        </p:txBody>
      </p:sp>
      <p:sp>
        <p:nvSpPr>
          <p:cNvPr id="25" name="Text 23"/>
          <p:cNvSpPr/>
          <p:nvPr/>
        </p:nvSpPr>
        <p:spPr>
          <a:xfrm>
            <a:off x="6976872" y="5103724"/>
            <a:ext cx="3694176" cy="163220"/>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queued: the call ran on a pool thread</a:t>
            </a:r>
            <a:endParaRPr lang="en-US" sz="950" dirty="0"/>
          </a:p>
        </p:txBody>
      </p:sp>
      <p:sp>
        <p:nvSpPr>
          <p:cNvPr id="26" name="Text 24"/>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harness as an MCP Apps host in text. The model's string is the same as in step 26.</a:t>
            </a:r>
            <a:endParaRPr lang="en-US" sz="1050" dirty="0"/>
          </a:p>
        </p:txBody>
      </p:sp>
      <p:sp>
        <p:nvSpPr>
          <p:cNvPr id="27" name="Shape 25"/>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8" name="Text 26"/>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The server did not change between three hosts; the host decides what it can show.</a:t>
            </a:r>
            <a:endParaRPr lang="en-US" sz="12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The call queues a card; the string the model reads does not change</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104</a:t>
            </a:r>
            <a:endParaRPr lang="en-US" sz="1000" dirty="0"/>
          </a:p>
        </p:txBody>
      </p:sp>
      <p:sp>
        <p:nvSpPr>
          <p:cNvPr id="5" name="Shape 3"/>
          <p:cNvSpPr/>
          <p:nvPr/>
        </p:nvSpPr>
        <p:spPr>
          <a:xfrm>
            <a:off x="548640" y="1417320"/>
            <a:ext cx="7406640" cy="2851785"/>
          </a:xfrm>
          <a:prstGeom prst="roundRect">
            <a:avLst>
              <a:gd name="adj" fmla="val 3206"/>
            </a:avLst>
          </a:prstGeom>
          <a:solidFill>
            <a:srgbClr val="0F172A"/>
          </a:solidFill>
          <a:ln w="12700">
            <a:solidFill>
              <a:srgbClr val="0F172A"/>
            </a:solidFill>
            <a:prstDash val="solid"/>
          </a:ln>
        </p:spPr>
      </p:sp>
      <p:sp>
        <p:nvSpPr>
          <p:cNvPr id="6" name="Text 4"/>
          <p:cNvSpPr/>
          <p:nvPr/>
        </p:nvSpPr>
        <p:spPr>
          <a:xfrm>
            <a:off x="731520" y="1554480"/>
            <a:ext cx="7040880" cy="2577465"/>
          </a:xfrm>
          <a:prstGeom prst="rect">
            <a:avLst/>
          </a:prstGeom>
          <a:noFill/>
          <a:ln/>
        </p:spPr>
        <p:txBody>
          <a:bodyPr wrap="square" lIns="0" tIns="0" rIns="0" bIns="0" rtlCol="0" anchor="t"/>
          <a:lstStyle/>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uri = UI_TOOLS.get(tool_name(server, tool))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uri and not getattr(result, "isError", False):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PENDING_APPS.append((tool_name(server, tool), server, uri, result))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history.cap(text)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def show_pending(name):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"""Draw the card queued for one tool call, if any. The loop calls this afte…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for entry in PENDING_APPS: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entry[0] == name: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PENDING_APPS.remove(entry)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show_app(*entry[1:])</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True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False</a:t>
            </a:r>
            <a:endParaRPr lang="en-US" sz="1050" dirty="0"/>
          </a:p>
        </p:txBody>
      </p:sp>
      <p:sp>
        <p:nvSpPr>
          <p:cNvPr id="7" name="Text 5"/>
          <p:cNvSpPr/>
          <p:nvPr/>
        </p:nvSpPr>
        <p:spPr>
          <a:xfrm>
            <a:off x="548640" y="4314825"/>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06_mcp_apps/step_02_mcp_app_in_a_real_host/harness/mcp_client.py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UI_TOOLS</a:t>
            </a:r>
            <a:pPr indent="0" marL="0">
              <a:buNone/>
            </a:pPr>
            <a:r>
              <a:rPr lang="en-US" sz="1200" dirty="0">
                <a:solidFill>
                  <a:srgbClr val="1F2937"/>
                </a:solidFill>
                <a:latin typeface="Calibri" pitchFamily="34" charset="0"/>
                <a:ea typeface="Calibri" pitchFamily="34" charset="-122"/>
                <a:cs typeface="Calibri" pitchFamily="34" charset="-120"/>
              </a:rPr>
              <a:t> was filled at registration from </a:t>
            </a:r>
            <a:pPr indent="0" marL="0">
              <a:buNone/>
            </a:pPr>
            <a:r>
              <a:rPr lang="en-US" sz="1200" dirty="0">
                <a:solidFill>
                  <a:srgbClr val="BE123C"/>
                </a:solidFill>
                <a:latin typeface="Courier New" pitchFamily="34" charset="0"/>
                <a:ea typeface="Courier New" pitchFamily="34" charset="-122"/>
                <a:cs typeface="Courier New" pitchFamily="34" charset="-120"/>
              </a:rPr>
              <a:t>_meta.ui.resourceUri</a:t>
            </a:r>
            <a:pPr indent="0" marL="0">
              <a:buNone/>
            </a:pPr>
            <a:r>
              <a:rPr lang="en-US" sz="1200" dirty="0">
                <a:solidFill>
                  <a:srgbClr val="1F2937"/>
                </a:solidFill>
                <a:latin typeface="Calibri" pitchFamily="34" charset="0"/>
                <a:ea typeface="Calibri" pitchFamily="34" charset="-122"/>
                <a:cs typeface="Calibri" pitchFamily="34" charset="-120"/>
              </a:rPr>
              <a:t>. A tool with a view and a non-error result gets its tuple queued in </a:t>
            </a:r>
            <a:pPr indent="0" marL="0">
              <a:buNone/>
            </a:pPr>
            <a:r>
              <a:rPr lang="en-US" sz="1200" dirty="0">
                <a:solidFill>
                  <a:srgbClr val="BE123C"/>
                </a:solidFill>
                <a:latin typeface="Courier New" pitchFamily="34" charset="0"/>
                <a:ea typeface="Courier New" pitchFamily="34" charset="-122"/>
                <a:cs typeface="Courier New" pitchFamily="34" charset="-120"/>
              </a:rPr>
              <a:t>PENDING_APPS</a:t>
            </a:r>
            <a:pP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return value is the same as in step 26: capped text. The model never learns that a card was drawn, and the prompt grows by the text lines only.</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show_pending</a:t>
            </a:r>
            <a:pPr indent="0" marL="0">
              <a:buNone/>
            </a:pPr>
            <a:r>
              <a:rPr lang="en-US" sz="1200" dirty="0">
                <a:solidFill>
                  <a:srgbClr val="1F2937"/>
                </a:solidFill>
                <a:latin typeface="Calibri" pitchFamily="34" charset="0"/>
                <a:ea typeface="Calibri" pitchFamily="34" charset="-122"/>
                <a:cs typeface="Calibri" pitchFamily="34" charset="-120"/>
              </a:rPr>
              <a:t> runs from the loop, right after </a:t>
            </a:r>
            <a:pPr indent="0" marL="0">
              <a:buNone/>
            </a:pPr>
            <a:r>
              <a:rPr lang="en-US" sz="1200" dirty="0">
                <a:solidFill>
                  <a:srgbClr val="BE123C"/>
                </a:solidFill>
                <a:latin typeface="Courier New" pitchFamily="34" charset="0"/>
                <a:ea typeface="Courier New" pitchFamily="34" charset="-122"/>
                <a:cs typeface="Courier New" pitchFamily="34" charset="-120"/>
              </a:rPr>
              <a:t>ui.tool()</a:t>
            </a:r>
            <a:pPr indent="0" marL="0">
              <a:buNone/>
            </a:pPr>
            <a:r>
              <a:rPr lang="en-US" sz="1200" dirty="0">
                <a:solidFill>
                  <a:srgbClr val="1F2937"/>
                </a:solidFill>
                <a:latin typeface="Calibri" pitchFamily="34" charset="0"/>
                <a:ea typeface="Calibri" pitchFamily="34" charset="-122"/>
                <a:cs typeface="Calibri" pitchFamily="34" charset="-120"/>
              </a:rPr>
              <a:t> drew the panel. The call itself ran on a pool thread and must not write the terminal.</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One added line in harness/agent.py calls show_pending(name) after the tool panel.</a:t>
            </a:r>
            <a:endParaRPr lang="en-US" sz="12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What a host learns from resources/read, kept for the session</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105</a:t>
            </a:r>
            <a:endParaRPr lang="en-US" sz="1000" dirty="0"/>
          </a:p>
        </p:txBody>
      </p:sp>
      <p:sp>
        <p:nvSpPr>
          <p:cNvPr id="5" name="Shape 3"/>
          <p:cNvSpPr/>
          <p:nvPr/>
        </p:nvSpPr>
        <p:spPr>
          <a:xfrm>
            <a:off x="548640" y="1417320"/>
            <a:ext cx="7406640" cy="3014472"/>
          </a:xfrm>
          <a:prstGeom prst="roundRect">
            <a:avLst>
              <a:gd name="adj" fmla="val 3033"/>
            </a:avLst>
          </a:prstGeom>
          <a:solidFill>
            <a:srgbClr val="0F172A"/>
          </a:solidFill>
          <a:ln w="12700">
            <a:solidFill>
              <a:srgbClr val="0F172A"/>
            </a:solidFill>
            <a:prstDash val="solid"/>
          </a:ln>
        </p:spPr>
      </p:sp>
      <p:sp>
        <p:nvSpPr>
          <p:cNvPr id="6" name="Text 4"/>
          <p:cNvSpPr/>
          <p:nvPr/>
        </p:nvSpPr>
        <p:spPr>
          <a:xfrm>
            <a:off x="731520" y="1554480"/>
            <a:ext cx="7040880" cy="2740152"/>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read_ui_resource(server, uri):</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"""What a host learns from resources/read, kept per session: title, MIME ty…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from . import ui_text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(server, uri) not in UI_RESOURCES: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contents = client().read(server, uri).contents[0]</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html = getattr(contents, "text", None) or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meta = getattr(contents, "meta", None) or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UI_RESOURCES[(server, uri)]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"title": ui_text.title_of(html) or uri,</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"mimeType": contents.mimeType,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"size": len(html.encode("utf-8")),</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"csp": (meta.get("ui") or {}).get("csp") or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UI_RESOURCES[(server, uri)]</a:t>
            </a:r>
            <a:endParaRPr lang="en-US" sz="1050" dirty="0"/>
          </a:p>
        </p:txBody>
      </p:sp>
      <p:sp>
        <p:nvSpPr>
          <p:cNvPr id="7" name="Text 5"/>
          <p:cNvSpPr/>
          <p:nvPr/>
        </p:nvSpPr>
        <p:spPr>
          <a:xfrm>
            <a:off x="548640" y="4477512"/>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06_mcp_apps/step_02_mcp_app_in_a_real_host/harness/mcp_client.py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resources/read</a:t>
            </a:r>
            <a:pPr indent="0" marL="0">
              <a:buNone/>
            </a:pPr>
            <a:r>
              <a:rPr lang="en-US" sz="1200" dirty="0">
                <a:solidFill>
                  <a:srgbClr val="1F2937"/>
                </a:solidFill>
                <a:latin typeface="Calibri" pitchFamily="34" charset="0"/>
                <a:ea typeface="Calibri" pitchFamily="34" charset="-122"/>
                <a:cs typeface="Calibri" pitchFamily="34" charset="-120"/>
              </a:rPr>
              <a:t>, once per (server, uri). The resource is a static template; a host may prefetch and cache it at connection time. This one reads it lazily.</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Four facts go into the card's subtitle: the title from the HTML, the MIME type, the size in bytes and the declared CSP. In the demo: 7,876 bytes, restrictive default.</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show_app</a:t>
            </a:r>
            <a:pPr indent="0" marL="0">
              <a:buNone/>
            </a:pPr>
            <a:r>
              <a:rPr lang="en-US" sz="1200" dirty="0">
                <a:solidFill>
                  <a:srgbClr val="1F2937"/>
                </a:solidFill>
                <a:latin typeface="Calibri" pitchFamily="34" charset="0"/>
                <a:ea typeface="Calibri" pitchFamily="34" charset="-122"/>
                <a:cs typeface="Calibri" pitchFamily="34" charset="-120"/>
              </a:rPr>
              <a:t> checks the MIME type against </a:t>
            </a:r>
            <a:pPr indent="0" marL="0">
              <a:buNone/>
            </a:pPr>
            <a:r>
              <a:rPr lang="en-US" sz="1200" dirty="0">
                <a:solidFill>
                  <a:srgbClr val="BE123C"/>
                </a:solidFill>
                <a:latin typeface="Courier New" pitchFamily="34" charset="0"/>
                <a:ea typeface="Courier New" pitchFamily="34" charset="-122"/>
                <a:cs typeface="Courier New" pitchFamily="34" charset="-120"/>
              </a:rPr>
              <a:t>text/html;profile=mcp-app</a:t>
            </a:r>
            <a:pPr indent="0" marL="0">
              <a:buNone/>
            </a:pPr>
            <a:r>
              <a:rPr lang="en-US" sz="1200" dirty="0">
                <a:solidFill>
                  <a:srgbClr val="1F2937"/>
                </a:solidFill>
                <a:latin typeface="Calibri" pitchFamily="34" charset="0"/>
                <a:ea typeface="Calibri" pitchFamily="34" charset="-122"/>
                <a:cs typeface="Calibri" pitchFamily="34" charset="-120"/>
              </a:rPr>
              <a:t> and refuses anything else, which is what the spec asks of every host.</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harness/ui_text.py then turns any structuredContent into lines: a dict as key: value, a list of flat dicts as a table.</a:t>
            </a:r>
            <a:endParaRPr lang="en-US" sz="12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06.2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Two panels: the text the model saw, then the app as this host can show it</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106</a:t>
            </a:r>
            <a:endParaRPr lang="en-US" sz="1000" dirty="0"/>
          </a:p>
        </p:txBody>
      </p:sp>
      <p:sp>
        <p:nvSpPr>
          <p:cNvPr id="5" name="Shape 3"/>
          <p:cNvSpPr/>
          <p:nvPr/>
        </p:nvSpPr>
        <p:spPr>
          <a:xfrm>
            <a:off x="548640" y="1417320"/>
            <a:ext cx="6583680" cy="4480560"/>
          </a:xfrm>
          <a:prstGeom prst="roundRect">
            <a:avLst>
              <a:gd name="adj" fmla="val 2041"/>
            </a:avLst>
          </a:prstGeom>
          <a:solidFill>
            <a:srgbClr val="0F172A"/>
          </a:solidFill>
          <a:ln w="12700">
            <a:solidFill>
              <a:srgbClr val="0F172A"/>
            </a:solidFill>
            <a:prstDash val="solid"/>
          </a:ln>
        </p:spPr>
      </p:sp>
      <p:sp>
        <p:nvSpPr>
          <p:cNvPr id="6" name="Text 4"/>
          <p:cNvSpPr/>
          <p:nvPr/>
        </p:nvSpPr>
        <p:spPr>
          <a:xfrm>
            <a:off x="731520" y="1554480"/>
            <a:ext cx="6217920" cy="420624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 MCP_ALLOW=mcp__lemonade__* python -m harness.agent -p "Show me the</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lemonade stand dashboard for the last 5 days. Answer in one sentence."</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2,093 prompt · 23 completion · 1,792 cached</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mcp__lemonade__lemonade_dashboard 5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Lemonade stand, last 5 days: 132 cups, $198.00 revenue, best day Tue.</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Mon: 37 cups at 28 C ($55.50)</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Tue: 51 cups at 30 C ($76.50)</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app · Lemonade dashboard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ui://lemonade/dashboard.html | text/html;profile=mcp-app</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 7,876 bytes | csp: restrictive default | rendered as text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days: 5</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rows:</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day  temperature  cups  revenue</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Tue           30    51     76.5</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summary:</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total_cups: 132</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total_revenue: 198</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best_day: Tue</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2,227 prompt · 46 completion · 2,048 cached</a:t>
            </a:r>
            <a:endParaRPr lang="en-US" sz="900" dirty="0"/>
          </a:p>
        </p:txBody>
      </p:sp>
      <p:sp>
        <p:nvSpPr>
          <p:cNvPr id="7" name="Shape 5"/>
          <p:cNvSpPr/>
          <p:nvPr/>
        </p:nvSpPr>
        <p:spPr>
          <a:xfrm>
            <a:off x="7498080" y="1417320"/>
            <a:ext cx="4114800" cy="1188720"/>
          </a:xfrm>
          <a:prstGeom prst="roundRect">
            <a:avLst>
              <a:gd name="adj" fmla="val 7692"/>
            </a:avLst>
          </a:prstGeom>
          <a:solidFill>
            <a:srgbClr val="F6F7FB"/>
          </a:solidFill>
          <a:ln w="12700">
            <a:solidFill>
              <a:srgbClr val="F6F7FB"/>
            </a:solidFill>
            <a:prstDash val="solid"/>
          </a:ln>
        </p:spPr>
      </p:sp>
      <p:sp>
        <p:nvSpPr>
          <p:cNvPr id="8" name="Text 6"/>
          <p:cNvSpPr/>
          <p:nvPr/>
        </p:nvSpPr>
        <p:spPr>
          <a:xfrm>
            <a:off x="7635240" y="1472184"/>
            <a:ext cx="3840480"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2,093 → 2,227</a:t>
            </a:r>
            <a:endParaRPr lang="en-US" sz="2800" dirty="0"/>
          </a:p>
        </p:txBody>
      </p:sp>
      <p:sp>
        <p:nvSpPr>
          <p:cNvPr id="9" name="Text 7"/>
          <p:cNvSpPr/>
          <p:nvPr/>
        </p:nvSpPr>
        <p:spPr>
          <a:xfrm>
            <a:off x="7635240" y="2039112"/>
            <a:ext cx="384048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prompt tokens across the tool call: the text lines only; the table never reached the model</a:t>
            </a:r>
            <a:endParaRPr lang="en-US" sz="1050" dirty="0"/>
          </a:p>
        </p:txBody>
      </p:sp>
      <p:sp>
        <p:nvSpPr>
          <p:cNvPr id="10" name="Shape 8"/>
          <p:cNvSpPr/>
          <p:nvPr/>
        </p:nvSpPr>
        <p:spPr>
          <a:xfrm>
            <a:off x="7498080" y="2697480"/>
            <a:ext cx="4114800" cy="1188720"/>
          </a:xfrm>
          <a:prstGeom prst="roundRect">
            <a:avLst>
              <a:gd name="adj" fmla="val 7692"/>
            </a:avLst>
          </a:prstGeom>
          <a:solidFill>
            <a:srgbClr val="F6F7FB"/>
          </a:solidFill>
          <a:ln w="12700">
            <a:solidFill>
              <a:srgbClr val="F6F7FB"/>
            </a:solidFill>
            <a:prstDash val="solid"/>
          </a:ln>
        </p:spPr>
      </p:sp>
      <p:sp>
        <p:nvSpPr>
          <p:cNvPr id="11" name="Text 9"/>
          <p:cNvSpPr/>
          <p:nvPr/>
        </p:nvSpPr>
        <p:spPr>
          <a:xfrm>
            <a:off x="7635240" y="2752344"/>
            <a:ext cx="3840480"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7,876 bytes</a:t>
            </a:r>
            <a:endParaRPr lang="en-US" sz="2800" dirty="0"/>
          </a:p>
        </p:txBody>
      </p:sp>
      <p:sp>
        <p:nvSpPr>
          <p:cNvPr id="12" name="Text 10"/>
          <p:cNvSpPr/>
          <p:nvPr/>
        </p:nvSpPr>
        <p:spPr>
          <a:xfrm>
            <a:off x="7635240" y="3319272"/>
            <a:ext cx="3840480"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the ui:// resource, read once over stdio, restrictive default CSP</a:t>
            </a:r>
            <a:endParaRPr lang="en-US" sz="1050" dirty="0"/>
          </a:p>
        </p:txBody>
      </p:sp>
      <p:sp>
        <p:nvSpPr>
          <p:cNvPr id="13" name="Text 11"/>
          <p:cNvSpPr/>
          <p:nvPr/>
        </p:nvSpPr>
        <p:spPr>
          <a:xfrm>
            <a:off x="7498080" y="4023360"/>
            <a:ext cx="4114800"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first panel is the tool result as the model saw it: text.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second is the MCP App as a terminal can show it: the resource's identity, then the data as a table.</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Claude Desktop and Goose mount the same resource in a real iframe with one stdio command; that run was not recorded.</a:t>
            </a:r>
            <a:endParaRPr lang="en-US" sz="1250" dirty="0"/>
          </a:p>
        </p:txBody>
      </p:sp>
      <p:sp>
        <p:nvSpPr>
          <p:cNvPr id="14" name="Text 12"/>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Recorded by demo.py: the harness in print mode with server.py --stdio as a child process (condensed).</a:t>
            </a:r>
            <a:endParaRPr lang="en-US" sz="12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SUB-THEME 06 · COMPARE WITH SUB-THEME 02</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One interface, two transports: same numbers, same picture, different contract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107</a:t>
            </a:r>
            <a:endParaRPr lang="en-US" sz="1000" dirty="0"/>
          </a:p>
        </p:txBody>
      </p:sp>
      <p:sp>
        <p:nvSpPr>
          <p:cNvPr id="5" name="Text 3"/>
          <p:cNvSpPr/>
          <p:nvPr/>
        </p:nvSpPr>
        <p:spPr>
          <a:xfrm>
            <a:off x="548640" y="1417320"/>
            <a:ext cx="11064240" cy="548640"/>
          </a:xfrm>
          <a:prstGeom prst="rect">
            <a:avLst/>
          </a:prstGeom>
          <a:noFill/>
          <a:ln/>
        </p:spPr>
        <p:txBody>
          <a:bodyPr wrap="square" lIns="0" tIns="0" rIns="0" bIns="0" rtlCol="0" anchor="ctr"/>
          <a:lstStyle/>
          <a:p>
            <a:pPr indent="0" marL="0">
              <a:buNone/>
            </a:pPr>
            <a:r>
              <a:rPr lang="en-US" sz="1500" dirty="0">
                <a:solidFill>
                  <a:srgbClr val="141B3D"/>
                </a:solidFill>
                <a:latin typeface="Calibri" pitchFamily="34" charset="0"/>
                <a:ea typeface="Calibri" pitchFamily="34" charset="-122"/>
                <a:cs typeface="Calibri" pitchFamily="34" charset="-120"/>
              </a:rPr>
              <a:t>The lemonade dashboard could also be an AG-UI state object rendered by a page you own. The report's rule is </a:t>
            </a:r>
            <a:pPr indent="0" marL="0">
              <a:buNone/>
            </a:pPr>
            <a:r>
              <a:rPr lang="en-US" sz="1500" b="1" dirty="0">
                <a:solidFill>
                  <a:srgbClr val="141B3D"/>
                </a:solidFill>
                <a:latin typeface="Calibri" pitchFamily="34" charset="0"/>
                <a:ea typeface="Calibri" pitchFamily="34" charset="-122"/>
                <a:cs typeface="Calibri" pitchFamily="34" charset="-120"/>
              </a:rPr>
              <a:t>not to choose</a:t>
            </a:r>
            <a:pPr indent="0" marL="0">
              <a:buNone/>
            </a:pPr>
            <a:r>
              <a:rPr lang="en-US" sz="1500" dirty="0">
                <a:solidFill>
                  <a:srgbClr val="141B3D"/>
                </a:solidFill>
                <a:latin typeface="Calibri" pitchFamily="34" charset="0"/>
                <a:ea typeface="Calibri" pitchFamily="34" charset="-122"/>
                <a:cs typeface="Calibri" pitchFamily="34" charset="-120"/>
              </a:rPr>
              <a:t>: keep the interface as data and ship it on both roads.</a:t>
            </a:r>
            <a:endParaRPr lang="en-US" sz="1500" dirty="0"/>
          </a:p>
        </p:txBody>
      </p:sp>
      <p:sp>
        <p:nvSpPr>
          <p:cNvPr id="6" name="Text 4"/>
          <p:cNvSpPr/>
          <p:nvPr/>
        </p:nvSpPr>
        <p:spPr>
          <a:xfrm>
            <a:off x="1737360" y="2057400"/>
            <a:ext cx="4937760" cy="365760"/>
          </a:xfrm>
          <a:prstGeom prst="rect">
            <a:avLst/>
          </a:prstGeom>
          <a:noFill/>
          <a:ln/>
        </p:spPr>
        <p:txBody>
          <a:bodyPr wrap="square" lIns="0" tIns="0" rIns="0" bIns="0" rtlCol="0" anchor="ctr"/>
          <a:lstStyle/>
          <a:p>
            <a:pPr algn="ctr" indent="0" marL="0">
              <a:buNone/>
            </a:pPr>
            <a:r>
              <a:rPr lang="en-US" sz="1100" b="1" dirty="0">
                <a:solidFill>
                  <a:srgbClr val="4B5563"/>
                </a:solidFill>
                <a:latin typeface="Calibri" pitchFamily="34" charset="0"/>
                <a:ea typeface="Calibri" pitchFamily="34" charset="-122"/>
                <a:cs typeface="Calibri" pitchFamily="34" charset="-120"/>
              </a:rPr>
              <a:t>AG-UI (sub-theme 02)</a:t>
            </a:r>
            <a:endParaRPr lang="en-US" sz="1100" dirty="0"/>
          </a:p>
        </p:txBody>
      </p:sp>
      <p:sp>
        <p:nvSpPr>
          <p:cNvPr id="7" name="Text 5"/>
          <p:cNvSpPr/>
          <p:nvPr/>
        </p:nvSpPr>
        <p:spPr>
          <a:xfrm>
            <a:off x="6675120" y="2057400"/>
            <a:ext cx="4937760" cy="365760"/>
          </a:xfrm>
          <a:prstGeom prst="rect">
            <a:avLst/>
          </a:prstGeom>
          <a:noFill/>
          <a:ln/>
        </p:spPr>
        <p:txBody>
          <a:bodyPr wrap="square" lIns="0" tIns="0" rIns="0" bIns="0" rtlCol="0" anchor="ctr"/>
          <a:lstStyle/>
          <a:p>
            <a:pPr algn="ctr" indent="0" marL="0">
              <a:buNone/>
            </a:pPr>
            <a:r>
              <a:rPr lang="en-US" sz="1100" b="1" dirty="0">
                <a:solidFill>
                  <a:srgbClr val="4B5563"/>
                </a:solidFill>
                <a:latin typeface="Calibri" pitchFamily="34" charset="0"/>
                <a:ea typeface="Calibri" pitchFamily="34" charset="-122"/>
                <a:cs typeface="Calibri" pitchFamily="34" charset="-120"/>
              </a:rPr>
              <a:t>MCP Apps (sub-theme 06)</a:t>
            </a:r>
            <a:endParaRPr lang="en-US" sz="1100" dirty="0"/>
          </a:p>
        </p:txBody>
      </p:sp>
      <p:sp>
        <p:nvSpPr>
          <p:cNvPr id="8" name="Text 6"/>
          <p:cNvSpPr/>
          <p:nvPr/>
        </p:nvSpPr>
        <p:spPr>
          <a:xfrm>
            <a:off x="548640" y="2468880"/>
            <a:ext cx="1143000" cy="630936"/>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who owns the page</a:t>
            </a:r>
            <a:endParaRPr lang="en-US" sz="1100" dirty="0"/>
          </a:p>
        </p:txBody>
      </p:sp>
      <p:sp>
        <p:nvSpPr>
          <p:cNvPr id="9" name="Text 7"/>
          <p:cNvSpPr/>
          <p:nvPr/>
        </p:nvSpPr>
        <p:spPr>
          <a:xfrm>
            <a:off x="548640" y="3099816"/>
            <a:ext cx="1143000" cy="630936"/>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the wire</a:t>
            </a:r>
            <a:endParaRPr lang="en-US" sz="1100" dirty="0"/>
          </a:p>
        </p:txBody>
      </p:sp>
      <p:sp>
        <p:nvSpPr>
          <p:cNvPr id="10" name="Text 8"/>
          <p:cNvSpPr/>
          <p:nvPr/>
        </p:nvSpPr>
        <p:spPr>
          <a:xfrm>
            <a:off x="548640" y="3730752"/>
            <a:ext cx="1143000" cy="630936"/>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who renders</a:t>
            </a:r>
            <a:endParaRPr lang="en-US" sz="1100" dirty="0"/>
          </a:p>
        </p:txBody>
      </p:sp>
      <p:sp>
        <p:nvSpPr>
          <p:cNvPr id="11" name="Text 9"/>
          <p:cNvSpPr/>
          <p:nvPr/>
        </p:nvSpPr>
        <p:spPr>
          <a:xfrm>
            <a:off x="548640" y="4361688"/>
            <a:ext cx="1143000" cy="630936"/>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who runs the loop</a:t>
            </a:r>
            <a:endParaRPr lang="en-US" sz="1100" dirty="0"/>
          </a:p>
        </p:txBody>
      </p:sp>
      <p:sp>
        <p:nvSpPr>
          <p:cNvPr id="12" name="Text 10"/>
          <p:cNvSpPr/>
          <p:nvPr/>
        </p:nvSpPr>
        <p:spPr>
          <a:xfrm>
            <a:off x="548640" y="4992624"/>
            <a:ext cx="1143000" cy="630936"/>
          </a:xfrm>
          <a:prstGeom prst="rect">
            <a:avLst/>
          </a:prstGeom>
          <a:noFill/>
          <a:ln/>
        </p:spPr>
        <p:txBody>
          <a:bodyPr wrap="square" lIns="0" tIns="0" rIns="0" bIns="0" rtlCol="0" anchor="ctr"/>
          <a:lstStyle/>
          <a:p>
            <a:pPr indent="0" marL="0">
              <a:buNone/>
            </a:pPr>
            <a:r>
              <a:rPr lang="en-US" sz="1100" b="1" dirty="0">
                <a:solidFill>
                  <a:srgbClr val="4B5563"/>
                </a:solidFill>
                <a:latin typeface="Calibri" pitchFamily="34" charset="0"/>
                <a:ea typeface="Calibri" pitchFamily="34" charset="-122"/>
                <a:cs typeface="Calibri" pitchFamily="34" charset="-120"/>
              </a:rPr>
              <a:t>where it appears</a:t>
            </a:r>
            <a:endParaRPr lang="en-US" sz="1100" dirty="0"/>
          </a:p>
        </p:txBody>
      </p:sp>
      <p:sp>
        <p:nvSpPr>
          <p:cNvPr id="13" name="Shape 11"/>
          <p:cNvSpPr/>
          <p:nvPr/>
        </p:nvSpPr>
        <p:spPr>
          <a:xfrm>
            <a:off x="1792224" y="2523744"/>
            <a:ext cx="4828032" cy="521208"/>
          </a:xfrm>
          <a:prstGeom prst="roundRect">
            <a:avLst>
              <a:gd name="adj" fmla="val 17544"/>
            </a:avLst>
          </a:prstGeom>
          <a:solidFill>
            <a:srgbClr val="ECFDF5"/>
          </a:solidFill>
          <a:ln w="15875">
            <a:solidFill>
              <a:srgbClr val="15803D"/>
            </a:solidFill>
            <a:prstDash val="solid"/>
          </a:ln>
        </p:spPr>
      </p:sp>
      <p:sp>
        <p:nvSpPr>
          <p:cNvPr id="14" name="Text 12"/>
          <p:cNvSpPr/>
          <p:nvPr/>
        </p:nvSpPr>
        <p:spPr>
          <a:xfrm>
            <a:off x="1865376" y="2560320"/>
            <a:ext cx="4681728" cy="268376"/>
          </a:xfrm>
          <a:prstGeom prst="rect">
            <a:avLst/>
          </a:prstGeom>
          <a:noFill/>
          <a:ln/>
        </p:spPr>
        <p:txBody>
          <a:bodyPr wrap="square" lIns="0" tIns="0" rIns="0" bIns="0" rtlCol="0" anchor="b"/>
          <a:lstStyle/>
          <a:p>
            <a:pPr algn="ctr" indent="0" marL="0">
              <a:buNone/>
            </a:pPr>
            <a:r>
              <a:rPr lang="en-US" sz="1150" b="1" dirty="0">
                <a:solidFill>
                  <a:srgbClr val="15803D"/>
                </a:solidFill>
                <a:latin typeface="Calibri" pitchFamily="34" charset="0"/>
                <a:ea typeface="Calibri" pitchFamily="34" charset="-122"/>
                <a:cs typeface="Calibri" pitchFamily="34" charset="-120"/>
              </a:rPr>
              <a:t>you</a:t>
            </a:r>
            <a:endParaRPr lang="en-US" sz="1150" dirty="0"/>
          </a:p>
        </p:txBody>
      </p:sp>
      <p:sp>
        <p:nvSpPr>
          <p:cNvPr id="15" name="Text 13"/>
          <p:cNvSpPr/>
          <p:nvPr/>
        </p:nvSpPr>
        <p:spPr>
          <a:xfrm>
            <a:off x="1865376" y="2828696"/>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your page, your event stream</a:t>
            </a:r>
            <a:endParaRPr lang="en-US" sz="900" dirty="0"/>
          </a:p>
        </p:txBody>
      </p:sp>
      <p:sp>
        <p:nvSpPr>
          <p:cNvPr id="16" name="Shape 14"/>
          <p:cNvSpPr/>
          <p:nvPr/>
        </p:nvSpPr>
        <p:spPr>
          <a:xfrm>
            <a:off x="6729984" y="2523744"/>
            <a:ext cx="4828032" cy="521208"/>
          </a:xfrm>
          <a:prstGeom prst="roundRect">
            <a:avLst>
              <a:gd name="adj" fmla="val 17544"/>
            </a:avLst>
          </a:prstGeom>
          <a:solidFill>
            <a:srgbClr val="ECFDF5"/>
          </a:solidFill>
          <a:ln w="15875">
            <a:solidFill>
              <a:srgbClr val="15803D"/>
            </a:solidFill>
            <a:prstDash val="solid"/>
          </a:ln>
        </p:spPr>
      </p:sp>
      <p:sp>
        <p:nvSpPr>
          <p:cNvPr id="17" name="Text 15"/>
          <p:cNvSpPr/>
          <p:nvPr/>
        </p:nvSpPr>
        <p:spPr>
          <a:xfrm>
            <a:off x="6803136" y="2560320"/>
            <a:ext cx="4681728" cy="268376"/>
          </a:xfrm>
          <a:prstGeom prst="rect">
            <a:avLst/>
          </a:prstGeom>
          <a:noFill/>
          <a:ln/>
        </p:spPr>
        <p:txBody>
          <a:bodyPr wrap="square" lIns="0" tIns="0" rIns="0" bIns="0" rtlCol="0" anchor="b"/>
          <a:lstStyle/>
          <a:p>
            <a:pPr algn="ctr" indent="0" marL="0">
              <a:buNone/>
            </a:pPr>
            <a:r>
              <a:rPr lang="en-US" sz="1150" b="1" dirty="0">
                <a:solidFill>
                  <a:srgbClr val="15803D"/>
                </a:solidFill>
                <a:latin typeface="Calibri" pitchFamily="34" charset="0"/>
                <a:ea typeface="Calibri" pitchFamily="34" charset="-122"/>
                <a:cs typeface="Calibri" pitchFamily="34" charset="-120"/>
              </a:rPr>
              <a:t>the host's vendor</a:t>
            </a:r>
            <a:endParaRPr lang="en-US" sz="1150" dirty="0"/>
          </a:p>
        </p:txBody>
      </p:sp>
      <p:sp>
        <p:nvSpPr>
          <p:cNvPr id="18" name="Text 16"/>
          <p:cNvSpPr/>
          <p:nvPr/>
        </p:nvSpPr>
        <p:spPr>
          <a:xfrm>
            <a:off x="6803136" y="2828696"/>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Claude, ChatGPT, VS Code, Goose</a:t>
            </a:r>
            <a:endParaRPr lang="en-US" sz="900" dirty="0"/>
          </a:p>
        </p:txBody>
      </p:sp>
      <p:sp>
        <p:nvSpPr>
          <p:cNvPr id="19" name="Shape 17"/>
          <p:cNvSpPr/>
          <p:nvPr/>
        </p:nvSpPr>
        <p:spPr>
          <a:xfrm>
            <a:off x="1792224" y="3154680"/>
            <a:ext cx="4828032" cy="521208"/>
          </a:xfrm>
          <a:prstGeom prst="roundRect">
            <a:avLst>
              <a:gd name="adj" fmla="val 17544"/>
            </a:avLst>
          </a:prstGeom>
          <a:solidFill>
            <a:srgbClr val="F6F7FB"/>
          </a:solidFill>
          <a:ln w="15875">
            <a:solidFill>
              <a:srgbClr val="141B3D"/>
            </a:solidFill>
            <a:prstDash val="solid"/>
          </a:ln>
        </p:spPr>
      </p:sp>
      <p:sp>
        <p:nvSpPr>
          <p:cNvPr id="20" name="Text 18"/>
          <p:cNvSpPr/>
          <p:nvPr/>
        </p:nvSpPr>
        <p:spPr>
          <a:xfrm>
            <a:off x="1865376" y="3191256"/>
            <a:ext cx="4681728" cy="268376"/>
          </a:xfrm>
          <a:prstGeom prst="rect">
            <a:avLst/>
          </a:prstGeom>
          <a:noFill/>
          <a:ln/>
        </p:spPr>
        <p:txBody>
          <a:bodyPr wrap="square" lIns="0" tIns="0" rIns="0" bIns="0" rtlCol="0" anchor="b"/>
          <a:lstStyle/>
          <a:p>
            <a:pPr algn="ctr" indent="0" marL="0">
              <a:buNone/>
            </a:pPr>
            <a:r>
              <a:rPr lang="en-US" sz="1150" b="1" dirty="0">
                <a:solidFill>
                  <a:srgbClr val="141B3D"/>
                </a:solidFill>
                <a:latin typeface="Calibri" pitchFamily="34" charset="0"/>
                <a:ea typeface="Calibri" pitchFamily="34" charset="-122"/>
                <a:cs typeface="Calibri" pitchFamily="34" charset="-120"/>
              </a:rPr>
              <a:t>SSE events to your page</a:t>
            </a:r>
            <a:endParaRPr lang="en-US" sz="1150" dirty="0"/>
          </a:p>
        </p:txBody>
      </p:sp>
      <p:sp>
        <p:nvSpPr>
          <p:cNvPr id="21" name="Text 19"/>
          <p:cNvSpPr/>
          <p:nvPr/>
        </p:nvSpPr>
        <p:spPr>
          <a:xfrm>
            <a:off x="1865376" y="3459632"/>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text, tool calls, state deltas</a:t>
            </a:r>
            <a:endParaRPr lang="en-US" sz="900" dirty="0"/>
          </a:p>
        </p:txBody>
      </p:sp>
      <p:sp>
        <p:nvSpPr>
          <p:cNvPr id="22" name="Shape 20"/>
          <p:cNvSpPr/>
          <p:nvPr/>
        </p:nvSpPr>
        <p:spPr>
          <a:xfrm>
            <a:off x="6729984" y="3154680"/>
            <a:ext cx="4828032" cy="521208"/>
          </a:xfrm>
          <a:prstGeom prst="roundRect">
            <a:avLst>
              <a:gd name="adj" fmla="val 17544"/>
            </a:avLst>
          </a:prstGeom>
          <a:solidFill>
            <a:srgbClr val="F6F7FB"/>
          </a:solidFill>
          <a:ln w="15875">
            <a:solidFill>
              <a:srgbClr val="141B3D"/>
            </a:solidFill>
            <a:prstDash val="solid"/>
          </a:ln>
        </p:spPr>
      </p:sp>
      <p:sp>
        <p:nvSpPr>
          <p:cNvPr id="23" name="Text 21"/>
          <p:cNvSpPr/>
          <p:nvPr/>
        </p:nvSpPr>
        <p:spPr>
          <a:xfrm>
            <a:off x="6803136" y="3191256"/>
            <a:ext cx="4681728" cy="268376"/>
          </a:xfrm>
          <a:prstGeom prst="rect">
            <a:avLst/>
          </a:prstGeom>
          <a:noFill/>
          <a:ln/>
        </p:spPr>
        <p:txBody>
          <a:bodyPr wrap="square" lIns="0" tIns="0" rIns="0" bIns="0" rtlCol="0" anchor="b"/>
          <a:lstStyle/>
          <a:p>
            <a:pPr algn="ctr" indent="0" marL="0">
              <a:buNone/>
            </a:pPr>
            <a:r>
              <a:rPr lang="en-US" sz="1150" b="1" dirty="0">
                <a:solidFill>
                  <a:srgbClr val="141B3D"/>
                </a:solidFill>
                <a:latin typeface="Calibri" pitchFamily="34" charset="0"/>
                <a:ea typeface="Calibri" pitchFamily="34" charset="-122"/>
                <a:cs typeface="Calibri" pitchFamily="34" charset="-120"/>
              </a:rPr>
              <a:t>MCP to your server</a:t>
            </a:r>
            <a:endParaRPr lang="en-US" sz="1150" dirty="0"/>
          </a:p>
        </p:txBody>
      </p:sp>
      <p:sp>
        <p:nvSpPr>
          <p:cNvPr id="24" name="Text 22"/>
          <p:cNvSpPr/>
          <p:nvPr/>
        </p:nvSpPr>
        <p:spPr>
          <a:xfrm>
            <a:off x="6803136" y="3459632"/>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a tool result: text plus structured content; the view speaks JSON-RPC to the host</a:t>
            </a:r>
            <a:endParaRPr lang="en-US" sz="900" dirty="0"/>
          </a:p>
        </p:txBody>
      </p:sp>
      <p:sp>
        <p:nvSpPr>
          <p:cNvPr id="25" name="Shape 23"/>
          <p:cNvSpPr/>
          <p:nvPr/>
        </p:nvSpPr>
        <p:spPr>
          <a:xfrm>
            <a:off x="1792224" y="3785616"/>
            <a:ext cx="4828032" cy="521208"/>
          </a:xfrm>
          <a:prstGeom prst="roundRect">
            <a:avLst>
              <a:gd name="adj" fmla="val 17544"/>
            </a:avLst>
          </a:prstGeom>
          <a:solidFill>
            <a:srgbClr val="EEF0FF"/>
          </a:solidFill>
          <a:ln w="15875">
            <a:solidFill>
              <a:srgbClr val="2F3CFF"/>
            </a:solidFill>
            <a:prstDash val="solid"/>
          </a:ln>
        </p:spPr>
      </p:sp>
      <p:sp>
        <p:nvSpPr>
          <p:cNvPr id="26" name="Text 24"/>
          <p:cNvSpPr/>
          <p:nvPr/>
        </p:nvSpPr>
        <p:spPr>
          <a:xfrm>
            <a:off x="1865376" y="3822192"/>
            <a:ext cx="4681728" cy="268376"/>
          </a:xfrm>
          <a:prstGeom prst="rect">
            <a:avLst/>
          </a:prstGeom>
          <a:noFill/>
          <a:ln/>
        </p:spPr>
        <p:txBody>
          <a:bodyPr wrap="square" lIns="0" tIns="0" rIns="0" bIns="0" rtlCol="0" anchor="b"/>
          <a:lstStyle/>
          <a:p>
            <a:pPr algn="ctr" indent="0" marL="0">
              <a:buNone/>
            </a:pPr>
            <a:r>
              <a:rPr lang="en-US" sz="1150" b="1" dirty="0">
                <a:solidFill>
                  <a:srgbClr val="2F3CFF"/>
                </a:solidFill>
                <a:latin typeface="Calibri" pitchFamily="34" charset="0"/>
                <a:ea typeface="Calibri" pitchFamily="34" charset="-122"/>
                <a:cs typeface="Calibri" pitchFamily="34" charset="-120"/>
              </a:rPr>
              <a:t>your renderer, from state</a:t>
            </a:r>
            <a:endParaRPr lang="en-US" sz="1150" dirty="0"/>
          </a:p>
        </p:txBody>
      </p:sp>
      <p:sp>
        <p:nvSpPr>
          <p:cNvPr id="27" name="Text 25"/>
          <p:cNvSpPr/>
          <p:nvPr/>
        </p:nvSpPr>
        <p:spPr>
          <a:xfrm>
            <a:off x="1865376" y="4090568"/>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a catalog you drew</a:t>
            </a:r>
            <a:endParaRPr lang="en-US" sz="900" dirty="0"/>
          </a:p>
        </p:txBody>
      </p:sp>
      <p:sp>
        <p:nvSpPr>
          <p:cNvPr id="28" name="Shape 26"/>
          <p:cNvSpPr/>
          <p:nvPr/>
        </p:nvSpPr>
        <p:spPr>
          <a:xfrm>
            <a:off x="6729984" y="3785616"/>
            <a:ext cx="4828032" cy="521208"/>
          </a:xfrm>
          <a:prstGeom prst="roundRect">
            <a:avLst>
              <a:gd name="adj" fmla="val 17544"/>
            </a:avLst>
          </a:prstGeom>
          <a:solidFill>
            <a:srgbClr val="FFF4E5"/>
          </a:solidFill>
          <a:ln w="15875">
            <a:solidFill>
              <a:srgbClr val="D97706"/>
            </a:solidFill>
            <a:prstDash val="dash"/>
          </a:ln>
        </p:spPr>
      </p:sp>
      <p:sp>
        <p:nvSpPr>
          <p:cNvPr id="29" name="Text 27"/>
          <p:cNvSpPr/>
          <p:nvPr/>
        </p:nvSpPr>
        <p:spPr>
          <a:xfrm>
            <a:off x="6803136" y="3822192"/>
            <a:ext cx="4681728" cy="268376"/>
          </a:xfrm>
          <a:prstGeom prst="rect">
            <a:avLst/>
          </a:prstGeom>
          <a:noFill/>
          <a:ln/>
        </p:spPr>
        <p:txBody>
          <a:bodyPr wrap="square" lIns="0" tIns="0" rIns="0" bIns="0" rtlCol="0" anchor="b"/>
          <a:lstStyle/>
          <a:p>
            <a:pPr algn="ctr" indent="0" marL="0">
              <a:buNone/>
            </a:pPr>
            <a:r>
              <a:rPr lang="en-US" sz="1150" b="1" dirty="0">
                <a:solidFill>
                  <a:srgbClr val="D97706"/>
                </a:solidFill>
                <a:latin typeface="Calibri" pitchFamily="34" charset="0"/>
                <a:ea typeface="Calibri" pitchFamily="34" charset="-122"/>
                <a:cs typeface="Calibri" pitchFamily="34" charset="-120"/>
              </a:rPr>
              <a:t>your HTML, in the host's sandbox</a:t>
            </a:r>
            <a:endParaRPr lang="en-US" sz="1150" dirty="0"/>
          </a:p>
        </p:txBody>
      </p:sp>
      <p:sp>
        <p:nvSpPr>
          <p:cNvPr id="30" name="Text 28"/>
          <p:cNvSpPr/>
          <p:nvPr/>
        </p:nvSpPr>
        <p:spPr>
          <a:xfrm>
            <a:off x="6803136" y="4090568"/>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an iframe with a CSP the host built</a:t>
            </a:r>
            <a:endParaRPr lang="en-US" sz="900" dirty="0"/>
          </a:p>
        </p:txBody>
      </p:sp>
      <p:sp>
        <p:nvSpPr>
          <p:cNvPr id="31" name="Shape 29"/>
          <p:cNvSpPr/>
          <p:nvPr/>
        </p:nvSpPr>
        <p:spPr>
          <a:xfrm>
            <a:off x="1792224" y="4416552"/>
            <a:ext cx="4828032" cy="521208"/>
          </a:xfrm>
          <a:prstGeom prst="roundRect">
            <a:avLst>
              <a:gd name="adj" fmla="val 17544"/>
            </a:avLst>
          </a:prstGeom>
          <a:solidFill>
            <a:srgbClr val="ECFDF5"/>
          </a:solidFill>
          <a:ln w="15875">
            <a:solidFill>
              <a:srgbClr val="15803D"/>
            </a:solidFill>
            <a:prstDash val="solid"/>
          </a:ln>
        </p:spPr>
      </p:sp>
      <p:sp>
        <p:nvSpPr>
          <p:cNvPr id="32" name="Text 30"/>
          <p:cNvSpPr/>
          <p:nvPr/>
        </p:nvSpPr>
        <p:spPr>
          <a:xfrm>
            <a:off x="1865376" y="4453128"/>
            <a:ext cx="4681728" cy="268376"/>
          </a:xfrm>
          <a:prstGeom prst="rect">
            <a:avLst/>
          </a:prstGeom>
          <a:noFill/>
          <a:ln/>
        </p:spPr>
        <p:txBody>
          <a:bodyPr wrap="square" lIns="0" tIns="0" rIns="0" bIns="0" rtlCol="0" anchor="b"/>
          <a:lstStyle/>
          <a:p>
            <a:pPr algn="ctr" indent="0" marL="0">
              <a:buNone/>
            </a:pPr>
            <a:r>
              <a:rPr lang="en-US" sz="1150" b="1" dirty="0">
                <a:solidFill>
                  <a:srgbClr val="15803D"/>
                </a:solidFill>
                <a:latin typeface="Calibri" pitchFamily="34" charset="0"/>
                <a:ea typeface="Calibri" pitchFamily="34" charset="-122"/>
                <a:cs typeface="Calibri" pitchFamily="34" charset="-120"/>
              </a:rPr>
              <a:t>you</a:t>
            </a:r>
            <a:endParaRPr lang="en-US" sz="1150" dirty="0"/>
          </a:p>
        </p:txBody>
      </p:sp>
      <p:sp>
        <p:nvSpPr>
          <p:cNvPr id="33" name="Text 31"/>
          <p:cNvSpPr/>
          <p:nvPr/>
        </p:nvSpPr>
        <p:spPr>
          <a:xfrm>
            <a:off x="1865376" y="4721504"/>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your server drives the model</a:t>
            </a:r>
            <a:endParaRPr lang="en-US" sz="900" dirty="0"/>
          </a:p>
        </p:txBody>
      </p:sp>
      <p:sp>
        <p:nvSpPr>
          <p:cNvPr id="34" name="Shape 32"/>
          <p:cNvSpPr/>
          <p:nvPr/>
        </p:nvSpPr>
        <p:spPr>
          <a:xfrm>
            <a:off x="6729984" y="4416552"/>
            <a:ext cx="4828032" cy="521208"/>
          </a:xfrm>
          <a:prstGeom prst="roundRect">
            <a:avLst>
              <a:gd name="adj" fmla="val 17544"/>
            </a:avLst>
          </a:prstGeom>
          <a:solidFill>
            <a:srgbClr val="ECFDF5"/>
          </a:solidFill>
          <a:ln w="15875">
            <a:solidFill>
              <a:srgbClr val="15803D"/>
            </a:solidFill>
            <a:prstDash val="solid"/>
          </a:ln>
        </p:spPr>
      </p:sp>
      <p:sp>
        <p:nvSpPr>
          <p:cNvPr id="35" name="Text 33"/>
          <p:cNvSpPr/>
          <p:nvPr/>
        </p:nvSpPr>
        <p:spPr>
          <a:xfrm>
            <a:off x="6803136" y="4453128"/>
            <a:ext cx="4681728" cy="268376"/>
          </a:xfrm>
          <a:prstGeom prst="rect">
            <a:avLst/>
          </a:prstGeom>
          <a:noFill/>
          <a:ln/>
        </p:spPr>
        <p:txBody>
          <a:bodyPr wrap="square" lIns="0" tIns="0" rIns="0" bIns="0" rtlCol="0" anchor="b"/>
          <a:lstStyle/>
          <a:p>
            <a:pPr algn="ctr" indent="0" marL="0">
              <a:buNone/>
            </a:pPr>
            <a:r>
              <a:rPr lang="en-US" sz="1150" b="1" dirty="0">
                <a:solidFill>
                  <a:srgbClr val="15803D"/>
                </a:solidFill>
                <a:latin typeface="Calibri" pitchFamily="34" charset="0"/>
                <a:ea typeface="Calibri" pitchFamily="34" charset="-122"/>
                <a:cs typeface="Calibri" pitchFamily="34" charset="-120"/>
              </a:rPr>
              <a:t>the host</a:t>
            </a:r>
            <a:endParaRPr lang="en-US" sz="1150" dirty="0"/>
          </a:p>
        </p:txBody>
      </p:sp>
      <p:sp>
        <p:nvSpPr>
          <p:cNvPr id="36" name="Text 34"/>
          <p:cNvSpPr/>
          <p:nvPr/>
        </p:nvSpPr>
        <p:spPr>
          <a:xfrm>
            <a:off x="6803136" y="4721504"/>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the model picks the tool; the view calls through the host</a:t>
            </a:r>
            <a:endParaRPr lang="en-US" sz="900" dirty="0"/>
          </a:p>
        </p:txBody>
      </p:sp>
      <p:sp>
        <p:nvSpPr>
          <p:cNvPr id="37" name="Shape 35"/>
          <p:cNvSpPr/>
          <p:nvPr/>
        </p:nvSpPr>
        <p:spPr>
          <a:xfrm>
            <a:off x="1792224" y="5047488"/>
            <a:ext cx="4828032" cy="521208"/>
          </a:xfrm>
          <a:prstGeom prst="roundRect">
            <a:avLst>
              <a:gd name="adj" fmla="val 17544"/>
            </a:avLst>
          </a:prstGeom>
          <a:solidFill>
            <a:srgbClr val="ECFDF5"/>
          </a:solidFill>
          <a:ln w="15875">
            <a:solidFill>
              <a:srgbClr val="15803D"/>
            </a:solidFill>
            <a:prstDash val="solid"/>
          </a:ln>
        </p:spPr>
      </p:sp>
      <p:sp>
        <p:nvSpPr>
          <p:cNvPr id="38" name="Text 36"/>
          <p:cNvSpPr/>
          <p:nvPr/>
        </p:nvSpPr>
        <p:spPr>
          <a:xfrm>
            <a:off x="1865376" y="5084064"/>
            <a:ext cx="4681728" cy="268376"/>
          </a:xfrm>
          <a:prstGeom prst="rect">
            <a:avLst/>
          </a:prstGeom>
          <a:noFill/>
          <a:ln/>
        </p:spPr>
        <p:txBody>
          <a:bodyPr wrap="square" lIns="0" tIns="0" rIns="0" bIns="0" rtlCol="0" anchor="b"/>
          <a:lstStyle/>
          <a:p>
            <a:pPr algn="ctr" indent="0" marL="0">
              <a:buNone/>
            </a:pPr>
            <a:r>
              <a:rPr lang="en-US" sz="1150" b="1" dirty="0">
                <a:solidFill>
                  <a:srgbClr val="15803D"/>
                </a:solidFill>
                <a:latin typeface="Calibri" pitchFamily="34" charset="0"/>
                <a:ea typeface="Calibri" pitchFamily="34" charset="-122"/>
                <a:cs typeface="Calibri" pitchFamily="34" charset="-120"/>
              </a:rPr>
              <a:t>your product</a:t>
            </a:r>
            <a:endParaRPr lang="en-US" sz="1150" dirty="0"/>
          </a:p>
        </p:txBody>
      </p:sp>
      <p:sp>
        <p:nvSpPr>
          <p:cNvPr id="39" name="Text 37"/>
          <p:cNvSpPr/>
          <p:nvPr/>
        </p:nvSpPr>
        <p:spPr>
          <a:xfrm>
            <a:off x="1865376" y="5352440"/>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one surface you control</a:t>
            </a:r>
            <a:endParaRPr lang="en-US" sz="900" dirty="0"/>
          </a:p>
        </p:txBody>
      </p:sp>
      <p:sp>
        <p:nvSpPr>
          <p:cNvPr id="40" name="Shape 38"/>
          <p:cNvSpPr/>
          <p:nvPr/>
        </p:nvSpPr>
        <p:spPr>
          <a:xfrm>
            <a:off x="6729984" y="5047488"/>
            <a:ext cx="4828032" cy="521208"/>
          </a:xfrm>
          <a:prstGeom prst="roundRect">
            <a:avLst>
              <a:gd name="adj" fmla="val 17544"/>
            </a:avLst>
          </a:prstGeom>
          <a:solidFill>
            <a:srgbClr val="ECFDF5"/>
          </a:solidFill>
          <a:ln w="15875">
            <a:solidFill>
              <a:srgbClr val="15803D"/>
            </a:solidFill>
            <a:prstDash val="solid"/>
          </a:ln>
        </p:spPr>
      </p:sp>
      <p:sp>
        <p:nvSpPr>
          <p:cNvPr id="41" name="Text 39"/>
          <p:cNvSpPr/>
          <p:nvPr/>
        </p:nvSpPr>
        <p:spPr>
          <a:xfrm>
            <a:off x="6803136" y="5084064"/>
            <a:ext cx="4681728" cy="268376"/>
          </a:xfrm>
          <a:prstGeom prst="rect">
            <a:avLst/>
          </a:prstGeom>
          <a:noFill/>
          <a:ln/>
        </p:spPr>
        <p:txBody>
          <a:bodyPr wrap="square" lIns="0" tIns="0" rIns="0" bIns="0" rtlCol="0" anchor="b"/>
          <a:lstStyle/>
          <a:p>
            <a:pPr algn="ctr" indent="0" marL="0">
              <a:buNone/>
            </a:pPr>
            <a:r>
              <a:rPr lang="en-US" sz="1150" b="1" dirty="0">
                <a:solidFill>
                  <a:srgbClr val="15803D"/>
                </a:solidFill>
                <a:latin typeface="Calibri" pitchFamily="34" charset="0"/>
                <a:ea typeface="Calibri" pitchFamily="34" charset="-122"/>
                <a:cs typeface="Calibri" pitchFamily="34" charset="-120"/>
              </a:rPr>
              <a:t>any compliant host</a:t>
            </a:r>
            <a:endParaRPr lang="en-US" sz="1150" dirty="0"/>
          </a:p>
        </p:txBody>
      </p:sp>
      <p:sp>
        <p:nvSpPr>
          <p:cNvPr id="42" name="Text 40"/>
          <p:cNvSpPr/>
          <p:nvPr/>
        </p:nvSpPr>
        <p:spPr>
          <a:xfrm>
            <a:off x="6803136" y="5352440"/>
            <a:ext cx="4681728" cy="17968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the same server, unchanged, in three hosts</a:t>
            </a:r>
            <a:endParaRPr lang="en-US" sz="900" dirty="0"/>
          </a:p>
        </p:txBody>
      </p:sp>
      <p:sp>
        <p:nvSpPr>
          <p:cNvPr id="43" name="Shape 41"/>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44" name="Text 42"/>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Sub-theme 07 takes the first road inside the harness; this sub-theme took the second. The server is the same either way.</a:t>
            </a:r>
            <a:endParaRPr lang="en-US" sz="12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06.3 · LEVEL 20 OF 23 · A THIRD-PARTY HOST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hybrid ships as a tool result, and its open-ended part runs one frame deeper</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108</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One tool result carries a </a:t>
            </a:r>
            <a:pPr indent="0" marL="0">
              <a:buNone/>
            </a:pPr>
            <a:r>
              <a:rPr lang="en-US" sz="1600" b="1" dirty="0">
                <a:solidFill>
                  <a:srgbClr val="141B3D"/>
                </a:solidFill>
                <a:latin typeface="Calibri" pitchFamily="34" charset="0"/>
                <a:ea typeface="Calibri" pitchFamily="34" charset="-122"/>
                <a:cs typeface="Calibri" pitchFamily="34" charset="-120"/>
              </a:rPr>
              <a:t>catalog spec</a:t>
            </a:r>
            <a:pPr indent="0" marL="0">
              <a:buNone/>
            </a:pPr>
            <a:r>
              <a:rPr lang="en-US" sz="1600" dirty="0">
                <a:solidFill>
                  <a:srgbClr val="141B3D"/>
                </a:solidFill>
                <a:latin typeface="Calibri" pitchFamily="34" charset="0"/>
                <a:ea typeface="Calibri" pitchFamily="34" charset="-122"/>
                <a:cs typeface="Calibri" pitchFamily="34" charset="-120"/>
              </a:rPr>
              <a:t> the view draws itself and one </a:t>
            </a:r>
            <a:pPr indent="0" marL="0">
              <a:buNone/>
            </a:pPr>
            <a:r>
              <a:rPr lang="en-US" sz="1600" b="1" dirty="0">
                <a:solidFill>
                  <a:srgbClr val="141B3D"/>
                </a:solidFill>
                <a:latin typeface="Calibri" pitchFamily="34" charset="0"/>
                <a:ea typeface="Calibri" pitchFamily="34" charset="-122"/>
                <a:cs typeface="Calibri" pitchFamily="34" charset="-120"/>
              </a:rPr>
              <a:t>generated document</a:t>
            </a:r>
            <a:pPr indent="0" marL="0">
              <a:buNone/>
            </a:pPr>
            <a:r>
              <a:rPr lang="en-US" sz="1600" dirty="0">
                <a:solidFill>
                  <a:srgbClr val="141B3D"/>
                </a:solidFill>
                <a:latin typeface="Calibri" pitchFamily="34" charset="0"/>
                <a:ea typeface="Calibri" pitchFamily="34" charset="-122"/>
                <a:cs typeface="Calibri" pitchFamily="34" charset="-120"/>
              </a:rPr>
              <a:t> the view mounts in a second sandbox.</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Step 01.4 built the report's hybrid on a page you own. This step puts it inside a host you do not control.</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a:t>
            </a:r>
            <a:pPr indent="0" marL="0">
              <a:buNone/>
            </a:pPr>
            <a:r>
              <a:rPr lang="en-US" sz="1050" dirty="0">
                <a:solidFill>
                  <a:srgbClr val="BE123C"/>
                </a:solidFill>
                <a:latin typeface="Courier New" pitchFamily="34" charset="0"/>
                <a:ea typeface="Courier New" pitchFamily="34" charset="-122"/>
                <a:cs typeface="Courier New" pitchFamily="34" charset="-120"/>
              </a:rPr>
              <a:t>lemonade_report(days, focus)</a:t>
            </a:r>
            <a:pPr indent="0" marL="0">
              <a:buNone/>
            </a:pPr>
            <a:r>
              <a:rPr lang="en-US" sz="1150" dirty="0">
                <a:solidFill>
                  <a:srgbClr val="1F2937"/>
                </a:solidFill>
                <a:latin typeface="Calibri" pitchFamily="34" charset="0"/>
                <a:ea typeface="Calibri" pitchFamily="34" charset="-122"/>
                <a:cs typeface="Calibri" pitchFamily="34" charset="-120"/>
              </a:rPr>
              <a:t> returns </a:t>
            </a:r>
            <a:pPr indent="0" marL="0">
              <a:buNone/>
            </a:pPr>
            <a:r>
              <a:rPr lang="en-US" sz="1050" dirty="0">
                <a:solidFill>
                  <a:srgbClr val="BE123C"/>
                </a:solidFill>
                <a:latin typeface="Courier New" pitchFamily="34" charset="0"/>
                <a:ea typeface="Courier New" pitchFamily="34" charset="-122"/>
                <a:cs typeface="Courier New" pitchFamily="34" charset="-120"/>
              </a:rPr>
              <a:t>components</a:t>
            </a:r>
            <a:pPr indent="0" marL="0">
              <a:buNone/>
            </a:pPr>
            <a:r>
              <a:rPr lang="en-US" sz="1150" dirty="0">
                <a:solidFill>
                  <a:srgbClr val="1F2937"/>
                </a:solidFill>
                <a:latin typeface="Calibri" pitchFamily="34" charset="0"/>
                <a:ea typeface="Calibri" pitchFamily="34" charset="-122"/>
                <a:cs typeface="Calibri" pitchFamily="34" charset="-120"/>
              </a:rPr>
              <a:t>, six items in the shape of step 01.1, and </a:t>
            </a:r>
            <a:pPr indent="0" marL="0">
              <a:buNone/>
            </a:pPr>
            <a:r>
              <a:rPr lang="en-US" sz="1050" dirty="0">
                <a:solidFill>
                  <a:srgbClr val="BE123C"/>
                </a:solidFill>
                <a:latin typeface="Courier New" pitchFamily="34" charset="0"/>
                <a:ea typeface="Courier New" pitchFamily="34" charset="-122"/>
                <a:cs typeface="Courier New" pitchFamily="34" charset="-120"/>
              </a:rPr>
              <a:t>generated</a:t>
            </a:r>
            <a:pPr indent="0" marL="0">
              <a:buNone/>
            </a:pPr>
            <a:r>
              <a:rPr lang="en-US" sz="1150" dirty="0">
                <a:solidFill>
                  <a:srgbClr val="1F2937"/>
                </a:solidFill>
                <a:latin typeface="Calibri" pitchFamily="34" charset="0"/>
                <a:ea typeface="Calibri" pitchFamily="34" charset="-122"/>
                <a:cs typeface="Calibri" pitchFamily="34" charset="-120"/>
              </a:rPr>
              <a:t>, one HTML document.</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MCP server makes the model call for the region. MCP Apps keeps credentials on the server side; the host never sees the key.</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view renders the spec with four escaped renderers and mounts the document in a nested </a:t>
            </a:r>
            <a:pPr indent="0" marL="0">
              <a:buNone/>
            </a:pPr>
            <a:r>
              <a:rPr lang="en-US" sz="1050" dirty="0">
                <a:solidFill>
                  <a:srgbClr val="BE123C"/>
                </a:solidFill>
                <a:latin typeface="Courier New" pitchFamily="34" charset="0"/>
                <a:ea typeface="Courier New" pitchFamily="34" charset="-122"/>
                <a:cs typeface="Courier New" pitchFamily="34" charset="-120"/>
              </a:rPr>
              <a:t>sandbox="allow-scripts"</a:t>
            </a:r>
            <a:pPr indent="0" marL="0">
              <a:buNone/>
            </a:pPr>
            <a:r>
              <a:rPr lang="en-US" sz="1150" dirty="0">
                <a:solidFill>
                  <a:srgbClr val="1F2937"/>
                </a:solidFill>
                <a:latin typeface="Calibri" pitchFamily="34" charset="0"/>
                <a:ea typeface="Calibri" pitchFamily="34" charset="-122"/>
                <a:cs typeface="Calibri" pitchFamily="34" charset="-120"/>
              </a:rPr>
              <a:t> iframe.</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app's own iframe and policy from step 06.1 are unchanged. A </a:t>
            </a:r>
            <a:pPr indent="0" marL="0">
              <a:buNone/>
            </a:pPr>
            <a:r>
              <a:rPr lang="en-US" sz="1050" dirty="0">
                <a:solidFill>
                  <a:srgbClr val="BE123C"/>
                </a:solidFill>
                <a:latin typeface="Courier New" pitchFamily="34" charset="0"/>
                <a:ea typeface="Courier New" pitchFamily="34" charset="-122"/>
                <a:cs typeface="Courier New" pitchFamily="34" charset="-120"/>
              </a:rPr>
              <a:t>srcdoc</a:t>
            </a:r>
            <a:pPr indent="0" marL="0">
              <a:buNone/>
            </a:pPr>
            <a:r>
              <a:rPr lang="en-US" sz="1150" dirty="0">
                <a:solidFill>
                  <a:srgbClr val="1F2937"/>
                </a:solidFill>
                <a:latin typeface="Calibri" pitchFamily="34" charset="0"/>
                <a:ea typeface="Calibri" pitchFamily="34" charset="-122"/>
                <a:cs typeface="Calibri" pitchFamily="34" charset="-120"/>
              </a:rPr>
              <a:t> frame has no URL for </a:t>
            </a:r>
            <a:pPr indent="0" marL="0">
              <a:buNone/>
            </a:pPr>
            <a:r>
              <a:rPr lang="en-US" sz="1050" dirty="0">
                <a:solidFill>
                  <a:srgbClr val="BE123C"/>
                </a:solidFill>
                <a:latin typeface="Courier New" pitchFamily="34" charset="0"/>
                <a:ea typeface="Courier New" pitchFamily="34" charset="-122"/>
                <a:cs typeface="Courier New" pitchFamily="34" charset="-120"/>
              </a:rPr>
              <a:t>frame-src</a:t>
            </a:r>
            <a:pPr indent="0" marL="0">
              <a:buNone/>
            </a:pPr>
            <a:r>
              <a:rPr lang="en-US" sz="1150" dirty="0">
                <a:solidFill>
                  <a:srgbClr val="1F2937"/>
                </a:solidFill>
                <a:latin typeface="Calibri" pitchFamily="34" charset="0"/>
                <a:ea typeface="Calibri" pitchFamily="34" charset="-122"/>
                <a:cs typeface="Calibri" pitchFamily="34" charset="-120"/>
              </a:rPr>
              <a:t> to match, so it inherits the app's policy and adds its own.</a:t>
            </a:r>
            <a:endParaRPr lang="en-US" sz="1150" dirty="0"/>
          </a:p>
          <a:p>
            <a:pPr marL="177800" indent="-177800">
              <a:spcAft>
                <a:spcPts val="600"/>
              </a:spcAft>
              <a:buSzPct val="100000"/>
              <a:buChar char="•"/>
            </a:pPr>
            <a:r>
              <a:rPr lang="en-US" sz="1150" dirty="0">
                <a:solidFill>
                  <a:srgbClr val="1F2937"/>
                </a:solidFill>
                <a:latin typeface="Calibri" pitchFamily="34" charset="0"/>
                <a:ea typeface="Calibri" pitchFamily="34" charset="-122"/>
                <a:cs typeface="Calibri" pitchFamily="34" charset="-120"/>
              </a:rPr>
              <a:t>The region can say one thing to the app: </a:t>
            </a:r>
            <a:pPr indent="0" marL="0">
              <a:buNone/>
            </a:pPr>
            <a:r>
              <a:rPr lang="en-US" sz="1050" dirty="0">
                <a:solidFill>
                  <a:srgbClr val="BE123C"/>
                </a:solidFill>
                <a:latin typeface="Courier New" pitchFamily="34" charset="0"/>
                <a:ea typeface="Courier New" pitchFamily="34" charset="-122"/>
                <a:cs typeface="Courier New" pitchFamily="34" charset="-120"/>
              </a:rPr>
              <a:t>{type: "event", name, payload}</a:t>
            </a:r>
            <a:pPr indent="0" marL="0">
              <a:buNone/>
            </a:pPr>
            <a:r>
              <a:rPr lang="en-US" sz="1150" dirty="0">
                <a:solidFill>
                  <a:srgbClr val="1F2937"/>
                </a:solidFill>
                <a:latin typeface="Calibri" pitchFamily="34" charset="0"/>
                <a:ea typeface="Calibri" pitchFamily="34" charset="-122"/>
                <a:cs typeface="Calibri" pitchFamily="34" charset="-120"/>
              </a:rPr>
              <a:t>. The app, not the region, speaks to the host.</a:t>
            </a:r>
            <a:endParaRPr lang="en-US" sz="1150" dirty="0"/>
          </a:p>
        </p:txBody>
      </p:sp>
      <p:sp>
        <p:nvSpPr>
          <p:cNvPr id="7" name="Shape 5"/>
          <p:cNvSpPr/>
          <p:nvPr/>
        </p:nvSpPr>
        <p:spPr>
          <a:xfrm>
            <a:off x="6035040" y="1600200"/>
            <a:ext cx="5577840" cy="777240"/>
          </a:xfrm>
          <a:prstGeom prst="roundRect">
            <a:avLst>
              <a:gd name="adj" fmla="val 11765"/>
            </a:avLst>
          </a:prstGeom>
          <a:solidFill>
            <a:srgbClr val="ECFDF5"/>
          </a:solidFill>
          <a:ln w="15875">
            <a:solidFill>
              <a:srgbClr val="15803D"/>
            </a:solidFill>
            <a:prstDash val="solid"/>
          </a:ln>
        </p:spPr>
      </p:sp>
      <p:sp>
        <p:nvSpPr>
          <p:cNvPr id="8" name="Text 6"/>
          <p:cNvSpPr/>
          <p:nvPr/>
        </p:nvSpPr>
        <p:spPr>
          <a:xfrm>
            <a:off x="6108192" y="1636776"/>
            <a:ext cx="5431536" cy="370332"/>
          </a:xfrm>
          <a:prstGeom prst="rect">
            <a:avLst/>
          </a:prstGeom>
          <a:noFill/>
          <a:ln/>
        </p:spPr>
        <p:txBody>
          <a:bodyPr wrap="square" lIns="0" tIns="0" rIns="0" bIns="0" rtlCol="0" anchor="b"/>
          <a:lstStyle/>
          <a:p>
            <a:pPr algn="ctr" indent="0" marL="0">
              <a:buNone/>
            </a:pPr>
            <a:r>
              <a:rPr lang="en-US" sz="1300" b="1" dirty="0">
                <a:solidFill>
                  <a:srgbClr val="15803D"/>
                </a:solidFill>
                <a:latin typeface="Calibri" pitchFamily="34" charset="0"/>
                <a:ea typeface="Calibri" pitchFamily="34" charset="-122"/>
                <a:cs typeface="Calibri" pitchFamily="34" charset="-120"/>
              </a:rPr>
              <a:t>host page</a:t>
            </a:r>
            <a:endParaRPr lang="en-US" sz="1300" dirty="0"/>
          </a:p>
        </p:txBody>
      </p:sp>
      <p:sp>
        <p:nvSpPr>
          <p:cNvPr id="9" name="Text 7"/>
          <p:cNvSpPr/>
          <p:nvPr/>
        </p:nvSpPr>
        <p:spPr>
          <a:xfrm>
            <a:off x="6108192" y="2007108"/>
            <a:ext cx="543153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host.html on its own origin: the chat, the bridge, the MCP client</a:t>
            </a:r>
            <a:endParaRPr lang="en-US" sz="1050" dirty="0"/>
          </a:p>
        </p:txBody>
      </p:sp>
      <p:sp>
        <p:nvSpPr>
          <p:cNvPr id="10" name="Shape 8"/>
          <p:cNvSpPr/>
          <p:nvPr/>
        </p:nvSpPr>
        <p:spPr>
          <a:xfrm>
            <a:off x="6355080" y="2487168"/>
            <a:ext cx="4937760" cy="777240"/>
          </a:xfrm>
          <a:prstGeom prst="roundRect">
            <a:avLst>
              <a:gd name="adj" fmla="val 11765"/>
            </a:avLst>
          </a:prstGeom>
          <a:solidFill>
            <a:srgbClr val="FFF4E5"/>
          </a:solidFill>
          <a:ln w="15875">
            <a:solidFill>
              <a:srgbClr val="D97706"/>
            </a:solidFill>
            <a:prstDash val="solid"/>
          </a:ln>
        </p:spPr>
      </p:sp>
      <p:sp>
        <p:nvSpPr>
          <p:cNvPr id="11" name="Text 9"/>
          <p:cNvSpPr/>
          <p:nvPr/>
        </p:nvSpPr>
        <p:spPr>
          <a:xfrm>
            <a:off x="6428232" y="2523744"/>
            <a:ext cx="4791456" cy="37033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app iframe</a:t>
            </a:r>
            <a:endParaRPr lang="en-US" sz="1300" dirty="0"/>
          </a:p>
        </p:txBody>
      </p:sp>
      <p:sp>
        <p:nvSpPr>
          <p:cNvPr id="12" name="Text 10"/>
          <p:cNvSpPr/>
          <p:nvPr/>
        </p:nvSpPr>
        <p:spPr>
          <a:xfrm>
            <a:off x="6428232" y="2894076"/>
            <a:ext cx="479145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sandbox="allow-scripts" · the spec's CSP from _meta.ui.csp · the catalog</a:t>
            </a:r>
            <a:endParaRPr lang="en-US" sz="1050" dirty="0"/>
          </a:p>
        </p:txBody>
      </p:sp>
      <p:sp>
        <p:nvSpPr>
          <p:cNvPr id="13" name="Shape 11"/>
          <p:cNvSpPr/>
          <p:nvPr/>
        </p:nvSpPr>
        <p:spPr>
          <a:xfrm>
            <a:off x="6675120" y="3374136"/>
            <a:ext cx="4297680" cy="777240"/>
          </a:xfrm>
          <a:prstGeom prst="roundRect">
            <a:avLst>
              <a:gd name="adj" fmla="val 11765"/>
            </a:avLst>
          </a:prstGeom>
          <a:solidFill>
            <a:srgbClr val="FFF4E5"/>
          </a:solidFill>
          <a:ln w="15875">
            <a:solidFill>
              <a:srgbClr val="D97706"/>
            </a:solidFill>
            <a:prstDash val="dash"/>
          </a:ln>
        </p:spPr>
      </p:sp>
      <p:sp>
        <p:nvSpPr>
          <p:cNvPr id="14" name="Text 12"/>
          <p:cNvSpPr/>
          <p:nvPr/>
        </p:nvSpPr>
        <p:spPr>
          <a:xfrm>
            <a:off x="6748272" y="3410712"/>
            <a:ext cx="4151376" cy="37033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generated iframe</a:t>
            </a:r>
            <a:endParaRPr lang="en-US" sz="1300" dirty="0"/>
          </a:p>
        </p:txBody>
      </p:sp>
      <p:sp>
        <p:nvSpPr>
          <p:cNvPr id="15" name="Text 13"/>
          <p:cNvSpPr/>
          <p:nvPr/>
        </p:nvSpPr>
        <p:spPr>
          <a:xfrm>
            <a:off x="6748272" y="3781044"/>
            <a:ext cx="415137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sandbox="allow-scripts" · the region's CSP first in &lt;head&gt; · the model's HTML</a:t>
            </a:r>
            <a:endParaRPr lang="en-US" sz="1050" dirty="0"/>
          </a:p>
        </p:txBody>
      </p:sp>
      <p:sp>
        <p:nvSpPr>
          <p:cNvPr id="16" name="Text 14"/>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Two boundaries, two policies: the host trusts the app as far as the resource declared; the app trusts the region not at all.</a:t>
            </a:r>
            <a:endParaRPr lang="en-US" sz="1050" dirty="0"/>
          </a:p>
        </p:txBody>
      </p:sp>
      <p:sp>
        <p:nvSpPr>
          <p:cNvPr id="17" name="Shape 15"/>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18" name="Text 16"/>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Catalog components stay cheap and trusted; the open-ended part pays its way inside a boundary the app owns.</a:t>
            </a:r>
            <a:endParaRPr lang="en-US" sz="12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06.3 · THE PATTERN</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Four catalog components the view owns, one generated region the server's model wrote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109</a:t>
            </a:r>
            <a:endParaRPr lang="en-US" sz="1000" dirty="0"/>
          </a:p>
        </p:txBody>
      </p:sp>
      <p:sp>
        <p:nvSpPr>
          <p:cNvPr id="5" name="Text 3"/>
          <p:cNvSpPr/>
          <p:nvPr/>
        </p:nvSpPr>
        <p:spPr>
          <a:xfrm>
            <a:off x="548640" y="1417320"/>
            <a:ext cx="11064240" cy="548640"/>
          </a:xfrm>
          <a:prstGeom prst="rect">
            <a:avLst/>
          </a:prstGeom>
          <a:noFill/>
          <a:ln/>
        </p:spPr>
        <p:txBody>
          <a:bodyPr wrap="square" lIns="0" tIns="0" rIns="0" bIns="0" rtlCol="0" anchor="ctr"/>
          <a:lstStyle/>
          <a:p>
            <a:pPr indent="0" marL="0">
              <a:buNone/>
            </a:pPr>
            <a:r>
              <a:rPr lang="en-US" sz="1500" dirty="0">
                <a:solidFill>
                  <a:srgbClr val="141B3D"/>
                </a:solidFill>
                <a:latin typeface="Calibri" pitchFamily="34" charset="0"/>
                <a:ea typeface="Calibri" pitchFamily="34" charset="-122"/>
                <a:cs typeface="Calibri" pitchFamily="34" charset="-120"/>
              </a:rPr>
              <a:t>The same picture as step 01.4, now inside a </a:t>
            </a:r>
            <a:pPr indent="0" marL="0">
              <a:buNone/>
            </a:pPr>
            <a:r>
              <a:rPr lang="en-US" sz="1500" b="1" dirty="0">
                <a:solidFill>
                  <a:srgbClr val="141B3D"/>
                </a:solidFill>
                <a:latin typeface="Calibri" pitchFamily="34" charset="0"/>
                <a:ea typeface="Calibri" pitchFamily="34" charset="-122"/>
                <a:cs typeface="Calibri" pitchFamily="34" charset="-120"/>
              </a:rPr>
              <a:t>tool result</a:t>
            </a:r>
            <a:pPr indent="0" marL="0">
              <a:buNone/>
            </a:pPr>
            <a:r>
              <a:rPr lang="en-US" sz="1500" dirty="0">
                <a:solidFill>
                  <a:srgbClr val="141B3D"/>
                </a:solidFill>
                <a:latin typeface="Calibri" pitchFamily="34" charset="0"/>
                <a:ea typeface="Calibri" pitchFamily="34" charset="-122"/>
                <a:cs typeface="Calibri" pitchFamily="34" charset="-120"/>
              </a:rPr>
              <a:t>: </a:t>
            </a:r>
            <a:pPr indent="0" marL="0">
              <a:buNone/>
            </a:pPr>
            <a:r>
              <a:rPr lang="en-US" sz="1500" dirty="0">
                <a:solidFill>
                  <a:srgbClr val="BE123C"/>
                </a:solidFill>
                <a:latin typeface="Courier New" pitchFamily="34" charset="0"/>
                <a:ea typeface="Courier New" pitchFamily="34" charset="-122"/>
                <a:cs typeface="Courier New" pitchFamily="34" charset="-120"/>
              </a:rPr>
              <a:t>components</a:t>
            </a:r>
            <a:pPr indent="0" marL="0">
              <a:buNone/>
            </a:pPr>
            <a:r>
              <a:rPr lang="en-US" sz="1500" dirty="0">
                <a:solidFill>
                  <a:srgbClr val="141B3D"/>
                </a:solidFill>
                <a:latin typeface="Calibri" pitchFamily="34" charset="0"/>
                <a:ea typeface="Calibri" pitchFamily="34" charset="-122"/>
                <a:cs typeface="Calibri" pitchFamily="34" charset="-120"/>
              </a:rPr>
              <a:t> on the left, </a:t>
            </a:r>
            <a:pPr indent="0" marL="0">
              <a:buNone/>
            </a:pPr>
            <a:r>
              <a:rPr lang="en-US" sz="1500" dirty="0">
                <a:solidFill>
                  <a:srgbClr val="BE123C"/>
                </a:solidFill>
                <a:latin typeface="Courier New" pitchFamily="34" charset="0"/>
                <a:ea typeface="Courier New" pitchFamily="34" charset="-122"/>
                <a:cs typeface="Courier New" pitchFamily="34" charset="-120"/>
              </a:rPr>
              <a:t>generated</a:t>
            </a:r>
            <a:pPr indent="0" marL="0">
              <a:buNone/>
            </a:pPr>
            <a:r>
              <a:rPr lang="en-US" sz="1500" dirty="0">
                <a:solidFill>
                  <a:srgbClr val="141B3D"/>
                </a:solidFill>
                <a:latin typeface="Calibri" pitchFamily="34" charset="0"/>
                <a:ea typeface="Calibri" pitchFamily="34" charset="-122"/>
                <a:cs typeface="Calibri" pitchFamily="34" charset="-120"/>
              </a:rPr>
              <a:t> on the right.</a:t>
            </a:r>
            <a:endParaRPr lang="en-US" sz="1500" dirty="0"/>
          </a:p>
        </p:txBody>
      </p:sp>
      <p:sp>
        <p:nvSpPr>
          <p:cNvPr id="6" name="Shape 4"/>
          <p:cNvSpPr/>
          <p:nvPr/>
        </p:nvSpPr>
        <p:spPr>
          <a:xfrm>
            <a:off x="548640" y="2057400"/>
            <a:ext cx="11064240" cy="3611880"/>
          </a:xfrm>
          <a:prstGeom prst="roundRect">
            <a:avLst>
              <a:gd name="adj" fmla="val 3038"/>
            </a:avLst>
          </a:prstGeom>
          <a:solidFill>
            <a:srgbClr val="FFFFFF"/>
          </a:solidFill>
          <a:ln w="15875">
            <a:solidFill>
              <a:srgbClr val="D7DAE5"/>
            </a:solidFill>
            <a:prstDash val="solid"/>
          </a:ln>
        </p:spPr>
      </p:sp>
      <p:sp>
        <p:nvSpPr>
          <p:cNvPr id="7" name="Shape 5"/>
          <p:cNvSpPr/>
          <p:nvPr/>
        </p:nvSpPr>
        <p:spPr>
          <a:xfrm>
            <a:off x="731520" y="2194560"/>
            <a:ext cx="109728" cy="109728"/>
          </a:xfrm>
          <a:prstGeom prst="ellipse">
            <a:avLst/>
          </a:prstGeom>
          <a:solidFill>
            <a:srgbClr val="2F3CFF"/>
          </a:solidFill>
          <a:ln w="12700">
            <a:solidFill>
              <a:srgbClr val="2F3CFF"/>
            </a:solidFill>
            <a:prstDash val="solid"/>
          </a:ln>
        </p:spPr>
      </p:sp>
      <p:sp>
        <p:nvSpPr>
          <p:cNvPr id="8" name="Shape 6"/>
          <p:cNvSpPr/>
          <p:nvPr/>
        </p:nvSpPr>
        <p:spPr>
          <a:xfrm>
            <a:off x="932688" y="2194560"/>
            <a:ext cx="109728" cy="109728"/>
          </a:xfrm>
          <a:prstGeom prst="ellipse">
            <a:avLst/>
          </a:prstGeom>
          <a:solidFill>
            <a:srgbClr val="2F3CFF"/>
          </a:solidFill>
          <a:ln w="12700">
            <a:solidFill>
              <a:srgbClr val="2F3CFF"/>
            </a:solidFill>
            <a:prstDash val="solid"/>
          </a:ln>
        </p:spPr>
      </p:sp>
      <p:sp>
        <p:nvSpPr>
          <p:cNvPr id="9" name="Shape 7"/>
          <p:cNvSpPr/>
          <p:nvPr/>
        </p:nvSpPr>
        <p:spPr>
          <a:xfrm>
            <a:off x="1133856" y="2194560"/>
            <a:ext cx="109728" cy="109728"/>
          </a:xfrm>
          <a:prstGeom prst="ellipse">
            <a:avLst/>
          </a:prstGeom>
          <a:solidFill>
            <a:srgbClr val="2F3CFF"/>
          </a:solidFill>
          <a:ln w="12700">
            <a:solidFill>
              <a:srgbClr val="2F3CFF"/>
            </a:solidFill>
            <a:prstDash val="solid"/>
          </a:ln>
        </p:spPr>
      </p:sp>
      <p:sp>
        <p:nvSpPr>
          <p:cNvPr id="10" name="Shape 8"/>
          <p:cNvSpPr/>
          <p:nvPr/>
        </p:nvSpPr>
        <p:spPr>
          <a:xfrm>
            <a:off x="731520" y="2468880"/>
            <a:ext cx="5047488" cy="633222"/>
          </a:xfrm>
          <a:prstGeom prst="roundRect">
            <a:avLst>
              <a:gd name="adj" fmla="val 14440"/>
            </a:avLst>
          </a:prstGeom>
          <a:solidFill>
            <a:srgbClr val="EEF0FF"/>
          </a:solidFill>
          <a:ln w="15875">
            <a:solidFill>
              <a:srgbClr val="2F3CFF"/>
            </a:solidFill>
            <a:prstDash val="solid"/>
          </a:ln>
        </p:spPr>
      </p:sp>
      <p:sp>
        <p:nvSpPr>
          <p:cNvPr id="11" name="Text 9"/>
          <p:cNvSpPr/>
          <p:nvPr/>
        </p:nvSpPr>
        <p:spPr>
          <a:xfrm>
            <a:off x="804672" y="2505456"/>
            <a:ext cx="4901184" cy="32998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Metric</a:t>
            </a:r>
            <a:endParaRPr lang="en-US" sz="1200" dirty="0"/>
          </a:p>
        </p:txBody>
      </p:sp>
      <p:sp>
        <p:nvSpPr>
          <p:cNvPr id="12" name="Text 10"/>
          <p:cNvSpPr/>
          <p:nvPr/>
        </p:nvSpPr>
        <p:spPr>
          <a:xfrm>
            <a:off x="804672" y="2835440"/>
            <a:ext cx="4901184" cy="23008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3" name="Shape 11"/>
          <p:cNvSpPr/>
          <p:nvPr/>
        </p:nvSpPr>
        <p:spPr>
          <a:xfrm>
            <a:off x="731520" y="3211830"/>
            <a:ext cx="5047488" cy="633222"/>
          </a:xfrm>
          <a:prstGeom prst="roundRect">
            <a:avLst>
              <a:gd name="adj" fmla="val 14440"/>
            </a:avLst>
          </a:prstGeom>
          <a:solidFill>
            <a:srgbClr val="EEF0FF"/>
          </a:solidFill>
          <a:ln w="15875">
            <a:solidFill>
              <a:srgbClr val="2F3CFF"/>
            </a:solidFill>
            <a:prstDash val="solid"/>
          </a:ln>
        </p:spPr>
      </p:sp>
      <p:sp>
        <p:nvSpPr>
          <p:cNvPr id="14" name="Text 12"/>
          <p:cNvSpPr/>
          <p:nvPr/>
        </p:nvSpPr>
        <p:spPr>
          <a:xfrm>
            <a:off x="804672" y="3248406"/>
            <a:ext cx="4901184" cy="32998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Table</a:t>
            </a:r>
            <a:endParaRPr lang="en-US" sz="1200" dirty="0"/>
          </a:p>
        </p:txBody>
      </p:sp>
      <p:sp>
        <p:nvSpPr>
          <p:cNvPr id="15" name="Text 13"/>
          <p:cNvSpPr/>
          <p:nvPr/>
        </p:nvSpPr>
        <p:spPr>
          <a:xfrm>
            <a:off x="804672" y="3578390"/>
            <a:ext cx="4901184" cy="23008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6" name="Shape 14"/>
          <p:cNvSpPr/>
          <p:nvPr/>
        </p:nvSpPr>
        <p:spPr>
          <a:xfrm>
            <a:off x="731520" y="3954780"/>
            <a:ext cx="5047488" cy="633222"/>
          </a:xfrm>
          <a:prstGeom prst="roundRect">
            <a:avLst>
              <a:gd name="adj" fmla="val 14440"/>
            </a:avLst>
          </a:prstGeom>
          <a:solidFill>
            <a:srgbClr val="EEF0FF"/>
          </a:solidFill>
          <a:ln w="15875">
            <a:solidFill>
              <a:srgbClr val="2F3CFF"/>
            </a:solidFill>
            <a:prstDash val="solid"/>
          </a:ln>
        </p:spPr>
      </p:sp>
      <p:sp>
        <p:nvSpPr>
          <p:cNvPr id="17" name="Text 15"/>
          <p:cNvSpPr/>
          <p:nvPr/>
        </p:nvSpPr>
        <p:spPr>
          <a:xfrm>
            <a:off x="804672" y="3991356"/>
            <a:ext cx="4901184" cy="32998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BarChart</a:t>
            </a:r>
            <a:endParaRPr lang="en-US" sz="1200" dirty="0"/>
          </a:p>
        </p:txBody>
      </p:sp>
      <p:sp>
        <p:nvSpPr>
          <p:cNvPr id="18" name="Text 16"/>
          <p:cNvSpPr/>
          <p:nvPr/>
        </p:nvSpPr>
        <p:spPr>
          <a:xfrm>
            <a:off x="804672" y="4321340"/>
            <a:ext cx="4901184" cy="23008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9" name="Shape 17"/>
          <p:cNvSpPr/>
          <p:nvPr/>
        </p:nvSpPr>
        <p:spPr>
          <a:xfrm>
            <a:off x="731520" y="4697730"/>
            <a:ext cx="5047488" cy="633222"/>
          </a:xfrm>
          <a:prstGeom prst="roundRect">
            <a:avLst>
              <a:gd name="adj" fmla="val 14440"/>
            </a:avLst>
          </a:prstGeom>
          <a:solidFill>
            <a:srgbClr val="EEF0FF"/>
          </a:solidFill>
          <a:ln w="15875">
            <a:solidFill>
              <a:srgbClr val="2F3CFF"/>
            </a:solidFill>
            <a:prstDash val="solid"/>
          </a:ln>
        </p:spPr>
      </p:sp>
      <p:sp>
        <p:nvSpPr>
          <p:cNvPr id="20" name="Text 18"/>
          <p:cNvSpPr/>
          <p:nvPr/>
        </p:nvSpPr>
        <p:spPr>
          <a:xfrm>
            <a:off x="804672" y="4734306"/>
            <a:ext cx="4901184" cy="329984"/>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Text</a:t>
            </a:r>
            <a:endParaRPr lang="en-US" sz="1200" dirty="0"/>
          </a:p>
        </p:txBody>
      </p:sp>
      <p:sp>
        <p:nvSpPr>
          <p:cNvPr id="21" name="Text 19"/>
          <p:cNvSpPr/>
          <p:nvPr/>
        </p:nvSpPr>
        <p:spPr>
          <a:xfrm>
            <a:off x="804672" y="5064290"/>
            <a:ext cx="4901184" cy="23008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2" name="Shape 20"/>
          <p:cNvSpPr/>
          <p:nvPr/>
        </p:nvSpPr>
        <p:spPr>
          <a:xfrm>
            <a:off x="5961888" y="2468880"/>
            <a:ext cx="5468112" cy="3017520"/>
          </a:xfrm>
          <a:prstGeom prst="roundRect">
            <a:avLst>
              <a:gd name="adj" fmla="val 3030"/>
            </a:avLst>
          </a:prstGeom>
          <a:solidFill>
            <a:srgbClr val="FFF4E5"/>
          </a:solidFill>
          <a:ln w="15875">
            <a:solidFill>
              <a:srgbClr val="D97706"/>
            </a:solidFill>
            <a:prstDash val="dash"/>
          </a:ln>
        </p:spPr>
      </p:sp>
      <p:sp>
        <p:nvSpPr>
          <p:cNvPr id="23" name="Text 21"/>
          <p:cNvSpPr/>
          <p:nvPr/>
        </p:nvSpPr>
        <p:spPr>
          <a:xfrm>
            <a:off x="6035040" y="2505456"/>
            <a:ext cx="5321808" cy="149047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generated</a:t>
            </a:r>
            <a:endParaRPr lang="en-US" sz="1300" dirty="0"/>
          </a:p>
        </p:txBody>
      </p:sp>
      <p:sp>
        <p:nvSpPr>
          <p:cNvPr id="24" name="Text 22"/>
          <p:cNvSpPr/>
          <p:nvPr/>
        </p:nvSpPr>
        <p:spPr>
          <a:xfrm>
            <a:off x="6035040" y="3995928"/>
            <a:ext cx="5321808" cy="145389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one HTML document from the server's model call, in a nested sandboxed iframe with its own CSP</a:t>
            </a:r>
            <a:endParaRPr lang="en-US" sz="1050" dirty="0"/>
          </a:p>
        </p:txBody>
      </p:sp>
      <p:sp>
        <p:nvSpPr>
          <p:cNvPr id="25" name="Text 23"/>
          <p:cNvSpPr/>
          <p:nvPr/>
        </p:nvSpPr>
        <p:spPr>
          <a:xfrm>
            <a:off x="548640" y="5715000"/>
            <a:ext cx="110642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components: 829 bytes of JSON, no model call · generated: 1,565 bytes of HTML, 370 + 473 tokens</a:t>
            </a:r>
            <a:endParaRPr lang="en-US" sz="1050" dirty="0"/>
          </a:p>
        </p:txBody>
      </p:sp>
      <p:sp>
        <p:nvSpPr>
          <p:cNvPr id="26" name="Shape 24"/>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7" name="Text 25"/>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A `GeneratedView` in the components list renders as a stub: markup runs only through `generated`, which has its own frame.</a:t>
            </a:r>
            <a:endParaRPr lang="en-US" sz="12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One call, two halves: the server's own model call sits inside the tool</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110</a:t>
            </a:r>
            <a:endParaRPr lang="en-US" sz="1000" dirty="0"/>
          </a:p>
        </p:txBody>
      </p:sp>
      <p:sp>
        <p:nvSpPr>
          <p:cNvPr id="5" name="Shape 3"/>
          <p:cNvSpPr/>
          <p:nvPr/>
        </p:nvSpPr>
        <p:spPr>
          <a:xfrm>
            <a:off x="548640" y="1417320"/>
            <a:ext cx="7406640" cy="2851785"/>
          </a:xfrm>
          <a:prstGeom prst="roundRect">
            <a:avLst>
              <a:gd name="adj" fmla="val 3206"/>
            </a:avLst>
          </a:prstGeom>
          <a:solidFill>
            <a:srgbClr val="0F172A"/>
          </a:solidFill>
          <a:ln w="12700">
            <a:solidFill>
              <a:srgbClr val="0F172A"/>
            </a:solidFill>
            <a:prstDash val="solid"/>
          </a:ln>
        </p:spPr>
      </p:sp>
      <p:sp>
        <p:nvSpPr>
          <p:cNvPr id="6" name="Text 4"/>
          <p:cNvSpPr/>
          <p:nvPr/>
        </p:nvSpPr>
        <p:spPr>
          <a:xfrm>
            <a:off x="731520" y="1554480"/>
            <a:ext cx="7040880" cy="2577465"/>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@server.tool(meta={"ui": {"resourceUri": VIEW_URI}})</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lemonade_report(days: int = 7, focus: str = report.DEFAULT_FOCUS) -&gt; types.CallToolResult: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"""Sales report for the lemonade stand over the last `days` days (1 to 28), with one interactiv…</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days = max(1, min(int(days), 28))</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rows = data.sales(days)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generated = report.generate_region(days, rows, focus)  # the server's own model call</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text = data.as_text(days, rows) + f"\nThe interface also shows {focus} ({generated['source']})."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types.CallToolResult(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content=[types.TextContent(type="text", text=text)],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structuredContent={"days": days, "focus": focus, "components": report.components_for(days, …</a:t>
            </a:r>
            <a:endParaRPr lang="en-US" sz="1050" dirty="0"/>
          </a:p>
        </p:txBody>
      </p:sp>
      <p:sp>
        <p:nvSpPr>
          <p:cNvPr id="7" name="Text 5"/>
          <p:cNvSpPr/>
          <p:nvPr/>
        </p:nvSpPr>
        <p:spPr>
          <a:xfrm>
            <a:off x="548640" y="4314825"/>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06_mcp_apps/step_03_mcp_app_hybrid/server.py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generate_region</a:t>
            </a:r>
            <a:pPr indent="0" marL="0">
              <a:buNone/>
            </a:pPr>
            <a:r>
              <a:rPr lang="en-US" sz="1200" dirty="0">
                <a:solidFill>
                  <a:srgbClr val="1F2937"/>
                </a:solidFill>
                <a:latin typeface="Calibri" pitchFamily="34" charset="0"/>
                <a:ea typeface="Calibri" pitchFamily="34" charset="-122"/>
                <a:cs typeface="Calibri" pitchFamily="34" charset="-120"/>
              </a:rPr>
              <a:t> calls the model from the server. The host and the view never see this key.</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text for the model says a region exists and where it came from, and nothing of its HTML.</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components</a:t>
            </a:r>
            <a:pPr indent="0" marL="0">
              <a:buNone/>
            </a:pPr>
            <a:r>
              <a:rPr lang="en-US" sz="1200" dirty="0">
                <a:solidFill>
                  <a:srgbClr val="1F2937"/>
                </a:solidFill>
                <a:latin typeface="Calibri" pitchFamily="34" charset="0"/>
                <a:ea typeface="Calibri" pitchFamily="34" charset="-122"/>
                <a:cs typeface="Calibri" pitchFamily="34" charset="-120"/>
              </a:rPr>
              <a:t> is the catalog spec; </a:t>
            </a:r>
            <a:pPr indent="0" marL="0">
              <a:buNone/>
            </a:pPr>
            <a:r>
              <a:rPr lang="en-US" sz="1200" dirty="0">
                <a:solidFill>
                  <a:srgbClr val="BE123C"/>
                </a:solidFill>
                <a:latin typeface="Courier New" pitchFamily="34" charset="0"/>
                <a:ea typeface="Courier New" pitchFamily="34" charset="-122"/>
                <a:cs typeface="Courier New" pitchFamily="34" charset="-120"/>
              </a:rPr>
              <a:t>generated</a:t>
            </a:r>
            <a:pPr indent="0" marL="0">
              <a:buNone/>
            </a:pPr>
            <a:r>
              <a:rPr lang="en-US" sz="1200" dirty="0">
                <a:solidFill>
                  <a:srgbClr val="1F2937"/>
                </a:solidFill>
                <a:latin typeface="Calibri" pitchFamily="34" charset="0"/>
                <a:ea typeface="Calibri" pitchFamily="34" charset="-122"/>
                <a:cs typeface="Calibri" pitchFamily="34" charset="-120"/>
              </a:rPr>
              <a:t> is the document plus its source, usage and size.</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Step 06.1's resource, link and policy are unchanged; only what the tool returns is new.</a:t>
            </a:r>
            <a:endParaRPr lang="en-US" sz="12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Two sources, one listener: the host above, the region below, one accepted shape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111</a:t>
            </a:r>
            <a:endParaRPr lang="en-US" sz="1000" dirty="0"/>
          </a:p>
        </p:txBody>
      </p:sp>
      <p:sp>
        <p:nvSpPr>
          <p:cNvPr id="5" name="Shape 3"/>
          <p:cNvSpPr/>
          <p:nvPr/>
        </p:nvSpPr>
        <p:spPr>
          <a:xfrm>
            <a:off x="548640" y="1417320"/>
            <a:ext cx="7406640" cy="3502533"/>
          </a:xfrm>
          <a:prstGeom prst="roundRect">
            <a:avLst>
              <a:gd name="adj" fmla="val 2611"/>
            </a:avLst>
          </a:prstGeom>
          <a:solidFill>
            <a:srgbClr val="0F172A"/>
          </a:solidFill>
          <a:ln w="12700">
            <a:solidFill>
              <a:srgbClr val="0F172A"/>
            </a:solidFill>
            <a:prstDash val="solid"/>
          </a:ln>
        </p:spPr>
      </p:sp>
      <p:sp>
        <p:nvSpPr>
          <p:cNvPr id="6" name="Text 4"/>
          <p:cNvSpPr/>
          <p:nvPr/>
        </p:nvSpPr>
        <p:spPr>
          <a:xfrm>
            <a:off x="731520" y="1554480"/>
            <a:ext cx="7040880" cy="3228213"/>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window.addEventListener("message", (event) =&gt;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(event.source === window.parent) return hostMessage(event.data);</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(event.source === generated.contentWindow &amp;&amp; isEvent(event.data)) return regionEvent(event.data);</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anything else, or any other shape, is dropped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function regionEvent({ name, payload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app.events.push({ name, payload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document.getElementById("events").textContent = `event from the generated region: ${name} ${JSON.stringify(payload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The region cannot reach the host. The app can: it hands the event on as model context, coalesced.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clearTimeout(contextTimer);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contextTimer = setTimeout(() =&gt;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const text = `In the report's interactive region the user set ${name}: ${JSON.stringify(payload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request("ui/update-model-context", { content: [{ type: "text", text }]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250);</a:t>
            </a:r>
            <a:endParaRPr lang="en-US" sz="1050" dirty="0"/>
          </a:p>
        </p:txBody>
      </p:sp>
      <p:sp>
        <p:nvSpPr>
          <p:cNvPr id="7" name="Text 5"/>
          <p:cNvSpPr/>
          <p:nvPr/>
        </p:nvSpPr>
        <p:spPr>
          <a:xfrm>
            <a:off x="548640" y="4965573"/>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06_mcp_apps/step_03_mcp_app_hybrid/view.html</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Messages from the parent are the host's JSON-RPC, as in step 06.1.</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Messages from the inner frame must pass </a:t>
            </a:r>
            <a:pPr indent="0" marL="0">
              <a:buNone/>
            </a:pPr>
            <a:r>
              <a:rPr lang="en-US" sz="1200" dirty="0">
                <a:solidFill>
                  <a:srgbClr val="BE123C"/>
                </a:solidFill>
                <a:latin typeface="Courier New" pitchFamily="34" charset="0"/>
                <a:ea typeface="Courier New" pitchFamily="34" charset="-122"/>
                <a:cs typeface="Courier New" pitchFamily="34" charset="-120"/>
              </a:rPr>
              <a:t>isEvent</a:t>
            </a:r>
            <a:pPr indent="0" marL="0">
              <a:buNone/>
            </a:pPr>
            <a:r>
              <a:rPr lang="en-US" sz="1200" dirty="0">
                <a:solidFill>
                  <a:srgbClr val="1F2937"/>
                </a:solidFill>
                <a:latin typeface="Calibri" pitchFamily="34" charset="0"/>
                <a:ea typeface="Calibri" pitchFamily="34" charset="-122"/>
                <a:cs typeface="Calibri" pitchFamily="34" charset="-120"/>
              </a:rPr>
              <a:t>: </a:t>
            </a:r>
            <a:pPr indent="0" marL="0">
              <a:buNone/>
            </a:pPr>
            <a:r>
              <a:rPr lang="en-US" sz="1200" dirty="0">
                <a:solidFill>
                  <a:srgbClr val="BE123C"/>
                </a:solidFill>
                <a:latin typeface="Courier New" pitchFamily="34" charset="0"/>
                <a:ea typeface="Courier New" pitchFamily="34" charset="-122"/>
                <a:cs typeface="Courier New" pitchFamily="34" charset="-120"/>
              </a:rPr>
              <a:t>{type: "event", name, payload}</a:t>
            </a:r>
            <a:pPr indent="0" marL="0">
              <a:buNone/>
            </a:pPr>
            <a:r>
              <a:rPr lang="en-US" sz="1200" dirty="0">
                <a:solidFill>
                  <a:srgbClr val="1F2937"/>
                </a:solidFill>
                <a:latin typeface="Calibri" pitchFamily="34" charset="0"/>
                <a:ea typeface="Calibri" pitchFamily="34" charset="-122"/>
                <a:cs typeface="Calibri" pitchFamily="34" charset="-120"/>
              </a:rPr>
              <a:t>. A </a:t>
            </a:r>
            <a:pPr indent="0" marL="0">
              <a:buNone/>
            </a:pPr>
            <a:r>
              <a:rPr lang="en-US" sz="1200" dirty="0">
                <a:solidFill>
                  <a:srgbClr val="BE123C"/>
                </a:solidFill>
                <a:latin typeface="Courier New" pitchFamily="34" charset="0"/>
                <a:ea typeface="Courier New" pitchFamily="34" charset="-122"/>
                <a:cs typeface="Courier New" pitchFamily="34" charset="-120"/>
              </a:rPr>
              <a:t>tools/call</a:t>
            </a:r>
            <a:pPr indent="0" marL="0">
              <a:buNone/>
            </a:pPr>
            <a:r>
              <a:rPr lang="en-US" sz="1200" dirty="0">
                <a:solidFill>
                  <a:srgbClr val="1F2937"/>
                </a:solidFill>
                <a:latin typeface="Calibri" pitchFamily="34" charset="0"/>
                <a:ea typeface="Calibri" pitchFamily="34" charset="-122"/>
                <a:cs typeface="Calibri" pitchFamily="34" charset="-120"/>
              </a:rPr>
              <a:t> from the region is dropped.</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app forwards one sentence to the host as </a:t>
            </a:r>
            <a:pPr indent="0" marL="0">
              <a:buNone/>
            </a:pPr>
            <a:r>
              <a:rPr lang="en-US" sz="1200" dirty="0">
                <a:solidFill>
                  <a:srgbClr val="BE123C"/>
                </a:solidFill>
                <a:latin typeface="Courier New" pitchFamily="34" charset="0"/>
                <a:ea typeface="Courier New" pitchFamily="34" charset="-122"/>
                <a:cs typeface="Courier New" pitchFamily="34" charset="-120"/>
              </a:rPr>
              <a:t>ui/update-model-context</a:t>
            </a:r>
            <a:pPr indent="0" marL="0">
              <a:buNone/>
            </a:pPr>
            <a:r>
              <a:rPr lang="en-US" sz="1200" dirty="0">
                <a:solidFill>
                  <a:srgbClr val="1F2937"/>
                </a:solidFill>
                <a:latin typeface="Calibri" pitchFamily="34" charset="0"/>
                <a:ea typeface="Calibri" pitchFamily="34" charset="-122"/>
                <a:cs typeface="Calibri" pitchFamily="34" charset="-120"/>
              </a:rPr>
              <a:t>, debounced by 250 ms; the region never reaches the host.</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Two source checks, one accepted shape: the region speaks to the app, and the app speaks to the host.</a:t>
            </a:r>
            <a:endParaRPr lang="en-US" sz="12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06.3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Catalog above, generated region below, and the region's event reached the host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112</a:t>
            </a:r>
            <a:endParaRPr lang="en-US" sz="1000" dirty="0"/>
          </a:p>
        </p:txBody>
      </p:sp>
      <p:pic>
        <p:nvPicPr>
          <p:cNvPr id="5" name="Image 0" descr="C:\Users\evija\simple-coding-harness\genui\06_mcp_apps\step_03_mcp_app_hybrid\demo.png">    </p:cNvPr>
          <p:cNvPicPr>
            <a:picLocks noChangeAspect="1"/>
          </p:cNvPicPr>
          <p:nvPr/>
        </p:nvPicPr>
        <p:blipFill>
          <a:blip r:embed="rId1"/>
          <a:srcRect l="0" r="0" t="0" b="0"/>
          <a:stretch/>
        </p:blipFill>
        <p:spPr>
          <a:xfrm>
            <a:off x="548640" y="1417320"/>
            <a:ext cx="4572000" cy="4480560"/>
          </a:xfrm>
          <a:prstGeom prst="rect">
            <a:avLst/>
          </a:prstGeom>
        </p:spPr>
      </p:pic>
      <p:sp>
        <p:nvSpPr>
          <p:cNvPr id="6" name="Shape 3"/>
          <p:cNvSpPr/>
          <p:nvPr/>
        </p:nvSpPr>
        <p:spPr>
          <a:xfrm>
            <a:off x="548640" y="1417320"/>
            <a:ext cx="4572000" cy="4480560"/>
          </a:xfrm>
          <a:prstGeom prst="rect">
            <a:avLst/>
          </a:prstGeom>
          <a:ln w="12700">
            <a:solidFill>
              <a:srgbClr val="D7DAE5"/>
            </a:solidFill>
            <a:prstDash val="solid"/>
          </a:ln>
        </p:spPr>
      </p:sp>
      <p:sp>
        <p:nvSpPr>
          <p:cNvPr id="7" name="Shape 4"/>
          <p:cNvSpPr/>
          <p:nvPr/>
        </p:nvSpPr>
        <p:spPr>
          <a:xfrm>
            <a:off x="5486400" y="1417320"/>
            <a:ext cx="61539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5623560" y="1472184"/>
            <a:ext cx="587959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370 + 473</a:t>
            </a:r>
            <a:endParaRPr lang="en-US" sz="2800" dirty="0"/>
          </a:p>
        </p:txBody>
      </p:sp>
      <p:sp>
        <p:nvSpPr>
          <p:cNvPr id="9" name="Text 6"/>
          <p:cNvSpPr/>
          <p:nvPr/>
        </p:nvSpPr>
        <p:spPr>
          <a:xfrm>
            <a:off x="5623560" y="2039112"/>
            <a:ext cx="58795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tokens for the server's model call</a:t>
            </a:r>
            <a:endParaRPr lang="en-US" sz="1050" dirty="0"/>
          </a:p>
        </p:txBody>
      </p:sp>
      <p:sp>
        <p:nvSpPr>
          <p:cNvPr id="10" name="Shape 7"/>
          <p:cNvSpPr/>
          <p:nvPr/>
        </p:nvSpPr>
        <p:spPr>
          <a:xfrm>
            <a:off x="5486400" y="2697480"/>
            <a:ext cx="61539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5623560" y="2752344"/>
            <a:ext cx="58795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1,565</a:t>
            </a:r>
            <a:endParaRPr lang="en-US" sz="2800" dirty="0"/>
          </a:p>
        </p:txBody>
      </p:sp>
      <p:sp>
        <p:nvSpPr>
          <p:cNvPr id="12" name="Text 9"/>
          <p:cNvSpPr/>
          <p:nvPr/>
        </p:nvSpPr>
        <p:spPr>
          <a:xfrm>
            <a:off x="5623560" y="3319272"/>
            <a:ext cx="58795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bytes of generated HTML</a:t>
            </a:r>
            <a:endParaRPr lang="en-US" sz="1050" dirty="0"/>
          </a:p>
        </p:txBody>
      </p:sp>
      <p:sp>
        <p:nvSpPr>
          <p:cNvPr id="13" name="Text 10"/>
          <p:cNvSpPr/>
          <p:nvPr/>
        </p:nvSpPr>
        <p:spPr>
          <a:xfrm>
            <a:off x="5486400" y="4023360"/>
            <a:ext cx="6153912" cy="23317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model called </a:t>
            </a:r>
            <a:pPr indent="0" marL="0">
              <a:buNone/>
            </a:pPr>
            <a:r>
              <a:rPr lang="en-US" sz="1150" dirty="0">
                <a:solidFill>
                  <a:srgbClr val="BE123C"/>
                </a:solidFill>
                <a:latin typeface="Courier New" pitchFamily="34" charset="0"/>
                <a:ea typeface="Courier New" pitchFamily="34" charset="-122"/>
                <a:cs typeface="Courier New" pitchFamily="34" charset="-120"/>
              </a:rPr>
              <a:t>lemonade_report({"days":5,"focus":"a what-if price slider"})</a:t>
            </a:r>
            <a:pPr indent="0" marL="0">
              <a:buNone/>
            </a:pPr>
            <a:r>
              <a:rPr lang="en-US" sz="1250" dirty="0">
                <a:solidFill>
                  <a:srgbClr val="1F2937"/>
                </a:solidFill>
                <a:latin typeface="Calibri" pitchFamily="34" charset="0"/>
                <a:ea typeface="Calibri" pitchFamily="34" charset="-122"/>
                <a:cs typeface="Calibri" pitchFamily="34" charset="-120"/>
              </a:rPr>
              <a:t> and answered in two sentences.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Three metrics, a bar chart, a table and a line of text came from the catalog: 829 bytes of JSON, no model call.</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amber dashed frame is the generated region, one sandbox inside the other.</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Under the chat: the model context the app forwarded after the slider moved, </a:t>
            </a:r>
            <a:pPr indent="0" marL="0">
              <a:buNone/>
            </a:pPr>
            <a:r>
              <a:rPr lang="en-US" sz="1150" dirty="0">
                <a:solidFill>
                  <a:srgbClr val="BE123C"/>
                </a:solidFill>
                <a:latin typeface="Courier New" pitchFamily="34" charset="0"/>
                <a:ea typeface="Courier New" pitchFamily="34" charset="-122"/>
                <a:cs typeface="Courier New" pitchFamily="34" charset="-120"/>
              </a:rPr>
              <a:t>priceChange</a:t>
            </a:r>
            <a:pPr indent="0" marL="0">
              <a:buNone/>
            </a:pPr>
            <a:r>
              <a:rPr lang="en-US" sz="1250" dirty="0">
                <a:solidFill>
                  <a:srgbClr val="1F2937"/>
                </a:solidFill>
                <a:latin typeface="Calibri" pitchFamily="34" charset="0"/>
                <a:ea typeface="Calibri" pitchFamily="34" charset="-122"/>
                <a:cs typeface="Calibri" pitchFamily="34" charset="-120"/>
              </a:rPr>
              <a:t> at price 2.4.</a:t>
            </a:r>
            <a:endParaRPr lang="en-US" sz="12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06.3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The inner region on its own: the model's script ran two frames down</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113</a:t>
            </a:r>
            <a:endParaRPr lang="en-US" sz="1000" dirty="0"/>
          </a:p>
        </p:txBody>
      </p:sp>
      <p:pic>
        <p:nvPicPr>
          <p:cNvPr id="5" name="Image 0" descr="C:\Users\evija\simple-coding-harness\genui\06_mcp_apps\step_03_mcp_app_hybrid\demo_generated.png">    </p:cNvPr>
          <p:cNvPicPr>
            <a:picLocks noChangeAspect="1"/>
          </p:cNvPicPr>
          <p:nvPr/>
        </p:nvPicPr>
        <p:blipFill>
          <a:blip r:embed="rId1"/>
          <a:srcRect l="0" r="0" t="0" b="0"/>
          <a:stretch/>
        </p:blipFill>
        <p:spPr>
          <a:xfrm>
            <a:off x="548640" y="1417320"/>
            <a:ext cx="6583680" cy="1920240"/>
          </a:xfrm>
          <a:prstGeom prst="rect">
            <a:avLst/>
          </a:prstGeom>
        </p:spPr>
      </p:pic>
      <p:sp>
        <p:nvSpPr>
          <p:cNvPr id="6" name="Shape 3"/>
          <p:cNvSpPr/>
          <p:nvPr/>
        </p:nvSpPr>
        <p:spPr>
          <a:xfrm>
            <a:off x="548640" y="1417320"/>
            <a:ext cx="6583680" cy="1920240"/>
          </a:xfrm>
          <a:prstGeom prst="rect">
            <a:avLst/>
          </a:prstGeom>
          <a:ln w="12700">
            <a:solidFill>
              <a:srgbClr val="D7DAE5"/>
            </a:solidFill>
            <a:prstDash val="solid"/>
          </a:ln>
        </p:spPr>
      </p:sp>
      <p:sp>
        <p:nvSpPr>
          <p:cNvPr id="7" name="Shape 4"/>
          <p:cNvSpPr/>
          <p:nvPr/>
        </p:nvSpPr>
        <p:spPr>
          <a:xfrm>
            <a:off x="7498080" y="1417320"/>
            <a:ext cx="414223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635240" y="1472184"/>
            <a:ext cx="386791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2.4</a:t>
            </a:r>
            <a:endParaRPr lang="en-US" sz="2800" dirty="0"/>
          </a:p>
        </p:txBody>
      </p:sp>
      <p:sp>
        <p:nvSpPr>
          <p:cNvPr id="9" name="Text 6"/>
          <p:cNvSpPr/>
          <p:nvPr/>
        </p:nvSpPr>
        <p:spPr>
          <a:xfrm>
            <a:off x="7635240" y="203911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price the demo set on the slider</a:t>
            </a:r>
            <a:endParaRPr lang="en-US" sz="1050" dirty="0"/>
          </a:p>
        </p:txBody>
      </p:sp>
      <p:sp>
        <p:nvSpPr>
          <p:cNvPr id="10" name="Shape 7"/>
          <p:cNvSpPr/>
          <p:nvPr/>
        </p:nvSpPr>
        <p:spPr>
          <a:xfrm>
            <a:off x="7498080" y="2697480"/>
            <a:ext cx="414223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635240" y="2752344"/>
            <a:ext cx="386791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230.4</a:t>
            </a:r>
            <a:endParaRPr lang="en-US" sz="2800" dirty="0"/>
          </a:p>
        </p:txBody>
      </p:sp>
      <p:sp>
        <p:nvSpPr>
          <p:cNvPr id="12" name="Text 9"/>
          <p:cNvSpPr/>
          <p:nvPr/>
        </p:nvSpPr>
        <p:spPr>
          <a:xfrm>
            <a:off x="7635240" y="331927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revenue in the event payload</a:t>
            </a:r>
            <a:endParaRPr lang="en-US" sz="1050" dirty="0"/>
          </a:p>
        </p:txBody>
      </p:sp>
      <p:sp>
        <p:nvSpPr>
          <p:cNvPr id="13" name="Text 10"/>
          <p:cNvSpPr/>
          <p:nvPr/>
        </p:nvSpPr>
        <p:spPr>
          <a:xfrm>
            <a:off x="7498080" y="4023360"/>
            <a:ext cx="4142232" cy="23317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document is the model's: a range input, a recompute on every input event (96 cups at 2.4), a </a:t>
            </a:r>
            <a:pPr indent="0" marL="0">
              <a:buNone/>
            </a:pPr>
            <a:r>
              <a:rPr lang="en-US" sz="1150" dirty="0">
                <a:solidFill>
                  <a:srgbClr val="BE123C"/>
                </a:solidFill>
                <a:latin typeface="Courier New" pitchFamily="34" charset="0"/>
                <a:ea typeface="Courier New" pitchFamily="34" charset="-122"/>
                <a:cs typeface="Courier New" pitchFamily="34" charset="-120"/>
              </a:rPr>
              <a:t>parent.postMessage</a:t>
            </a:r>
            <a:pPr indent="0" marL="0">
              <a:buNone/>
            </a:pPr>
            <a:r>
              <a:rPr lang="en-US" sz="1250" dirty="0">
                <a:solidFill>
                  <a:srgbClr val="1F2937"/>
                </a:solidFill>
                <a:latin typeface="Calibri" pitchFamily="34" charset="0"/>
                <a:ea typeface="Calibri" pitchFamily="34" charset="-122"/>
                <a:cs typeface="Calibri" pitchFamily="34" charset="-120"/>
              </a:rPr>
              <a:t> with the new values.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Its CSP is the region's own, injected first in the head: no network, inline style and script only.</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app accepted the event, drew it, and forwarded a sentence as </a:t>
            </a:r>
            <a:pPr indent="0" marL="0">
              <a:buNone/>
            </a:pPr>
            <a:r>
              <a:rPr lang="en-US" sz="1150" dirty="0">
                <a:solidFill>
                  <a:srgbClr val="BE123C"/>
                </a:solidFill>
                <a:latin typeface="Courier New" pitchFamily="34" charset="0"/>
                <a:ea typeface="Courier New" pitchFamily="34" charset="-122"/>
                <a:cs typeface="Courier New" pitchFamily="34" charset="-120"/>
              </a:rPr>
              <a:t>ui/update-model-context</a:t>
            </a:r>
            <a:pPr indent="0" marL="0">
              <a:buNone/>
            </a:pPr>
            <a:r>
              <a:rPr lang="en-US" sz="1250" dirty="0">
                <a:solidFill>
                  <a:srgbClr val="1F2937"/>
                </a:solidFill>
                <a:latin typeface="Calibri" pitchFamily="34" charset="0"/>
                <a:ea typeface="Calibri" pitchFamily="34" charset="-122"/>
                <a:cs typeface="Calibri" pitchFamily="34" charset="-120"/>
              </a:rPr>
              <a:t>; the host put it in the next turn.</a:t>
            </a:r>
            <a:endParaRPr lang="en-US" sz="12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82296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Sub-theme 07</a:t>
            </a:r>
            <a:endParaRPr lang="en-US" sz="1300" dirty="0"/>
          </a:p>
        </p:txBody>
      </p:sp>
      <p:sp>
        <p:nvSpPr>
          <p:cNvPr id="3" name="Text 1"/>
          <p:cNvSpPr/>
          <p:nvPr/>
        </p:nvSpPr>
        <p:spPr>
          <a:xfrm>
            <a:off x="731520" y="1280160"/>
            <a:ext cx="1051560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Generative UI in the harness</a:t>
            </a:r>
            <a:endParaRPr lang="en-US" sz="4000" dirty="0"/>
          </a:p>
        </p:txBody>
      </p:sp>
      <p:sp>
        <p:nvSpPr>
          <p:cNvPr id="4" name="Text 2"/>
          <p:cNvSpPr/>
          <p:nvPr/>
        </p:nvSpPr>
        <p:spPr>
          <a:xfrm>
            <a:off x="731520" y="2560320"/>
            <a:ext cx="6583680" cy="201168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The two codelabs meet here. The harness codelab ends with a coding agent that talks in prose and tool panels, then moves the loop onto TrueForge. This sub-theme gives both harnesses a rendering surface. Both steps are declarative generation in the report's terms; the transports are a terminal, a browser page fed over SSE, and the TrueForge SDK. Sub-theme 06 put an interface into a host the reader does not control; this one lets the reader's own agent answer with one.</a:t>
            </a:r>
            <a:endParaRPr lang="en-US" sz="1600" dirty="0"/>
          </a:p>
        </p:txBody>
      </p:sp>
      <p:sp>
        <p:nvSpPr>
          <p:cNvPr id="5" name="Shape 3"/>
          <p:cNvSpPr/>
          <p:nvPr/>
        </p:nvSpPr>
        <p:spPr>
          <a:xfrm>
            <a:off x="7680960" y="2606040"/>
            <a:ext cx="3931920" cy="603504"/>
          </a:xfrm>
          <a:prstGeom prst="roundRect">
            <a:avLst>
              <a:gd name="adj" fmla="val 12121"/>
            </a:avLst>
          </a:prstGeom>
          <a:solidFill>
            <a:srgbClr val="1E2761"/>
          </a:solidFill>
          <a:ln w="12700">
            <a:solidFill>
              <a:srgbClr val="3B4A8A"/>
            </a:solidFill>
            <a:prstDash val="solid"/>
          </a:ln>
        </p:spPr>
      </p:sp>
      <p:sp>
        <p:nvSpPr>
          <p:cNvPr id="6" name="Text 4"/>
          <p:cNvSpPr/>
          <p:nvPr/>
        </p:nvSpPr>
        <p:spPr>
          <a:xfrm>
            <a:off x="7818120" y="2606040"/>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07.1  </a:t>
            </a:r>
            <a:pPr indent="0" marL="0">
              <a:buNone/>
            </a:pPr>
            <a:r>
              <a:rPr lang="en-US" sz="1250" dirty="0">
                <a:solidFill>
                  <a:srgbClr val="FFFFFF"/>
                </a:solidFill>
                <a:latin typeface="Calibri" pitchFamily="34" charset="0"/>
                <a:ea typeface="Calibri" pitchFamily="34" charset="-122"/>
                <a:cs typeface="Calibri" pitchFamily="34" charset="-120"/>
              </a:rPr>
              <a:t>A render_ui tool for the harness</a:t>
            </a:r>
            <a:endParaRPr lang="en-US" sz="1250" dirty="0"/>
          </a:p>
        </p:txBody>
      </p:sp>
      <p:sp>
        <p:nvSpPr>
          <p:cNvPr id="7" name="Shape 5"/>
          <p:cNvSpPr/>
          <p:nvPr/>
        </p:nvSpPr>
        <p:spPr>
          <a:xfrm>
            <a:off x="7680960" y="3319272"/>
            <a:ext cx="3931920" cy="603504"/>
          </a:xfrm>
          <a:prstGeom prst="roundRect">
            <a:avLst>
              <a:gd name="adj" fmla="val 12121"/>
            </a:avLst>
          </a:prstGeom>
          <a:solidFill>
            <a:srgbClr val="1E2761"/>
          </a:solidFill>
          <a:ln w="12700">
            <a:solidFill>
              <a:srgbClr val="3B4A8A"/>
            </a:solidFill>
            <a:prstDash val="solid"/>
          </a:ln>
        </p:spPr>
      </p:sp>
      <p:sp>
        <p:nvSpPr>
          <p:cNvPr id="8" name="Text 6"/>
          <p:cNvSpPr/>
          <p:nvPr/>
        </p:nvSpPr>
        <p:spPr>
          <a:xfrm>
            <a:off x="7818120" y="3319272"/>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07.2  </a:t>
            </a:r>
            <a:pPr indent="0" marL="0">
              <a:buNone/>
            </a:pPr>
            <a:r>
              <a:rPr lang="en-US" sz="1250" dirty="0">
                <a:solidFill>
                  <a:srgbClr val="FFFFFF"/>
                </a:solidFill>
                <a:latin typeface="Calibri" pitchFamily="34" charset="0"/>
                <a:ea typeface="Calibri" pitchFamily="34" charset="-122"/>
                <a:cs typeface="Calibri" pitchFamily="34" charset="-120"/>
              </a:rPr>
              <a:t>TrueForge's generative UI, rendered in a page of ours</a:t>
            </a:r>
            <a:endParaRPr lang="en-US" sz="1250" dirty="0"/>
          </a:p>
        </p:txBody>
      </p:sp>
      <p:sp>
        <p:nvSpPr>
          <p:cNvPr id="9" name="Shape 7"/>
          <p:cNvSpPr/>
          <p:nvPr/>
        </p:nvSpPr>
        <p:spPr>
          <a:xfrm>
            <a:off x="7680960" y="4032504"/>
            <a:ext cx="3931920" cy="603504"/>
          </a:xfrm>
          <a:prstGeom prst="roundRect">
            <a:avLst>
              <a:gd name="adj" fmla="val 12121"/>
            </a:avLst>
          </a:prstGeom>
          <a:solidFill>
            <a:srgbClr val="1E2761"/>
          </a:solidFill>
          <a:ln w="12700">
            <a:solidFill>
              <a:srgbClr val="3B4A8A"/>
            </a:solidFill>
            <a:prstDash val="solid"/>
          </a:ln>
        </p:spPr>
      </p:sp>
      <p:sp>
        <p:nvSpPr>
          <p:cNvPr id="10" name="Text 8"/>
          <p:cNvSpPr/>
          <p:nvPr/>
        </p:nvSpPr>
        <p:spPr>
          <a:xfrm>
            <a:off x="7818120" y="4032504"/>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07.3  </a:t>
            </a:r>
            <a:pPr indent="0" marL="0">
              <a:buNone/>
            </a:pPr>
            <a:r>
              <a:rPr lang="en-US" sz="1250" dirty="0">
                <a:solidFill>
                  <a:srgbClr val="FFFFFF"/>
                </a:solidFill>
                <a:latin typeface="Calibri" pitchFamily="34" charset="0"/>
                <a:ea typeface="Calibri" pitchFamily="34" charset="-122"/>
                <a:cs typeface="Calibri" pitchFamily="34" charset="-120"/>
              </a:rPr>
              <a:t>Hybrid on TrueForge</a:t>
            </a:r>
            <a:endParaRPr lang="en-US" sz="1250" dirty="0"/>
          </a:p>
        </p:txBody>
      </p:sp>
      <p:sp>
        <p:nvSpPr>
          <p:cNvPr id="11" name="Text 9"/>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AB8"/>
                </a:solidFill>
                <a:latin typeface="Calibri" pitchFamily="34" charset="0"/>
                <a:ea typeface="Calibri" pitchFamily="34" charset="-122"/>
                <a:cs typeface="Calibri" pitchFamily="34" charset="-120"/>
              </a:rPr>
              <a:t>114</a:t>
            </a:r>
            <a:endParaRPr lang="en-US" sz="1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07.1 · LEVEL 21 OF 23 · DECLARATIVE GENERATION · A TERMINAL</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The spec is the interface: validate once, draw on any surface</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115</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Generative UI as </a:t>
            </a:r>
            <a:pPr indent="0" marL="0">
              <a:buNone/>
            </a:pPr>
            <a:r>
              <a:rPr lang="en-US" sz="1600" b="1" dirty="0">
                <a:solidFill>
                  <a:srgbClr val="141B3D"/>
                </a:solidFill>
                <a:latin typeface="Calibri" pitchFamily="34" charset="0"/>
                <a:ea typeface="Calibri" pitchFamily="34" charset="-122"/>
                <a:cs typeface="Calibri" pitchFamily="34" charset="-120"/>
              </a:rPr>
              <a:t>one tool</a:t>
            </a:r>
            <a:pPr indent="0" marL="0">
              <a:buNone/>
            </a:pPr>
            <a:r>
              <a:rPr lang="en-US" sz="1600" dirty="0">
                <a:solidFill>
                  <a:srgbClr val="141B3D"/>
                </a:solidFill>
                <a:latin typeface="Calibri" pitchFamily="34" charset="0"/>
                <a:ea typeface="Calibri" pitchFamily="34" charset="-122"/>
                <a:cs typeface="Calibri" pitchFamily="34" charset="-120"/>
              </a:rPr>
              <a:t>: the model emits a json-render element map, the harness validates it against a catalog, and every surface draws from that data.</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t>
            </a:r>
            <a:pPr indent="0" marL="0">
              <a:buNone/>
            </a:pPr>
            <a:r>
              <a:rPr lang="en-US" sz="1200" dirty="0">
                <a:solidFill>
                  <a:srgbClr val="BE123C"/>
                </a:solidFill>
                <a:latin typeface="Courier New" pitchFamily="34" charset="0"/>
                <a:ea typeface="Courier New" pitchFamily="34" charset="-122"/>
                <a:cs typeface="Courier New" pitchFamily="34" charset="-120"/>
              </a:rPr>
              <a:t>harness/</a:t>
            </a:r>
            <a:pPr indent="0" marL="0">
              <a:buNone/>
            </a:pPr>
            <a:r>
              <a:rPr lang="en-US" sz="1300" dirty="0">
                <a:solidFill>
                  <a:srgbClr val="1F2937"/>
                </a:solidFill>
                <a:latin typeface="Calibri" pitchFamily="34" charset="0"/>
                <a:ea typeface="Calibri" pitchFamily="34" charset="-122"/>
                <a:cs typeface="Calibri" pitchFamily="34" charset="-120"/>
              </a:rPr>
              <a:t> is the stage 15 loop copied whole; nothing in the loop changes.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t>
            </a:r>
            <a:pPr indent="0" marL="0">
              <a:buNone/>
            </a:pPr>
            <a:r>
              <a:rPr lang="en-US" sz="1200" dirty="0">
                <a:solidFill>
                  <a:srgbClr val="BE123C"/>
                </a:solidFill>
                <a:latin typeface="Courier New" pitchFamily="34" charset="0"/>
                <a:ea typeface="Courier New" pitchFamily="34" charset="-122"/>
                <a:cs typeface="Courier New" pitchFamily="34" charset="-120"/>
              </a:rPr>
              <a:t>genui.py</a:t>
            </a:r>
            <a:pPr indent="0" marL="0">
              <a:buNone/>
            </a:pPr>
            <a:r>
              <a:rPr lang="en-US" sz="1300" dirty="0">
                <a:solidFill>
                  <a:srgbClr val="1F2937"/>
                </a:solidFill>
                <a:latin typeface="Calibri" pitchFamily="34" charset="0"/>
                <a:ea typeface="Calibri" pitchFamily="34" charset="-122"/>
                <a:cs typeface="Calibri" pitchFamily="34" charset="-120"/>
              </a:rPr>
              <a:t> holds a six-component catalog with typed props, a required list and a children flag.</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t>
            </a:r>
            <a:pPr indent="0" marL="0">
              <a:buNone/>
            </a:pPr>
            <a:r>
              <a:rPr lang="en-US" sz="1200" dirty="0">
                <a:solidFill>
                  <a:srgbClr val="BE123C"/>
                </a:solidFill>
                <a:latin typeface="Courier New" pitchFamily="34" charset="0"/>
                <a:ea typeface="Courier New" pitchFamily="34" charset="-122"/>
                <a:cs typeface="Courier New" pitchFamily="34" charset="-120"/>
              </a:rPr>
              <a:t>validate()</a:t>
            </a:r>
            <a:pPr indent="0" marL="0">
              <a:buNone/>
            </a:pPr>
            <a:r>
              <a:rPr lang="en-US" sz="1300" dirty="0">
                <a:solidFill>
                  <a:srgbClr val="1F2937"/>
                </a:solidFill>
                <a:latin typeface="Calibri" pitchFamily="34" charset="0"/>
                <a:ea typeface="Calibri" pitchFamily="34" charset="-122"/>
                <a:cs typeface="Calibri" pitchFamily="34" charset="-120"/>
              </a:rPr>
              <a:t> returns every problem as a plain sentence; the model reads the list as the tool result.</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t>
            </a:r>
            <a:pPr indent="0" marL="0">
              <a:buNone/>
            </a:pPr>
            <a:r>
              <a:rPr lang="en-US" sz="1200" dirty="0">
                <a:solidFill>
                  <a:srgbClr val="BE123C"/>
                </a:solidFill>
                <a:latin typeface="Courier New" pitchFamily="34" charset="0"/>
                <a:ea typeface="Courier New" pitchFamily="34" charset="-122"/>
                <a:cs typeface="Courier New" pitchFamily="34" charset="-120"/>
              </a:rPr>
              <a:t>llm.py</a:t>
            </a:r>
            <a:pPr indent="0" marL="0">
              <a:buNone/>
            </a:pPr>
            <a:r>
              <a:rPr lang="en-US" sz="1300" dirty="0">
                <a:solidFill>
                  <a:srgbClr val="1F2937"/>
                </a:solidFill>
                <a:latin typeface="Calibri" pitchFamily="34" charset="0"/>
                <a:ea typeface="Calibri" pitchFamily="34" charset="-122"/>
                <a:cs typeface="Calibri" pitchFamily="34" charset="-120"/>
              </a:rPr>
              <a:t> writes the catalog into the system prompt from the same dictionary the validator reads.</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t>
            </a:r>
            <a:pPr indent="0" marL="0">
              <a:buNone/>
            </a:pPr>
            <a:r>
              <a:rPr lang="en-US" sz="1200" dirty="0">
                <a:solidFill>
                  <a:srgbClr val="BE123C"/>
                </a:solidFill>
                <a:latin typeface="Courier New" pitchFamily="34" charset="0"/>
                <a:ea typeface="Courier New" pitchFamily="34" charset="-122"/>
                <a:cs typeface="Courier New" pitchFamily="34" charset="-120"/>
              </a:rPr>
              <a:t>ui.py</a:t>
            </a:r>
            <a:pPr indent="0" marL="0">
              <a:buNone/>
            </a:pPr>
            <a:r>
              <a:rPr lang="en-US" sz="1300" dirty="0">
                <a:solidFill>
                  <a:srgbClr val="1F2937"/>
                </a:solidFill>
                <a:latin typeface="Calibri" pitchFamily="34" charset="0"/>
                <a:ea typeface="Calibri" pitchFamily="34" charset="-122"/>
                <a:cs typeface="Calibri" pitchFamily="34" charset="-120"/>
              </a:rPr>
              <a:t> draws one </a:t>
            </a:r>
            <a:pPr indent="0" marL="0">
              <a:buNone/>
            </a:pPr>
            <a:r>
              <a:rPr lang="en-US" sz="1200" dirty="0">
                <a:solidFill>
                  <a:srgbClr val="BE123C"/>
                </a:solidFill>
                <a:latin typeface="Courier New" pitchFamily="34" charset="0"/>
                <a:ea typeface="Courier New" pitchFamily="34" charset="-122"/>
                <a:cs typeface="Courier New" pitchFamily="34" charset="-120"/>
              </a:rPr>
              <a:t>rich</a:t>
            </a:r>
            <a:pPr indent="0" marL="0">
              <a:buNone/>
            </a:pPr>
            <a:r>
              <a:rPr lang="en-US" sz="1300" dirty="0">
                <a:solidFill>
                  <a:srgbClr val="1F2937"/>
                </a:solidFill>
                <a:latin typeface="Calibri" pitchFamily="34" charset="0"/>
                <a:ea typeface="Calibri" pitchFamily="34" charset="-122"/>
                <a:cs typeface="Calibri" pitchFamily="34" charset="-120"/>
              </a:rPr>
              <a:t> renderable per element; </a:t>
            </a:r>
            <a:pPr indent="0" marL="0">
              <a:buNone/>
            </a:pPr>
            <a:r>
              <a:rPr lang="en-US" sz="1200" dirty="0">
                <a:solidFill>
                  <a:srgbClr val="BE123C"/>
                </a:solidFill>
                <a:latin typeface="Courier New" pitchFamily="34" charset="0"/>
                <a:ea typeface="Courier New" pitchFamily="34" charset="-122"/>
                <a:cs typeface="Courier New" pitchFamily="34" charset="-120"/>
              </a:rPr>
              <a:t>web.py</a:t>
            </a:r>
            <a:pPr indent="0" marL="0">
              <a:buNone/>
            </a:pPr>
            <a:r>
              <a:rPr lang="en-US" sz="1300" dirty="0">
                <a:solidFill>
                  <a:srgbClr val="1F2937"/>
                </a:solidFill>
                <a:latin typeface="Calibri" pitchFamily="34" charset="0"/>
                <a:ea typeface="Calibri" pitchFamily="34" charset="-122"/>
                <a:cs typeface="Calibri" pitchFamily="34" charset="-120"/>
              </a:rPr>
              <a:t> pushes the spec to every open tab over SSE.</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model sees one sentence back. The picture is drawn by the surface, from data.</a:t>
            </a:r>
            <a:endParaRPr lang="en-US" sz="1300" dirty="0"/>
          </a:p>
        </p:txBody>
      </p:sp>
      <p:sp>
        <p:nvSpPr>
          <p:cNvPr id="7" name="Shape 5"/>
          <p:cNvSpPr/>
          <p:nvPr/>
        </p:nvSpPr>
        <p:spPr>
          <a:xfrm>
            <a:off x="6903720" y="1600200"/>
            <a:ext cx="3840480" cy="685800"/>
          </a:xfrm>
          <a:prstGeom prst="roundRect">
            <a:avLst>
              <a:gd name="adj" fmla="val 13333"/>
            </a:avLst>
          </a:prstGeom>
          <a:solidFill>
            <a:srgbClr val="EEF0FF"/>
          </a:solidFill>
          <a:ln w="15875">
            <a:solidFill>
              <a:srgbClr val="2F3CFF"/>
            </a:solidFill>
            <a:prstDash val="solid"/>
          </a:ln>
        </p:spPr>
      </p:sp>
      <p:sp>
        <p:nvSpPr>
          <p:cNvPr id="8" name="Text 6"/>
          <p:cNvSpPr/>
          <p:nvPr/>
        </p:nvSpPr>
        <p:spPr>
          <a:xfrm>
            <a:off x="6976872" y="1636776"/>
            <a:ext cx="3694176" cy="35890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model</a:t>
            </a:r>
            <a:endParaRPr lang="en-US" sz="1200" dirty="0"/>
          </a:p>
        </p:txBody>
      </p:sp>
      <p:sp>
        <p:nvSpPr>
          <p:cNvPr id="9" name="Text 7"/>
          <p:cNvSpPr/>
          <p:nvPr/>
        </p:nvSpPr>
        <p:spPr>
          <a:xfrm>
            <a:off x="6976872" y="199567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calls render_ui with an element map</a:t>
            </a:r>
            <a:endParaRPr lang="en-US" sz="950" dirty="0"/>
          </a:p>
        </p:txBody>
      </p:sp>
      <p:sp>
        <p:nvSpPr>
          <p:cNvPr id="10" name="Shape 8"/>
          <p:cNvSpPr/>
          <p:nvPr/>
        </p:nvSpPr>
        <p:spPr>
          <a:xfrm>
            <a:off x="8823960" y="2313432"/>
            <a:ext cx="9144" cy="265176"/>
          </a:xfrm>
          <a:prstGeom prst="line">
            <a:avLst/>
          </a:prstGeom>
          <a:noFill/>
          <a:ln w="19050">
            <a:solidFill>
              <a:srgbClr val="4B5563"/>
            </a:solidFill>
            <a:prstDash val="solid"/>
            <a:tailEnd type="triangle"/>
          </a:ln>
        </p:spPr>
      </p:sp>
      <p:sp>
        <p:nvSpPr>
          <p:cNvPr id="11" name="Shape 9"/>
          <p:cNvSpPr/>
          <p:nvPr/>
        </p:nvSpPr>
        <p:spPr>
          <a:xfrm>
            <a:off x="6903720" y="2606040"/>
            <a:ext cx="3840480" cy="685800"/>
          </a:xfrm>
          <a:prstGeom prst="roundRect">
            <a:avLst>
              <a:gd name="adj" fmla="val 13333"/>
            </a:avLst>
          </a:prstGeom>
          <a:solidFill>
            <a:srgbClr val="F6F7FB"/>
          </a:solidFill>
          <a:ln w="15875">
            <a:solidFill>
              <a:srgbClr val="141B3D"/>
            </a:solidFill>
            <a:prstDash val="solid"/>
          </a:ln>
        </p:spPr>
      </p:sp>
      <p:sp>
        <p:nvSpPr>
          <p:cNvPr id="12" name="Text 10"/>
          <p:cNvSpPr/>
          <p:nvPr/>
        </p:nvSpPr>
        <p:spPr>
          <a:xfrm>
            <a:off x="6976872" y="2642616"/>
            <a:ext cx="3694176" cy="358902"/>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render_ui tool</a:t>
            </a:r>
            <a:endParaRPr lang="en-US" sz="1200" dirty="0"/>
          </a:p>
        </p:txBody>
      </p:sp>
      <p:sp>
        <p:nvSpPr>
          <p:cNvPr id="13" name="Text 11"/>
          <p:cNvSpPr/>
          <p:nvPr/>
        </p:nvSpPr>
        <p:spPr>
          <a:xfrm>
            <a:off x="6976872" y="300151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next to bash and task, same permission check</a:t>
            </a:r>
            <a:endParaRPr lang="en-US" sz="950" dirty="0"/>
          </a:p>
        </p:txBody>
      </p:sp>
      <p:sp>
        <p:nvSpPr>
          <p:cNvPr id="14" name="Shape 12"/>
          <p:cNvSpPr/>
          <p:nvPr/>
        </p:nvSpPr>
        <p:spPr>
          <a:xfrm>
            <a:off x="8823960" y="3319272"/>
            <a:ext cx="9144" cy="265176"/>
          </a:xfrm>
          <a:prstGeom prst="line">
            <a:avLst/>
          </a:prstGeom>
          <a:noFill/>
          <a:ln w="19050">
            <a:solidFill>
              <a:srgbClr val="4B5563"/>
            </a:solidFill>
            <a:prstDash val="solid"/>
            <a:tailEnd type="triangle"/>
          </a:ln>
        </p:spPr>
      </p:sp>
      <p:sp>
        <p:nvSpPr>
          <p:cNvPr id="15" name="Shape 13"/>
          <p:cNvSpPr/>
          <p:nvPr/>
        </p:nvSpPr>
        <p:spPr>
          <a:xfrm>
            <a:off x="6903720" y="3611880"/>
            <a:ext cx="3840480" cy="685800"/>
          </a:xfrm>
          <a:prstGeom prst="roundRect">
            <a:avLst>
              <a:gd name="adj" fmla="val 13333"/>
            </a:avLst>
          </a:prstGeom>
          <a:solidFill>
            <a:srgbClr val="EEF0FF"/>
          </a:solidFill>
          <a:ln w="15875">
            <a:solidFill>
              <a:srgbClr val="2F3CFF"/>
            </a:solidFill>
            <a:prstDash val="solid"/>
          </a:ln>
        </p:spPr>
      </p:sp>
      <p:sp>
        <p:nvSpPr>
          <p:cNvPr id="16" name="Text 14"/>
          <p:cNvSpPr/>
          <p:nvPr/>
        </p:nvSpPr>
        <p:spPr>
          <a:xfrm>
            <a:off x="6976872" y="3648456"/>
            <a:ext cx="3694176" cy="35890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validate against the catalog</a:t>
            </a:r>
            <a:endParaRPr lang="en-US" sz="1200" dirty="0"/>
          </a:p>
        </p:txBody>
      </p:sp>
      <p:sp>
        <p:nvSpPr>
          <p:cNvPr id="17" name="Text 15"/>
          <p:cNvSpPr/>
          <p:nvPr/>
        </p:nvSpPr>
        <p:spPr>
          <a:xfrm>
            <a:off x="6976872" y="400735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problems go back as text; a good spec is published</a:t>
            </a:r>
            <a:endParaRPr lang="en-US" sz="950" dirty="0"/>
          </a:p>
        </p:txBody>
      </p:sp>
      <p:sp>
        <p:nvSpPr>
          <p:cNvPr id="18" name="Shape 16"/>
          <p:cNvSpPr/>
          <p:nvPr/>
        </p:nvSpPr>
        <p:spPr>
          <a:xfrm>
            <a:off x="8823960" y="4325112"/>
            <a:ext cx="9144" cy="265176"/>
          </a:xfrm>
          <a:prstGeom prst="line">
            <a:avLst/>
          </a:prstGeom>
          <a:noFill/>
          <a:ln w="19050">
            <a:solidFill>
              <a:srgbClr val="4B5563"/>
            </a:solidFill>
            <a:prstDash val="solid"/>
            <a:tailEnd type="triangle"/>
          </a:ln>
        </p:spPr>
      </p:sp>
      <p:sp>
        <p:nvSpPr>
          <p:cNvPr id="19" name="Shape 17"/>
          <p:cNvSpPr/>
          <p:nvPr/>
        </p:nvSpPr>
        <p:spPr>
          <a:xfrm>
            <a:off x="6903720" y="4617720"/>
            <a:ext cx="3840480" cy="685800"/>
          </a:xfrm>
          <a:prstGeom prst="roundRect">
            <a:avLst>
              <a:gd name="adj" fmla="val 13333"/>
            </a:avLst>
          </a:prstGeom>
          <a:solidFill>
            <a:srgbClr val="ECFDF5"/>
          </a:solidFill>
          <a:ln w="15875">
            <a:solidFill>
              <a:srgbClr val="15803D"/>
            </a:solidFill>
            <a:prstDash val="solid"/>
          </a:ln>
        </p:spPr>
      </p:sp>
      <p:sp>
        <p:nvSpPr>
          <p:cNvPr id="20" name="Text 18"/>
          <p:cNvSpPr/>
          <p:nvPr/>
        </p:nvSpPr>
        <p:spPr>
          <a:xfrm>
            <a:off x="6976872" y="4654296"/>
            <a:ext cx="3694176" cy="358902"/>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two surfaces</a:t>
            </a:r>
            <a:endParaRPr lang="en-US" sz="1200" dirty="0"/>
          </a:p>
        </p:txBody>
      </p:sp>
      <p:sp>
        <p:nvSpPr>
          <p:cNvPr id="21" name="Text 19"/>
          <p:cNvSpPr/>
          <p:nvPr/>
        </p:nvSpPr>
        <p:spPr>
          <a:xfrm>
            <a:off x="6976872" y="5013198"/>
            <a:ext cx="3694176" cy="25374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a rich panel tree in the terminal · a DOM tree over SSE</a:t>
            </a:r>
            <a:endParaRPr lang="en-US" sz="950" dirty="0"/>
          </a:p>
        </p:txBody>
      </p:sp>
      <p:sp>
        <p:nvSpPr>
          <p:cNvPr id="22" name="Text 20"/>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Add a surface and nothing in the agent changes.</a:t>
            </a:r>
            <a:endParaRPr lang="en-US" sz="1050" dirty="0"/>
          </a:p>
        </p:txBody>
      </p:sp>
      <p:sp>
        <p:nvSpPr>
          <p:cNvPr id="23" name="Shape 21"/>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4" name="Text 22"/>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One agent, one spec, two surfaces: the model composes from a catalog it saw once; a new surface changes nothing.</a:t>
            </a:r>
            <a:endParaRPr lang="en-US" sz="12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07.1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Validate, publish, report: a bad spec comes back as corrections, not a crash</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116</a:t>
            </a:r>
            <a:endParaRPr lang="en-US" sz="1000" dirty="0"/>
          </a:p>
        </p:txBody>
      </p:sp>
      <p:sp>
        <p:nvSpPr>
          <p:cNvPr id="5" name="Shape 3"/>
          <p:cNvSpPr/>
          <p:nvPr/>
        </p:nvSpPr>
        <p:spPr>
          <a:xfrm>
            <a:off x="548640" y="1737360"/>
            <a:ext cx="7406640" cy="2526411"/>
          </a:xfrm>
          <a:prstGeom prst="roundRect">
            <a:avLst>
              <a:gd name="adj" fmla="val 3619"/>
            </a:avLst>
          </a:prstGeom>
          <a:solidFill>
            <a:srgbClr val="0F172A"/>
          </a:solidFill>
          <a:ln w="12700">
            <a:solidFill>
              <a:srgbClr val="0F172A"/>
            </a:solidFill>
            <a:prstDash val="solid"/>
          </a:ln>
        </p:spPr>
      </p:sp>
      <p:sp>
        <p:nvSpPr>
          <p:cNvPr id="6" name="Text 4"/>
          <p:cNvSpPr/>
          <p:nvPr/>
        </p:nvSpPr>
        <p:spPr>
          <a:xfrm>
            <a:off x="731520" y="1874520"/>
            <a:ext cx="7040880" cy="2252091"/>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render_ui(spec: dict) -&gt; str: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"""Validate a json-render element map and hand it to every surface.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The terminal draws it in ui.tool(); the web page gets it over SSE. The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model only sees this short string, never the picture: the spec is data</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that the surfaces interpret, not something the model has to describe.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problems = validate(spec)</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problems: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"Invalid spec, nothing rendered:\n- " + "\n- ".join(problems)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web.publish(spec)</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f"Rendered {len(spec['elements'])} elements from root '{spec['root']}'."</a:t>
            </a:r>
            <a:endParaRPr lang="en-US" sz="1050" dirty="0"/>
          </a:p>
        </p:txBody>
      </p:sp>
      <p:sp>
        <p:nvSpPr>
          <p:cNvPr id="7" name="Text 5"/>
          <p:cNvSpPr/>
          <p:nvPr/>
        </p:nvSpPr>
        <p:spPr>
          <a:xfrm>
            <a:off x="548640" y="4309491"/>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07_harness_genui/step_01_render_ui_tool/harness/tools.py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validate()</a:t>
            </a:r>
            <a:pPr indent="0" marL="0">
              <a:buNone/>
            </a:pPr>
            <a:r>
              <a:rPr lang="en-US" sz="1200" dirty="0">
                <a:solidFill>
                  <a:srgbClr val="1F2937"/>
                </a:solidFill>
                <a:latin typeface="Calibri" pitchFamily="34" charset="0"/>
                <a:ea typeface="Calibri" pitchFamily="34" charset="-122"/>
                <a:cs typeface="Calibri" pitchFamily="34" charset="-120"/>
              </a:rPr>
              <a:t> returns a list of sentences. An empty list means the spec is valid.</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problems go back to the model as the tool result. The loop continues; the model corrects and calls again.</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model only ever sees this line. The picture is drawn by the surfaces, not described to the model.</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The tool sits behind the same </a:t>
            </a:r>
            <a:pPr indent="0" marL="0">
              <a:buNone/>
            </a:pPr>
            <a:r>
              <a:rPr lang="en-US" sz="1250" dirty="0">
                <a:solidFill>
                  <a:srgbClr val="BE123C"/>
                </a:solidFill>
                <a:latin typeface="Courier New" pitchFamily="34" charset="0"/>
                <a:ea typeface="Courier New" pitchFamily="34" charset="-122"/>
                <a:cs typeface="Courier New" pitchFamily="34" charset="-120"/>
              </a:rPr>
              <a:t>execute()</a:t>
            </a:r>
            <a:pPr indent="0" marL="0">
              <a:buNone/>
            </a:pPr>
            <a:r>
              <a:rPr lang="en-US" sz="1250" dirty="0">
                <a:solidFill>
                  <a:srgbClr val="4B5563"/>
                </a:solidFill>
                <a:latin typeface="Calibri" pitchFamily="34" charset="0"/>
                <a:ea typeface="Calibri" pitchFamily="34" charset="-122"/>
                <a:cs typeface="Calibri" pitchFamily="34" charset="-120"/>
              </a:rPr>
              <a:t> permission check as </a:t>
            </a:r>
            <a:pPr indent="0" marL="0">
              <a:buNone/>
            </a:pPr>
            <a:r>
              <a:rPr lang="en-US" sz="1250" dirty="0">
                <a:solidFill>
                  <a:srgbClr val="BE123C"/>
                </a:solidFill>
                <a:latin typeface="Courier New" pitchFamily="34" charset="0"/>
                <a:ea typeface="Courier New" pitchFamily="34" charset="-122"/>
                <a:cs typeface="Courier New" pitchFamily="34" charset="-120"/>
              </a:rPr>
              <a:t>bash</a:t>
            </a:r>
            <a:pPr indent="0" marL="0">
              <a:buNone/>
            </a:pPr>
            <a:r>
              <a:rPr lang="en-US" sz="1250" dirty="0">
                <a:solidFill>
                  <a:srgbClr val="4B5563"/>
                </a:solidFill>
                <a:latin typeface="Calibri" pitchFamily="34" charset="0"/>
                <a:ea typeface="Calibri" pitchFamily="34" charset="-122"/>
                <a:cs typeface="Calibri" pitchFamily="34" charset="-120"/>
              </a:rPr>
              <a:t>; the subagent does not get it.</a:t>
            </a:r>
            <a:endParaRPr lang="en-US" sz="12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07.1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prompt is generated from the catalog, so prompt and validator cannot drift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117</a:t>
            </a:r>
            <a:endParaRPr lang="en-US" sz="1000" dirty="0"/>
          </a:p>
        </p:txBody>
      </p:sp>
      <p:sp>
        <p:nvSpPr>
          <p:cNvPr id="5" name="Shape 3"/>
          <p:cNvSpPr/>
          <p:nvPr/>
        </p:nvSpPr>
        <p:spPr>
          <a:xfrm>
            <a:off x="548640" y="1417320"/>
            <a:ext cx="7406640" cy="1712976"/>
          </a:xfrm>
          <a:prstGeom prst="roundRect">
            <a:avLst>
              <a:gd name="adj" fmla="val 5338"/>
            </a:avLst>
          </a:prstGeom>
          <a:solidFill>
            <a:srgbClr val="0F172A"/>
          </a:solidFill>
          <a:ln w="12700">
            <a:solidFill>
              <a:srgbClr val="0F172A"/>
            </a:solidFill>
            <a:prstDash val="solid"/>
          </a:ln>
        </p:spPr>
      </p:sp>
      <p:sp>
        <p:nvSpPr>
          <p:cNvPr id="6" name="Text 4"/>
          <p:cNvSpPr/>
          <p:nvPr/>
        </p:nvSpPr>
        <p:spPr>
          <a:xfrm>
            <a:off x="731520" y="1554480"/>
            <a:ext cx="7040880" cy="1438656"/>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catalog_prompt():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"""The catalog as text for the system prompt: one line per component."""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lines =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for name, entry in CATALOG.items():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props = ", ".join(f"{p}: {t}" for p, t in entry["props"].items())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kids = " Takes children." if entry["children"] else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lines.append(f"- {name}({props}): {entry['description']}{kids}")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"\n".join(lines)</a:t>
            </a:r>
            <a:endParaRPr lang="en-US" sz="1050" dirty="0"/>
          </a:p>
        </p:txBody>
      </p:sp>
      <p:sp>
        <p:nvSpPr>
          <p:cNvPr id="7" name="Text 5"/>
          <p:cNvSpPr/>
          <p:nvPr/>
        </p:nvSpPr>
        <p:spPr>
          <a:xfrm>
            <a:off x="548640" y="3176016"/>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07_harness_genui/step_01_render_ui_tool/harness/genui.py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2103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same </a:t>
            </a:r>
            <a:pPr indent="0" marL="0">
              <a:buNone/>
            </a:pPr>
            <a:r>
              <a:rPr lang="en-US" sz="1200" dirty="0">
                <a:solidFill>
                  <a:srgbClr val="BE123C"/>
                </a:solidFill>
                <a:latin typeface="Courier New" pitchFamily="34" charset="0"/>
                <a:ea typeface="Courier New" pitchFamily="34" charset="-122"/>
                <a:cs typeface="Courier New" pitchFamily="34" charset="-120"/>
              </a:rPr>
              <a:t>CATALOG</a:t>
            </a:r>
            <a:pPr indent="0" marL="0">
              <a:buNone/>
            </a:pPr>
            <a:r>
              <a:rPr lang="en-US" sz="1200" dirty="0">
                <a:solidFill>
                  <a:srgbClr val="1F2937"/>
                </a:solidFill>
                <a:latin typeface="Calibri" pitchFamily="34" charset="0"/>
                <a:ea typeface="Calibri" pitchFamily="34" charset="-122"/>
                <a:cs typeface="Calibri" pitchFamily="34" charset="-120"/>
              </a:rPr>
              <a:t> dictionary that </a:t>
            </a:r>
            <a:pPr indent="0" marL="0">
              <a:buNone/>
            </a:pPr>
            <a:r>
              <a:rPr lang="en-US" sz="1200" dirty="0">
                <a:solidFill>
                  <a:srgbClr val="BE123C"/>
                </a:solidFill>
                <a:latin typeface="Courier New" pitchFamily="34" charset="0"/>
                <a:ea typeface="Courier New" pitchFamily="34" charset="-122"/>
                <a:cs typeface="Courier New" pitchFamily="34" charset="-120"/>
              </a:rPr>
              <a:t>validate()</a:t>
            </a:r>
            <a:pPr indent="0" marL="0">
              <a:buNone/>
            </a:pPr>
            <a:r>
              <a:rPr lang="en-US" sz="1200" dirty="0">
                <a:solidFill>
                  <a:srgbClr val="1F2937"/>
                </a:solidFill>
                <a:latin typeface="Calibri" pitchFamily="34" charset="0"/>
                <a:ea typeface="Calibri" pitchFamily="34" charset="-122"/>
                <a:cs typeface="Calibri" pitchFamily="34" charset="-120"/>
              </a:rPr>
              <a:t> checks against. One definition, three uses.</a:t>
            </a:r>
            <a:endParaRPr lang="en-US" sz="1200" dirty="0"/>
          </a:p>
        </p:txBody>
      </p:sp>
      <p:sp>
        <p:nvSpPr>
          <p:cNvPr id="11" name="Shape 9"/>
          <p:cNvSpPr/>
          <p:nvPr/>
        </p:nvSpPr>
        <p:spPr>
          <a:xfrm>
            <a:off x="8183880" y="365760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6576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621024"/>
            <a:ext cx="3063240" cy="2103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One line per component: name, typed props, description, and whether it takes children.</a:t>
            </a:r>
            <a:endParaRPr lang="en-US" sz="1200" dirty="0"/>
          </a:p>
        </p:txBody>
      </p:sp>
      <p:sp>
        <p:nvSpPr>
          <p:cNvPr id="14" name="Text 12"/>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llm.py</a:t>
            </a:r>
            <a:pPr indent="0" marL="0">
              <a:buNone/>
            </a:pPr>
            <a:r>
              <a:rPr lang="en-US" sz="1250" dirty="0">
                <a:solidFill>
                  <a:srgbClr val="4B5563"/>
                </a:solidFill>
                <a:latin typeface="Calibri" pitchFamily="34" charset="0"/>
                <a:ea typeface="Calibri" pitchFamily="34" charset="-122"/>
                <a:cs typeface="Calibri" pitchFamily="34" charset="-120"/>
              </a:rPr>
              <a:t> places this text in the system prompt under the instruction to call </a:t>
            </a:r>
            <a:pPr indent="0" marL="0">
              <a:buNone/>
            </a:pPr>
            <a:r>
              <a:rPr lang="en-US" sz="1250" dirty="0">
                <a:solidFill>
                  <a:srgbClr val="BE123C"/>
                </a:solidFill>
                <a:latin typeface="Courier New" pitchFamily="34" charset="0"/>
                <a:ea typeface="Courier New" pitchFamily="34" charset="-122"/>
                <a:cs typeface="Courier New" pitchFamily="34" charset="-120"/>
              </a:rPr>
              <a:t>render_ui</a:t>
            </a:r>
            <a:pPr indent="0" marL="0">
              <a:buNone/>
            </a:pPr>
            <a:r>
              <a:rPr lang="en-US" sz="1250" dirty="0">
                <a:solidFill>
                  <a:srgbClr val="4B5563"/>
                </a:solidFill>
                <a:latin typeface="Calibri" pitchFamily="34" charset="0"/>
                <a:ea typeface="Calibri" pitchFamily="34" charset="-122"/>
                <a:cs typeface="Calibri" pitchFamily="34" charset="-120"/>
              </a:rPr>
              <a:t> for dashboards, tables and charts.</a:t>
            </a:r>
            <a:endParaRPr lang="en-US" sz="12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07.1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One prompt, a ten-element map, drawn by the terminal and the browser alike</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118</a:t>
            </a:r>
            <a:endParaRPr lang="en-US" sz="1000" dirty="0"/>
          </a:p>
        </p:txBody>
      </p:sp>
      <p:pic>
        <p:nvPicPr>
          <p:cNvPr id="5" name="Image 0" descr="C:\Users\evija\simple-coding-harness\genui\07_harness_genui\step_01_render_ui_tool\demo.png">    </p:cNvPr>
          <p:cNvPicPr>
            <a:picLocks noChangeAspect="1"/>
          </p:cNvPicPr>
          <p:nvPr/>
        </p:nvPicPr>
        <p:blipFill>
          <a:blip r:embed="rId1"/>
          <a:srcRect l="0" r="0" t="0" b="0"/>
          <a:stretch/>
        </p:blipFill>
        <p:spPr>
          <a:xfrm>
            <a:off x="548640" y="1417320"/>
            <a:ext cx="4114800" cy="4480560"/>
          </a:xfrm>
          <a:prstGeom prst="rect">
            <a:avLst/>
          </a:prstGeom>
        </p:spPr>
      </p:pic>
      <p:sp>
        <p:nvSpPr>
          <p:cNvPr id="6" name="Shape 3"/>
          <p:cNvSpPr/>
          <p:nvPr/>
        </p:nvSpPr>
        <p:spPr>
          <a:xfrm>
            <a:off x="548640" y="1417320"/>
            <a:ext cx="4114800" cy="4480560"/>
          </a:xfrm>
          <a:prstGeom prst="rect">
            <a:avLst/>
          </a:prstGeom>
          <a:ln w="12700">
            <a:solidFill>
              <a:srgbClr val="D7DAE5"/>
            </a:solidFill>
            <a:prstDash val="solid"/>
          </a:ln>
        </p:spPr>
      </p:sp>
      <p:sp>
        <p:nvSpPr>
          <p:cNvPr id="7" name="Shape 4"/>
          <p:cNvSpPr/>
          <p:nvPr/>
        </p:nvSpPr>
        <p:spPr>
          <a:xfrm>
            <a:off x="5029200" y="1417320"/>
            <a:ext cx="661111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5166360" y="1472184"/>
            <a:ext cx="633679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1,365 · 308</a:t>
            </a:r>
            <a:endParaRPr lang="en-US" sz="2800" dirty="0"/>
          </a:p>
        </p:txBody>
      </p:sp>
      <p:sp>
        <p:nvSpPr>
          <p:cNvPr id="9" name="Text 6"/>
          <p:cNvSpPr/>
          <p:nvPr/>
        </p:nvSpPr>
        <p:spPr>
          <a:xfrm>
            <a:off x="5166360" y="2039112"/>
            <a:ext cx="63367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prompt · completion tokens, first call</a:t>
            </a:r>
            <a:endParaRPr lang="en-US" sz="1050" dirty="0"/>
          </a:p>
        </p:txBody>
      </p:sp>
      <p:sp>
        <p:nvSpPr>
          <p:cNvPr id="10" name="Shape 7"/>
          <p:cNvSpPr/>
          <p:nvPr/>
        </p:nvSpPr>
        <p:spPr>
          <a:xfrm>
            <a:off x="5029200" y="2697480"/>
            <a:ext cx="661111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5166360" y="2752344"/>
            <a:ext cx="6336792" cy="566928"/>
          </a:xfrm>
          <a:prstGeom prst="rect">
            <a:avLst/>
          </a:prstGeom>
          <a:noFill/>
          <a:ln/>
        </p:spPr>
        <p:txBody>
          <a:bodyPr wrap="square" lIns="0" tIns="0" rIns="0" bIns="0" rtlCol="0" anchor="ctr"/>
          <a:lstStyle/>
          <a:p>
            <a:pPr indent="0" marL="0">
              <a:buNone/>
            </a:pPr>
            <a:r>
              <a:rPr lang="en-US" sz="2800" b="1" dirty="0">
                <a:solidFill>
                  <a:srgbClr val="15803D"/>
                </a:solidFill>
                <a:latin typeface="Cambria" pitchFamily="34" charset="0"/>
                <a:ea typeface="Cambria" pitchFamily="34" charset="-122"/>
                <a:cs typeface="Cambria" pitchFamily="34" charset="-120"/>
              </a:rPr>
              <a:t>10</a:t>
            </a:r>
            <a:endParaRPr lang="en-US" sz="2800" dirty="0"/>
          </a:p>
        </p:txBody>
      </p:sp>
      <p:sp>
        <p:nvSpPr>
          <p:cNvPr id="12" name="Text 9"/>
          <p:cNvSpPr/>
          <p:nvPr/>
        </p:nvSpPr>
        <p:spPr>
          <a:xfrm>
            <a:off x="5166360" y="3319272"/>
            <a:ext cx="633679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elements in the map</a:t>
            </a:r>
            <a:endParaRPr lang="en-US" sz="1050" dirty="0"/>
          </a:p>
        </p:txBody>
      </p:sp>
      <p:sp>
        <p:nvSpPr>
          <p:cNvPr id="13" name="Text 10"/>
          <p:cNvSpPr/>
          <p:nvPr/>
        </p:nvSpPr>
        <p:spPr>
          <a:xfrm>
            <a:off x="5029200" y="4023360"/>
            <a:ext cx="661111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Metrics, a seven-bar chart, an inventory Table inside a nested Card, and a weather card, from one call.</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terminal drew the same spec inside the </a:t>
            </a:r>
            <a:pPr indent="0" marL="0">
              <a:buNone/>
            </a:pPr>
            <a:r>
              <a:rPr lang="en-US" sz="1150" dirty="0">
                <a:solidFill>
                  <a:srgbClr val="BE123C"/>
                </a:solidFill>
                <a:latin typeface="Courier New" pitchFamily="34" charset="0"/>
                <a:ea typeface="Courier New" pitchFamily="34" charset="-122"/>
                <a:cs typeface="Courier New" pitchFamily="34" charset="-120"/>
              </a:rPr>
              <a:t>render_ui · 10 elements</a:t>
            </a:r>
            <a:pPr indent="0" marL="0">
              <a:buNone/>
            </a:pPr>
            <a:r>
              <a:rPr lang="en-US" sz="1250" dirty="0">
                <a:solidFill>
                  <a:srgbClr val="1F2937"/>
                </a:solidFill>
                <a:latin typeface="Calibri" pitchFamily="34" charset="0"/>
                <a:ea typeface="Calibri" pitchFamily="34" charset="-122"/>
                <a:cs typeface="Calibri" pitchFamily="34" charset="-120"/>
              </a:rPr>
              <a:t> tool panel.</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demo script captured this picture headlessly from the web surface.</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model saw the catalog once, in the system prompt, and produced nested Cards, a Chart and a Table on the first call.</a:t>
            </a:r>
            <a:endParaRPr lang="en-US" sz="12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07.2 · LEVEL 22 OF 23 · DECLARATIVE GENERATION · THE TRUEFORGE SDK</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 hosted harness already speaks a UI language; any parser that knows the grammar can draw it</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119</a:t>
            </a:r>
            <a:endParaRPr lang="en-US" sz="1000" dirty="0"/>
          </a:p>
        </p:txBody>
      </p:sp>
      <p:sp>
        <p:nvSpPr>
          <p:cNvPr id="5" name="Text 3"/>
          <p:cNvSpPr/>
          <p:nvPr/>
        </p:nvSpPr>
        <p:spPr>
          <a:xfrm>
            <a:off x="548640" y="173736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With </a:t>
            </a:r>
            <a:pPr indent="0" marL="0">
              <a:buNone/>
            </a:pPr>
            <a:r>
              <a:rPr lang="en-US" sz="1600" dirty="0">
                <a:solidFill>
                  <a:srgbClr val="BE123C"/>
                </a:solidFill>
                <a:latin typeface="Courier New" pitchFamily="34" charset="0"/>
                <a:ea typeface="Courier New" pitchFamily="34" charset="-122"/>
                <a:cs typeface="Courier New" pitchFamily="34" charset="-120"/>
              </a:rPr>
              <a:t>generative_ui</a:t>
            </a:r>
            <a:pPr indent="0" marL="0">
              <a:buNone/>
            </a:pPr>
            <a:r>
              <a:rPr lang="en-US" sz="1600" dirty="0">
                <a:solidFill>
                  <a:srgbClr val="141B3D"/>
                </a:solidFill>
                <a:latin typeface="Calibri" pitchFamily="34" charset="0"/>
                <a:ea typeface="Calibri" pitchFamily="34" charset="-122"/>
                <a:cs typeface="Calibri" pitchFamily="34" charset="-120"/>
              </a:rPr>
              <a:t> enabled, TrueForge's agent answers with an </a:t>
            </a:r>
            <a:pPr indent="0" marL="0">
              <a:buNone/>
            </a:pPr>
            <a:r>
              <a:rPr lang="en-US" sz="1600" b="1" dirty="0">
                <a:solidFill>
                  <a:srgbClr val="141B3D"/>
                </a:solidFill>
                <a:latin typeface="Calibri" pitchFamily="34" charset="0"/>
                <a:ea typeface="Calibri" pitchFamily="34" charset="-122"/>
                <a:cs typeface="Calibri" pitchFamily="34" charset="-120"/>
              </a:rPr>
              <a:t>OpenUI Lang program inside a fence</a:t>
            </a:r>
            <a:pPr indent="0" marL="0">
              <a:buNone/>
            </a:pPr>
            <a:r>
              <a:rPr lang="en-US" sz="1600" dirty="0">
                <a:solidFill>
                  <a:srgbClr val="141B3D"/>
                </a:solidFill>
                <a:latin typeface="Calibri" pitchFamily="34" charset="0"/>
                <a:ea typeface="Calibri" pitchFamily="34" charset="-122"/>
                <a:cs typeface="Calibri" pitchFamily="34" charset="-120"/>
              </a:rPr>
              <a:t>. This step renders that program in a page of its own.</a:t>
            </a:r>
            <a:endParaRPr lang="en-US" sz="1600" dirty="0"/>
          </a:p>
        </p:txBody>
      </p:sp>
      <p:sp>
        <p:nvSpPr>
          <p:cNvPr id="6" name="Text 4"/>
          <p:cNvSpPr/>
          <p:nvPr/>
        </p:nvSpPr>
        <p:spPr>
          <a:xfrm>
            <a:off x="548640" y="2606040"/>
            <a:ext cx="5120640" cy="31546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t>
            </a:r>
            <a:pPr indent="0" marL="0">
              <a:buNone/>
            </a:pPr>
            <a:r>
              <a:rPr lang="en-US" sz="1150" dirty="0">
                <a:solidFill>
                  <a:srgbClr val="BE123C"/>
                </a:solidFill>
                <a:latin typeface="Courier New" pitchFamily="34" charset="0"/>
                <a:ea typeface="Courier New" pitchFamily="34" charset="-122"/>
                <a:cs typeface="Courier New" pitchFamily="34" charset="-120"/>
              </a:rPr>
              <a:t>client/genui.py</a:t>
            </a:r>
            <a:pPr indent="0" marL="0">
              <a:buNone/>
            </a:pPr>
            <a:r>
              <a:rPr lang="en-US" sz="1250" dirty="0">
                <a:solidFill>
                  <a:srgbClr val="1F2937"/>
                </a:solidFill>
                <a:latin typeface="Calibri" pitchFamily="34" charset="0"/>
                <a:ea typeface="Calibri" pitchFamily="34" charset="-122"/>
                <a:cs typeface="Calibri" pitchFamily="34" charset="-120"/>
              </a:rPr>
              <a:t> opens a session with generative UI on and streams one turn over the SDK.</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t>
            </a:r>
            <a:pPr indent="0" marL="0">
              <a:buNone/>
            </a:pPr>
            <a:r>
              <a:rPr lang="en-US" sz="1150" dirty="0">
                <a:solidFill>
                  <a:srgbClr val="BE123C"/>
                </a:solidFill>
                <a:latin typeface="Courier New" pitchFamily="34" charset="0"/>
                <a:ea typeface="Courier New" pitchFamily="34" charset="-122"/>
                <a:cs typeface="Courier New" pitchFamily="34" charset="-120"/>
              </a:rPr>
              <a:t>extract_program()</a:t>
            </a:r>
            <a:pPr indent="0" marL="0">
              <a:buNone/>
            </a:pPr>
            <a:r>
              <a:rPr lang="en-US" sz="1250" dirty="0">
                <a:solidFill>
                  <a:srgbClr val="1F2937"/>
                </a:solidFill>
                <a:latin typeface="Calibri" pitchFamily="34" charset="0"/>
                <a:ea typeface="Calibri" pitchFamily="34" charset="-122"/>
                <a:cs typeface="Calibri" pitchFamily="34" charset="-120"/>
              </a:rPr>
              <a:t> pulls the text out of the first ```openui fence, even one that never closed.</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t>
            </a:r>
            <a:pPr indent="0" marL="0">
              <a:buNone/>
            </a:pPr>
            <a:r>
              <a:rPr lang="en-US" sz="1150" dirty="0">
                <a:solidFill>
                  <a:srgbClr val="BE123C"/>
                </a:solidFill>
                <a:latin typeface="Courier New" pitchFamily="34" charset="0"/>
                <a:ea typeface="Courier New" pitchFamily="34" charset="-122"/>
                <a:cs typeface="Courier New" pitchFamily="34" charset="-120"/>
              </a:rPr>
              <a:t>openui_parse.py</a:t>
            </a:r>
            <a:pPr indent="0" marL="0">
              <a:buNone/>
            </a:pPr>
            <a:r>
              <a:rPr lang="en-US" sz="1250" dirty="0">
                <a:solidFill>
                  <a:srgbClr val="1F2937"/>
                </a:solidFill>
                <a:latin typeface="Calibri" pitchFamily="34" charset="0"/>
                <a:ea typeface="Calibri" pitchFamily="34" charset="-122"/>
                <a:cs typeface="Calibri" pitchFamily="34" charset="-120"/>
              </a:rPr>
              <a:t> is streaming-first: statements are </a:t>
            </a:r>
            <a:pPr indent="0" marL="0">
              <a:buNone/>
            </a:pPr>
            <a:r>
              <a:rPr lang="en-US" sz="1150" dirty="0">
                <a:solidFill>
                  <a:srgbClr val="BE123C"/>
                </a:solidFill>
                <a:latin typeface="Courier New" pitchFamily="34" charset="0"/>
                <a:ea typeface="Courier New" pitchFamily="34" charset="-122"/>
                <a:cs typeface="Courier New" pitchFamily="34" charset="-120"/>
              </a:rPr>
              <a:t>name = expr</a:t>
            </a:r>
            <a:pPr indent="0" marL="0">
              <a:buNone/>
            </a:pPr>
            <a:r>
              <a:rPr lang="en-US" sz="1250" dirty="0">
                <a:solidFill>
                  <a:srgbClr val="1F2937"/>
                </a:solidFill>
                <a:latin typeface="Calibri" pitchFamily="34" charset="0"/>
                <a:ea typeface="Calibri" pitchFamily="34" charset="-122"/>
                <a:cs typeface="Calibri" pitchFamily="34" charset="-120"/>
              </a:rPr>
              <a:t>; references may point forward.</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 statement commits at the first newline where its brackets balance; a multi-line </a:t>
            </a:r>
            <a:pPr indent="0" marL="0">
              <a:buNone/>
            </a:pPr>
            <a:r>
              <a:rPr lang="en-US" sz="1150" dirty="0">
                <a:solidFill>
                  <a:srgbClr val="BE123C"/>
                </a:solidFill>
                <a:latin typeface="Courier New" pitchFamily="34" charset="0"/>
                <a:ea typeface="Courier New" pitchFamily="34" charset="-122"/>
                <a:cs typeface="Courier New" pitchFamily="34" charset="-120"/>
              </a:rPr>
              <a:t>Card([</a:t>
            </a:r>
            <a:pPr indent="0" marL="0">
              <a:buNone/>
            </a:pPr>
            <a:r>
              <a:rPr lang="en-US" sz="1250" dirty="0">
                <a:solidFill>
                  <a:srgbClr val="1F2937"/>
                </a:solidFill>
                <a:latin typeface="Calibri" pitchFamily="34" charset="0"/>
                <a:ea typeface="Calibri" pitchFamily="34" charset="-122"/>
                <a:cs typeface="Calibri" pitchFamily="34" charset="-120"/>
              </a:rPr>
              <a:t> waits.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t>
            </a:r>
            <a:pPr indent="0" marL="0">
              <a:buNone/>
            </a:pPr>
            <a:r>
              <a:rPr lang="en-US" sz="1150" dirty="0">
                <a:solidFill>
                  <a:srgbClr val="BE123C"/>
                </a:solidFill>
                <a:latin typeface="Courier New" pitchFamily="34" charset="0"/>
                <a:ea typeface="Courier New" pitchFamily="34" charset="-122"/>
                <a:cs typeface="Courier New" pitchFamily="34" charset="-120"/>
              </a:rPr>
              <a:t>server.py</a:t>
            </a:r>
            <a:pPr indent="0" marL="0">
              <a:buNone/>
            </a:pPr>
            <a:r>
              <a:rPr lang="en-US" sz="1250" dirty="0">
                <a:solidFill>
                  <a:srgbClr val="1F2937"/>
                </a:solidFill>
                <a:latin typeface="Calibri" pitchFamily="34" charset="0"/>
                <a:ea typeface="Calibri" pitchFamily="34" charset="-122"/>
                <a:cs typeface="Calibri" pitchFamily="34" charset="-120"/>
              </a:rPr>
              <a:t> sends one line per SSE event; </a:t>
            </a:r>
            <a:pPr indent="0" marL="0">
              <a:buNone/>
            </a:pPr>
            <a:r>
              <a:rPr lang="en-US" sz="1150" dirty="0">
                <a:solidFill>
                  <a:srgbClr val="BE123C"/>
                </a:solidFill>
                <a:latin typeface="Courier New" pitchFamily="34" charset="0"/>
                <a:ea typeface="Courier New" pitchFamily="34" charset="-122"/>
                <a:cs typeface="Courier New" pitchFamily="34" charset="-120"/>
              </a:rPr>
              <a:t>app.js</a:t>
            </a:r>
            <a:pPr indent="0" marL="0">
              <a:buNone/>
            </a:pPr>
            <a:r>
              <a:rPr lang="en-US" sz="1250" dirty="0">
                <a:solidFill>
                  <a:srgbClr val="1F2937"/>
                </a:solidFill>
                <a:latin typeface="Calibri" pitchFamily="34" charset="0"/>
                <a:ea typeface="Calibri" pitchFamily="34" charset="-122"/>
                <a:cs typeface="Calibri" pitchFamily="34" charset="-120"/>
              </a:rPr>
              <a:t> feeds each line to the parser and redraws from </a:t>
            </a:r>
            <a:pPr indent="0" marL="0">
              <a:buNone/>
            </a:pPr>
            <a:r>
              <a:rPr lang="en-US" sz="1150" dirty="0">
                <a:solidFill>
                  <a:srgbClr val="BE123C"/>
                </a:solidFill>
                <a:latin typeface="Courier New" pitchFamily="34" charset="0"/>
                <a:ea typeface="Courier New" pitchFamily="34" charset="-122"/>
                <a:cs typeface="Courier New" pitchFamily="34" charset="-120"/>
              </a:rPr>
              <a:t>root</a:t>
            </a:r>
            <a:pPr indent="0" marL="0">
              <a:buNone/>
            </a:pPr>
            <a:r>
              <a:rPr lang="en-US" sz="1250" dirty="0">
                <a:solidFill>
                  <a:srgbClr val="1F2937"/>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Unknown components become a labelled box, pending references a dashed placeholder.</a:t>
            </a:r>
            <a:endParaRPr lang="en-US" sz="1250" dirty="0"/>
          </a:p>
        </p:txBody>
      </p:sp>
      <p:sp>
        <p:nvSpPr>
          <p:cNvPr id="7" name="Shape 5"/>
          <p:cNvSpPr/>
          <p:nvPr/>
        </p:nvSpPr>
        <p:spPr>
          <a:xfrm>
            <a:off x="6903720" y="1920240"/>
            <a:ext cx="3840480" cy="605790"/>
          </a:xfrm>
          <a:prstGeom prst="roundRect">
            <a:avLst>
              <a:gd name="adj" fmla="val 15094"/>
            </a:avLst>
          </a:prstGeom>
          <a:solidFill>
            <a:srgbClr val="F6F7FB"/>
          </a:solidFill>
          <a:ln w="15875">
            <a:solidFill>
              <a:srgbClr val="141B3D"/>
            </a:solidFill>
            <a:prstDash val="solid"/>
          </a:ln>
        </p:spPr>
      </p:sp>
      <p:sp>
        <p:nvSpPr>
          <p:cNvPr id="8" name="Text 6"/>
          <p:cNvSpPr/>
          <p:nvPr/>
        </p:nvSpPr>
        <p:spPr>
          <a:xfrm>
            <a:off x="6976872" y="1956816"/>
            <a:ext cx="3694176" cy="314897"/>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TrueForge SDK stream</a:t>
            </a:r>
            <a:endParaRPr lang="en-US" sz="1200" dirty="0"/>
          </a:p>
        </p:txBody>
      </p:sp>
      <p:sp>
        <p:nvSpPr>
          <p:cNvPr id="9" name="Text 7"/>
          <p:cNvSpPr/>
          <p:nvPr/>
        </p:nvSpPr>
        <p:spPr>
          <a:xfrm>
            <a:off x="6976872" y="2271713"/>
            <a:ext cx="3694176" cy="217741"/>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model.message.delta events on the main thread</a:t>
            </a:r>
            <a:endParaRPr lang="en-US" sz="950" dirty="0"/>
          </a:p>
        </p:txBody>
      </p:sp>
      <p:sp>
        <p:nvSpPr>
          <p:cNvPr id="10" name="Shape 8"/>
          <p:cNvSpPr/>
          <p:nvPr/>
        </p:nvSpPr>
        <p:spPr>
          <a:xfrm>
            <a:off x="8823960" y="2553462"/>
            <a:ext cx="9144" cy="265176"/>
          </a:xfrm>
          <a:prstGeom prst="line">
            <a:avLst/>
          </a:prstGeom>
          <a:noFill/>
          <a:ln w="19050">
            <a:solidFill>
              <a:srgbClr val="4B5563"/>
            </a:solidFill>
            <a:prstDash val="solid"/>
            <a:tailEnd type="triangle"/>
          </a:ln>
        </p:spPr>
      </p:sp>
      <p:sp>
        <p:nvSpPr>
          <p:cNvPr id="11" name="Shape 9"/>
          <p:cNvSpPr/>
          <p:nvPr/>
        </p:nvSpPr>
        <p:spPr>
          <a:xfrm>
            <a:off x="6903720" y="2846070"/>
            <a:ext cx="3840480" cy="605790"/>
          </a:xfrm>
          <a:prstGeom prst="roundRect">
            <a:avLst>
              <a:gd name="adj" fmla="val 15094"/>
            </a:avLst>
          </a:prstGeom>
          <a:solidFill>
            <a:srgbClr val="F6F7FB"/>
          </a:solidFill>
          <a:ln w="15875">
            <a:solidFill>
              <a:srgbClr val="141B3D"/>
            </a:solidFill>
            <a:prstDash val="solid"/>
          </a:ln>
        </p:spPr>
      </p:sp>
      <p:sp>
        <p:nvSpPr>
          <p:cNvPr id="12" name="Text 10"/>
          <p:cNvSpPr/>
          <p:nvPr/>
        </p:nvSpPr>
        <p:spPr>
          <a:xfrm>
            <a:off x="6976872" y="2882646"/>
            <a:ext cx="3694176" cy="314897"/>
          </a:xfrm>
          <a:prstGeom prst="rect">
            <a:avLst/>
          </a:prstGeom>
          <a:noFill/>
          <a:ln/>
        </p:spPr>
        <p:txBody>
          <a:bodyPr wrap="square" lIns="0" tIns="0" rIns="0" bIns="0" rtlCol="0" anchor="b"/>
          <a:lstStyle/>
          <a:p>
            <a:pPr algn="ctr" indent="0" marL="0">
              <a:buNone/>
            </a:pPr>
            <a:r>
              <a:rPr lang="en-US" sz="1200" b="1" dirty="0">
                <a:solidFill>
                  <a:srgbClr val="141B3D"/>
                </a:solidFill>
                <a:latin typeface="Calibri" pitchFamily="34" charset="0"/>
                <a:ea typeface="Calibri" pitchFamily="34" charset="-122"/>
                <a:cs typeface="Calibri" pitchFamily="34" charset="-120"/>
              </a:rPr>
              <a:t>extract the openui fence</a:t>
            </a:r>
            <a:endParaRPr lang="en-US" sz="1200" dirty="0"/>
          </a:p>
        </p:txBody>
      </p:sp>
      <p:sp>
        <p:nvSpPr>
          <p:cNvPr id="13" name="Text 11"/>
          <p:cNvSpPr/>
          <p:nvPr/>
        </p:nvSpPr>
        <p:spPr>
          <a:xfrm>
            <a:off x="6976872" y="3197542"/>
            <a:ext cx="3694176" cy="217741"/>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the prose is for the chat; the fence is the interface</a:t>
            </a:r>
            <a:endParaRPr lang="en-US" sz="950" dirty="0"/>
          </a:p>
        </p:txBody>
      </p:sp>
      <p:sp>
        <p:nvSpPr>
          <p:cNvPr id="14" name="Shape 12"/>
          <p:cNvSpPr/>
          <p:nvPr/>
        </p:nvSpPr>
        <p:spPr>
          <a:xfrm>
            <a:off x="8823960" y="3479292"/>
            <a:ext cx="9144" cy="265176"/>
          </a:xfrm>
          <a:prstGeom prst="line">
            <a:avLst/>
          </a:prstGeom>
          <a:noFill/>
          <a:ln w="19050">
            <a:solidFill>
              <a:srgbClr val="4B5563"/>
            </a:solidFill>
            <a:prstDash val="solid"/>
            <a:tailEnd type="triangle"/>
          </a:ln>
        </p:spPr>
      </p:sp>
      <p:sp>
        <p:nvSpPr>
          <p:cNvPr id="15" name="Shape 13"/>
          <p:cNvSpPr/>
          <p:nvPr/>
        </p:nvSpPr>
        <p:spPr>
          <a:xfrm>
            <a:off x="6903720" y="3771900"/>
            <a:ext cx="3840480" cy="605790"/>
          </a:xfrm>
          <a:prstGeom prst="roundRect">
            <a:avLst>
              <a:gd name="adj" fmla="val 15094"/>
            </a:avLst>
          </a:prstGeom>
          <a:solidFill>
            <a:srgbClr val="EEF0FF"/>
          </a:solidFill>
          <a:ln w="15875">
            <a:solidFill>
              <a:srgbClr val="2F3CFF"/>
            </a:solidFill>
            <a:prstDash val="solid"/>
          </a:ln>
        </p:spPr>
      </p:sp>
      <p:sp>
        <p:nvSpPr>
          <p:cNvPr id="16" name="Text 14"/>
          <p:cNvSpPr/>
          <p:nvPr/>
        </p:nvSpPr>
        <p:spPr>
          <a:xfrm>
            <a:off x="6976872" y="3808476"/>
            <a:ext cx="3694176" cy="31489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streaming parser</a:t>
            </a:r>
            <a:endParaRPr lang="en-US" sz="1200" dirty="0"/>
          </a:p>
        </p:txBody>
      </p:sp>
      <p:sp>
        <p:nvSpPr>
          <p:cNvPr id="17" name="Text 15"/>
          <p:cNvSpPr/>
          <p:nvPr/>
        </p:nvSpPr>
        <p:spPr>
          <a:xfrm>
            <a:off x="6976872" y="4123372"/>
            <a:ext cx="3694176" cy="217741"/>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commit a line when its brackets balance; pending nodes for forward references</a:t>
            </a:r>
            <a:endParaRPr lang="en-US" sz="950" dirty="0"/>
          </a:p>
        </p:txBody>
      </p:sp>
      <p:sp>
        <p:nvSpPr>
          <p:cNvPr id="18" name="Shape 16"/>
          <p:cNvSpPr/>
          <p:nvPr/>
        </p:nvSpPr>
        <p:spPr>
          <a:xfrm>
            <a:off x="8823960" y="4405122"/>
            <a:ext cx="9144" cy="265176"/>
          </a:xfrm>
          <a:prstGeom prst="line">
            <a:avLst/>
          </a:prstGeom>
          <a:noFill/>
          <a:ln w="19050">
            <a:solidFill>
              <a:srgbClr val="4B5563"/>
            </a:solidFill>
            <a:prstDash val="solid"/>
            <a:tailEnd type="triangle"/>
          </a:ln>
        </p:spPr>
      </p:sp>
      <p:sp>
        <p:nvSpPr>
          <p:cNvPr id="19" name="Shape 17"/>
          <p:cNvSpPr/>
          <p:nvPr/>
        </p:nvSpPr>
        <p:spPr>
          <a:xfrm>
            <a:off x="6903720" y="4697730"/>
            <a:ext cx="3840480" cy="605790"/>
          </a:xfrm>
          <a:prstGeom prst="roundRect">
            <a:avLst>
              <a:gd name="adj" fmla="val 15094"/>
            </a:avLst>
          </a:prstGeom>
          <a:solidFill>
            <a:srgbClr val="ECFDF5"/>
          </a:solidFill>
          <a:ln w="15875">
            <a:solidFill>
              <a:srgbClr val="15803D"/>
            </a:solidFill>
            <a:prstDash val="solid"/>
          </a:ln>
        </p:spPr>
      </p:sp>
      <p:sp>
        <p:nvSpPr>
          <p:cNvPr id="20" name="Text 18"/>
          <p:cNvSpPr/>
          <p:nvPr/>
        </p:nvSpPr>
        <p:spPr>
          <a:xfrm>
            <a:off x="6976872" y="4734306"/>
            <a:ext cx="3694176" cy="314897"/>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DOM renderer</a:t>
            </a:r>
            <a:endParaRPr lang="en-US" sz="1200" dirty="0"/>
          </a:p>
        </p:txBody>
      </p:sp>
      <p:sp>
        <p:nvSpPr>
          <p:cNvPr id="21" name="Text 19"/>
          <p:cNvSpPr/>
          <p:nvPr/>
        </p:nvSpPr>
        <p:spPr>
          <a:xfrm>
            <a:off x="6976872" y="5049202"/>
            <a:ext cx="3694176" cy="217741"/>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one function per component name; dashed box while a reference is pending</a:t>
            </a:r>
            <a:endParaRPr lang="en-US" sz="950" dirty="0"/>
          </a:p>
        </p:txBody>
      </p:sp>
      <p:sp>
        <p:nvSpPr>
          <p:cNvPr id="22" name="Text 20"/>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The same parser exists in Python and JavaScript, tested against the same program.</a:t>
            </a:r>
            <a:endParaRPr lang="en-US" sz="1050" dirty="0"/>
          </a:p>
        </p:txBody>
      </p:sp>
      <p:sp>
        <p:nvSpPr>
          <p:cNvPr id="23" name="Shape 21"/>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4" name="Text 22"/>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A UI language is a string with a grammar: any parser that knows the grammar can draw it, and streaming follows from statements that commit line by line.</a:t>
            </a:r>
            <a:endParaRPr lang="en-US" sz="12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07.2 · FORWARD REFERENCES</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root line names six children on line 1; the page draws the skeleton before their lines arrive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120</a:t>
            </a:r>
            <a:endParaRPr lang="en-US" sz="1000" dirty="0"/>
          </a:p>
        </p:txBody>
      </p:sp>
      <p:sp>
        <p:nvSpPr>
          <p:cNvPr id="5" name="Text 3"/>
          <p:cNvSpPr/>
          <p:nvPr/>
        </p:nvSpPr>
        <p:spPr>
          <a:xfrm>
            <a:off x="548640" y="1737360"/>
            <a:ext cx="11064240" cy="548640"/>
          </a:xfrm>
          <a:prstGeom prst="rect">
            <a:avLst/>
          </a:prstGeom>
          <a:noFill/>
          <a:ln/>
        </p:spPr>
        <p:txBody>
          <a:bodyPr wrap="square" lIns="0" tIns="0" rIns="0" bIns="0" rtlCol="0" anchor="ctr"/>
          <a:lstStyle/>
          <a:p>
            <a:pPr indent="0" marL="0">
              <a:buNone/>
            </a:pPr>
            <a:r>
              <a:rPr lang="en-US" sz="1500" dirty="0">
                <a:solidFill>
                  <a:srgbClr val="141B3D"/>
                </a:solidFill>
                <a:latin typeface="Calibri" pitchFamily="34" charset="0"/>
                <a:ea typeface="Calibri" pitchFamily="34" charset="-122"/>
                <a:cs typeface="Calibri" pitchFamily="34" charset="-120"/>
              </a:rPr>
              <a:t>The recorded program, 25 lines in: four statements have landed, </a:t>
            </a:r>
            <a:pPr indent="0" marL="0">
              <a:buNone/>
            </a:pPr>
            <a:r>
              <a:rPr lang="en-US" sz="1500" dirty="0">
                <a:solidFill>
                  <a:srgbClr val="BE123C"/>
                </a:solidFill>
                <a:latin typeface="Courier New" pitchFamily="34" charset="0"/>
                <a:ea typeface="Courier New" pitchFamily="34" charset="-122"/>
                <a:cs typeface="Courier New" pitchFamily="34" charset="-120"/>
              </a:rPr>
              <a:t>kpiStack</a:t>
            </a:r>
            <a:pPr indent="0" marL="0">
              <a:buNone/>
            </a:pPr>
            <a:r>
              <a:rPr lang="en-US" sz="1500" dirty="0">
                <a:solidFill>
                  <a:srgbClr val="141B3D"/>
                </a:solidFill>
                <a:latin typeface="Calibri" pitchFamily="34" charset="0"/>
                <a:ea typeface="Calibri" pitchFamily="34" charset="-122"/>
                <a:cs typeface="Calibri" pitchFamily="34" charset="-120"/>
              </a:rPr>
              <a:t> is still open, and three children are dashed placeholders.</a:t>
            </a:r>
            <a:endParaRPr lang="en-US" sz="1500" dirty="0"/>
          </a:p>
        </p:txBody>
      </p:sp>
      <p:sp>
        <p:nvSpPr>
          <p:cNvPr id="6" name="Shape 4"/>
          <p:cNvSpPr/>
          <p:nvPr/>
        </p:nvSpPr>
        <p:spPr>
          <a:xfrm>
            <a:off x="548640" y="2377440"/>
            <a:ext cx="6085332" cy="3291840"/>
          </a:xfrm>
          <a:prstGeom prst="roundRect">
            <a:avLst>
              <a:gd name="adj" fmla="val 2778"/>
            </a:avLst>
          </a:prstGeom>
          <a:solidFill>
            <a:srgbClr val="0F172A"/>
          </a:solidFill>
          <a:ln w="12700">
            <a:solidFill>
              <a:srgbClr val="0F172A"/>
            </a:solidFill>
            <a:prstDash val="solid"/>
          </a:ln>
        </p:spPr>
      </p:sp>
      <p:sp>
        <p:nvSpPr>
          <p:cNvPr id="7" name="Text 5"/>
          <p:cNvSpPr/>
          <p:nvPr/>
        </p:nvSpPr>
        <p:spPr>
          <a:xfrm>
            <a:off x="685800" y="2487168"/>
            <a:ext cx="5811012" cy="3072384"/>
          </a:xfrm>
          <a:prstGeom prst="rect">
            <a:avLst/>
          </a:prstGeom>
          <a:noFill/>
          <a:ln/>
        </p:spPr>
        <p:txBody>
          <a:bodyPr wrap="square" lIns="0" tIns="0" rIns="0" bIns="0" rtlCol="0" anchor="t"/>
          <a:lstStyle/>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root = Stack([title, topFlavoursTable, revenueLineChartCard, kpiStack, statusTag, closingText], "column", "l", "center")</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title = TextContent("Lemonade Stand Report", "large-heavy")</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topFlavoursTable = Card([</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  CardHeader("Top 3 Flavours - Cups Sold &amp; Price"),</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revenueLineChartCard = Card([</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  CardHeader("Weekly Revenue Over Four Weeks"),</a:t>
            </a:r>
            <a:endParaRPr lang="en-US" sz="1050" dirty="0"/>
          </a:p>
          <a:p>
            <a:pPr indent="0" marL="0">
              <a:lnSpc>
                <a:spcPct val="110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kpiStack = Stack([</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statusTag = Tag("Performance", null, "md", "success")</a:t>
            </a:r>
            <a:endParaRPr lang="en-US" sz="1050" dirty="0"/>
          </a:p>
          <a:p>
            <a:pPr indent="0" marL="0">
              <a:lnSpc>
                <a:spcPct val="110000"/>
              </a:lnSpc>
              <a:buNone/>
            </a:pPr>
            <a:r>
              <a:rPr lang="en-US" sz="1050" dirty="0">
                <a:solidFill>
                  <a:srgbClr val="64748B"/>
                </a:solidFill>
                <a:latin typeface="Courier New" pitchFamily="34" charset="0"/>
                <a:ea typeface="Courier New" pitchFamily="34" charset="-122"/>
                <a:cs typeface="Courier New" pitchFamily="34" charset="-120"/>
              </a:rPr>
              <a:t>closingText = TextContent("Sales are strong and trending upward, keep focusing on the top flavours to maximize revenue.", "default")</a:t>
            </a:r>
            <a:endParaRPr lang="en-US" sz="1050" dirty="0"/>
          </a:p>
        </p:txBody>
      </p:sp>
      <p:sp>
        <p:nvSpPr>
          <p:cNvPr id="8" name="Shape 6"/>
          <p:cNvSpPr/>
          <p:nvPr/>
        </p:nvSpPr>
        <p:spPr>
          <a:xfrm>
            <a:off x="6965899" y="2377440"/>
            <a:ext cx="4646981" cy="3291840"/>
          </a:xfrm>
          <a:prstGeom prst="roundRect">
            <a:avLst>
              <a:gd name="adj" fmla="val 2778"/>
            </a:avLst>
          </a:prstGeom>
          <a:solidFill>
            <a:srgbClr val="FFFFFF"/>
          </a:solidFill>
          <a:ln w="12700">
            <a:solidFill>
              <a:srgbClr val="D7DAE5"/>
            </a:solidFill>
            <a:prstDash val="solid"/>
          </a:ln>
        </p:spPr>
      </p:sp>
      <p:sp>
        <p:nvSpPr>
          <p:cNvPr id="9" name="Shape 7"/>
          <p:cNvSpPr/>
          <p:nvPr/>
        </p:nvSpPr>
        <p:spPr>
          <a:xfrm>
            <a:off x="7103059" y="2514600"/>
            <a:ext cx="4372661" cy="411480"/>
          </a:xfrm>
          <a:prstGeom prst="roundRect">
            <a:avLst>
              <a:gd name="adj" fmla="val 22222"/>
            </a:avLst>
          </a:prstGeom>
          <a:solidFill>
            <a:srgbClr val="EEF0FF"/>
          </a:solidFill>
          <a:ln w="15875">
            <a:solidFill>
              <a:srgbClr val="2F3CFF"/>
            </a:solidFill>
            <a:prstDash val="solid"/>
          </a:ln>
        </p:spPr>
      </p:sp>
      <p:sp>
        <p:nvSpPr>
          <p:cNvPr id="10" name="Text 8"/>
          <p:cNvSpPr/>
          <p:nvPr/>
        </p:nvSpPr>
        <p:spPr>
          <a:xfrm>
            <a:off x="7176211" y="2551176"/>
            <a:ext cx="4226357" cy="338328"/>
          </a:xfrm>
          <a:prstGeom prst="rect">
            <a:avLst/>
          </a:prstGeom>
          <a:noFill/>
          <a:ln/>
        </p:spPr>
        <p:txBody>
          <a:bodyPr wrap="square" lIns="0" tIns="0" rIns="0" bIns="0" rtlCol="0" anchor="ctr"/>
          <a:lstStyle/>
          <a:p>
            <a:pPr algn="ctr" indent="0" marL="0">
              <a:buNone/>
            </a:pPr>
            <a:r>
              <a:rPr lang="en-US" sz="1100" b="1" dirty="0">
                <a:solidFill>
                  <a:srgbClr val="2F3CFF"/>
                </a:solidFill>
                <a:latin typeface="Calibri" pitchFamily="34" charset="0"/>
                <a:ea typeface="Calibri" pitchFamily="34" charset="-122"/>
                <a:cs typeface="Calibri" pitchFamily="34" charset="-120"/>
              </a:rPr>
              <a:t>title</a:t>
            </a:r>
            <a:endParaRPr lang="en-US" sz="1100" dirty="0"/>
          </a:p>
        </p:txBody>
      </p:sp>
      <p:sp>
        <p:nvSpPr>
          <p:cNvPr id="11" name="Shape 9"/>
          <p:cNvSpPr/>
          <p:nvPr/>
        </p:nvSpPr>
        <p:spPr>
          <a:xfrm>
            <a:off x="7103059" y="3017520"/>
            <a:ext cx="4372661" cy="411480"/>
          </a:xfrm>
          <a:prstGeom prst="roundRect">
            <a:avLst>
              <a:gd name="adj" fmla="val 22222"/>
            </a:avLst>
          </a:prstGeom>
          <a:solidFill>
            <a:srgbClr val="EEF0FF"/>
          </a:solidFill>
          <a:ln w="15875">
            <a:solidFill>
              <a:srgbClr val="2F3CFF"/>
            </a:solidFill>
            <a:prstDash val="solid"/>
          </a:ln>
        </p:spPr>
      </p:sp>
      <p:sp>
        <p:nvSpPr>
          <p:cNvPr id="12" name="Text 10"/>
          <p:cNvSpPr/>
          <p:nvPr/>
        </p:nvSpPr>
        <p:spPr>
          <a:xfrm>
            <a:off x="7176211" y="3054096"/>
            <a:ext cx="4226357" cy="338328"/>
          </a:xfrm>
          <a:prstGeom prst="rect">
            <a:avLst/>
          </a:prstGeom>
          <a:noFill/>
          <a:ln/>
        </p:spPr>
        <p:txBody>
          <a:bodyPr wrap="square" lIns="0" tIns="0" rIns="0" bIns="0" rtlCol="0" anchor="ctr"/>
          <a:lstStyle/>
          <a:p>
            <a:pPr algn="ctr" indent="0" marL="0">
              <a:buNone/>
            </a:pPr>
            <a:r>
              <a:rPr lang="en-US" sz="1100" b="1" dirty="0">
                <a:solidFill>
                  <a:srgbClr val="2F3CFF"/>
                </a:solidFill>
                <a:latin typeface="Calibri" pitchFamily="34" charset="0"/>
                <a:ea typeface="Calibri" pitchFamily="34" charset="-122"/>
                <a:cs typeface="Calibri" pitchFamily="34" charset="-120"/>
              </a:rPr>
              <a:t>topFlavoursTable</a:t>
            </a:r>
            <a:endParaRPr lang="en-US" sz="1100" dirty="0"/>
          </a:p>
        </p:txBody>
      </p:sp>
      <p:sp>
        <p:nvSpPr>
          <p:cNvPr id="13" name="Shape 11"/>
          <p:cNvSpPr/>
          <p:nvPr/>
        </p:nvSpPr>
        <p:spPr>
          <a:xfrm>
            <a:off x="7103059" y="3520440"/>
            <a:ext cx="4372661" cy="411480"/>
          </a:xfrm>
          <a:prstGeom prst="roundRect">
            <a:avLst>
              <a:gd name="adj" fmla="val 22222"/>
            </a:avLst>
          </a:prstGeom>
          <a:solidFill>
            <a:srgbClr val="EEF0FF"/>
          </a:solidFill>
          <a:ln w="15875">
            <a:solidFill>
              <a:srgbClr val="2F3CFF"/>
            </a:solidFill>
            <a:prstDash val="solid"/>
          </a:ln>
        </p:spPr>
      </p:sp>
      <p:sp>
        <p:nvSpPr>
          <p:cNvPr id="14" name="Text 12"/>
          <p:cNvSpPr/>
          <p:nvPr/>
        </p:nvSpPr>
        <p:spPr>
          <a:xfrm>
            <a:off x="7176211" y="3557016"/>
            <a:ext cx="4226357" cy="338328"/>
          </a:xfrm>
          <a:prstGeom prst="rect">
            <a:avLst/>
          </a:prstGeom>
          <a:noFill/>
          <a:ln/>
        </p:spPr>
        <p:txBody>
          <a:bodyPr wrap="square" lIns="0" tIns="0" rIns="0" bIns="0" rtlCol="0" anchor="ctr"/>
          <a:lstStyle/>
          <a:p>
            <a:pPr algn="ctr" indent="0" marL="0">
              <a:buNone/>
            </a:pPr>
            <a:r>
              <a:rPr lang="en-US" sz="1100" b="1" dirty="0">
                <a:solidFill>
                  <a:srgbClr val="2F3CFF"/>
                </a:solidFill>
                <a:latin typeface="Calibri" pitchFamily="34" charset="0"/>
                <a:ea typeface="Calibri" pitchFamily="34" charset="-122"/>
                <a:cs typeface="Calibri" pitchFamily="34" charset="-120"/>
              </a:rPr>
              <a:t>revenueLineChartCard</a:t>
            </a:r>
            <a:endParaRPr lang="en-US" sz="1100" dirty="0"/>
          </a:p>
        </p:txBody>
      </p:sp>
      <p:sp>
        <p:nvSpPr>
          <p:cNvPr id="15" name="Shape 13"/>
          <p:cNvSpPr/>
          <p:nvPr/>
        </p:nvSpPr>
        <p:spPr>
          <a:xfrm>
            <a:off x="7103059" y="4023360"/>
            <a:ext cx="4372661" cy="411480"/>
          </a:xfrm>
          <a:prstGeom prst="roundRect">
            <a:avLst>
              <a:gd name="adj" fmla="val 22222"/>
            </a:avLst>
          </a:prstGeom>
          <a:solidFill>
            <a:srgbClr val="FFF4E5"/>
          </a:solidFill>
          <a:ln w="15875">
            <a:solidFill>
              <a:srgbClr val="D97706"/>
            </a:solidFill>
            <a:prstDash val="dash"/>
          </a:ln>
        </p:spPr>
      </p:sp>
      <p:sp>
        <p:nvSpPr>
          <p:cNvPr id="16" name="Text 14"/>
          <p:cNvSpPr/>
          <p:nvPr/>
        </p:nvSpPr>
        <p:spPr>
          <a:xfrm>
            <a:off x="7176211" y="4059936"/>
            <a:ext cx="4226357" cy="208026"/>
          </a:xfrm>
          <a:prstGeom prst="rect">
            <a:avLst/>
          </a:prstGeom>
          <a:noFill/>
          <a:ln/>
        </p:spPr>
        <p:txBody>
          <a:bodyPr wrap="square" lIns="0" tIns="0" rIns="0" bIns="0" rtlCol="0" anchor="b"/>
          <a:lstStyle/>
          <a:p>
            <a:pPr algn="ctr" indent="0" marL="0">
              <a:buNone/>
            </a:pPr>
            <a:r>
              <a:rPr lang="en-US" sz="1100" b="1" dirty="0">
                <a:solidFill>
                  <a:srgbClr val="D97706"/>
                </a:solidFill>
                <a:latin typeface="Calibri" pitchFamily="34" charset="0"/>
                <a:ea typeface="Calibri" pitchFamily="34" charset="-122"/>
                <a:cs typeface="Calibri" pitchFamily="34" charset="-120"/>
              </a:rPr>
              <a:t>kpiStack</a:t>
            </a:r>
            <a:endParaRPr lang="en-US" sz="1100" dirty="0"/>
          </a:p>
        </p:txBody>
      </p:sp>
      <p:sp>
        <p:nvSpPr>
          <p:cNvPr id="17" name="Text 15"/>
          <p:cNvSpPr/>
          <p:nvPr/>
        </p:nvSpPr>
        <p:spPr>
          <a:xfrm>
            <a:off x="7176211" y="4267962"/>
            <a:ext cx="4226357" cy="130302"/>
          </a:xfrm>
          <a:prstGeom prst="rect">
            <a:avLst/>
          </a:prstGeom>
          <a:noFill/>
          <a:ln/>
        </p:spPr>
        <p:txBody>
          <a:bodyPr wrap="square" lIns="0" tIns="0" rIns="0" bIns="0" rtlCol="0" anchor="t"/>
          <a:lstStyle/>
          <a:p>
            <a:pPr algn="ctr" indent="0" marL="0">
              <a:buNone/>
            </a:pPr>
            <a:r>
              <a:rPr lang="en-US" sz="850" dirty="0">
                <a:solidFill>
                  <a:srgbClr val="4B5563"/>
                </a:solidFill>
                <a:latin typeface="Calibri" pitchFamily="34" charset="0"/>
                <a:ea typeface="Calibri" pitchFamily="34" charset="-122"/>
                <a:cs typeface="Calibri" pitchFamily="34" charset="-120"/>
              </a:rPr>
              <a:t>waiting for its statement</a:t>
            </a:r>
            <a:endParaRPr lang="en-US" sz="850" dirty="0"/>
          </a:p>
        </p:txBody>
      </p:sp>
      <p:sp>
        <p:nvSpPr>
          <p:cNvPr id="18" name="Shape 16"/>
          <p:cNvSpPr/>
          <p:nvPr/>
        </p:nvSpPr>
        <p:spPr>
          <a:xfrm>
            <a:off x="7103059" y="4526280"/>
            <a:ext cx="4372661" cy="411480"/>
          </a:xfrm>
          <a:prstGeom prst="roundRect">
            <a:avLst>
              <a:gd name="adj" fmla="val 22222"/>
            </a:avLst>
          </a:prstGeom>
          <a:solidFill>
            <a:srgbClr val="FFF4E5"/>
          </a:solidFill>
          <a:ln w="15875">
            <a:solidFill>
              <a:srgbClr val="D97706"/>
            </a:solidFill>
            <a:prstDash val="dash"/>
          </a:ln>
        </p:spPr>
      </p:sp>
      <p:sp>
        <p:nvSpPr>
          <p:cNvPr id="19" name="Text 17"/>
          <p:cNvSpPr/>
          <p:nvPr/>
        </p:nvSpPr>
        <p:spPr>
          <a:xfrm>
            <a:off x="7176211" y="4562856"/>
            <a:ext cx="4226357" cy="208026"/>
          </a:xfrm>
          <a:prstGeom prst="rect">
            <a:avLst/>
          </a:prstGeom>
          <a:noFill/>
          <a:ln/>
        </p:spPr>
        <p:txBody>
          <a:bodyPr wrap="square" lIns="0" tIns="0" rIns="0" bIns="0" rtlCol="0" anchor="b"/>
          <a:lstStyle/>
          <a:p>
            <a:pPr algn="ctr" indent="0" marL="0">
              <a:buNone/>
            </a:pPr>
            <a:r>
              <a:rPr lang="en-US" sz="1100" b="1" dirty="0">
                <a:solidFill>
                  <a:srgbClr val="D97706"/>
                </a:solidFill>
                <a:latin typeface="Calibri" pitchFamily="34" charset="0"/>
                <a:ea typeface="Calibri" pitchFamily="34" charset="-122"/>
                <a:cs typeface="Calibri" pitchFamily="34" charset="-120"/>
              </a:rPr>
              <a:t>statusTag</a:t>
            </a:r>
            <a:endParaRPr lang="en-US" sz="1100" dirty="0"/>
          </a:p>
        </p:txBody>
      </p:sp>
      <p:sp>
        <p:nvSpPr>
          <p:cNvPr id="20" name="Text 18"/>
          <p:cNvSpPr/>
          <p:nvPr/>
        </p:nvSpPr>
        <p:spPr>
          <a:xfrm>
            <a:off x="7176211" y="4770882"/>
            <a:ext cx="4226357" cy="130302"/>
          </a:xfrm>
          <a:prstGeom prst="rect">
            <a:avLst/>
          </a:prstGeom>
          <a:noFill/>
          <a:ln/>
        </p:spPr>
        <p:txBody>
          <a:bodyPr wrap="square" lIns="0" tIns="0" rIns="0" bIns="0" rtlCol="0" anchor="t"/>
          <a:lstStyle/>
          <a:p>
            <a:pPr algn="ctr" indent="0" marL="0">
              <a:buNone/>
            </a:pPr>
            <a:r>
              <a:rPr lang="en-US" sz="850" dirty="0">
                <a:solidFill>
                  <a:srgbClr val="4B5563"/>
                </a:solidFill>
                <a:latin typeface="Calibri" pitchFamily="34" charset="0"/>
                <a:ea typeface="Calibri" pitchFamily="34" charset="-122"/>
                <a:cs typeface="Calibri" pitchFamily="34" charset="-120"/>
              </a:rPr>
              <a:t>waiting for its statement</a:t>
            </a:r>
            <a:endParaRPr lang="en-US" sz="850" dirty="0"/>
          </a:p>
        </p:txBody>
      </p:sp>
      <p:sp>
        <p:nvSpPr>
          <p:cNvPr id="21" name="Shape 19"/>
          <p:cNvSpPr/>
          <p:nvPr/>
        </p:nvSpPr>
        <p:spPr>
          <a:xfrm>
            <a:off x="7103059" y="5029200"/>
            <a:ext cx="4372661" cy="411480"/>
          </a:xfrm>
          <a:prstGeom prst="roundRect">
            <a:avLst>
              <a:gd name="adj" fmla="val 22222"/>
            </a:avLst>
          </a:prstGeom>
          <a:solidFill>
            <a:srgbClr val="FFF4E5"/>
          </a:solidFill>
          <a:ln w="15875">
            <a:solidFill>
              <a:srgbClr val="D97706"/>
            </a:solidFill>
            <a:prstDash val="dash"/>
          </a:ln>
        </p:spPr>
      </p:sp>
      <p:sp>
        <p:nvSpPr>
          <p:cNvPr id="22" name="Text 20"/>
          <p:cNvSpPr/>
          <p:nvPr/>
        </p:nvSpPr>
        <p:spPr>
          <a:xfrm>
            <a:off x="7176211" y="5065776"/>
            <a:ext cx="4226357" cy="208026"/>
          </a:xfrm>
          <a:prstGeom prst="rect">
            <a:avLst/>
          </a:prstGeom>
          <a:noFill/>
          <a:ln/>
        </p:spPr>
        <p:txBody>
          <a:bodyPr wrap="square" lIns="0" tIns="0" rIns="0" bIns="0" rtlCol="0" anchor="b"/>
          <a:lstStyle/>
          <a:p>
            <a:pPr algn="ctr" indent="0" marL="0">
              <a:buNone/>
            </a:pPr>
            <a:r>
              <a:rPr lang="en-US" sz="1100" b="1" dirty="0">
                <a:solidFill>
                  <a:srgbClr val="D97706"/>
                </a:solidFill>
                <a:latin typeface="Calibri" pitchFamily="34" charset="0"/>
                <a:ea typeface="Calibri" pitchFamily="34" charset="-122"/>
                <a:cs typeface="Calibri" pitchFamily="34" charset="-120"/>
              </a:rPr>
              <a:t>closingText</a:t>
            </a:r>
            <a:endParaRPr lang="en-US" sz="1100" dirty="0"/>
          </a:p>
        </p:txBody>
      </p:sp>
      <p:sp>
        <p:nvSpPr>
          <p:cNvPr id="23" name="Text 21"/>
          <p:cNvSpPr/>
          <p:nvPr/>
        </p:nvSpPr>
        <p:spPr>
          <a:xfrm>
            <a:off x="7176211" y="5273802"/>
            <a:ext cx="4226357" cy="130302"/>
          </a:xfrm>
          <a:prstGeom prst="rect">
            <a:avLst/>
          </a:prstGeom>
          <a:noFill/>
          <a:ln/>
        </p:spPr>
        <p:txBody>
          <a:bodyPr wrap="square" lIns="0" tIns="0" rIns="0" bIns="0" rtlCol="0" anchor="t"/>
          <a:lstStyle/>
          <a:p>
            <a:pPr algn="ctr" indent="0" marL="0">
              <a:buNone/>
            </a:pPr>
            <a:r>
              <a:rPr lang="en-US" sz="850" dirty="0">
                <a:solidFill>
                  <a:srgbClr val="4B5563"/>
                </a:solidFill>
                <a:latin typeface="Calibri" pitchFamily="34" charset="0"/>
                <a:ea typeface="Calibri" pitchFamily="34" charset="-122"/>
                <a:cs typeface="Calibri" pitchFamily="34" charset="-120"/>
              </a:rPr>
              <a:t>waiting for its statement</a:t>
            </a:r>
            <a:endParaRPr lang="en-US" sz="850" dirty="0"/>
          </a:p>
        </p:txBody>
      </p:sp>
      <p:sp>
        <p:nvSpPr>
          <p:cNvPr id="24" name="Text 22"/>
          <p:cNvSpPr/>
          <p:nvPr/>
        </p:nvSpPr>
        <p:spPr>
          <a:xfrm>
            <a:off x="548640" y="5715000"/>
            <a:ext cx="110642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Bright lines have committed; dim lines are still to come. `kpiStack = Stack([` is held back until its closing bracket balances.</a:t>
            </a:r>
            <a:endParaRPr lang="en-US" sz="1050" dirty="0"/>
          </a:p>
        </p:txBody>
      </p:sp>
      <p:sp>
        <p:nvSpPr>
          <p:cNvPr id="25" name="Shape 23"/>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6" name="Text 24"/>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Structure before content: the layout is known from the first line, and each box fills in when its statement lands.</a:t>
            </a:r>
            <a:endParaRPr lang="en-US" sz="12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07.2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300" b="1" dirty="0">
                <a:solidFill>
                  <a:srgbClr val="1F2937"/>
                </a:solidFill>
                <a:latin typeface="Cambria" pitchFamily="34" charset="0"/>
                <a:ea typeface="Cambria" pitchFamily="34" charset="-122"/>
                <a:cs typeface="Cambria" pitchFamily="34" charset="-120"/>
              </a:rPr>
              <a:t>A statement commits at the first newline where its brackets balance</a:t>
            </a:r>
            <a:endParaRPr lang="en-US" sz="23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121</a:t>
            </a:r>
            <a:endParaRPr lang="en-US" sz="1000" dirty="0"/>
          </a:p>
        </p:txBody>
      </p:sp>
      <p:sp>
        <p:nvSpPr>
          <p:cNvPr id="5" name="Shape 3"/>
          <p:cNvSpPr/>
          <p:nvPr/>
        </p:nvSpPr>
        <p:spPr>
          <a:xfrm>
            <a:off x="548640" y="1417320"/>
            <a:ext cx="7406640" cy="3014472"/>
          </a:xfrm>
          <a:prstGeom prst="roundRect">
            <a:avLst>
              <a:gd name="adj" fmla="val 3033"/>
            </a:avLst>
          </a:prstGeom>
          <a:solidFill>
            <a:srgbClr val="0F172A"/>
          </a:solidFill>
          <a:ln w="12700">
            <a:solidFill>
              <a:srgbClr val="0F172A"/>
            </a:solidFill>
            <a:prstDash val="solid"/>
          </a:ln>
        </p:spPr>
      </p:sp>
      <p:sp>
        <p:nvSpPr>
          <p:cNvPr id="6" name="Text 4"/>
          <p:cNvSpPr/>
          <p:nvPr/>
        </p:nvSpPr>
        <p:spPr>
          <a:xfrm>
            <a:off x="731520" y="1554480"/>
            <a:ext cx="7040880" cy="2740152"/>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feed(self, text):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"""Add a chunk. Every complete statement it finishes is parsed now."""</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self.buffer += text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while True: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 the first newline at which the text before it is balanced ends a statement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6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start, cut = 0, None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while cut is None: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nl = self.buffer.find("\n", start)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if nl == -1:</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return  # the rest is an unfinished line: hold it back</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complete(self.buffer[:nl]):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cut = nl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start = nl + 1</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line, self.buffer = self.buffer[:cut], self.buffer[cut + 1:]</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self.add_line(line.replace("\n", " "))</a:t>
            </a:r>
            <a:endParaRPr lang="en-US" sz="1050" dirty="0"/>
          </a:p>
        </p:txBody>
      </p:sp>
      <p:sp>
        <p:nvSpPr>
          <p:cNvPr id="7" name="Text 5"/>
          <p:cNvSpPr/>
          <p:nvPr/>
        </p:nvSpPr>
        <p:spPr>
          <a:xfrm>
            <a:off x="548640" y="4477512"/>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07_harness_genui/step_02_trueforge_generative_ui/openui_parse.py</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No newline yet: the rest of the buffer is an unfinished line and is held back for the next chunk.</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BE123C"/>
                </a:solidFill>
                <a:latin typeface="Courier New" pitchFamily="34" charset="0"/>
                <a:ea typeface="Courier New" pitchFamily="34" charset="-122"/>
                <a:cs typeface="Courier New" pitchFamily="34" charset="-120"/>
              </a:rPr>
              <a:t>complete()</a:t>
            </a:r>
            <a:pPr indent="0" marL="0">
              <a:buNone/>
            </a:pPr>
            <a:r>
              <a:rPr lang="en-US" sz="1200" dirty="0">
                <a:solidFill>
                  <a:srgbClr val="1F2937"/>
                </a:solidFill>
                <a:latin typeface="Calibri" pitchFamily="34" charset="0"/>
                <a:ea typeface="Calibri" pitchFamily="34" charset="-122"/>
                <a:cs typeface="Calibri" pitchFamily="34" charset="-120"/>
              </a:rPr>
              <a:t> is a bracket-balance check. The loop walks newline by newline until the text before one balances.</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 multi-line </a:t>
            </a:r>
            <a:pPr indent="0" marL="0">
              <a:buNone/>
            </a:pPr>
            <a:r>
              <a:rPr lang="en-US" sz="1200" dirty="0">
                <a:solidFill>
                  <a:srgbClr val="BE123C"/>
                </a:solidFill>
                <a:latin typeface="Courier New" pitchFamily="34" charset="0"/>
                <a:ea typeface="Courier New" pitchFamily="34" charset="-122"/>
                <a:cs typeface="Courier New" pitchFamily="34" charset="-120"/>
              </a:rPr>
              <a:t>Card([</a:t>
            </a:r>
            <a:pPr indent="0" marL="0">
              <a:buNone/>
            </a:pPr>
            <a:r>
              <a:rPr lang="en-US" sz="1200" dirty="0">
                <a:solidFill>
                  <a:srgbClr val="1F2937"/>
                </a:solidFill>
                <a:latin typeface="Calibri" pitchFamily="34" charset="0"/>
                <a:ea typeface="Calibri" pitchFamily="34" charset="-122"/>
                <a:cs typeface="Calibri" pitchFamily="34" charset="-120"/>
              </a:rPr>
              <a:t> becomes one statement; its inner newlines are folded to spaces before parsing.</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feed()</a:t>
            </a:r>
            <a:pPr indent="0" marL="0">
              <a:buNone/>
            </a:pPr>
            <a:r>
              <a:rPr lang="en-US" sz="1250" dirty="0">
                <a:solidFill>
                  <a:srgbClr val="4B5563"/>
                </a:solidFill>
                <a:latin typeface="Calibri" pitchFamily="34" charset="0"/>
                <a:ea typeface="Calibri" pitchFamily="34" charset="-122"/>
                <a:cs typeface="Calibri" pitchFamily="34" charset="-120"/>
              </a:rPr>
              <a:t> takes any chunk; complete statements are parsed at once, an open list waits for its closing bracket.</a:t>
            </a:r>
            <a:endParaRPr lang="en-US" sz="12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07.2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Enabling generative_ui is the whole configuration; the agent was told nothing about OpenUI Lang</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122</a:t>
            </a:r>
            <a:endParaRPr lang="en-US" sz="1000" dirty="0"/>
          </a:p>
        </p:txBody>
      </p:sp>
      <p:sp>
        <p:nvSpPr>
          <p:cNvPr id="5" name="Shape 3"/>
          <p:cNvSpPr/>
          <p:nvPr/>
        </p:nvSpPr>
        <p:spPr>
          <a:xfrm>
            <a:off x="548640" y="1737360"/>
            <a:ext cx="7406640" cy="1875663"/>
          </a:xfrm>
          <a:prstGeom prst="roundRect">
            <a:avLst>
              <a:gd name="adj" fmla="val 4875"/>
            </a:avLst>
          </a:prstGeom>
          <a:solidFill>
            <a:srgbClr val="0F172A"/>
          </a:solidFill>
          <a:ln w="12700">
            <a:solidFill>
              <a:srgbClr val="0F172A"/>
            </a:solidFill>
            <a:prstDash val="solid"/>
          </a:ln>
        </p:spPr>
      </p:sp>
      <p:sp>
        <p:nvSpPr>
          <p:cNvPr id="6" name="Text 4"/>
          <p:cNvSpPr/>
          <p:nvPr/>
        </p:nvSpPr>
        <p:spPr>
          <a:xfrm>
            <a:off x="731520" y="1874520"/>
            <a:ext cx="7040880" cy="1601343"/>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def open_session():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 session on an inline agent with generative UI switched on."""</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spec = AgentSpec(</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model=Model(name=MODEL),</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instructions=INSTRUCTIONS,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config=RuntimeConfig(generative_ui=GenerativeUiConfig(enabled=True)),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session = client().sessions.create(agent=SessionAgentSpecBody(spec=spec))</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session.data.id</a:t>
            </a:r>
            <a:endParaRPr lang="en-US" sz="1050" dirty="0"/>
          </a:p>
        </p:txBody>
      </p:sp>
      <p:sp>
        <p:nvSpPr>
          <p:cNvPr id="7" name="Text 5"/>
          <p:cNvSpPr/>
          <p:nvPr/>
        </p:nvSpPr>
        <p:spPr>
          <a:xfrm>
            <a:off x="548640" y="3658743"/>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07_harness_genui/step_02_trueforge_generative_ui/client/genui.py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9431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only difference from Part 7's client. The catalog, the grammar and the fence come from TrueForge's own harness prompt.</a:t>
            </a:r>
            <a:endParaRPr lang="en-US" sz="1200" dirty="0"/>
          </a:p>
        </p:txBody>
      </p:sp>
      <p:sp>
        <p:nvSpPr>
          <p:cNvPr id="11" name="Shape 9"/>
          <p:cNvSpPr/>
          <p:nvPr/>
        </p:nvSpPr>
        <p:spPr>
          <a:xfrm>
            <a:off x="8183880" y="381762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8176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781044"/>
            <a:ext cx="3063240" cy="19431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 inline agent spec on a session. </a:t>
            </a:r>
            <a:pPr indent="0" marL="0">
              <a:buNone/>
            </a:pPr>
            <a:r>
              <a:rPr lang="en-US" sz="1200" dirty="0">
                <a:solidFill>
                  <a:srgbClr val="BE123C"/>
                </a:solidFill>
                <a:latin typeface="Courier New" pitchFamily="34" charset="0"/>
                <a:ea typeface="Courier New" pitchFamily="34" charset="-122"/>
                <a:cs typeface="Courier New" pitchFamily="34" charset="-120"/>
              </a:rPr>
              <a:t>ask()</a:t>
            </a:r>
            <a:pPr indent="0" marL="0">
              <a:buNone/>
            </a:pPr>
            <a:r>
              <a:rPr lang="en-US" sz="1200" dirty="0">
                <a:solidFill>
                  <a:srgbClr val="1F2937"/>
                </a:solidFill>
                <a:latin typeface="Calibri" pitchFamily="34" charset="0"/>
                <a:ea typeface="Calibri" pitchFamily="34" charset="-122"/>
                <a:cs typeface="Calibri" pitchFamily="34" charset="-120"/>
              </a:rPr>
              <a:t> then streams one turn and collects </a:t>
            </a:r>
            <a:pPr indent="0" marL="0">
              <a:buNone/>
            </a:pPr>
            <a:r>
              <a:rPr lang="en-US" sz="1200" dirty="0">
                <a:solidFill>
                  <a:srgbClr val="BE123C"/>
                </a:solidFill>
                <a:latin typeface="Courier New" pitchFamily="34" charset="0"/>
                <a:ea typeface="Courier New" pitchFamily="34" charset="-122"/>
                <a:cs typeface="Courier New" pitchFamily="34" charset="-120"/>
              </a:rPr>
              <a:t>model.message.delta</a:t>
            </a:r>
            <a:pPr indent="0" marL="0">
              <a:buNone/>
            </a:pPr>
            <a:r>
              <a:rPr lang="en-US" sz="1200" dirty="0">
                <a:solidFill>
                  <a:srgbClr val="1F2937"/>
                </a:solidFill>
                <a:latin typeface="Calibri" pitchFamily="34" charset="0"/>
                <a:ea typeface="Calibri" pitchFamily="34" charset="-122"/>
                <a:cs typeface="Calibri" pitchFamily="34" charset="-120"/>
              </a:rPr>
              <a:t> events on the main thread.</a:t>
            </a:r>
            <a:endParaRPr lang="en-US" sz="1200" dirty="0"/>
          </a:p>
        </p:txBody>
      </p:sp>
      <p:sp>
        <p:nvSpPr>
          <p:cNvPr id="14" name="Text 12"/>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BE123C"/>
                </a:solidFill>
                <a:latin typeface="Courier New" pitchFamily="34" charset="0"/>
                <a:ea typeface="Courier New" pitchFamily="34" charset="-122"/>
                <a:cs typeface="Courier New" pitchFamily="34" charset="-120"/>
              </a:rPr>
              <a:t>extract_program()</a:t>
            </a:r>
            <a:pPr indent="0" marL="0">
              <a:buNone/>
            </a:pPr>
            <a:r>
              <a:rPr lang="en-US" sz="1250" dirty="0">
                <a:solidFill>
                  <a:srgbClr val="4B5563"/>
                </a:solidFill>
                <a:latin typeface="Calibri" pitchFamily="34" charset="0"/>
                <a:ea typeface="Calibri" pitchFamily="34" charset="-122"/>
                <a:cs typeface="Calibri" pitchFamily="34" charset="-120"/>
              </a:rPr>
              <a:t> then returns what is inside the first ```openui fence, and copes with a fence a cut stream never closed.</a:t>
            </a:r>
            <a:endParaRPr lang="en-US" sz="12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07.2 · QUICK DEMO · MID-STREAM</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Twenty-five lines in: the root named six children, three are still dashed placeholders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123</a:t>
            </a:r>
            <a:endParaRPr lang="en-US" sz="1000" dirty="0"/>
          </a:p>
        </p:txBody>
      </p:sp>
      <p:pic>
        <p:nvPicPr>
          <p:cNvPr id="5" name="Image 0" descr="C:\Users\evija\simple-coding-harness\genui\07_harness_genui\step_02_trueforge_generative_ui\demo_stream.png">    </p:cNvPr>
          <p:cNvPicPr>
            <a:picLocks noChangeAspect="1"/>
          </p:cNvPicPr>
          <p:nvPr/>
        </p:nvPicPr>
        <p:blipFill>
          <a:blip r:embed="rId1"/>
          <a:srcRect l="0" r="0" t="0" b="0"/>
          <a:stretch/>
        </p:blipFill>
        <p:spPr>
          <a:xfrm>
            <a:off x="548640" y="1417320"/>
            <a:ext cx="6583680" cy="4297680"/>
          </a:xfrm>
          <a:prstGeom prst="rect">
            <a:avLst/>
          </a:prstGeom>
        </p:spPr>
      </p:pic>
      <p:sp>
        <p:nvSpPr>
          <p:cNvPr id="6" name="Shape 3"/>
          <p:cNvSpPr/>
          <p:nvPr/>
        </p:nvSpPr>
        <p:spPr>
          <a:xfrm>
            <a:off x="548640" y="1417320"/>
            <a:ext cx="6583680" cy="4297680"/>
          </a:xfrm>
          <a:prstGeom prst="rect">
            <a:avLst/>
          </a:prstGeom>
          <a:ln w="12700">
            <a:solidFill>
              <a:srgbClr val="D7DAE5"/>
            </a:solidFill>
            <a:prstDash val="solid"/>
          </a:ln>
        </p:spPr>
      </p:sp>
      <p:sp>
        <p:nvSpPr>
          <p:cNvPr id="7" name="Shape 4"/>
          <p:cNvSpPr/>
          <p:nvPr/>
        </p:nvSpPr>
        <p:spPr>
          <a:xfrm>
            <a:off x="7498080" y="1417320"/>
            <a:ext cx="414223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635240" y="1472184"/>
            <a:ext cx="386791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25</a:t>
            </a:r>
            <a:endParaRPr lang="en-US" sz="2800" dirty="0"/>
          </a:p>
        </p:txBody>
      </p:sp>
      <p:sp>
        <p:nvSpPr>
          <p:cNvPr id="9" name="Text 6"/>
          <p:cNvSpPr/>
          <p:nvPr/>
        </p:nvSpPr>
        <p:spPr>
          <a:xfrm>
            <a:off x="7635240" y="203911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lines received of 32</a:t>
            </a:r>
            <a:endParaRPr lang="en-US" sz="1050" dirty="0"/>
          </a:p>
        </p:txBody>
      </p:sp>
      <p:sp>
        <p:nvSpPr>
          <p:cNvPr id="10" name="Shape 7"/>
          <p:cNvSpPr/>
          <p:nvPr/>
        </p:nvSpPr>
        <p:spPr>
          <a:xfrm>
            <a:off x="7498080" y="2697480"/>
            <a:ext cx="414223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635240" y="2752344"/>
            <a:ext cx="386791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3 of 6</a:t>
            </a:r>
            <a:endParaRPr lang="en-US" sz="2800" dirty="0"/>
          </a:p>
        </p:txBody>
      </p:sp>
      <p:sp>
        <p:nvSpPr>
          <p:cNvPr id="12" name="Text 9"/>
          <p:cNvSpPr/>
          <p:nvPr/>
        </p:nvSpPr>
        <p:spPr>
          <a:xfrm>
            <a:off x="7635240" y="331927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children still pending</a:t>
            </a:r>
            <a:endParaRPr lang="en-US" sz="1050" dirty="0"/>
          </a:p>
        </p:txBody>
      </p:sp>
      <p:sp>
        <p:nvSpPr>
          <p:cNvPr id="13" name="Text 10"/>
          <p:cNvSpPr/>
          <p:nvPr/>
        </p:nvSpPr>
        <p:spPr>
          <a:xfrm>
            <a:off x="7498080" y="4023360"/>
            <a:ext cx="414223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title, the flavours table and the revenue chart card have their statements and are drawn.</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t>
            </a:r>
            <a:pPr indent="0" marL="0">
              <a:buNone/>
            </a:pPr>
            <a:r>
              <a:rPr lang="en-US" sz="1150" dirty="0">
                <a:solidFill>
                  <a:srgbClr val="BE123C"/>
                </a:solidFill>
                <a:latin typeface="Courier New" pitchFamily="34" charset="0"/>
                <a:ea typeface="Courier New" pitchFamily="34" charset="-122"/>
                <a:cs typeface="Courier New" pitchFamily="34" charset="-120"/>
              </a:rPr>
              <a:t>kpiStack</a:t>
            </a:r>
            <a:pPr indent="0" marL="0">
              <a:buNone/>
            </a:pPr>
            <a:r>
              <a:rPr lang="en-US" sz="1250" dirty="0">
                <a:solidFill>
                  <a:srgbClr val="1F2937"/>
                </a:solidFill>
                <a:latin typeface="Calibri" pitchFamily="34" charset="0"/>
                <a:ea typeface="Calibri" pitchFamily="34" charset="-122"/>
                <a:cs typeface="Calibri" pitchFamily="34" charset="-120"/>
              </a:rPr>
              <a:t>, </a:t>
            </a:r>
            <a:pPr indent="0" marL="0">
              <a:buNone/>
            </a:pPr>
            <a:r>
              <a:rPr lang="en-US" sz="1150" dirty="0">
                <a:solidFill>
                  <a:srgbClr val="BE123C"/>
                </a:solidFill>
                <a:latin typeface="Courier New" pitchFamily="34" charset="0"/>
                <a:ea typeface="Courier New" pitchFamily="34" charset="-122"/>
                <a:cs typeface="Courier New" pitchFamily="34" charset="-120"/>
              </a:rPr>
              <a:t>statusTag</a:t>
            </a:r>
            <a:pPr indent="0" marL="0">
              <a:buNone/>
            </a:pPr>
            <a:r>
              <a:rPr lang="en-US" sz="1250" dirty="0">
                <a:solidFill>
                  <a:srgbClr val="1F2937"/>
                </a:solidFill>
                <a:latin typeface="Calibri" pitchFamily="34" charset="0"/>
                <a:ea typeface="Calibri" pitchFamily="34" charset="-122"/>
                <a:cs typeface="Calibri" pitchFamily="34" charset="-120"/>
              </a:rPr>
              <a:t> and </a:t>
            </a:r>
            <a:pPr indent="0" marL="0">
              <a:buNone/>
            </a:pPr>
            <a:r>
              <a:rPr lang="en-US" sz="1150" dirty="0">
                <a:solidFill>
                  <a:srgbClr val="BE123C"/>
                </a:solidFill>
                <a:latin typeface="Courier New" pitchFamily="34" charset="0"/>
                <a:ea typeface="Courier New" pitchFamily="34" charset="-122"/>
                <a:cs typeface="Courier New" pitchFamily="34" charset="-120"/>
              </a:rPr>
              <a:t>closingText</a:t>
            </a:r>
            <a:pPr indent="0" marL="0">
              <a:buNone/>
            </a:pPr>
            <a:r>
              <a:rPr lang="en-US" sz="1250" dirty="0">
                <a:solidFill>
                  <a:srgbClr val="1F2937"/>
                </a:solidFill>
                <a:latin typeface="Calibri" pitchFamily="34" charset="0"/>
                <a:ea typeface="Calibri" pitchFamily="34" charset="-122"/>
                <a:cs typeface="Calibri" pitchFamily="34" charset="-120"/>
              </a:rPr>
              <a:t> are named on line 1 and wait as dashed boxes.</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program text beside the tree highlights the line that just arrived.</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One line per SSE event; the tree is redrawn from </a:t>
            </a:r>
            <a:pPr indent="0" marL="0">
              <a:buNone/>
            </a:pPr>
            <a:r>
              <a:rPr lang="en-US" sz="1200" dirty="0">
                <a:solidFill>
                  <a:srgbClr val="BE123C"/>
                </a:solidFill>
                <a:latin typeface="Courier New" pitchFamily="34" charset="0"/>
                <a:ea typeface="Courier New" pitchFamily="34" charset="-122"/>
                <a:cs typeface="Courier New" pitchFamily="34" charset="-120"/>
              </a:rPr>
              <a:t>root</a:t>
            </a:r>
            <a:pPr indent="0" marL="0">
              <a:buNone/>
            </a:pPr>
            <a:r>
              <a:rPr lang="en-US" sz="1200" dirty="0">
                <a:solidFill>
                  <a:srgbClr val="4B5563"/>
                </a:solidFill>
                <a:latin typeface="Calibri" pitchFamily="34" charset="0"/>
                <a:ea typeface="Calibri" pitchFamily="34" charset="-122"/>
                <a:cs typeface="Calibri" pitchFamily="34" charset="-120"/>
              </a:rPr>
              <a:t> after every line.</a:t>
            </a:r>
            <a:endParaRPr lang="en-US" sz="12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07.2 · QUICK DEMO · COMPLETE</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A 32-line program of 7 statements, drawn by a page that never saw TrueForge's UI</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124</a:t>
            </a:r>
            <a:endParaRPr lang="en-US" sz="1000" dirty="0"/>
          </a:p>
        </p:txBody>
      </p:sp>
      <p:pic>
        <p:nvPicPr>
          <p:cNvPr id="5" name="Image 0" descr="C:\Users\evija\simple-coding-harness\genui\07_harness_genui\step_02_trueforge_generative_ui\demo.png">    </p:cNvPr>
          <p:cNvPicPr>
            <a:picLocks noChangeAspect="1"/>
          </p:cNvPicPr>
          <p:nvPr/>
        </p:nvPicPr>
        <p:blipFill>
          <a:blip r:embed="rId1"/>
          <a:srcRect l="0" r="0" t="0" b="0"/>
          <a:stretch/>
        </p:blipFill>
        <p:spPr>
          <a:xfrm>
            <a:off x="548640" y="1417320"/>
            <a:ext cx="6217920" cy="4480560"/>
          </a:xfrm>
          <a:prstGeom prst="rect">
            <a:avLst/>
          </a:prstGeom>
        </p:spPr>
      </p:pic>
      <p:sp>
        <p:nvSpPr>
          <p:cNvPr id="6" name="Shape 3"/>
          <p:cNvSpPr/>
          <p:nvPr/>
        </p:nvSpPr>
        <p:spPr>
          <a:xfrm>
            <a:off x="548640" y="1417320"/>
            <a:ext cx="6217920" cy="4480560"/>
          </a:xfrm>
          <a:prstGeom prst="rect">
            <a:avLst/>
          </a:prstGeom>
          <a:ln w="12700">
            <a:solidFill>
              <a:srgbClr val="D7DAE5"/>
            </a:solidFill>
            <a:prstDash val="solid"/>
          </a:ln>
        </p:spPr>
      </p:sp>
      <p:sp>
        <p:nvSpPr>
          <p:cNvPr id="7" name="Shape 4"/>
          <p:cNvSpPr/>
          <p:nvPr/>
        </p:nvSpPr>
        <p:spPr>
          <a:xfrm>
            <a:off x="7132320" y="1417320"/>
            <a:ext cx="450799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269480" y="1472184"/>
            <a:ext cx="423367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6,954 · 352</a:t>
            </a:r>
            <a:endParaRPr lang="en-US" sz="2800" dirty="0"/>
          </a:p>
        </p:txBody>
      </p:sp>
      <p:sp>
        <p:nvSpPr>
          <p:cNvPr id="9" name="Text 6"/>
          <p:cNvSpPr/>
          <p:nvPr/>
        </p:nvSpPr>
        <p:spPr>
          <a:xfrm>
            <a:off x="7269480" y="2039112"/>
            <a:ext cx="423367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input · output tokens for the turn</a:t>
            </a:r>
            <a:endParaRPr lang="en-US" sz="1050" dirty="0"/>
          </a:p>
        </p:txBody>
      </p:sp>
      <p:sp>
        <p:nvSpPr>
          <p:cNvPr id="10" name="Shape 7"/>
          <p:cNvSpPr/>
          <p:nvPr/>
        </p:nvSpPr>
        <p:spPr>
          <a:xfrm>
            <a:off x="7132320" y="2697480"/>
            <a:ext cx="450799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269480" y="2752344"/>
            <a:ext cx="423367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1,288</a:t>
            </a:r>
            <a:endParaRPr lang="en-US" sz="2800" dirty="0"/>
          </a:p>
        </p:txBody>
      </p:sp>
      <p:sp>
        <p:nvSpPr>
          <p:cNvPr id="12" name="Text 9"/>
          <p:cNvSpPr/>
          <p:nvPr/>
        </p:nvSpPr>
        <p:spPr>
          <a:xfrm>
            <a:off x="7269480" y="3319272"/>
            <a:ext cx="423367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input tokens labelled harness: the catalog and grammar</a:t>
            </a:r>
            <a:endParaRPr lang="en-US" sz="1050" dirty="0"/>
          </a:p>
        </p:txBody>
      </p:sp>
      <p:sp>
        <p:nvSpPr>
          <p:cNvPr id="13" name="Text 10"/>
          <p:cNvSpPr/>
          <p:nvPr/>
        </p:nvSpPr>
        <p:spPr>
          <a:xfrm>
            <a:off x="7132320" y="4023360"/>
            <a:ext cx="450799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 title, a table, a line chart card, two KPI cards, a tag and a sentence: every placeholder filled.</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renderer's positional args are a reading of what the agent emitted, not a copy of TrueForge's library.</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Anything outside that reading lands in the </a:t>
            </a:r>
            <a:pPr indent="0" marL="0">
              <a:buNone/>
            </a:pPr>
            <a:r>
              <a:rPr lang="en-US" sz="1150" dirty="0">
                <a:solidFill>
                  <a:srgbClr val="BE123C"/>
                </a:solidFill>
                <a:latin typeface="Courier New" pitchFamily="34" charset="0"/>
                <a:ea typeface="Courier New" pitchFamily="34" charset="-122"/>
                <a:cs typeface="Courier New" pitchFamily="34" charset="-120"/>
              </a:rPr>
              <a:t>unknown</a:t>
            </a:r>
            <a:pPr indent="0" marL="0">
              <a:buNone/>
            </a:pPr>
            <a:r>
              <a:rPr lang="en-US" sz="1250" dirty="0">
                <a:solidFill>
                  <a:srgbClr val="1F2937"/>
                </a:solidFill>
                <a:latin typeface="Calibri" pitchFamily="34" charset="0"/>
                <a:ea typeface="Calibri" pitchFamily="34" charset="-122"/>
                <a:cs typeface="Calibri" pitchFamily="34" charset="-120"/>
              </a:rPr>
              <a:t> box with its args visible.</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step 01 model wrote 308 tokens of JSON for a comparable dashboard; the argument for OpenUI Lang is streaming, and larger UIs.</a:t>
            </a:r>
            <a:endParaRPr lang="en-US" sz="12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07.3 · LEVEL 23 OF 23 · THE TRUEFORGE SDK</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hosted harness sets the catalog; the surface adds the one component it lacks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125</a:t>
            </a:r>
            <a:endParaRPr lang="en-US" sz="1000" dirty="0"/>
          </a:p>
        </p:txBody>
      </p:sp>
      <p:sp>
        <p:nvSpPr>
          <p:cNvPr id="5" name="Text 3"/>
          <p:cNvSpPr/>
          <p:nvPr/>
        </p:nvSpPr>
        <p:spPr>
          <a:xfrm>
            <a:off x="548640" y="1417320"/>
            <a:ext cx="5120640" cy="822960"/>
          </a:xfrm>
          <a:prstGeom prst="rect">
            <a:avLst/>
          </a:prstGeom>
          <a:noFill/>
          <a:ln/>
        </p:spPr>
        <p:txBody>
          <a:bodyPr wrap="square" lIns="0" tIns="0" rIns="0" bIns="0" rtlCol="0" anchor="t"/>
          <a:lstStyle/>
          <a:p>
            <a:pPr indent="0" marL="0">
              <a:buNone/>
            </a:pPr>
            <a:r>
              <a:rPr lang="en-US" sz="1600" dirty="0">
                <a:solidFill>
                  <a:srgbClr val="141B3D"/>
                </a:solidFill>
                <a:latin typeface="Calibri" pitchFamily="34" charset="0"/>
                <a:ea typeface="Calibri" pitchFamily="34" charset="-122"/>
                <a:cs typeface="Calibri" pitchFamily="34" charset="-120"/>
              </a:rPr>
              <a:t>TrueForge's generative UI is </a:t>
            </a:r>
            <a:pPr indent="0" marL="0">
              <a:buNone/>
            </a:pPr>
            <a:r>
              <a:rPr lang="en-US" sz="1600" b="1" dirty="0">
                <a:solidFill>
                  <a:srgbClr val="141B3D"/>
                </a:solidFill>
                <a:latin typeface="Calibri" pitchFamily="34" charset="0"/>
                <a:ea typeface="Calibri" pitchFamily="34" charset="-122"/>
                <a:cs typeface="Calibri" pitchFamily="34" charset="-120"/>
              </a:rPr>
              <a:t>catalog-only</a:t>
            </a:r>
            <a:pPr indent="0" marL="0">
              <a:buNone/>
            </a:pPr>
            <a:r>
              <a:rPr lang="en-US" sz="1600" dirty="0">
                <a:solidFill>
                  <a:srgbClr val="141B3D"/>
                </a:solidFill>
                <a:latin typeface="Calibri" pitchFamily="34" charset="0"/>
                <a:ea typeface="Calibri" pitchFamily="34" charset="-122"/>
                <a:cs typeface="Calibri" pitchFamily="34" charset="-120"/>
              </a:rPr>
              <a:t>. The report's hybrid needs one </a:t>
            </a:r>
            <a:pPr indent="0" marL="0">
              <a:buNone/>
            </a:pPr>
            <a:r>
              <a:rPr lang="en-US" sz="1600" b="1" dirty="0">
                <a:solidFill>
                  <a:srgbClr val="141B3D"/>
                </a:solidFill>
                <a:latin typeface="Calibri" pitchFamily="34" charset="0"/>
                <a:ea typeface="Calibri" pitchFamily="34" charset="-122"/>
                <a:cs typeface="Calibri" pitchFamily="34" charset="-120"/>
              </a:rPr>
              <a:t>open-ended</a:t>
            </a:r>
            <a:pPr indent="0" marL="0">
              <a:buNone/>
            </a:pPr>
            <a:r>
              <a:rPr lang="en-US" sz="1600" dirty="0">
                <a:solidFill>
                  <a:srgbClr val="141B3D"/>
                </a:solidFill>
                <a:latin typeface="Calibri" pitchFamily="34" charset="0"/>
                <a:ea typeface="Calibri" pitchFamily="34" charset="-122"/>
                <a:cs typeface="Calibri" pitchFamily="34" charset="-120"/>
              </a:rPr>
              <a:t> component, and it can live on the client side of the SDK.</a:t>
            </a:r>
            <a:endParaRPr lang="en-US" sz="1600" dirty="0"/>
          </a:p>
        </p:txBody>
      </p:sp>
      <p:sp>
        <p:nvSpPr>
          <p:cNvPr id="6" name="Text 4"/>
          <p:cNvSpPr/>
          <p:nvPr/>
        </p:nvSpPr>
        <p:spPr>
          <a:xfrm>
            <a:off x="548640" y="2286000"/>
            <a:ext cx="5120640" cy="34747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agent's instructions allow one HtmlArtifact(title, document) statement inside the openui program.</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Only when the user asks for something interactive; dashboards and reports stay in the catalog.</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TrueForge hands the agent its catalog through a system tool, get_openui_instructions, before every reply.</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page renders the artifact in a sandboxed iframe with a Content Security Policy injected first in head.</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Every other component goes through step 07.2's catalog renderer, unchanged.</a:t>
            </a:r>
            <a:endParaRPr lang="en-US" sz="1300" dirty="0"/>
          </a:p>
          <a:p>
            <a:pPr marL="177800" indent="-1778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The TrueForge chat UI does not know the component; this page is where the hybrid exists.</a:t>
            </a:r>
            <a:endParaRPr lang="en-US" sz="1300" dirty="0"/>
          </a:p>
        </p:txBody>
      </p:sp>
      <p:sp>
        <p:nvSpPr>
          <p:cNvPr id="7" name="Shape 5"/>
          <p:cNvSpPr/>
          <p:nvPr/>
        </p:nvSpPr>
        <p:spPr>
          <a:xfrm>
            <a:off x="6035040" y="1600200"/>
            <a:ext cx="5577840" cy="3703320"/>
          </a:xfrm>
          <a:prstGeom prst="roundRect">
            <a:avLst>
              <a:gd name="adj" fmla="val 2963"/>
            </a:avLst>
          </a:prstGeom>
          <a:solidFill>
            <a:srgbClr val="FFFFFF"/>
          </a:solidFill>
          <a:ln w="15875">
            <a:solidFill>
              <a:srgbClr val="D7DAE5"/>
            </a:solidFill>
            <a:prstDash val="solid"/>
          </a:ln>
        </p:spPr>
      </p:sp>
      <p:sp>
        <p:nvSpPr>
          <p:cNvPr id="8" name="Shape 6"/>
          <p:cNvSpPr/>
          <p:nvPr/>
        </p:nvSpPr>
        <p:spPr>
          <a:xfrm>
            <a:off x="6217920" y="1737360"/>
            <a:ext cx="109728" cy="109728"/>
          </a:xfrm>
          <a:prstGeom prst="ellipse">
            <a:avLst/>
          </a:prstGeom>
          <a:solidFill>
            <a:srgbClr val="2F3CFF"/>
          </a:solidFill>
          <a:ln w="12700">
            <a:solidFill>
              <a:srgbClr val="2F3CFF"/>
            </a:solidFill>
            <a:prstDash val="solid"/>
          </a:ln>
        </p:spPr>
      </p:sp>
      <p:sp>
        <p:nvSpPr>
          <p:cNvPr id="9" name="Shape 7"/>
          <p:cNvSpPr/>
          <p:nvPr/>
        </p:nvSpPr>
        <p:spPr>
          <a:xfrm>
            <a:off x="6419088" y="1737360"/>
            <a:ext cx="109728" cy="109728"/>
          </a:xfrm>
          <a:prstGeom prst="ellipse">
            <a:avLst/>
          </a:prstGeom>
          <a:solidFill>
            <a:srgbClr val="2F3CFF"/>
          </a:solidFill>
          <a:ln w="12700">
            <a:solidFill>
              <a:srgbClr val="2F3CFF"/>
            </a:solidFill>
            <a:prstDash val="solid"/>
          </a:ln>
        </p:spPr>
      </p:sp>
      <p:sp>
        <p:nvSpPr>
          <p:cNvPr id="10" name="Shape 8"/>
          <p:cNvSpPr/>
          <p:nvPr/>
        </p:nvSpPr>
        <p:spPr>
          <a:xfrm>
            <a:off x="6620256" y="1737360"/>
            <a:ext cx="109728" cy="109728"/>
          </a:xfrm>
          <a:prstGeom prst="ellipse">
            <a:avLst/>
          </a:prstGeom>
          <a:solidFill>
            <a:srgbClr val="2F3CFF"/>
          </a:solidFill>
          <a:ln w="12700">
            <a:solidFill>
              <a:srgbClr val="2F3CFF"/>
            </a:solidFill>
            <a:prstDash val="solid"/>
          </a:ln>
        </p:spPr>
      </p:sp>
      <p:sp>
        <p:nvSpPr>
          <p:cNvPr id="11" name="Shape 9"/>
          <p:cNvSpPr/>
          <p:nvPr/>
        </p:nvSpPr>
        <p:spPr>
          <a:xfrm>
            <a:off x="6217920" y="2011680"/>
            <a:ext cx="2414016" cy="656082"/>
          </a:xfrm>
          <a:prstGeom prst="roundRect">
            <a:avLst>
              <a:gd name="adj" fmla="val 13937"/>
            </a:avLst>
          </a:prstGeom>
          <a:solidFill>
            <a:srgbClr val="EEF0FF"/>
          </a:solidFill>
          <a:ln w="15875">
            <a:solidFill>
              <a:srgbClr val="2F3CFF"/>
            </a:solidFill>
            <a:prstDash val="solid"/>
          </a:ln>
        </p:spPr>
      </p:sp>
      <p:sp>
        <p:nvSpPr>
          <p:cNvPr id="12" name="Text 10"/>
          <p:cNvSpPr/>
          <p:nvPr/>
        </p:nvSpPr>
        <p:spPr>
          <a:xfrm>
            <a:off x="6291072" y="2048256"/>
            <a:ext cx="2267712" cy="34255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Stack</a:t>
            </a:r>
            <a:endParaRPr lang="en-US" sz="1200" dirty="0"/>
          </a:p>
        </p:txBody>
      </p:sp>
      <p:sp>
        <p:nvSpPr>
          <p:cNvPr id="13" name="Text 11"/>
          <p:cNvSpPr/>
          <p:nvPr/>
        </p:nvSpPr>
        <p:spPr>
          <a:xfrm>
            <a:off x="6291072" y="2390813"/>
            <a:ext cx="2267712" cy="240373"/>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4" name="Shape 12"/>
          <p:cNvSpPr/>
          <p:nvPr/>
        </p:nvSpPr>
        <p:spPr>
          <a:xfrm>
            <a:off x="6217920" y="2777490"/>
            <a:ext cx="2414016" cy="656082"/>
          </a:xfrm>
          <a:prstGeom prst="roundRect">
            <a:avLst>
              <a:gd name="adj" fmla="val 13937"/>
            </a:avLst>
          </a:prstGeom>
          <a:solidFill>
            <a:srgbClr val="EEF0FF"/>
          </a:solidFill>
          <a:ln w="15875">
            <a:solidFill>
              <a:srgbClr val="2F3CFF"/>
            </a:solidFill>
            <a:prstDash val="solid"/>
          </a:ln>
        </p:spPr>
      </p:sp>
      <p:sp>
        <p:nvSpPr>
          <p:cNvPr id="15" name="Text 13"/>
          <p:cNvSpPr/>
          <p:nvPr/>
        </p:nvSpPr>
        <p:spPr>
          <a:xfrm>
            <a:off x="6291072" y="2814066"/>
            <a:ext cx="2267712" cy="34255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Table</a:t>
            </a:r>
            <a:endParaRPr lang="en-US" sz="1200" dirty="0"/>
          </a:p>
        </p:txBody>
      </p:sp>
      <p:sp>
        <p:nvSpPr>
          <p:cNvPr id="16" name="Text 14"/>
          <p:cNvSpPr/>
          <p:nvPr/>
        </p:nvSpPr>
        <p:spPr>
          <a:xfrm>
            <a:off x="6291072" y="3156623"/>
            <a:ext cx="2267712" cy="240373"/>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17" name="Shape 15"/>
          <p:cNvSpPr/>
          <p:nvPr/>
        </p:nvSpPr>
        <p:spPr>
          <a:xfrm>
            <a:off x="6217920" y="3543300"/>
            <a:ext cx="2414016" cy="656082"/>
          </a:xfrm>
          <a:prstGeom prst="roundRect">
            <a:avLst>
              <a:gd name="adj" fmla="val 13937"/>
            </a:avLst>
          </a:prstGeom>
          <a:solidFill>
            <a:srgbClr val="EEF0FF"/>
          </a:solidFill>
          <a:ln w="15875">
            <a:solidFill>
              <a:srgbClr val="2F3CFF"/>
            </a:solidFill>
            <a:prstDash val="solid"/>
          </a:ln>
        </p:spPr>
      </p:sp>
      <p:sp>
        <p:nvSpPr>
          <p:cNvPr id="18" name="Text 16"/>
          <p:cNvSpPr/>
          <p:nvPr/>
        </p:nvSpPr>
        <p:spPr>
          <a:xfrm>
            <a:off x="6291072" y="3579876"/>
            <a:ext cx="2267712" cy="34255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Tag</a:t>
            </a:r>
            <a:endParaRPr lang="en-US" sz="1200" dirty="0"/>
          </a:p>
        </p:txBody>
      </p:sp>
      <p:sp>
        <p:nvSpPr>
          <p:cNvPr id="19" name="Text 17"/>
          <p:cNvSpPr/>
          <p:nvPr/>
        </p:nvSpPr>
        <p:spPr>
          <a:xfrm>
            <a:off x="6291072" y="3922433"/>
            <a:ext cx="2267712" cy="240373"/>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0" name="Shape 18"/>
          <p:cNvSpPr/>
          <p:nvPr/>
        </p:nvSpPr>
        <p:spPr>
          <a:xfrm>
            <a:off x="6217920" y="4309110"/>
            <a:ext cx="2414016" cy="656082"/>
          </a:xfrm>
          <a:prstGeom prst="roundRect">
            <a:avLst>
              <a:gd name="adj" fmla="val 13937"/>
            </a:avLst>
          </a:prstGeom>
          <a:solidFill>
            <a:srgbClr val="EEF0FF"/>
          </a:solidFill>
          <a:ln w="15875">
            <a:solidFill>
              <a:srgbClr val="2F3CFF"/>
            </a:solidFill>
            <a:prstDash val="solid"/>
          </a:ln>
        </p:spPr>
      </p:sp>
      <p:sp>
        <p:nvSpPr>
          <p:cNvPr id="21" name="Text 19"/>
          <p:cNvSpPr/>
          <p:nvPr/>
        </p:nvSpPr>
        <p:spPr>
          <a:xfrm>
            <a:off x="6291072" y="4345686"/>
            <a:ext cx="2267712" cy="342557"/>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TextContent</a:t>
            </a:r>
            <a:endParaRPr lang="en-US" sz="1200" dirty="0"/>
          </a:p>
        </p:txBody>
      </p:sp>
      <p:sp>
        <p:nvSpPr>
          <p:cNvPr id="22" name="Text 20"/>
          <p:cNvSpPr/>
          <p:nvPr/>
        </p:nvSpPr>
        <p:spPr>
          <a:xfrm>
            <a:off x="6291072" y="4688243"/>
            <a:ext cx="2267712" cy="240373"/>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catalog primitive</a:t>
            </a:r>
            <a:endParaRPr lang="en-US" sz="950" dirty="0"/>
          </a:p>
        </p:txBody>
      </p:sp>
      <p:sp>
        <p:nvSpPr>
          <p:cNvPr id="23" name="Shape 21"/>
          <p:cNvSpPr/>
          <p:nvPr/>
        </p:nvSpPr>
        <p:spPr>
          <a:xfrm>
            <a:off x="8814816" y="2011680"/>
            <a:ext cx="2615184" cy="3108960"/>
          </a:xfrm>
          <a:prstGeom prst="roundRect">
            <a:avLst>
              <a:gd name="adj" fmla="val 3497"/>
            </a:avLst>
          </a:prstGeom>
          <a:solidFill>
            <a:srgbClr val="FFF4E5"/>
          </a:solidFill>
          <a:ln w="15875">
            <a:solidFill>
              <a:srgbClr val="D97706"/>
            </a:solidFill>
            <a:prstDash val="dash"/>
          </a:ln>
        </p:spPr>
      </p:sp>
      <p:sp>
        <p:nvSpPr>
          <p:cNvPr id="24" name="Text 22"/>
          <p:cNvSpPr/>
          <p:nvPr/>
        </p:nvSpPr>
        <p:spPr>
          <a:xfrm>
            <a:off x="8887968" y="2048256"/>
            <a:ext cx="2468880" cy="1536192"/>
          </a:xfrm>
          <a:prstGeom prst="rect">
            <a:avLst/>
          </a:prstGeom>
          <a:noFill/>
          <a:ln/>
        </p:spPr>
        <p:txBody>
          <a:bodyPr wrap="square" lIns="0" tIns="0" rIns="0" bIns="0" rtlCol="0" anchor="b"/>
          <a:lstStyle/>
          <a:p>
            <a:pPr algn="ctr" indent="0" marL="0">
              <a:buNone/>
            </a:pPr>
            <a:r>
              <a:rPr lang="en-US" sz="1300" b="1" dirty="0">
                <a:solidFill>
                  <a:srgbClr val="D97706"/>
                </a:solidFill>
                <a:latin typeface="Calibri" pitchFamily="34" charset="0"/>
                <a:ea typeface="Calibri" pitchFamily="34" charset="-122"/>
                <a:cs typeface="Calibri" pitchFamily="34" charset="-120"/>
              </a:rPr>
              <a:t>HtmlArtifact</a:t>
            </a:r>
            <a:endParaRPr lang="en-US" sz="1300" dirty="0"/>
          </a:p>
        </p:txBody>
      </p:sp>
      <p:sp>
        <p:nvSpPr>
          <p:cNvPr id="25" name="Text 23"/>
          <p:cNvSpPr/>
          <p:nvPr/>
        </p:nvSpPr>
        <p:spPr>
          <a:xfrm>
            <a:off x="8887968" y="3584448"/>
            <a:ext cx="2468880" cy="149961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sandboxed iframe, CSP first in head: only where the catalog does not reach</a:t>
            </a:r>
            <a:endParaRPr lang="en-US" sz="1050" dirty="0"/>
          </a:p>
        </p:txBody>
      </p:sp>
      <p:sp>
        <p:nvSpPr>
          <p:cNvPr id="26" name="Text 24"/>
          <p:cNvSpPr/>
          <p:nvPr/>
        </p:nvSpPr>
        <p:spPr>
          <a:xfrm>
            <a:off x="6035040" y="5349240"/>
            <a:ext cx="5577840" cy="320040"/>
          </a:xfrm>
          <a:prstGeom prst="rect">
            <a:avLst/>
          </a:prstGeom>
          <a:noFill/>
          <a:ln/>
        </p:spPr>
        <p:txBody>
          <a:bodyPr wrap="square" lIns="0" tIns="0" rIns="0" bIns="0" rtlCol="0" anchor="ctr"/>
          <a:lstStyle/>
          <a:p>
            <a:pPr algn="ctr" indent="0" marL="0">
              <a:buNone/>
            </a:pPr>
            <a:r>
              <a:rPr lang="en-US" sz="1050" i="1" dirty="0">
                <a:solidFill>
                  <a:srgbClr val="8B93A7"/>
                </a:solidFill>
                <a:latin typeface="Calibri" pitchFamily="34" charset="0"/>
                <a:ea typeface="Calibri" pitchFamily="34" charset="-122"/>
                <a:cs typeface="Calibri" pitchFamily="34" charset="-120"/>
              </a:rPr>
              <a:t>Catalog primitives from TrueForge's own guide by default; one boxed open-ended component, added by the surface.</a:t>
            </a:r>
            <a:endParaRPr lang="en-US" sz="1050" dirty="0"/>
          </a:p>
        </p:txBody>
      </p:sp>
      <p:sp>
        <p:nvSpPr>
          <p:cNvPr id="27" name="Shape 25"/>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28" name="Text 26"/>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A harness you do not own can still get an escape hatch, as long as the surface that renders its replies owns the box.</a:t>
            </a:r>
            <a:endParaRPr lang="en-US" sz="12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07.3 · CODE WALKTHROUGH</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One renderer, two states: raw source while the line is open, an iframe once it closes</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126</a:t>
            </a:r>
            <a:endParaRPr lang="en-US" sz="1000" dirty="0"/>
          </a:p>
        </p:txBody>
      </p:sp>
      <p:sp>
        <p:nvSpPr>
          <p:cNvPr id="5" name="Shape 3"/>
          <p:cNvSpPr/>
          <p:nvPr/>
        </p:nvSpPr>
        <p:spPr>
          <a:xfrm>
            <a:off x="548640" y="1417320"/>
            <a:ext cx="7406640" cy="3339846"/>
          </a:xfrm>
          <a:prstGeom prst="roundRect">
            <a:avLst>
              <a:gd name="adj" fmla="val 2738"/>
            </a:avLst>
          </a:prstGeom>
          <a:solidFill>
            <a:srgbClr val="0F172A"/>
          </a:solidFill>
          <a:ln w="12700">
            <a:solidFill>
              <a:srgbClr val="0F172A"/>
            </a:solidFill>
            <a:prstDash val="solid"/>
          </a:ln>
        </p:spPr>
      </p:sp>
      <p:sp>
        <p:nvSpPr>
          <p:cNvPr id="6" name="Text 4"/>
          <p:cNvSpPr/>
          <p:nvPr/>
        </p:nvSpPr>
        <p:spPr>
          <a:xfrm>
            <a:off x="731520" y="1554480"/>
            <a:ext cx="7040880" cy="3065526"/>
          </a:xfrm>
          <a:prstGeom prst="rect">
            <a:avLst/>
          </a:prstGeom>
          <a:noFill/>
          <a:ln/>
        </p:spPr>
        <p:txBody>
          <a:bodyPr wrap="square" lIns="0" tIns="0" rIns="0" bIns="0" rtlCol="0" anchor="t"/>
          <a:lstStyle/>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HtmlArtifact([title = "Artifact", document = ""], partial)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box = el("section", "artifact");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box.dataset.state = partial ? "streaming" : "ready";</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head = el("div", "artifact-head");</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head.append(el("strong", "", String(title)));</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if (partial)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7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head.append(el("span", "artifact-status", `Generating artifact ... ${document.length} characters so far`)…</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8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box.append(head, el("pre", "artifact-raw", document));</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9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return box;</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10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head.append(el("span", "artifact-status", `${document.length} characters, sandboxed iframe`));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12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const frame = el("iframe", "artifact-frame");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13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frame.title = String(title);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frame.setAttribute("sandbox", "allow-scripts");</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frame.setAttribute("referrerpolicy", "no-referrer");</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frame.srcdoc = sandboxed(String(document));</a:t>
            </a:r>
            <a:endParaRPr lang="en-US" sz="1050" dirty="0"/>
          </a:p>
        </p:txBody>
      </p:sp>
      <p:sp>
        <p:nvSpPr>
          <p:cNvPr id="7" name="Text 5"/>
          <p:cNvSpPr/>
          <p:nvPr/>
        </p:nvSpPr>
        <p:spPr>
          <a:xfrm>
            <a:off x="548640" y="4802886"/>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07_harness_genui/step_03_trueforge_hybrid/web/render.mjs</a:t>
            </a:r>
            <a:endParaRPr lang="en-US" sz="950" dirty="0"/>
          </a:p>
        </p:txBody>
      </p:sp>
      <p:sp>
        <p:nvSpPr>
          <p:cNvPr id="8" name="Shape 6"/>
          <p:cNvSpPr/>
          <p:nvPr/>
        </p:nvSpPr>
        <p:spPr>
          <a:xfrm>
            <a:off x="8183880" y="146304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42646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parser marks a statement whose line is still in the buffer as </a:t>
            </a:r>
            <a:pPr indent="0" marL="0">
              <a:buNone/>
            </a:pPr>
            <a:r>
              <a:rPr lang="en-US" sz="1200" b="1" dirty="0">
                <a:solidFill>
                  <a:srgbClr val="141B3D"/>
                </a:solidFill>
                <a:latin typeface="Calibri" pitchFamily="34" charset="0"/>
                <a:ea typeface="Calibri" pitchFamily="34" charset="-122"/>
                <a:cs typeface="Calibri" pitchFamily="34" charset="-120"/>
              </a:rPr>
              <a:t>partial</a:t>
            </a:r>
            <a:pPr indent="0" marL="0">
              <a:buNone/>
            </a:pPr>
            <a:r>
              <a:rPr lang="en-US" sz="1200" dirty="0">
                <a:solidFill>
                  <a:srgbClr val="1F2937"/>
                </a:solidFill>
                <a:latin typeface="Calibri" pitchFamily="34" charset="0"/>
                <a:ea typeface="Calibri" pitchFamily="34" charset="-122"/>
                <a:cs typeface="Calibri" pitchFamily="34" charset="-120"/>
              </a:rPr>
              <a:t>; the renderer gets that flag.</a:t>
            </a:r>
            <a:endParaRPr lang="en-US" sz="1200" dirty="0"/>
          </a:p>
        </p:txBody>
      </p:sp>
      <p:sp>
        <p:nvSpPr>
          <p:cNvPr id="11" name="Shape 9"/>
          <p:cNvSpPr/>
          <p:nvPr/>
        </p:nvSpPr>
        <p:spPr>
          <a:xfrm>
            <a:off x="8183880" y="292608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2926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288950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Streaming: a status line and the raw document so far, the way OpenUI's example shows an artifact generating.</a:t>
            </a:r>
            <a:endParaRPr lang="en-US" sz="1200" dirty="0"/>
          </a:p>
        </p:txBody>
      </p:sp>
      <p:sp>
        <p:nvSpPr>
          <p:cNvPr id="14" name="Shape 12"/>
          <p:cNvSpPr/>
          <p:nvPr/>
        </p:nvSpPr>
        <p:spPr>
          <a:xfrm>
            <a:off x="8183880" y="438912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3891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352544"/>
            <a:ext cx="3063240" cy="13716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Complete: srcdoc is the document with the </a:t>
            </a:r>
            <a:pPr indent="0" marL="0">
              <a:buNone/>
            </a:pPr>
            <a:r>
              <a:rPr lang="en-US" sz="1200" b="1" dirty="0">
                <a:solidFill>
                  <a:srgbClr val="141B3D"/>
                </a:solidFill>
                <a:latin typeface="Calibri" pitchFamily="34" charset="0"/>
                <a:ea typeface="Calibri" pitchFamily="34" charset="-122"/>
                <a:cs typeface="Calibri" pitchFamily="34" charset="-120"/>
              </a:rPr>
              <a:t>CSP meta first in head</a:t>
            </a:r>
            <a:pPr indent="0" marL="0">
              <a:buNone/>
            </a:pPr>
            <a:r>
              <a:rPr lang="en-US" sz="1200" dirty="0">
                <a:solidFill>
                  <a:srgbClr val="1F2937"/>
                </a:solidFill>
                <a:latin typeface="Calibri" pitchFamily="34" charset="0"/>
                <a:ea typeface="Calibri" pitchFamily="34" charset="-122"/>
                <a:cs typeface="Calibri" pitchFamily="34" charset="-120"/>
              </a:rPr>
              <a:t>; sandbox=allow-scripts, no referrer.</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sandboxed() in web/sandbox.mjs removes any CSP the model wrote and injects default-src 'none' with inline style and script allowed.</a:t>
            </a:r>
            <a:endParaRPr lang="en-US" sz="12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07.3 · CODE WALKTHROUGH</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instructions frame the surface's catalog as the guide's, minus the interactive parts, plus one</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127</a:t>
            </a:r>
            <a:endParaRPr lang="en-US" sz="1000" dirty="0"/>
          </a:p>
        </p:txBody>
      </p:sp>
      <p:sp>
        <p:nvSpPr>
          <p:cNvPr id="5" name="Shape 3"/>
          <p:cNvSpPr/>
          <p:nvPr/>
        </p:nvSpPr>
        <p:spPr>
          <a:xfrm>
            <a:off x="548640" y="1737360"/>
            <a:ext cx="7406640" cy="2526411"/>
          </a:xfrm>
          <a:prstGeom prst="roundRect">
            <a:avLst>
              <a:gd name="adj" fmla="val 3619"/>
            </a:avLst>
          </a:prstGeom>
          <a:solidFill>
            <a:srgbClr val="0F172A"/>
          </a:solidFill>
          <a:ln w="12700">
            <a:solidFill>
              <a:srgbClr val="0F172A"/>
            </a:solidFill>
            <a:prstDash val="solid"/>
          </a:ln>
        </p:spPr>
      </p:sp>
      <p:sp>
        <p:nvSpPr>
          <p:cNvPr id="6" name="Text 4"/>
          <p:cNvSpPr/>
          <p:nvPr/>
        </p:nvSpPr>
        <p:spPr>
          <a:xfrm>
            <a:off x="731520" y="1874520"/>
            <a:ext cx="7040880" cy="2252091"/>
          </a:xfrm>
          <a:prstGeom prst="rect">
            <a:avLst/>
          </a:prstGeom>
          <a:noFill/>
          <a:ln/>
        </p:spPr>
        <p:txBody>
          <a:bodyPr wrap="square" lIns="0" tIns="0" rIns="0" bIns="0" rtlCol="0" anchor="t"/>
          <a:lstStyle/>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1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The surface that renders your reply is not the standard one. Its catalog is the one get_openui_instructions describes, with two changes:</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[1]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REMOVED: Form, FormControl, Input, Buttons, Button, Action, $ state variables, @ functions and expressions. This surface does not implement them; a program that uses them renders as nothing. Never use them, and never invent components th…</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[2]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ADDED: HtmlArtifact(title: string, document: string). The document is a self-contained HTML/CSS/JavaScript page, run in a sandboxed iframe. This is the only way to give the user something interactive on this surface.</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4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64748B"/>
                </a:solidFill>
                <a:latin typeface="Courier New" pitchFamily="34" charset="0"/>
                <a:ea typeface="Courier New" pitchFamily="34" charset="-122"/>
                <a:cs typeface="Courier New" pitchFamily="34" charset="-120"/>
              </a:rPr>
              <a:t>  5 </a:t>
            </a:r>
            <a:pPr indent="0" marL="0">
              <a:lnSpc>
                <a:spcPct val="108000"/>
              </a:lnSpc>
              <a:buNone/>
            </a:pPr>
            <a:r>
              <a:rPr lang="en-US" sz="1050" dirty="0">
                <a:solidFill>
                  <a:srgbClr val="E2E8F0"/>
                </a:solidFill>
                <a:latin typeface="Courier New" pitchFamily="34" charset="0"/>
                <a:ea typeface="Courier New" pitchFamily="34" charset="-122"/>
                <a:cs typeface="Courier New" pitchFamily="34" charset="-120"/>
              </a:rPr>
              <a:t>Rules for HtmlArtifact:</a:t>
            </a:r>
            <a:endParaRPr lang="en-US" sz="1050" dirty="0"/>
          </a:p>
          <a:p>
            <a:pPr indent="0" marL="0">
              <a:lnSpc>
                <a:spcPct val="108000"/>
              </a:lnSpc>
              <a:buNone/>
            </a:pPr>
            <a:r>
              <a:rPr lang="en-US" sz="1050" b="1" dirty="0">
                <a:solidFill>
                  <a:srgbClr val="FBBF24"/>
                </a:solidFill>
                <a:latin typeface="Courier New" pitchFamily="34" charset="0"/>
                <a:ea typeface="Courier New" pitchFamily="34" charset="-122"/>
                <a:cs typeface="Courier New" pitchFamily="34" charset="-120"/>
              </a:rPr>
              <a:t>[3] </a:t>
            </a:r>
            <a:pPr indent="0" marL="0">
              <a:lnSpc>
                <a:spcPct val="108000"/>
              </a:lnSpc>
              <a:buNone/>
            </a:pPr>
            <a:r>
              <a:rPr lang="en-US" sz="1050" b="1" dirty="0">
                <a:solidFill>
                  <a:srgbClr val="FDE68A"/>
                </a:solidFill>
                <a:latin typeface="Courier New" pitchFamily="34" charset="0"/>
                <a:ea typeface="Courier New" pitchFamily="34" charset="-122"/>
                <a:cs typeface="Courier New" pitchFamily="34" charset="-120"/>
              </a:rPr>
              <a:t>- Use it only when the user explicitly asks you to build something interactive: an app, game, simulation, calculator, visualization, or similar experience. Then the whole experience (every input, button and result) lives inside one documen…</a:t>
            </a:r>
            <a:endParaRPr lang="en-US" sz="1050" dirty="0"/>
          </a:p>
        </p:txBody>
      </p:sp>
      <p:sp>
        <p:nvSpPr>
          <p:cNvPr id="7" name="Text 5"/>
          <p:cNvSpPr/>
          <p:nvPr/>
        </p:nvSpPr>
        <p:spPr>
          <a:xfrm>
            <a:off x="548640" y="4309491"/>
            <a:ext cx="7406640" cy="274320"/>
          </a:xfrm>
          <a:prstGeom prst="rect">
            <a:avLst/>
          </a:prstGeom>
          <a:noFill/>
          <a:ln/>
        </p:spPr>
        <p:txBody>
          <a:bodyPr wrap="square" lIns="0" tIns="0" rIns="0" bIns="0" rtlCol="0" anchor="ctr"/>
          <a:lstStyle/>
          <a:p>
            <a:pPr indent="0" marL="0">
              <a:buNone/>
            </a:pPr>
            <a:r>
              <a:rPr lang="en-US" sz="950" dirty="0">
                <a:solidFill>
                  <a:srgbClr val="8B93A7"/>
                </a:solidFill>
                <a:latin typeface="Courier New" pitchFamily="34" charset="0"/>
                <a:ea typeface="Courier New" pitchFamily="34" charset="-122"/>
                <a:cs typeface="Courier New" pitchFamily="34" charset="-120"/>
              </a:rPr>
              <a:t>07_harness_genui/step_03_trueforge_hybrid/client/genui.py</a:t>
            </a:r>
            <a:endParaRPr lang="en-US" sz="950" dirty="0"/>
          </a:p>
        </p:txBody>
      </p:sp>
      <p:sp>
        <p:nvSpPr>
          <p:cNvPr id="8" name="Shape 6"/>
          <p:cNvSpPr/>
          <p:nvPr/>
        </p:nvSpPr>
        <p:spPr>
          <a:xfrm>
            <a:off x="8183880" y="1783080"/>
            <a:ext cx="292608" cy="292608"/>
          </a:xfrm>
          <a:prstGeom prst="ellipse">
            <a:avLst/>
          </a:prstGeom>
          <a:solidFill>
            <a:srgbClr val="D97706"/>
          </a:solidFill>
          <a:ln w="12700">
            <a:solidFill>
              <a:srgbClr val="D97706"/>
            </a:solidFill>
            <a:prstDash val="solid"/>
          </a:ln>
        </p:spPr>
      </p:sp>
      <p:sp>
        <p:nvSpPr>
          <p:cNvPr id="9" name="Text 7"/>
          <p:cNvSpPr/>
          <p:nvPr/>
        </p:nvSpPr>
        <p:spPr>
          <a:xfrm>
            <a:off x="8183880" y="17830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595360" y="174650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REMOVED: the guide teaches Form, Input and $state; the page does not run them, so the model must not use them.</a:t>
            </a:r>
            <a:endParaRPr lang="en-US" sz="1200" dirty="0"/>
          </a:p>
        </p:txBody>
      </p:sp>
      <p:sp>
        <p:nvSpPr>
          <p:cNvPr id="11" name="Shape 9"/>
          <p:cNvSpPr/>
          <p:nvPr/>
        </p:nvSpPr>
        <p:spPr>
          <a:xfrm>
            <a:off x="8183880" y="3139440"/>
            <a:ext cx="292608" cy="292608"/>
          </a:xfrm>
          <a:prstGeom prst="ellipse">
            <a:avLst/>
          </a:prstGeom>
          <a:solidFill>
            <a:srgbClr val="D97706"/>
          </a:solidFill>
          <a:ln w="12700">
            <a:solidFill>
              <a:srgbClr val="D97706"/>
            </a:solidFill>
            <a:prstDash val="solid"/>
          </a:ln>
        </p:spPr>
      </p:sp>
      <p:sp>
        <p:nvSpPr>
          <p:cNvPr id="12" name="Text 10"/>
          <p:cNvSpPr/>
          <p:nvPr/>
        </p:nvSpPr>
        <p:spPr>
          <a:xfrm>
            <a:off x="8183880" y="31394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595360" y="310286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ADDED: HtmlArtifact, the only way to something interactive on this surface.</a:t>
            </a:r>
            <a:endParaRPr lang="en-US" sz="1200" dirty="0"/>
          </a:p>
        </p:txBody>
      </p:sp>
      <p:sp>
        <p:nvSpPr>
          <p:cNvPr id="14" name="Shape 12"/>
          <p:cNvSpPr/>
          <p:nvPr/>
        </p:nvSpPr>
        <p:spPr>
          <a:xfrm>
            <a:off x="8183880" y="4495800"/>
            <a:ext cx="292608" cy="292608"/>
          </a:xfrm>
          <a:prstGeom prst="ellipse">
            <a:avLst/>
          </a:prstGeom>
          <a:solidFill>
            <a:srgbClr val="D97706"/>
          </a:solidFill>
          <a:ln w="12700">
            <a:solidFill>
              <a:srgbClr val="D97706"/>
            </a:solidFill>
            <a:prstDash val="solid"/>
          </a:ln>
        </p:spPr>
      </p:sp>
      <p:sp>
        <p:nvSpPr>
          <p:cNvPr id="15" name="Text 13"/>
          <p:cNvSpPr/>
          <p:nvPr/>
        </p:nvSpPr>
        <p:spPr>
          <a:xfrm>
            <a:off x="8183880" y="44958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4"/>
          <p:cNvSpPr/>
          <p:nvPr/>
        </p:nvSpPr>
        <p:spPr>
          <a:xfrm>
            <a:off x="8595360" y="4459224"/>
            <a:ext cx="3063240" cy="12649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exact shape of an interactive reply, one intro and one artifact; without it the model split the calculator into four.</a:t>
            </a:r>
            <a:endParaRPr lang="en-US" sz="1200" dirty="0"/>
          </a:p>
        </p:txBody>
      </p:sp>
      <p:sp>
        <p:nvSpPr>
          <p:cNvPr id="17" name="Text 15"/>
          <p:cNvSpPr/>
          <p:nvPr/>
        </p:nvSpPr>
        <p:spPr>
          <a:xfrm>
            <a:off x="548640" y="5897880"/>
            <a:ext cx="11064240" cy="548640"/>
          </a:xfrm>
          <a:prstGeom prst="rect">
            <a:avLst/>
          </a:prstGeom>
          <a:noFill/>
          <a:ln/>
        </p:spPr>
        <p:txBody>
          <a:bodyPr wrap="square" lIns="0" tIns="0" rIns="0" bIns="0" rtlCol="0" anchor="ctr"/>
          <a:lstStyle/>
          <a:p>
            <a:pPr indent="0" marL="0">
              <a:buNone/>
            </a:pPr>
            <a:r>
              <a:rPr lang="en-US" sz="1250" dirty="0">
                <a:solidFill>
                  <a:srgbClr val="4B5563"/>
                </a:solidFill>
                <a:latin typeface="Calibri" pitchFamily="34" charset="0"/>
                <a:ea typeface="Calibri" pitchFamily="34" charset="-122"/>
                <a:cs typeface="Calibri" pitchFamily="34" charset="-120"/>
              </a:rPr>
              <a:t>Three additions after live runs: an example, the REMOVED / ADDED framing, and the exact reply shape. Six artifacts in six runs after the third.</a:t>
            </a:r>
            <a:endParaRPr lang="en-US" sz="12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07.3 · QUICK DEMO</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The report prompt: six catalog statements, no artifact</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128</a:t>
            </a:r>
            <a:endParaRPr lang="en-US" sz="1000" dirty="0"/>
          </a:p>
        </p:txBody>
      </p:sp>
      <p:pic>
        <p:nvPicPr>
          <p:cNvPr id="5" name="Image 0" descr="C:\Users\evija\simple-coding-harness\genui\07_harness_genui\step_03_trueforge_hybrid\demo_catalog.png">    </p:cNvPr>
          <p:cNvPicPr>
            <a:picLocks noChangeAspect="1"/>
          </p:cNvPicPr>
          <p:nvPr/>
        </p:nvPicPr>
        <p:blipFill>
          <a:blip r:embed="rId1"/>
          <a:srcRect l="0" r="0" t="0" b="0"/>
          <a:stretch/>
        </p:blipFill>
        <p:spPr>
          <a:xfrm>
            <a:off x="548640" y="1417320"/>
            <a:ext cx="6583680" cy="2377440"/>
          </a:xfrm>
          <a:prstGeom prst="rect">
            <a:avLst/>
          </a:prstGeom>
        </p:spPr>
      </p:pic>
      <p:sp>
        <p:nvSpPr>
          <p:cNvPr id="6" name="Shape 3"/>
          <p:cNvSpPr/>
          <p:nvPr/>
        </p:nvSpPr>
        <p:spPr>
          <a:xfrm>
            <a:off x="548640" y="1417320"/>
            <a:ext cx="6583680" cy="2377440"/>
          </a:xfrm>
          <a:prstGeom prst="rect">
            <a:avLst/>
          </a:prstGeom>
          <a:ln w="12700">
            <a:solidFill>
              <a:srgbClr val="D7DAE5"/>
            </a:solidFill>
            <a:prstDash val="solid"/>
          </a:ln>
        </p:spPr>
      </p:sp>
      <p:sp>
        <p:nvSpPr>
          <p:cNvPr id="7" name="Shape 4"/>
          <p:cNvSpPr/>
          <p:nvPr/>
        </p:nvSpPr>
        <p:spPr>
          <a:xfrm>
            <a:off x="7498080" y="1417320"/>
            <a:ext cx="414223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635240" y="1472184"/>
            <a:ext cx="386791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7,972</a:t>
            </a:r>
            <a:endParaRPr lang="en-US" sz="2800" dirty="0"/>
          </a:p>
        </p:txBody>
      </p:sp>
      <p:sp>
        <p:nvSpPr>
          <p:cNvPr id="9" name="Text 6"/>
          <p:cNvSpPr/>
          <p:nvPr/>
        </p:nvSpPr>
        <p:spPr>
          <a:xfrm>
            <a:off x="7635240" y="203911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input tokens, two model calls</a:t>
            </a:r>
            <a:endParaRPr lang="en-US" sz="1050" dirty="0"/>
          </a:p>
        </p:txBody>
      </p:sp>
      <p:sp>
        <p:nvSpPr>
          <p:cNvPr id="10" name="Shape 7"/>
          <p:cNvSpPr/>
          <p:nvPr/>
        </p:nvSpPr>
        <p:spPr>
          <a:xfrm>
            <a:off x="7498080" y="2697480"/>
            <a:ext cx="414223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635240" y="2752344"/>
            <a:ext cx="386791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124</a:t>
            </a:r>
            <a:endParaRPr lang="en-US" sz="2800" dirty="0"/>
          </a:p>
        </p:txBody>
      </p:sp>
      <p:sp>
        <p:nvSpPr>
          <p:cNvPr id="12" name="Text 9"/>
          <p:cNvSpPr/>
          <p:nvPr/>
        </p:nvSpPr>
        <p:spPr>
          <a:xfrm>
            <a:off x="7635240" y="331927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output tokens</a:t>
            </a:r>
            <a:endParaRPr lang="en-US" sz="1050" dirty="0"/>
          </a:p>
        </p:txBody>
      </p:sp>
      <p:sp>
        <p:nvSpPr>
          <p:cNvPr id="13" name="Text 10"/>
          <p:cNvSpPr/>
          <p:nvPr/>
        </p:nvSpPr>
        <p:spPr>
          <a:xfrm>
            <a:off x="7498080" y="4023360"/>
            <a:ext cx="4142232"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first model call asks for the catalog through get_openui_instructions; the second carries it and writes the reply.</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Title, table with two columns, status tag: step 07.2's renderers, untouched.</a:t>
            </a:r>
            <a:endParaRPr lang="en-US" sz="1250" dirty="0"/>
          </a:p>
          <a:p>
            <a:pPr marL="177800" indent="-1778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The instructions describe HtmlArtifact, and the agent did not use it here: the catalog is the default.</a:t>
            </a:r>
            <a:endParaRPr lang="en-US" sz="12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Prompt: Show a lemonade stand report with a table of the top three flavours and a status tag.</a:t>
            </a:r>
            <a:endParaRPr lang="en-US" sz="12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07.3 · QUICK DEMO</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calculator prompt mid-stream: the intro is drawn, the artifact shows its source growing</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129</a:t>
            </a:r>
            <a:endParaRPr lang="en-US" sz="1000" dirty="0"/>
          </a:p>
        </p:txBody>
      </p:sp>
      <p:pic>
        <p:nvPicPr>
          <p:cNvPr id="5" name="Image 0" descr="C:\Users\evija\simple-coding-harness\genui\07_harness_genui\step_03_trueforge_hybrid\demo_streaming.png">    </p:cNvPr>
          <p:cNvPicPr>
            <a:picLocks noChangeAspect="1"/>
          </p:cNvPicPr>
          <p:nvPr/>
        </p:nvPicPr>
        <p:blipFill>
          <a:blip r:embed="rId1"/>
          <a:srcRect l="0" r="0" t="0" b="0"/>
          <a:stretch/>
        </p:blipFill>
        <p:spPr>
          <a:xfrm>
            <a:off x="548640" y="1737360"/>
            <a:ext cx="6583680" cy="3337560"/>
          </a:xfrm>
          <a:prstGeom prst="rect">
            <a:avLst/>
          </a:prstGeom>
        </p:spPr>
      </p:pic>
      <p:sp>
        <p:nvSpPr>
          <p:cNvPr id="6" name="Shape 3"/>
          <p:cNvSpPr/>
          <p:nvPr/>
        </p:nvSpPr>
        <p:spPr>
          <a:xfrm>
            <a:off x="548640" y="1737360"/>
            <a:ext cx="6583680" cy="3337560"/>
          </a:xfrm>
          <a:prstGeom prst="rect">
            <a:avLst/>
          </a:prstGeom>
          <a:ln w="12700">
            <a:solidFill>
              <a:srgbClr val="D7DAE5"/>
            </a:solidFill>
            <a:prstDash val="solid"/>
          </a:ln>
        </p:spPr>
      </p:sp>
      <p:sp>
        <p:nvSpPr>
          <p:cNvPr id="7" name="Shape 4"/>
          <p:cNvSpPr/>
          <p:nvPr/>
        </p:nvSpPr>
        <p:spPr>
          <a:xfrm>
            <a:off x="7498080" y="1737360"/>
            <a:ext cx="414223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635240" y="1792224"/>
            <a:ext cx="386791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16</a:t>
            </a:r>
            <a:endParaRPr lang="en-US" sz="2800" dirty="0"/>
          </a:p>
        </p:txBody>
      </p:sp>
      <p:sp>
        <p:nvSpPr>
          <p:cNvPr id="9" name="Text 6"/>
          <p:cNvSpPr/>
          <p:nvPr/>
        </p:nvSpPr>
        <p:spPr>
          <a:xfrm>
            <a:off x="7635240" y="235915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chunks in</a:t>
            </a:r>
            <a:endParaRPr lang="en-US" sz="1050" dirty="0"/>
          </a:p>
        </p:txBody>
      </p:sp>
      <p:sp>
        <p:nvSpPr>
          <p:cNvPr id="10" name="Shape 7"/>
          <p:cNvSpPr/>
          <p:nvPr/>
        </p:nvSpPr>
        <p:spPr>
          <a:xfrm>
            <a:off x="7498080" y="3017520"/>
            <a:ext cx="414223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635240" y="3072384"/>
            <a:ext cx="386791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358</a:t>
            </a:r>
            <a:endParaRPr lang="en-US" sz="2800" dirty="0"/>
          </a:p>
        </p:txBody>
      </p:sp>
      <p:sp>
        <p:nvSpPr>
          <p:cNvPr id="12" name="Text 9"/>
          <p:cNvSpPr/>
          <p:nvPr/>
        </p:nvSpPr>
        <p:spPr>
          <a:xfrm>
            <a:off x="7635240" y="363931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characters of document so far</a:t>
            </a:r>
            <a:endParaRPr lang="en-US" sz="1050" dirty="0"/>
          </a:p>
        </p:txBody>
      </p:sp>
      <p:sp>
        <p:nvSpPr>
          <p:cNvPr id="13" name="Text 10"/>
          <p:cNvSpPr/>
          <p:nvPr/>
        </p:nvSpPr>
        <p:spPr>
          <a:xfrm>
            <a:off x="7498080" y="4343400"/>
            <a:ext cx="4142232" cy="155448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The intro TextContent committed on its own line; the artifact line is still open and shows as raw source.</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The same characters are the tail of the program on the right: the server streams 40-character chunks, not lines.</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The status reads waiting for artifact: the statement is not committed until its closing quote arrives.</a:t>
            </a:r>
            <a:endParaRPr lang="en-US" sz="10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Prompt: Build me an interactive lemonade price calculator I can play with, with a short intro.</a:t>
            </a:r>
            <a:endParaRPr lang="en-US" sz="12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STEP 07.3 · QUICK DEMO</a:t>
            </a:r>
            <a:endParaRPr lang="en-US" sz="1100" dirty="0"/>
          </a:p>
        </p:txBody>
      </p:sp>
      <p:sp>
        <p:nvSpPr>
          <p:cNvPr id="3" name="Text 1"/>
          <p:cNvSpPr/>
          <p:nvPr/>
        </p:nvSpPr>
        <p:spPr>
          <a:xfrm>
            <a:off x="548640" y="548640"/>
            <a:ext cx="11064240" cy="1051560"/>
          </a:xfrm>
          <a:prstGeom prst="rect">
            <a:avLst/>
          </a:prstGeom>
          <a:noFill/>
          <a:ln/>
        </p:spPr>
        <p:txBody>
          <a:bodyPr wrap="square" lIns="0" tIns="0" rIns="0" bIns="0" rtlCol="0" anchor="t"/>
          <a:lstStyle/>
          <a:p>
            <a:pPr indent="0" marL="0">
              <a:buNone/>
            </a:pPr>
            <a:r>
              <a:rPr lang="en-US" sz="2000" b="1" dirty="0">
                <a:solidFill>
                  <a:srgbClr val="1F2937"/>
                </a:solidFill>
                <a:latin typeface="Cambria" pitchFamily="34" charset="0"/>
                <a:ea typeface="Cambria" pitchFamily="34" charset="-122"/>
                <a:cs typeface="Cambria" pitchFamily="34" charset="-120"/>
              </a:rPr>
              <a:t>The artifact in its sandboxed iframe: two slider moves changed the total from $50.00 to $1000.00</a:t>
            </a:r>
            <a:endParaRPr lang="en-US" sz="2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130</a:t>
            </a:r>
            <a:endParaRPr lang="en-US" sz="1000" dirty="0"/>
          </a:p>
        </p:txBody>
      </p:sp>
      <p:pic>
        <p:nvPicPr>
          <p:cNvPr id="5" name="Image 0" descr="C:\Users\evija\simple-coding-harness\genui\07_harness_genui\step_03_trueforge_hybrid\demo.png">    </p:cNvPr>
          <p:cNvPicPr>
            <a:picLocks noChangeAspect="1"/>
          </p:cNvPicPr>
          <p:nvPr/>
        </p:nvPicPr>
        <p:blipFill>
          <a:blip r:embed="rId1"/>
          <a:srcRect l="0" r="0" t="0" b="0"/>
          <a:stretch/>
        </p:blipFill>
        <p:spPr>
          <a:xfrm>
            <a:off x="548640" y="1737360"/>
            <a:ext cx="6583680" cy="4206240"/>
          </a:xfrm>
          <a:prstGeom prst="rect">
            <a:avLst/>
          </a:prstGeom>
        </p:spPr>
      </p:pic>
      <p:sp>
        <p:nvSpPr>
          <p:cNvPr id="6" name="Shape 3"/>
          <p:cNvSpPr/>
          <p:nvPr/>
        </p:nvSpPr>
        <p:spPr>
          <a:xfrm>
            <a:off x="548640" y="1737360"/>
            <a:ext cx="6583680" cy="4206240"/>
          </a:xfrm>
          <a:prstGeom prst="rect">
            <a:avLst/>
          </a:prstGeom>
          <a:ln w="12700">
            <a:solidFill>
              <a:srgbClr val="D7DAE5"/>
            </a:solidFill>
            <a:prstDash val="solid"/>
          </a:ln>
        </p:spPr>
      </p:sp>
      <p:sp>
        <p:nvSpPr>
          <p:cNvPr id="7" name="Shape 4"/>
          <p:cNvSpPr/>
          <p:nvPr/>
        </p:nvSpPr>
        <p:spPr>
          <a:xfrm>
            <a:off x="7498080" y="1737360"/>
            <a:ext cx="4142232" cy="1188720"/>
          </a:xfrm>
          <a:prstGeom prst="roundRect">
            <a:avLst>
              <a:gd name="adj" fmla="val 7692"/>
            </a:avLst>
          </a:prstGeom>
          <a:solidFill>
            <a:srgbClr val="F6F7FB"/>
          </a:solidFill>
          <a:ln w="12700">
            <a:solidFill>
              <a:srgbClr val="F6F7FB"/>
            </a:solidFill>
            <a:prstDash val="solid"/>
          </a:ln>
        </p:spPr>
      </p:sp>
      <p:sp>
        <p:nvSpPr>
          <p:cNvPr id="8" name="Text 5"/>
          <p:cNvSpPr/>
          <p:nvPr/>
        </p:nvSpPr>
        <p:spPr>
          <a:xfrm>
            <a:off x="7635240" y="1792224"/>
            <a:ext cx="3867912" cy="566928"/>
          </a:xfrm>
          <a:prstGeom prst="rect">
            <a:avLst/>
          </a:prstGeom>
          <a:noFill/>
          <a:ln/>
        </p:spPr>
        <p:txBody>
          <a:bodyPr wrap="square" lIns="0" tIns="0" rIns="0" bIns="0" rtlCol="0" anchor="ctr"/>
          <a:lstStyle/>
          <a:p>
            <a:pPr indent="0" marL="0">
              <a:buNone/>
            </a:pPr>
            <a:r>
              <a:rPr lang="en-US" sz="2800" b="1" dirty="0">
                <a:solidFill>
                  <a:srgbClr val="D97706"/>
                </a:solidFill>
                <a:latin typeface="Cambria" pitchFamily="34" charset="0"/>
                <a:ea typeface="Cambria" pitchFamily="34" charset="-122"/>
                <a:cs typeface="Cambria" pitchFamily="34" charset="-120"/>
              </a:rPr>
              <a:t>85%</a:t>
            </a:r>
            <a:endParaRPr lang="en-US" sz="2800" dirty="0"/>
          </a:p>
        </p:txBody>
      </p:sp>
      <p:sp>
        <p:nvSpPr>
          <p:cNvPr id="9" name="Text 6"/>
          <p:cNvSpPr/>
          <p:nvPr/>
        </p:nvSpPr>
        <p:spPr>
          <a:xfrm>
            <a:off x="7635240" y="235915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of the reply's tokens is the artifact document</a:t>
            </a:r>
            <a:endParaRPr lang="en-US" sz="1050" dirty="0"/>
          </a:p>
        </p:txBody>
      </p:sp>
      <p:sp>
        <p:nvSpPr>
          <p:cNvPr id="10" name="Shape 7"/>
          <p:cNvSpPr/>
          <p:nvPr/>
        </p:nvSpPr>
        <p:spPr>
          <a:xfrm>
            <a:off x="7498080" y="3017520"/>
            <a:ext cx="4142232" cy="1188720"/>
          </a:xfrm>
          <a:prstGeom prst="roundRect">
            <a:avLst>
              <a:gd name="adj" fmla="val 7692"/>
            </a:avLst>
          </a:prstGeom>
          <a:solidFill>
            <a:srgbClr val="F6F7FB"/>
          </a:solidFill>
          <a:ln w="12700">
            <a:solidFill>
              <a:srgbClr val="F6F7FB"/>
            </a:solidFill>
            <a:prstDash val="solid"/>
          </a:ln>
        </p:spPr>
      </p:sp>
      <p:sp>
        <p:nvSpPr>
          <p:cNvPr id="11" name="Text 8"/>
          <p:cNvSpPr/>
          <p:nvPr/>
        </p:nvSpPr>
        <p:spPr>
          <a:xfrm>
            <a:off x="7635240" y="3072384"/>
            <a:ext cx="3867912" cy="566928"/>
          </a:xfrm>
          <a:prstGeom prst="rect">
            <a:avLst/>
          </a:prstGeom>
          <a:noFill/>
          <a:ln/>
        </p:spPr>
        <p:txBody>
          <a:bodyPr wrap="square" lIns="0" tIns="0" rIns="0" bIns="0" rtlCol="0" anchor="ctr"/>
          <a:lstStyle/>
          <a:p>
            <a:pPr indent="0" marL="0">
              <a:buNone/>
            </a:pPr>
            <a:r>
              <a:rPr lang="en-US" sz="2800" b="1" dirty="0">
                <a:solidFill>
                  <a:srgbClr val="2F3CFF"/>
                </a:solidFill>
                <a:latin typeface="Cambria" pitchFamily="34" charset="0"/>
                <a:ea typeface="Cambria" pitchFamily="34" charset="-122"/>
                <a:cs typeface="Cambria" pitchFamily="34" charset="-120"/>
              </a:rPr>
              <a:t>1,441</a:t>
            </a:r>
            <a:endParaRPr lang="en-US" sz="2800" dirty="0"/>
          </a:p>
        </p:txBody>
      </p:sp>
      <p:sp>
        <p:nvSpPr>
          <p:cNvPr id="12" name="Text 9"/>
          <p:cNvSpPr/>
          <p:nvPr/>
        </p:nvSpPr>
        <p:spPr>
          <a:xfrm>
            <a:off x="7635240" y="3639312"/>
            <a:ext cx="3867912" cy="530352"/>
          </a:xfrm>
          <a:prstGeom prst="rect">
            <a:avLst/>
          </a:prstGeom>
          <a:noFill/>
          <a:ln/>
        </p:spPr>
        <p:txBody>
          <a:bodyPr wrap="square" lIns="0" tIns="0" rIns="0" bIns="0" rtlCol="0" anchor="t"/>
          <a:lstStyle/>
          <a:p>
            <a:pPr indent="0" marL="0">
              <a:buNone/>
            </a:pPr>
            <a:r>
              <a:rPr lang="en-US" sz="1050" dirty="0">
                <a:solidFill>
                  <a:srgbClr val="4B5563"/>
                </a:solidFill>
                <a:latin typeface="Calibri" pitchFamily="34" charset="0"/>
                <a:ea typeface="Calibri" pitchFamily="34" charset="-122"/>
                <a:cs typeface="Calibri" pitchFamily="34" charset="-120"/>
              </a:rPr>
              <a:t>characters of HTML, CSS and JS</a:t>
            </a:r>
            <a:endParaRPr lang="en-US" sz="1050" dirty="0"/>
          </a:p>
        </p:txBody>
      </p:sp>
      <p:sp>
        <p:nvSpPr>
          <p:cNvPr id="13" name="Text 10"/>
          <p:cNvSpPr/>
          <p:nvPr/>
        </p:nvSpPr>
        <p:spPr>
          <a:xfrm>
            <a:off x="7498080" y="4343400"/>
            <a:ext cx="4142232" cy="155448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sandbox=allow-scripts, referrerpolicy=no-referrer, and the CSP meta first in head: the demo checks all three.</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The headless test set both sliders to their maximum inside the iframe; the document's own script updated the total.</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checkDocument() found nothing to report: no external resource, no network call, no meta refresh.</a:t>
            </a:r>
            <a:endParaRPr lang="en-US" sz="1050" dirty="0"/>
          </a:p>
        </p:txBody>
      </p:sp>
      <p:sp>
        <p:nvSpPr>
          <p:cNvPr id="14" name="Text 11"/>
          <p:cNvSpPr/>
          <p:nvPr/>
        </p:nvSpPr>
        <p:spPr>
          <a:xfrm>
            <a:off x="548640" y="5989320"/>
            <a:ext cx="11064240" cy="457200"/>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379 of 447 reply tokens are the document (463 output tokens from turn.done); the catalog reply for the report was 108 tokens.</a:t>
            </a:r>
            <a:endParaRPr lang="en-US" sz="12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141B3D"/>
        </a:solidFill>
      </p:bgPr>
    </p:bg>
    <p:spTree>
      <p:nvGrpSpPr>
        <p:cNvPr id="1" name=""/>
        <p:cNvGrpSpPr/>
        <p:nvPr/>
      </p:nvGrpSpPr>
      <p:grpSpPr>
        <a:xfrm>
          <a:off x="0" y="0"/>
          <a:ext cx="0" cy="0"/>
          <a:chOff x="0" y="0"/>
          <a:chExt cx="0" cy="0"/>
        </a:xfrm>
      </p:grpSpPr>
      <p:sp>
        <p:nvSpPr>
          <p:cNvPr id="2" name="Text 0"/>
          <p:cNvSpPr/>
          <p:nvPr/>
        </p:nvSpPr>
        <p:spPr>
          <a:xfrm>
            <a:off x="731520" y="822960"/>
            <a:ext cx="10058400" cy="365760"/>
          </a:xfrm>
          <a:prstGeom prst="rect">
            <a:avLst/>
          </a:prstGeom>
          <a:noFill/>
          <a:ln/>
        </p:spPr>
        <p:txBody>
          <a:bodyPr wrap="square" lIns="0" tIns="0" rIns="0" bIns="0" rtlCol="0" anchor="ctr"/>
          <a:lstStyle/>
          <a:p>
            <a:pPr indent="0" marL="0">
              <a:buNone/>
            </a:pPr>
            <a:r>
              <a:rPr lang="en-US" sz="1300" b="1" spc="300" kern="0" dirty="0">
                <a:solidFill>
                  <a:srgbClr val="AAB4FF"/>
                </a:solidFill>
                <a:latin typeface="Calibri" pitchFamily="34" charset="0"/>
                <a:ea typeface="Calibri" pitchFamily="34" charset="-122"/>
                <a:cs typeface="Calibri" pitchFamily="34" charset="-120"/>
              </a:rPr>
              <a:t>Choosing</a:t>
            </a:r>
            <a:endParaRPr lang="en-US" sz="1300" dirty="0"/>
          </a:p>
        </p:txBody>
      </p:sp>
      <p:sp>
        <p:nvSpPr>
          <p:cNvPr id="3" name="Text 1"/>
          <p:cNvSpPr/>
          <p:nvPr/>
        </p:nvSpPr>
        <p:spPr>
          <a:xfrm>
            <a:off x="731520" y="1280160"/>
            <a:ext cx="10515600" cy="11887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Choosing for your own product</a:t>
            </a:r>
            <a:endParaRPr lang="en-US" sz="4000" dirty="0"/>
          </a:p>
        </p:txBody>
      </p:sp>
      <p:sp>
        <p:nvSpPr>
          <p:cNvPr id="4" name="Text 2"/>
          <p:cNvSpPr/>
          <p:nvPr/>
        </p:nvSpPr>
        <p:spPr>
          <a:xfrm>
            <a:off x="731520" y="2560320"/>
            <a:ext cx="6583680" cy="201168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The report's decision framework, with the step that shows each option. Transport first, because your product decides it. Generation mode second, because it is a cost and control trade you can revisit.</a:t>
            </a:r>
            <a:endParaRPr lang="en-US" sz="1600" dirty="0"/>
          </a:p>
        </p:txBody>
      </p:sp>
      <p:sp>
        <p:nvSpPr>
          <p:cNvPr id="5" name="Shape 3"/>
          <p:cNvSpPr/>
          <p:nvPr/>
        </p:nvSpPr>
        <p:spPr>
          <a:xfrm>
            <a:off x="7680960" y="2606040"/>
            <a:ext cx="3931920" cy="603504"/>
          </a:xfrm>
          <a:prstGeom prst="roundRect">
            <a:avLst>
              <a:gd name="adj" fmla="val 12121"/>
            </a:avLst>
          </a:prstGeom>
          <a:solidFill>
            <a:srgbClr val="1E2761"/>
          </a:solidFill>
          <a:ln w="12700">
            <a:solidFill>
              <a:srgbClr val="3B4A8A"/>
            </a:solidFill>
            <a:prstDash val="solid"/>
          </a:ln>
        </p:spPr>
      </p:sp>
      <p:sp>
        <p:nvSpPr>
          <p:cNvPr id="6" name="Text 4"/>
          <p:cNvSpPr/>
          <p:nvPr/>
        </p:nvSpPr>
        <p:spPr>
          <a:xfrm>
            <a:off x="7818120" y="2606040"/>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1  </a:t>
            </a:r>
            <a:pPr indent="0" marL="0">
              <a:buNone/>
            </a:pPr>
            <a:r>
              <a:rPr lang="en-US" sz="1250" dirty="0">
                <a:solidFill>
                  <a:srgbClr val="FFFFFF"/>
                </a:solidFill>
                <a:latin typeface="Calibri" pitchFamily="34" charset="0"/>
                <a:ea typeface="Calibri" pitchFamily="34" charset="-122"/>
                <a:cs typeface="Calibri" pitchFamily="34" charset="-120"/>
              </a:rPr>
              <a:t>pick the transport</a:t>
            </a:r>
            <a:endParaRPr lang="en-US" sz="1250" dirty="0"/>
          </a:p>
        </p:txBody>
      </p:sp>
      <p:sp>
        <p:nvSpPr>
          <p:cNvPr id="7" name="Shape 5"/>
          <p:cNvSpPr/>
          <p:nvPr/>
        </p:nvSpPr>
        <p:spPr>
          <a:xfrm>
            <a:off x="7680960" y="3319272"/>
            <a:ext cx="3931920" cy="603504"/>
          </a:xfrm>
          <a:prstGeom prst="roundRect">
            <a:avLst>
              <a:gd name="adj" fmla="val 12121"/>
            </a:avLst>
          </a:prstGeom>
          <a:solidFill>
            <a:srgbClr val="1E2761"/>
          </a:solidFill>
          <a:ln w="12700">
            <a:solidFill>
              <a:srgbClr val="3B4A8A"/>
            </a:solidFill>
            <a:prstDash val="solid"/>
          </a:ln>
        </p:spPr>
      </p:sp>
      <p:sp>
        <p:nvSpPr>
          <p:cNvPr id="8" name="Text 6"/>
          <p:cNvSpPr/>
          <p:nvPr/>
        </p:nvSpPr>
        <p:spPr>
          <a:xfrm>
            <a:off x="7818120" y="3319272"/>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2  </a:t>
            </a:r>
            <a:pPr indent="0" marL="0">
              <a:buNone/>
            </a:pPr>
            <a:r>
              <a:rPr lang="en-US" sz="1250" dirty="0">
                <a:solidFill>
                  <a:srgbClr val="FFFFFF"/>
                </a:solidFill>
                <a:latin typeface="Calibri" pitchFamily="34" charset="0"/>
                <a:ea typeface="Calibri" pitchFamily="34" charset="-122"/>
                <a:cs typeface="Calibri" pitchFamily="34" charset="-120"/>
              </a:rPr>
              <a:t>pick the generation mode</a:t>
            </a:r>
            <a:endParaRPr lang="en-US" sz="1250" dirty="0"/>
          </a:p>
        </p:txBody>
      </p:sp>
      <p:sp>
        <p:nvSpPr>
          <p:cNvPr id="9" name="Shape 7"/>
          <p:cNvSpPr/>
          <p:nvPr/>
        </p:nvSpPr>
        <p:spPr>
          <a:xfrm>
            <a:off x="7680960" y="4032504"/>
            <a:ext cx="3931920" cy="603504"/>
          </a:xfrm>
          <a:prstGeom prst="roundRect">
            <a:avLst>
              <a:gd name="adj" fmla="val 12121"/>
            </a:avLst>
          </a:prstGeom>
          <a:solidFill>
            <a:srgbClr val="1E2761"/>
          </a:solidFill>
          <a:ln w="12700">
            <a:solidFill>
              <a:srgbClr val="3B4A8A"/>
            </a:solidFill>
            <a:prstDash val="solid"/>
          </a:ln>
        </p:spPr>
      </p:sp>
      <p:sp>
        <p:nvSpPr>
          <p:cNvPr id="10" name="Text 8"/>
          <p:cNvSpPr/>
          <p:nvPr/>
        </p:nvSpPr>
        <p:spPr>
          <a:xfrm>
            <a:off x="7818120" y="4032504"/>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3  </a:t>
            </a:r>
            <a:pPr indent="0" marL="0">
              <a:buNone/>
            </a:pPr>
            <a:r>
              <a:rPr lang="en-US" sz="1250" dirty="0">
                <a:solidFill>
                  <a:srgbClr val="FFFFFF"/>
                </a:solidFill>
                <a:latin typeface="Calibri" pitchFamily="34" charset="0"/>
                <a:ea typeface="Calibri" pitchFamily="34" charset="-122"/>
                <a:cs typeface="Calibri" pitchFamily="34" charset="-120"/>
              </a:rPr>
              <a:t>check the measurements</a:t>
            </a:r>
            <a:endParaRPr lang="en-US" sz="1250" dirty="0"/>
          </a:p>
        </p:txBody>
      </p:sp>
      <p:sp>
        <p:nvSpPr>
          <p:cNvPr id="11" name="Shape 9"/>
          <p:cNvSpPr/>
          <p:nvPr/>
        </p:nvSpPr>
        <p:spPr>
          <a:xfrm>
            <a:off x="7680960" y="4745736"/>
            <a:ext cx="3931920" cy="603504"/>
          </a:xfrm>
          <a:prstGeom prst="roundRect">
            <a:avLst>
              <a:gd name="adj" fmla="val 12121"/>
            </a:avLst>
          </a:prstGeom>
          <a:solidFill>
            <a:srgbClr val="1E2761"/>
          </a:solidFill>
          <a:ln w="12700">
            <a:solidFill>
              <a:srgbClr val="3B4A8A"/>
            </a:solidFill>
            <a:prstDash val="solid"/>
          </a:ln>
        </p:spPr>
      </p:sp>
      <p:sp>
        <p:nvSpPr>
          <p:cNvPr id="12" name="Text 10"/>
          <p:cNvSpPr/>
          <p:nvPr/>
        </p:nvSpPr>
        <p:spPr>
          <a:xfrm>
            <a:off x="7818120" y="4745736"/>
            <a:ext cx="3703320" cy="603504"/>
          </a:xfrm>
          <a:prstGeom prst="rect">
            <a:avLst/>
          </a:prstGeom>
          <a:noFill/>
          <a:ln/>
        </p:spPr>
        <p:txBody>
          <a:bodyPr wrap="square" lIns="0" tIns="0" rIns="0" bIns="0" rtlCol="0" anchor="ctr"/>
          <a:lstStyle/>
          <a:p>
            <a:pPr indent="0" marL="0">
              <a:buNone/>
            </a:pPr>
            <a:r>
              <a:rPr lang="en-US" sz="1250" b="1" dirty="0">
                <a:solidFill>
                  <a:srgbClr val="FDE68A"/>
                </a:solidFill>
                <a:latin typeface="Calibri" pitchFamily="34" charset="0"/>
                <a:ea typeface="Calibri" pitchFamily="34" charset="-122"/>
                <a:cs typeface="Calibri" pitchFamily="34" charset="-120"/>
              </a:rPr>
              <a:t>4  </a:t>
            </a:r>
            <a:pPr indent="0" marL="0">
              <a:buNone/>
            </a:pPr>
            <a:r>
              <a:rPr lang="en-US" sz="1250" dirty="0">
                <a:solidFill>
                  <a:srgbClr val="FFFFFF"/>
                </a:solidFill>
                <a:latin typeface="Calibri" pitchFamily="34" charset="0"/>
                <a:ea typeface="Calibri" pitchFamily="34" charset="-122"/>
                <a:cs typeface="Calibri" pitchFamily="34" charset="-120"/>
              </a:rPr>
              <a:t>keep the three rules</a:t>
            </a:r>
            <a:endParaRPr lang="en-US" sz="125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AB8"/>
                </a:solidFill>
                <a:latin typeface="Calibri" pitchFamily="34" charset="0"/>
                <a:ea typeface="Calibri" pitchFamily="34" charset="-122"/>
                <a:cs typeface="Calibri" pitchFamily="34" charset="-120"/>
              </a:rPr>
              <a:t>131</a:t>
            </a:r>
            <a:endParaRPr lang="en-US" sz="10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CHOOSING · TRANSPORT, THEN GENERATION</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If this is your situation, use this, and this step shows it</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132</a:t>
            </a:r>
            <a:endParaRPr lang="en-US" sz="1000" dirty="0"/>
          </a:p>
        </p:txBody>
      </p:sp>
      <p:graphicFrame>
        <p:nvGraphicFramePr>
          <p:cNvPr id="13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4206240"/>
                <a:gridCol w="4572000"/>
                <a:gridCol w="228600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If</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Then</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the agent runs inside a product you build</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AG-UI</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02.1 to 02.3</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the agent must appear inside Claude, ChatGPT, VS Code or Goose</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MCP Apps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06.1, 06.2</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ship both: the same UI, two transports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06.2</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the answer shapes are few and your design system is strict</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static: prebuilt components, the agent fills props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01.1</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layouts vary and must stay inside your design system</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declarative, from a catalog</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01.2 and one of 03, 04, 05</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you need the lowest token cost and the earliest first paint</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OpenUI Lang</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04.1 to 04.3</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you render on Flutter, Angular or native, or need catalog negotiation</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A2UI</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03.1 to 03.3</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you render to PDF, email, a terminal or video as well as the browser</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json-render</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05.1 to 05.3</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one-off or creative output is part of the product</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the hybrid: a catalog with a sandboxed generated view</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01.4, 04.4, 06.3, 07.3</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CHOOSING · WHAT THE SERIES MEASURED</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2600" b="1" dirty="0">
                <a:solidFill>
                  <a:srgbClr val="1F2937"/>
                </a:solidFill>
                <a:latin typeface="Cambria" pitchFamily="34" charset="0"/>
                <a:ea typeface="Cambria" pitchFamily="34" charset="-122"/>
                <a:cs typeface="Cambria" pitchFamily="34" charset="-120"/>
              </a:rPr>
              <a:t>Five questions the report raises, answered with recorded runs</a:t>
            </a:r>
            <a:endParaRPr lang="en-US" sz="26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133</a:t>
            </a:r>
            <a:endParaRPr lang="en-US" sz="100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931920"/>
                <a:gridCol w="1371600"/>
                <a:gridCol w="576072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Question</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Measured in</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141B3D"/>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How much does open-ended HTML cost against a flat spec?</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01.3</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nine to ten times the tokens, eight times the wall time, over three runs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Does a flat element map paint earlier than a nested tree?</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01.2</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layout known at chunk 33 of 266, against chunk 408 of 408</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Does the report's format table hold?</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04.3</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every cell reproduces: OpenUI Lang 4,800 tokens against 9,122 YAML, 9,948 C1 JSON, 10,180 patches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Does patch streaming help a real page?</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05.2</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first paint at 3.5 s against 10.1 s complete; the single-paint version took 5.8 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How much of a hybrid reply is the open-ended part?</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04.4</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the artifact document was 292 of 341 completion tokens, 86%</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What does a hosted harness's UI language look like on the wire?</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07.2</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an OpenUI Lang program of 32 lines and 7 statements inside a normal reply</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6F7FB"/>
                    </a:solidFill>
                  </a:tcPr>
                </a:tc>
              </a:tr>
              <a:tr h="329184">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Can the hybrid live inside a host you do not control, or on a hosted harness?</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06.3, 07.3</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yes: a generated region one sandbox deeper inside an MCP App; one artifact statement in a TrueForge reply, rendered by your own page</a:t>
                      </a:r>
                      <a:endParaRPr lang="en-US" sz="1100" dirty="0">
                        <a:latin typeface="Calibri" charset="0"/>
                        <a:ea typeface="Calibri" charset="0"/>
                        <a:cs typeface="Calibri" charset="0"/>
                      </a:endParaRPr>
                    </a:p>
                  </a:txBody>
                  <a:tcPr marL="54864" marR="54864" marT="54864" marB="54864" anchor="ctr">
                    <a:lnL w="6350" cap="flat" cmpd="sng" algn="ctr">
                      <a:solidFill>
                        <a:srgbClr val="D7DAE5"/>
                      </a:solidFill>
                      <a:prstDash val="solid"/>
                      <a:round/>
                      <a:headEnd type="none" w="med" len="med"/>
                      <a:tailEnd type="none" w="med" len="med"/>
                    </a:lnL>
                    <a:lnR w="6350" cap="flat" cmpd="sng" algn="ctr">
                      <a:solidFill>
                        <a:srgbClr val="D7DAE5"/>
                      </a:solidFill>
                      <a:prstDash val="solid"/>
                      <a:round/>
                      <a:headEnd type="none" w="med" len="med"/>
                      <a:tailEnd type="none" w="med" len="med"/>
                    </a:lnR>
                    <a:lnT w="6350" cap="flat" cmpd="sng" algn="ctr">
                      <a:solidFill>
                        <a:srgbClr val="D7DAE5"/>
                      </a:solidFill>
                      <a:prstDash val="solid"/>
                      <a:round/>
                      <a:headEnd type="none" w="med" len="med"/>
                      <a:tailEnd type="none" w="med" len="med"/>
                    </a:lnT>
                    <a:lnB w="6350" cap="flat" cmpd="sng" algn="ctr">
                      <a:solidFill>
                        <a:srgbClr val="D7DA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WRAP-UP</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Three rules that held across all 23 steps</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134</a:t>
            </a:r>
            <a:endParaRPr lang="en-US" sz="1000" dirty="0"/>
          </a:p>
        </p:txBody>
      </p:sp>
      <p:sp>
        <p:nvSpPr>
          <p:cNvPr id="5" name="Text 3"/>
          <p:cNvSpPr/>
          <p:nvPr/>
        </p:nvSpPr>
        <p:spPr>
          <a:xfrm>
            <a:off x="548640" y="1463040"/>
            <a:ext cx="5120640" cy="42976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Structure before content.</a:t>
            </a:r>
            <a:pPr indent="0" marL="0">
              <a:buNone/>
            </a:pPr>
            <a:r>
              <a:rPr lang="en-US" sz="1350" dirty="0">
                <a:solidFill>
                  <a:srgbClr val="1F2937"/>
                </a:solidFill>
                <a:latin typeface="Calibri" pitchFamily="34" charset="0"/>
                <a:ea typeface="Calibri" pitchFamily="34" charset="-122"/>
                <a:cs typeface="Calibri" pitchFamily="34" charset="-120"/>
              </a:rPr>
              <a:t> Every format that streams well names the layout first and fills it later: flat maps, forward references, patches against ids. A nested document cannot paint until it closes.</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The catalog is the contract.</a:t>
            </a:r>
            <a:pPr indent="0" marL="0">
              <a:buNone/>
            </a:pPr>
            <a:r>
              <a:rPr lang="en-US" sz="1350" dirty="0">
                <a:solidFill>
                  <a:srgbClr val="1F2937"/>
                </a:solidFill>
                <a:latin typeface="Calibri" pitchFamily="34" charset="0"/>
                <a:ea typeface="Calibri" pitchFamily="34" charset="-122"/>
                <a:cs typeface="Calibri" pitchFamily="34" charset="-120"/>
              </a:rPr>
              <a:t> Prompt, validation and rendering come from one definition. Change the definition and all three change. This is what keeps declarative generation safe.</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350" b="1" dirty="0">
                <a:solidFill>
                  <a:srgbClr val="141B3D"/>
                </a:solidFill>
                <a:latin typeface="Calibri" pitchFamily="34" charset="0"/>
                <a:ea typeface="Calibri" pitchFamily="34" charset="-122"/>
                <a:cs typeface="Calibri" pitchFamily="34" charset="-120"/>
              </a:rPr>
              <a:t>Errors are results.</a:t>
            </a:r>
            <a:pPr indent="0" marL="0">
              <a:buNone/>
            </a:pPr>
            <a:r>
              <a:rPr lang="en-US" sz="1350" dirty="0">
                <a:solidFill>
                  <a:srgbClr val="1F2937"/>
                </a:solidFill>
                <a:latin typeface="Calibri" pitchFamily="34" charset="0"/>
                <a:ea typeface="Calibri" pitchFamily="34" charset="-122"/>
                <a:cs typeface="Calibri" pitchFamily="34" charset="-120"/>
              </a:rPr>
              <a:t> A spec that fails validation goes back to the model as text. A blocked script stays inside its iframe. The loop never ends because the agent drew something wrong.</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harness codelab ended with the same three rules for tools. They hold for interfaces too.</a:t>
            </a:r>
            <a:endParaRPr lang="en-US" sz="1350" dirty="0"/>
          </a:p>
        </p:txBody>
      </p:sp>
      <p:sp>
        <p:nvSpPr>
          <p:cNvPr id="6" name="Shape 4"/>
          <p:cNvSpPr/>
          <p:nvPr/>
        </p:nvSpPr>
        <p:spPr>
          <a:xfrm>
            <a:off x="6903720" y="1600200"/>
            <a:ext cx="3840480" cy="822960"/>
          </a:xfrm>
          <a:prstGeom prst="roundRect">
            <a:avLst>
              <a:gd name="adj" fmla="val 11111"/>
            </a:avLst>
          </a:prstGeom>
          <a:solidFill>
            <a:srgbClr val="EEF0FF"/>
          </a:solidFill>
          <a:ln w="15875">
            <a:solidFill>
              <a:srgbClr val="2F3CFF"/>
            </a:solidFill>
            <a:prstDash val="solid"/>
          </a:ln>
        </p:spPr>
      </p:sp>
      <p:sp>
        <p:nvSpPr>
          <p:cNvPr id="7" name="Text 5"/>
          <p:cNvSpPr/>
          <p:nvPr/>
        </p:nvSpPr>
        <p:spPr>
          <a:xfrm>
            <a:off x="6976872" y="1636776"/>
            <a:ext cx="3694176" cy="39319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structure before content</a:t>
            </a:r>
            <a:endParaRPr lang="en-US" sz="1200" dirty="0"/>
          </a:p>
        </p:txBody>
      </p:sp>
      <p:sp>
        <p:nvSpPr>
          <p:cNvPr id="8" name="Text 6"/>
          <p:cNvSpPr/>
          <p:nvPr/>
        </p:nvSpPr>
        <p:spPr>
          <a:xfrm>
            <a:off x="6976872" y="2029968"/>
            <a:ext cx="3694176" cy="35661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layout first, holes filled later</a:t>
            </a:r>
            <a:endParaRPr lang="en-US" sz="950" dirty="0"/>
          </a:p>
        </p:txBody>
      </p:sp>
      <p:sp>
        <p:nvSpPr>
          <p:cNvPr id="9" name="Shape 7"/>
          <p:cNvSpPr/>
          <p:nvPr/>
        </p:nvSpPr>
        <p:spPr>
          <a:xfrm>
            <a:off x="8823960" y="2450592"/>
            <a:ext cx="9144" cy="265176"/>
          </a:xfrm>
          <a:prstGeom prst="line">
            <a:avLst/>
          </a:prstGeom>
          <a:noFill/>
          <a:ln w="19050">
            <a:solidFill>
              <a:srgbClr val="4B5563"/>
            </a:solidFill>
            <a:prstDash val="solid"/>
            <a:tailEnd type="triangle"/>
          </a:ln>
        </p:spPr>
      </p:sp>
      <p:sp>
        <p:nvSpPr>
          <p:cNvPr id="10" name="Shape 8"/>
          <p:cNvSpPr/>
          <p:nvPr/>
        </p:nvSpPr>
        <p:spPr>
          <a:xfrm>
            <a:off x="6903720" y="2743200"/>
            <a:ext cx="3840480" cy="822960"/>
          </a:xfrm>
          <a:prstGeom prst="roundRect">
            <a:avLst>
              <a:gd name="adj" fmla="val 11111"/>
            </a:avLst>
          </a:prstGeom>
          <a:solidFill>
            <a:srgbClr val="EEF0FF"/>
          </a:solidFill>
          <a:ln w="15875">
            <a:solidFill>
              <a:srgbClr val="2F3CFF"/>
            </a:solidFill>
            <a:prstDash val="solid"/>
          </a:ln>
        </p:spPr>
      </p:sp>
      <p:sp>
        <p:nvSpPr>
          <p:cNvPr id="11" name="Text 9"/>
          <p:cNvSpPr/>
          <p:nvPr/>
        </p:nvSpPr>
        <p:spPr>
          <a:xfrm>
            <a:off x="6976872" y="2779776"/>
            <a:ext cx="3694176" cy="393192"/>
          </a:xfrm>
          <a:prstGeom prst="rect">
            <a:avLst/>
          </a:prstGeom>
          <a:noFill/>
          <a:ln/>
        </p:spPr>
        <p:txBody>
          <a:bodyPr wrap="square" lIns="0" tIns="0" rIns="0" bIns="0" rtlCol="0" anchor="b"/>
          <a:lstStyle/>
          <a:p>
            <a:pPr algn="ctr" indent="0" marL="0">
              <a:buNone/>
            </a:pPr>
            <a:r>
              <a:rPr lang="en-US" sz="1200" b="1" dirty="0">
                <a:solidFill>
                  <a:srgbClr val="2F3CFF"/>
                </a:solidFill>
                <a:latin typeface="Calibri" pitchFamily="34" charset="0"/>
                <a:ea typeface="Calibri" pitchFamily="34" charset="-122"/>
                <a:cs typeface="Calibri" pitchFamily="34" charset="-120"/>
              </a:rPr>
              <a:t>the catalog is the contract</a:t>
            </a:r>
            <a:endParaRPr lang="en-US" sz="1200" dirty="0"/>
          </a:p>
        </p:txBody>
      </p:sp>
      <p:sp>
        <p:nvSpPr>
          <p:cNvPr id="12" name="Text 10"/>
          <p:cNvSpPr/>
          <p:nvPr/>
        </p:nvSpPr>
        <p:spPr>
          <a:xfrm>
            <a:off x="6976872" y="3172968"/>
            <a:ext cx="3694176" cy="35661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prompt = validator = registry</a:t>
            </a:r>
            <a:endParaRPr lang="en-US" sz="950" dirty="0"/>
          </a:p>
        </p:txBody>
      </p:sp>
      <p:sp>
        <p:nvSpPr>
          <p:cNvPr id="13" name="Shape 11"/>
          <p:cNvSpPr/>
          <p:nvPr/>
        </p:nvSpPr>
        <p:spPr>
          <a:xfrm>
            <a:off x="8823960" y="3593592"/>
            <a:ext cx="9144" cy="265176"/>
          </a:xfrm>
          <a:prstGeom prst="line">
            <a:avLst/>
          </a:prstGeom>
          <a:noFill/>
          <a:ln w="19050">
            <a:solidFill>
              <a:srgbClr val="4B5563"/>
            </a:solidFill>
            <a:prstDash val="solid"/>
            <a:tailEnd type="triangle"/>
          </a:ln>
        </p:spPr>
      </p:sp>
      <p:sp>
        <p:nvSpPr>
          <p:cNvPr id="14" name="Shape 12"/>
          <p:cNvSpPr/>
          <p:nvPr/>
        </p:nvSpPr>
        <p:spPr>
          <a:xfrm>
            <a:off x="6903720" y="3886200"/>
            <a:ext cx="3840480" cy="822960"/>
          </a:xfrm>
          <a:prstGeom prst="roundRect">
            <a:avLst>
              <a:gd name="adj" fmla="val 11111"/>
            </a:avLst>
          </a:prstGeom>
          <a:solidFill>
            <a:srgbClr val="ECFDF5"/>
          </a:solidFill>
          <a:ln w="15875">
            <a:solidFill>
              <a:srgbClr val="15803D"/>
            </a:solidFill>
            <a:prstDash val="solid"/>
          </a:ln>
        </p:spPr>
      </p:sp>
      <p:sp>
        <p:nvSpPr>
          <p:cNvPr id="15" name="Text 13"/>
          <p:cNvSpPr/>
          <p:nvPr/>
        </p:nvSpPr>
        <p:spPr>
          <a:xfrm>
            <a:off x="6976872" y="3922776"/>
            <a:ext cx="3694176" cy="393192"/>
          </a:xfrm>
          <a:prstGeom prst="rect">
            <a:avLst/>
          </a:prstGeom>
          <a:noFill/>
          <a:ln/>
        </p:spPr>
        <p:txBody>
          <a:bodyPr wrap="square" lIns="0" tIns="0" rIns="0" bIns="0" rtlCol="0" anchor="b"/>
          <a:lstStyle/>
          <a:p>
            <a:pPr algn="ctr" indent="0" marL="0">
              <a:buNone/>
            </a:pPr>
            <a:r>
              <a:rPr lang="en-US" sz="1200" b="1" dirty="0">
                <a:solidFill>
                  <a:srgbClr val="15803D"/>
                </a:solidFill>
                <a:latin typeface="Calibri" pitchFamily="34" charset="0"/>
                <a:ea typeface="Calibri" pitchFamily="34" charset="-122"/>
                <a:cs typeface="Calibri" pitchFamily="34" charset="-120"/>
              </a:rPr>
              <a:t>errors are results</a:t>
            </a:r>
            <a:endParaRPr lang="en-US" sz="1200" dirty="0"/>
          </a:p>
        </p:txBody>
      </p:sp>
      <p:sp>
        <p:nvSpPr>
          <p:cNvPr id="16" name="Text 14"/>
          <p:cNvSpPr/>
          <p:nvPr/>
        </p:nvSpPr>
        <p:spPr>
          <a:xfrm>
            <a:off x="6976872" y="4315968"/>
            <a:ext cx="3694176" cy="356616"/>
          </a:xfrm>
          <a:prstGeom prst="rect">
            <a:avLst/>
          </a:prstGeom>
          <a:noFill/>
          <a:ln/>
        </p:spPr>
        <p:txBody>
          <a:bodyPr wrap="square" lIns="0" tIns="0" rIns="0" bIns="0"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invalid specs return as text</a:t>
            </a:r>
            <a:endParaRPr lang="en-US" sz="950" dirty="0"/>
          </a:p>
        </p:txBody>
      </p:sp>
      <p:sp>
        <p:nvSpPr>
          <p:cNvPr id="17" name="Shape 15"/>
          <p:cNvSpPr/>
          <p:nvPr/>
        </p:nvSpPr>
        <p:spPr>
          <a:xfrm>
            <a:off x="548640" y="5897880"/>
            <a:ext cx="11064240" cy="502920"/>
          </a:xfrm>
          <a:prstGeom prst="roundRect">
            <a:avLst>
              <a:gd name="adj" fmla="val 14545"/>
            </a:avLst>
          </a:prstGeom>
          <a:solidFill>
            <a:srgbClr val="EEF0FF"/>
          </a:solidFill>
          <a:ln w="12700">
            <a:solidFill>
              <a:srgbClr val="EEF0FF"/>
            </a:solidFill>
            <a:prstDash val="solid"/>
          </a:ln>
        </p:spPr>
      </p:sp>
      <p:sp>
        <p:nvSpPr>
          <p:cNvPr id="18" name="Text 16"/>
          <p:cNvSpPr/>
          <p:nvPr/>
        </p:nvSpPr>
        <p:spPr>
          <a:xfrm>
            <a:off x="731520" y="5897880"/>
            <a:ext cx="10698480" cy="502920"/>
          </a:xfrm>
          <a:prstGeom prst="rect">
            <a:avLst/>
          </a:prstGeom>
          <a:noFill/>
          <a:ln/>
        </p:spPr>
        <p:txBody>
          <a:bodyPr wrap="square" lIns="0" tIns="0" rIns="0" bIns="0" rtlCol="0" anchor="ctr"/>
          <a:lstStyle/>
          <a:p>
            <a:pPr indent="0" marL="0">
              <a:buNone/>
            </a:pPr>
            <a:r>
              <a:rPr lang="en-US" sz="1250" b="1" dirty="0">
                <a:solidFill>
                  <a:srgbClr val="2F3CFF"/>
                </a:solidFill>
                <a:latin typeface="Calibri" pitchFamily="34" charset="0"/>
                <a:ea typeface="Calibri" pitchFamily="34" charset="-122"/>
                <a:cs typeface="Calibri" pitchFamily="34" charset="-120"/>
              </a:rPr>
              <a:t>Takeaway  </a:t>
            </a:r>
            <a:pPr indent="0" marL="0">
              <a:buNone/>
            </a:pPr>
            <a:r>
              <a:rPr lang="en-US" sz="1250" dirty="0">
                <a:solidFill>
                  <a:srgbClr val="1F2937"/>
                </a:solidFill>
                <a:latin typeface="Calibri" pitchFamily="34" charset="0"/>
                <a:ea typeface="Calibri" pitchFamily="34" charset="-122"/>
                <a:cs typeface="Calibri" pitchFamily="34" charset="-120"/>
              </a:rPr>
              <a:t>Models are commodities. The harness is the product. The interface is where the product meets the user.</a:t>
            </a:r>
            <a:endParaRPr lang="en-US" sz="12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74320"/>
          </a:xfrm>
          <a:prstGeom prst="rect">
            <a:avLst/>
          </a:prstGeom>
          <a:noFill/>
          <a:ln/>
        </p:spPr>
        <p:txBody>
          <a:bodyPr wrap="square" lIns="0" tIns="0" rIns="0" bIns="0" rtlCol="0" anchor="ctr"/>
          <a:lstStyle/>
          <a:p>
            <a:pPr indent="0" marL="0">
              <a:buNone/>
            </a:pPr>
            <a:r>
              <a:rPr lang="en-US" sz="1100" b="1" spc="200" kern="0" dirty="0">
                <a:solidFill>
                  <a:srgbClr val="2F3CFF"/>
                </a:solidFill>
                <a:latin typeface="Calibri" pitchFamily="34" charset="0"/>
                <a:ea typeface="Calibri" pitchFamily="34" charset="-122"/>
                <a:cs typeface="Calibri" pitchFamily="34" charset="-120"/>
              </a:rPr>
              <a:t>WHERE TO GO NEXT</a:t>
            </a:r>
            <a:endParaRPr lang="en-US" sz="1100" dirty="0"/>
          </a:p>
        </p:txBody>
      </p:sp>
      <p:sp>
        <p:nvSpPr>
          <p:cNvPr id="3" name="Text 1"/>
          <p:cNvSpPr/>
          <p:nvPr/>
        </p:nvSpPr>
        <p:spPr>
          <a:xfrm>
            <a:off x="548640" y="548640"/>
            <a:ext cx="11064240" cy="777240"/>
          </a:xfrm>
          <a:prstGeom prst="rect">
            <a:avLst/>
          </a:prstGeom>
          <a:noFill/>
          <a:ln/>
        </p:spPr>
        <p:txBody>
          <a:bodyPr wrap="square" lIns="0" tIns="0" rIns="0" bIns="0" rtlCol="0" anchor="t"/>
          <a:lstStyle/>
          <a:p>
            <a:pPr indent="0" marL="0">
              <a:buNone/>
            </a:pPr>
            <a:r>
              <a:rPr lang="en-US" sz="3000" b="1" dirty="0">
                <a:solidFill>
                  <a:srgbClr val="1F2937"/>
                </a:solidFill>
                <a:latin typeface="Cambria" pitchFamily="34" charset="0"/>
                <a:ea typeface="Cambria" pitchFamily="34" charset="-122"/>
                <a:cs typeface="Cambria" pitchFamily="34" charset="-120"/>
              </a:rPr>
              <a:t>Run it, then change it</a:t>
            </a:r>
            <a:endParaRPr lang="en-US" sz="3000" dirty="0"/>
          </a:p>
        </p:txBody>
      </p:sp>
      <p:sp>
        <p:nvSpPr>
          <p:cNvPr id="4" name="Text 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8B93A7"/>
                </a:solidFill>
                <a:latin typeface="Calibri" pitchFamily="34" charset="0"/>
                <a:ea typeface="Calibri" pitchFamily="34" charset="-122"/>
                <a:cs typeface="Calibri" pitchFamily="34" charset="-120"/>
              </a:rPr>
              <a:t>135</a:t>
            </a:r>
            <a:endParaRPr lang="en-US" sz="1000" dirty="0"/>
          </a:p>
        </p:txBody>
      </p:sp>
      <p:sp>
        <p:nvSpPr>
          <p:cNvPr id="5" name="Text 3"/>
          <p:cNvSpPr/>
          <p:nvPr/>
        </p:nvSpPr>
        <p:spPr>
          <a:xfrm>
            <a:off x="548640" y="1463040"/>
            <a:ext cx="5120640" cy="47548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a:r>
            <a:pPr indent="0" marL="0">
              <a:buNone/>
            </a:pPr>
            <a:r>
              <a:rPr lang="en-US" sz="1250" dirty="0">
                <a:solidFill>
                  <a:srgbClr val="BE123C"/>
                </a:solidFill>
                <a:latin typeface="Courier New" pitchFamily="34" charset="0"/>
                <a:ea typeface="Courier New" pitchFamily="34" charset="-122"/>
                <a:cs typeface="Courier New" pitchFamily="34" charset="-120"/>
              </a:rPr>
              <a:t>git clone https://github.com/dlmastery/simple-coding-harness</a:t>
            </a:r>
            <a:pPr indent="0" marL="0">
              <a:buNone/>
            </a:pPr>
            <a:r>
              <a:rPr lang="en-US" sz="1350" dirty="0">
                <a:solidFill>
                  <a:srgbClr val="1F2937"/>
                </a:solidFill>
                <a:latin typeface="Calibri" pitchFamily="34" charset="0"/>
                <a:ea typeface="Calibri" pitchFamily="34" charset="-122"/>
                <a:cs typeface="Calibri" pitchFamily="34" charset="-120"/>
              </a:rPr>
              <a:t> and open </a:t>
            </a:r>
            <a:pPr indent="0" marL="0">
              <a:buNone/>
            </a:pPr>
            <a:r>
              <a:rPr lang="en-US" sz="1250" dirty="0">
                <a:solidFill>
                  <a:srgbClr val="BE123C"/>
                </a:solidFill>
                <a:latin typeface="Courier New" pitchFamily="34" charset="0"/>
                <a:ea typeface="Courier New" pitchFamily="34" charset="-122"/>
                <a:cs typeface="Courier New" pitchFamily="34" charset="-120"/>
              </a:rPr>
              <a:t>genui/README.md</a:t>
            </a:r>
            <a:pPr indent="0" marL="0">
              <a:buNone/>
            </a:pPr>
            <a:r>
              <a:rPr lang="en-US" sz="1350" dirty="0">
                <a:solidFill>
                  <a:srgbClr val="1F2937"/>
                </a:solidFill>
                <a:latin typeface="Calibri" pitchFamily="34" charset="0"/>
                <a:ea typeface="Calibri" pitchFamily="34" charset="-122"/>
                <a:cs typeface="Calibri" pitchFamily="34" charset="-120"/>
              </a:rPr>
              <a:t>: the written codelab with every snippet verified and every screenshot.</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Start with </a:t>
            </a:r>
            <a:pPr indent="0" marL="0">
              <a:buNone/>
            </a:pPr>
            <a:r>
              <a:rPr lang="en-US" sz="1250" dirty="0">
                <a:solidFill>
                  <a:srgbClr val="BE123C"/>
                </a:solidFill>
                <a:latin typeface="Courier New" pitchFamily="34" charset="0"/>
                <a:ea typeface="Courier New" pitchFamily="34" charset="-122"/>
                <a:cs typeface="Courier New" pitchFamily="34" charset="-120"/>
              </a:rPr>
              <a:t>genui/01_foundations/step_01_static_components</a:t>
            </a:r>
            <a:pPr indent="0" marL="0">
              <a:buNone/>
            </a:pPr>
            <a:r>
              <a:rPr lang="en-US" sz="1350" dirty="0">
                <a:solidFill>
                  <a:srgbClr val="1F2937"/>
                </a:solidFill>
                <a:latin typeface="Calibri" pitchFamily="34" charset="0"/>
                <a:ea typeface="Calibri" pitchFamily="34" charset="-122"/>
                <a:cs typeface="Calibri" pitchFamily="34" charset="-120"/>
              </a:rPr>
              <a:t>: </a:t>
            </a:r>
            <a:pPr indent="0" marL="0">
              <a:buNone/>
            </a:pPr>
            <a:r>
              <a:rPr lang="en-US" sz="1250" dirty="0">
                <a:solidFill>
                  <a:srgbClr val="BE123C"/>
                </a:solidFill>
                <a:latin typeface="Courier New" pitchFamily="34" charset="0"/>
                <a:ea typeface="Courier New" pitchFamily="34" charset="-122"/>
                <a:cs typeface="Courier New" pitchFamily="34" charset="-120"/>
              </a:rPr>
              <a:t>python demo.py</a:t>
            </a:r>
            <a:pPr indent="0" marL="0">
              <a:buNone/>
            </a:pPr>
            <a:r>
              <a:rPr lang="en-US" sz="1350" dirty="0">
                <a:solidFill>
                  <a:srgbClr val="1F2937"/>
                </a:solidFill>
                <a:latin typeface="Calibri" pitchFamily="34" charset="0"/>
                <a:ea typeface="Calibri" pitchFamily="34" charset="-122"/>
                <a:cs typeface="Calibri" pitchFamily="34" charset="-120"/>
              </a:rPr>
              <a:t> records a run and a screenshot in under a minute.</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Each README ends with a checkpoint: change the catalog, watch the prompt change; remove a prompt rule, watch the token count move.</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harness codelab in the repository root is the other half: the loop, tools, permissions, sandbox, sessions, and the same harness on TrueForge.</a:t>
            </a:r>
            <a:endParaRPr lang="en-US" sz="1350" dirty="0"/>
          </a:p>
          <a:p>
            <a:pPr marL="177800" indent="-1778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State of Generative UI report is the map this series follows; the step READMEs cite the specification or library each one uses.</a:t>
            </a:r>
            <a:endParaRPr lang="en-US" sz="1350" dirty="0"/>
          </a:p>
        </p:txBody>
      </p:sp>
      <p:sp>
        <p:nvSpPr>
          <p:cNvPr id="6" name="Shape 4"/>
          <p:cNvSpPr/>
          <p:nvPr/>
        </p:nvSpPr>
        <p:spPr>
          <a:xfrm>
            <a:off x="6035040" y="1600200"/>
            <a:ext cx="5577840" cy="777240"/>
          </a:xfrm>
          <a:prstGeom prst="roundRect">
            <a:avLst>
              <a:gd name="adj" fmla="val 11765"/>
            </a:avLst>
          </a:prstGeom>
          <a:solidFill>
            <a:srgbClr val="F6F7FB"/>
          </a:solidFill>
          <a:ln w="15875">
            <a:solidFill>
              <a:srgbClr val="141B3D"/>
            </a:solidFill>
            <a:prstDash val="solid"/>
          </a:ln>
        </p:spPr>
      </p:sp>
      <p:sp>
        <p:nvSpPr>
          <p:cNvPr id="7" name="Text 5"/>
          <p:cNvSpPr/>
          <p:nvPr/>
        </p:nvSpPr>
        <p:spPr>
          <a:xfrm>
            <a:off x="6108192" y="1636776"/>
            <a:ext cx="5431536" cy="370332"/>
          </a:xfrm>
          <a:prstGeom prst="rect">
            <a:avLst/>
          </a:prstGeom>
          <a:noFill/>
          <a:ln/>
        </p:spPr>
        <p:txBody>
          <a:bodyPr wrap="square" lIns="0" tIns="0" rIns="0" bIns="0" rtlCol="0" anchor="b"/>
          <a:lstStyle/>
          <a:p>
            <a:pPr algn="ctr" indent="0" marL="0">
              <a:buNone/>
            </a:pPr>
            <a:r>
              <a:rPr lang="en-US" sz="1300" b="1" dirty="0">
                <a:solidFill>
                  <a:srgbClr val="141B3D"/>
                </a:solidFill>
                <a:latin typeface="Calibri" pitchFamily="34" charset="0"/>
                <a:ea typeface="Calibri" pitchFamily="34" charset="-122"/>
                <a:cs typeface="Calibri" pitchFamily="34" charset="-120"/>
              </a:rPr>
              <a:t>harness codelab · stages 1 to 51</a:t>
            </a:r>
            <a:endParaRPr lang="en-US" sz="1300" dirty="0"/>
          </a:p>
        </p:txBody>
      </p:sp>
      <p:sp>
        <p:nvSpPr>
          <p:cNvPr id="8" name="Text 6"/>
          <p:cNvSpPr/>
          <p:nvPr/>
        </p:nvSpPr>
        <p:spPr>
          <a:xfrm>
            <a:off x="6108192" y="2007108"/>
            <a:ext cx="543153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the loop, tools, guardrails, context, durability, orchestration, TrueForge</a:t>
            </a:r>
            <a:endParaRPr lang="en-US" sz="1050" dirty="0"/>
          </a:p>
        </p:txBody>
      </p:sp>
      <p:sp>
        <p:nvSpPr>
          <p:cNvPr id="9" name="Shape 7"/>
          <p:cNvSpPr/>
          <p:nvPr/>
        </p:nvSpPr>
        <p:spPr>
          <a:xfrm>
            <a:off x="6035040" y="2487168"/>
            <a:ext cx="5577840" cy="777240"/>
          </a:xfrm>
          <a:prstGeom prst="roundRect">
            <a:avLst>
              <a:gd name="adj" fmla="val 11765"/>
            </a:avLst>
          </a:prstGeom>
          <a:solidFill>
            <a:srgbClr val="EEF0FF"/>
          </a:solidFill>
          <a:ln w="15875">
            <a:solidFill>
              <a:srgbClr val="2F3CFF"/>
            </a:solidFill>
            <a:prstDash val="solid"/>
          </a:ln>
        </p:spPr>
      </p:sp>
      <p:sp>
        <p:nvSpPr>
          <p:cNvPr id="10" name="Text 8"/>
          <p:cNvSpPr/>
          <p:nvPr/>
        </p:nvSpPr>
        <p:spPr>
          <a:xfrm>
            <a:off x="6108192" y="2523744"/>
            <a:ext cx="5431536" cy="370332"/>
          </a:xfrm>
          <a:prstGeom prst="rect">
            <a:avLst/>
          </a:prstGeom>
          <a:noFill/>
          <a:ln/>
        </p:spPr>
        <p:txBody>
          <a:bodyPr wrap="square" lIns="0" tIns="0" rIns="0" bIns="0" rtlCol="0" anchor="b"/>
          <a:lstStyle/>
          <a:p>
            <a:pPr algn="ctr" indent="0" marL="0">
              <a:buNone/>
            </a:pPr>
            <a:r>
              <a:rPr lang="en-US" sz="1300" b="1" dirty="0">
                <a:solidFill>
                  <a:srgbClr val="2F3CFF"/>
                </a:solidFill>
                <a:latin typeface="Calibri" pitchFamily="34" charset="0"/>
                <a:ea typeface="Calibri" pitchFamily="34" charset="-122"/>
                <a:cs typeface="Calibri" pitchFamily="34" charset="-120"/>
              </a:rPr>
              <a:t>generative UI series · 23 steps</a:t>
            </a:r>
            <a:endParaRPr lang="en-US" sz="1300" dirty="0"/>
          </a:p>
        </p:txBody>
      </p:sp>
      <p:sp>
        <p:nvSpPr>
          <p:cNvPr id="11" name="Text 9"/>
          <p:cNvSpPr/>
          <p:nvPr/>
        </p:nvSpPr>
        <p:spPr>
          <a:xfrm>
            <a:off x="6108192" y="2894076"/>
            <a:ext cx="543153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static, declarative, open-ended; AG-UI, A2UI, OpenUI Lang, json-render, MCP Apps</a:t>
            </a:r>
            <a:endParaRPr lang="en-US" sz="1050" dirty="0"/>
          </a:p>
        </p:txBody>
      </p:sp>
      <p:sp>
        <p:nvSpPr>
          <p:cNvPr id="12" name="Shape 10"/>
          <p:cNvSpPr/>
          <p:nvPr/>
        </p:nvSpPr>
        <p:spPr>
          <a:xfrm>
            <a:off x="6035040" y="3374136"/>
            <a:ext cx="5577840" cy="777240"/>
          </a:xfrm>
          <a:prstGeom prst="roundRect">
            <a:avLst>
              <a:gd name="adj" fmla="val 11765"/>
            </a:avLst>
          </a:prstGeom>
          <a:solidFill>
            <a:srgbClr val="ECFDF5"/>
          </a:solidFill>
          <a:ln w="15875">
            <a:solidFill>
              <a:srgbClr val="15803D"/>
            </a:solidFill>
            <a:prstDash val="solid"/>
          </a:ln>
        </p:spPr>
      </p:sp>
      <p:sp>
        <p:nvSpPr>
          <p:cNvPr id="13" name="Text 11"/>
          <p:cNvSpPr/>
          <p:nvPr/>
        </p:nvSpPr>
        <p:spPr>
          <a:xfrm>
            <a:off x="6108192" y="3410712"/>
            <a:ext cx="5431536" cy="370332"/>
          </a:xfrm>
          <a:prstGeom prst="rect">
            <a:avLst/>
          </a:prstGeom>
          <a:noFill/>
          <a:ln/>
        </p:spPr>
        <p:txBody>
          <a:bodyPr wrap="square" lIns="0" tIns="0" rIns="0" bIns="0" rtlCol="0" anchor="b"/>
          <a:lstStyle/>
          <a:p>
            <a:pPr algn="ctr" indent="0" marL="0">
              <a:buNone/>
            </a:pPr>
            <a:r>
              <a:rPr lang="en-US" sz="1300" b="1" dirty="0">
                <a:solidFill>
                  <a:srgbClr val="15803D"/>
                </a:solidFill>
                <a:latin typeface="Calibri" pitchFamily="34" charset="0"/>
                <a:ea typeface="Calibri" pitchFamily="34" charset="-122"/>
                <a:cs typeface="Calibri" pitchFamily="34" charset="-120"/>
              </a:rPr>
              <a:t>your product</a:t>
            </a:r>
            <a:endParaRPr lang="en-US" sz="1300" dirty="0"/>
          </a:p>
        </p:txBody>
      </p:sp>
      <p:sp>
        <p:nvSpPr>
          <p:cNvPr id="14" name="Text 12"/>
          <p:cNvSpPr/>
          <p:nvPr/>
        </p:nvSpPr>
        <p:spPr>
          <a:xfrm>
            <a:off x="6108192" y="3781044"/>
            <a:ext cx="5431536" cy="333756"/>
          </a:xfrm>
          <a:prstGeom prst="rect">
            <a:avLst/>
          </a:prstGeom>
          <a:noFill/>
          <a:ln/>
        </p:spPr>
        <p:txBody>
          <a:bodyPr wrap="square" lIns="0" tIns="0" rIns="0" bIns="0" rtlCol="0" anchor="t"/>
          <a:lstStyle/>
          <a:p>
            <a:pPr algn="ctr" indent="0" marL="0">
              <a:buNone/>
            </a:pPr>
            <a:r>
              <a:rPr lang="en-US" sz="1050" dirty="0">
                <a:solidFill>
                  <a:srgbClr val="4B5563"/>
                </a:solidFill>
                <a:latin typeface="Calibri" pitchFamily="34" charset="0"/>
                <a:ea typeface="Calibri" pitchFamily="34" charset="-122"/>
                <a:cs typeface="Calibri" pitchFamily="34" charset="-120"/>
              </a:rPr>
              <a:t>the transport your product needs, the generation mode your design system allows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135</Slides>
  <Notes>135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135</vt:i4>
      </vt:variant>
    </vt:vector>
  </HeadingPairs>
  <TitlesOfParts>
    <vt:vector size="1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to Hero: Generative UI</dc:title>
  <dc:subject>PptxGenJS Presentation</dc:subject>
  <dc:creator>simple-coding-harness</dc:creator>
  <cp:lastModifiedBy>simple-coding-harness</cp:lastModifiedBy>
  <cp:revision>1</cp:revision>
  <dcterms:created xsi:type="dcterms:W3CDTF">2026-09-15T04:36:40Z</dcterms:created>
  <dcterms:modified xsi:type="dcterms:W3CDTF">2026-09-15T04:36:40Z</dcterms:modified>
</cp:coreProperties>
</file>